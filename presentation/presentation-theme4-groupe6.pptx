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Employés</c:v>
                </c:pt>
              </c:strCache>
            </c:strRef>
          </c:tx>
          <c:spPr>
            <a:solidFill>
              <a:schemeClr val="accent1"/>
            </a:solidFill>
            <a:ln w="9525" cap="flat">
              <a:solidFill>
                <a:srgbClr val="F9F9F9"/>
              </a:solidFill>
              <a:prstDash val="solid"/>
              <a:round/>
            </a:ln>
            <a:effectLst/>
          </c:spPr>
          <c:dPt>
            <c:idx val="0"/>
            <c:bubble3D val="0"/>
            <c:spPr>
              <a:solidFill>
                <a:srgbClr val="1BA39C"/>
              </a:solidFill>
              <a:effectLst/>
            </c:spPr>
          </c:dPt>
          <c:dPt>
            <c:idx val="1"/>
            <c:bubble3D val="0"/>
            <c:spPr>
              <a:solidFill>
                <a:srgbClr val="E04F5F"/>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Chargés</c:v>
                </c:pt>
                <c:pt idx="1">
                  <c:v>Rejetés</c:v>
                </c:pt>
              </c:strCache>
            </c:strRef>
          </c:cat>
          <c:val>
            <c:numRef>
              <c:f>Sheet1!$B$2:$B$3</c:f>
              <c:numCache>
                <c:ptCount val="2"/>
                <c:pt idx="0">
                  <c:v>20</c:v>
                </c:pt>
                <c:pt idx="1">
                  <c:v>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Le groupe 6 de la filière Sécurité informatique présente le thème 4 : un service SOAP de gestion des employés réalisé avec Java, Apache CXF, Pentaho et Netdata.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membre se présente et indique la partie dont il a été responsable.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présentation suit six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partie : le contexte et les objectifs fixés par l'énoncé.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fixe six exigences ; chacune correspond à une partie du dépôt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problématique : exposer les employés en SOAP tout en gardant deux bases cohérentes et supervisées.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partie : l'architecture et le modèle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partent de MySQL, sont nettoyées par Pentaho et arrivent dans PostgreSQL, la seule base utilisée par le service SOAP. Les modifications repartent vers MySQL grâce à l'outbox.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technologies imposées par le thème, plus Docker Compose et les outils de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est identique dans MySQL, PostgreSQL et le WSDL. PostgreSQL est la 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partie : la synchronisation avec Pentaho Data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job sync_mysql_to_pg enchaîne six étapes, de la lecture MySQL jusqu'à la fusion dans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nos 23 employés fictifs, 20 sont chargés et 3 sont rejetés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répercuter les modifications vers MySQL nous utilisons une outbox transactionnelle lue par un second job Pentaho.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partie : le service SOAP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expose les trois opérations demandées.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réel de requête updateEmployee, tirée du dossier tests/requests.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Faults typés. soap:Client quand la requête doit être corrigée, soap:Server pour une panne.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Cinquième partie : la supervision et les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Netdata collecte les métriques de l'hôte, des deux bases et du service. L'alerte passe en CRITICAL quand on arrête le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niveaux de tests, tous réussis après une réinstallation complète.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scénario que nous montrons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fonctionne, les limites connues et les améliorations possibles.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Nous sommes prêts pour vos questions et pour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ombre-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i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pic>
        <p:nvPicPr>
          <p:cNvPr id="3" name="Image 0" descr="preencoded.png">    </p:cNvPr>
          <p:cNvPicPr>
            <a:picLocks noChangeAspect="1"/>
          </p:cNvPicPr>
          <p:nvPr/>
        </p:nvPicPr>
        <p:blipFill>
          <a:blip r:embed="rId1"/>
          <a:stretch>
            <a:fillRect/>
          </a:stretch>
        </p:blipFill>
        <p:spPr>
          <a:xfrm>
            <a:off x="0" y="0"/>
            <a:ext cx="12191695" cy="54864"/>
          </a:xfrm>
          <a:prstGeom prst="rect">
            <a:avLst/>
          </a:prstGeom>
        </p:spPr>
      </p:pic>
      <p:sp>
        <p:nvSpPr>
          <p:cNvPr id="4"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chemeClr val="accent6"/>
                </a:solidFill>
              </a:rPr>
              <a:t>Groupe 6 · Thème 4 · Service SOAP de gestion des employés</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6784848"/>
            <a:ext cx="12191695" cy="7315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ng#1"/>
          <p:cNvSpPr/>
          <p:nvPr/>
        </p:nvSpPr>
        <p:spPr>
          <a:xfrm>
            <a:off x="6903720" y="868680"/>
            <a:ext cx="5120640" cy="5120640"/>
          </a:xfrm>
          <a:prstGeom prst="ellipse">
            <a:avLst/>
          </a:prstGeom>
          <a:solidFill>
            <a:srgbClr val="F28C28">
              <a:alpha val="18000"/>
            </a:srgbClr>
          </a:solidFill>
          <a:ln/>
        </p:spPr>
      </p:sp>
      <p:sp>
        <p:nvSpPr>
          <p:cNvPr id="3" name="ring#2"/>
          <p:cNvSpPr/>
          <p:nvPr/>
        </p:nvSpPr>
        <p:spPr>
          <a:xfrm>
            <a:off x="7498080" y="1463040"/>
            <a:ext cx="3931920" cy="3931920"/>
          </a:xfrm>
          <a:prstGeom prst="ellipse">
            <a:avLst/>
          </a:prstGeom>
          <a:solidFill>
            <a:srgbClr val="F28C28">
              <a:alpha val="6000"/>
            </a:srgbClr>
          </a:solidFill>
          <a:ln/>
        </p:spPr>
      </p:sp>
      <p:sp>
        <p:nvSpPr>
          <p:cNvPr id="4" name="ring#3"/>
          <p:cNvSpPr/>
          <p:nvPr/>
        </p:nvSpPr>
        <p:spPr>
          <a:xfrm>
            <a:off x="8092440" y="2057400"/>
            <a:ext cx="2743200" cy="2743200"/>
          </a:xfrm>
          <a:prstGeom prst="ellipse">
            <a:avLst/>
          </a:prstGeom>
          <a:solidFill>
            <a:srgbClr val="F28C28">
              <a:alpha val="-6000"/>
            </a:srgbClr>
          </a:solidFill>
          <a:ln/>
        </p:spPr>
      </p:sp>
      <p:sp>
        <p:nvSpPr>
          <p:cNvPr id="5" name="heroDot"/>
          <p:cNvSpPr/>
          <p:nvPr/>
        </p:nvSpPr>
        <p:spPr>
          <a:xfrm>
            <a:off x="8549640" y="2514600"/>
            <a:ext cx="1828800" cy="1828800"/>
          </a:xfrm>
          <a:prstGeom prst="ellipse">
            <a:avLst/>
          </a:prstGeom>
          <a:solidFill>
            <a:schemeClr val="accent2"/>
          </a:solidFill>
          <a:ln/>
        </p:spPr>
      </p:sp>
      <p:pic>
        <p:nvPicPr>
          <p:cNvPr id="6" name="heroIcon" descr="preencoded.png">    </p:cNvPr>
          <p:cNvPicPr>
            <a:picLocks noChangeAspect="1"/>
          </p:cNvPicPr>
          <p:nvPr/>
        </p:nvPicPr>
        <p:blipFill>
          <a:blip r:embed="rId1"/>
          <a:stretch>
            <a:fillRect/>
          </a:stretch>
        </p:blipFill>
        <p:spPr>
          <a:xfrm>
            <a:off x="9006840" y="2971800"/>
            <a:ext cx="914400" cy="914400"/>
          </a:xfrm>
          <a:prstGeom prst="rect">
            <a:avLst/>
          </a:prstGeom>
        </p:spPr>
      </p:pic>
      <p:sp>
        <p:nvSpPr>
          <p:cNvPr id="7" name="univ"/>
          <p:cNvSpPr txBox="1"/>
          <p:nvPr/>
        </p:nvSpPr>
        <p:spPr>
          <a:xfrm>
            <a:off x="548640" y="457200"/>
            <a:ext cx="5943600" cy="868680"/>
          </a:xfrm>
          <a:prstGeom prst="rect">
            <a:avLst/>
          </a:prstGeom>
          <a:noFill/>
          <a:ln/>
        </p:spPr>
        <p:txBody>
          <a:bodyPr wrap="square" lIns="0" tIns="0" rIns="0" bIns="0" rtlCol="0" anchor="ctr"/>
          <a:lstStyle/>
          <a:p>
            <a:pPr indent="0" marL="0">
              <a:buNone/>
            </a:pPr>
            <a:r>
              <a:rPr lang="en-US" sz="1400" b="1" dirty="0">
                <a:solidFill>
                  <a:schemeClr val="bg1"/>
                </a:solidFill>
              </a:rPr>
              <a:t>UNIVERSITÉ JOSEPH KI-ZERBO</a:t>
            </a:r>
            <a:endParaRPr lang="en-US" sz="1400" dirty="0"/>
          </a:p>
          <a:p>
            <a:pPr indent="0" marL="0">
              <a:buNone/>
            </a:pPr>
            <a:r>
              <a:rPr lang="en-US" sz="1400" dirty="0">
                <a:solidFill>
                  <a:schemeClr val="bg1"/>
                </a:solidFill>
              </a:rPr>
              <a:t>Institut Burkinabè des Arts et Métiers (IBAM)</a:t>
            </a:r>
            <a:endParaRPr lang="en-US" sz="1400" dirty="0"/>
          </a:p>
        </p:txBody>
      </p:sp>
      <p:sp>
        <p:nvSpPr>
          <p:cNvPr id="8" name="fil"/>
          <p:cNvSpPr txBox="1"/>
          <p:nvPr/>
        </p:nvSpPr>
        <p:spPr>
          <a:xfrm>
            <a:off x="548640" y="2057400"/>
            <a:ext cx="71323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FILIÈRE : SÉCURITÉ INFORMATIQUE (SI)</a:t>
            </a:r>
            <a:endParaRPr lang="en-US" sz="1300" dirty="0"/>
          </a:p>
        </p:txBody>
      </p:sp>
      <p:sp>
        <p:nvSpPr>
          <p:cNvPr id="9" name="ttl"/>
          <p:cNvSpPr txBox="1"/>
          <p:nvPr/>
        </p:nvSpPr>
        <p:spPr>
          <a:xfrm>
            <a:off x="548640" y="2423160"/>
            <a:ext cx="7223760" cy="1554480"/>
          </a:xfrm>
          <a:prstGeom prst="rect">
            <a:avLst/>
          </a:prstGeom>
          <a:noFill/>
          <a:ln/>
        </p:spPr>
        <p:txBody>
          <a:bodyPr wrap="square" lIns="0" tIns="0" rIns="0" bIns="0" rtlCol="0" anchor="ctr"/>
          <a:lstStyle/>
          <a:p>
            <a:pPr indent="0" marL="0">
              <a:buNone/>
            </a:pPr>
            <a:r>
              <a:rPr lang="en-US" sz="4400" b="1" dirty="0">
                <a:solidFill>
                  <a:schemeClr val="bg1"/>
                </a:solidFill>
              </a:rPr>
              <a:t>Service SOAP de gestion des employés</a:t>
            </a:r>
            <a:endParaRPr lang="en-US" sz="4400" dirty="0"/>
          </a:p>
        </p:txBody>
      </p:sp>
      <p:sp>
        <p:nvSpPr>
          <p:cNvPr id="10" name="stack"/>
          <p:cNvSpPr txBox="1"/>
          <p:nvPr/>
        </p:nvSpPr>
        <p:spPr>
          <a:xfrm>
            <a:off x="548640" y="4023360"/>
            <a:ext cx="7132320" cy="411480"/>
          </a:xfrm>
          <a:prstGeom prst="rect">
            <a:avLst/>
          </a:prstGeom>
          <a:noFill/>
          <a:ln/>
        </p:spPr>
        <p:txBody>
          <a:bodyPr wrap="square" lIns="0" tIns="0" rIns="0" bIns="0" rtlCol="0" anchor="t"/>
          <a:lstStyle/>
          <a:p>
            <a:pPr indent="0" marL="0">
              <a:buNone/>
            </a:pPr>
            <a:r>
              <a:rPr lang="en-US" sz="2000" b="1" dirty="0">
                <a:solidFill>
                  <a:schemeClr val="accent3"/>
                </a:solidFill>
              </a:rPr>
              <a:t>Java · Apache CXF · Pentaho · Netdata</a:t>
            </a:r>
            <a:endParaRPr lang="en-US" sz="2000" dirty="0"/>
          </a:p>
        </p:txBody>
      </p:sp>
      <p:sp>
        <p:nvSpPr>
          <p:cNvPr id="11" name="mod"/>
          <p:cNvSpPr txBox="1"/>
          <p:nvPr/>
        </p:nvSpPr>
        <p:spPr>
          <a:xfrm>
            <a:off x="548640" y="4480560"/>
            <a:ext cx="7132320" cy="365760"/>
          </a:xfrm>
          <a:prstGeom prst="rect">
            <a:avLst/>
          </a:prstGeom>
          <a:noFill/>
          <a:ln/>
        </p:spPr>
        <p:txBody>
          <a:bodyPr wrap="square" lIns="0" tIns="0" rIns="0" bIns="0" rtlCol="0" anchor="t"/>
          <a:lstStyle/>
          <a:p>
            <a:pPr indent="0" marL="0">
              <a:buNone/>
            </a:pPr>
            <a:r>
              <a:rPr lang="en-US" sz="1400" dirty="0">
                <a:solidFill>
                  <a:srgbClr val="C9D3E3"/>
                </a:solidFill>
              </a:rPr>
              <a:t>Développement à base de composants et services web</a:t>
            </a:r>
            <a:endParaRPr lang="en-US" sz="1400" dirty="0"/>
          </a:p>
        </p:txBody>
      </p:sp>
      <p:sp>
        <p:nvSpPr>
          <p:cNvPr id="12" name="pill#4"/>
          <p:cNvSpPr/>
          <p:nvPr/>
        </p:nvSpPr>
        <p:spPr>
          <a:xfrm>
            <a:off x="548640" y="5257800"/>
            <a:ext cx="822960" cy="292608"/>
          </a:xfrm>
          <a:prstGeom prst="roundRect">
            <a:avLst>
              <a:gd name="adj" fmla="val 50000"/>
            </a:avLst>
          </a:prstGeom>
          <a:solidFill>
            <a:schemeClr val="accent3"/>
          </a:solidFill>
          <a:ln/>
        </p:spPr>
      </p:sp>
      <p:sp>
        <p:nvSpPr>
          <p:cNvPr id="13" name="pill#4t"/>
          <p:cNvSpPr txBox="1"/>
          <p:nvPr/>
        </p:nvSpPr>
        <p:spPr>
          <a:xfrm>
            <a:off x="548640" y="5257800"/>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14" name="pill#5"/>
          <p:cNvSpPr/>
          <p:nvPr/>
        </p:nvSpPr>
        <p:spPr>
          <a:xfrm>
            <a:off x="1554480" y="5257800"/>
            <a:ext cx="900684" cy="292608"/>
          </a:xfrm>
          <a:prstGeom prst="roundRect">
            <a:avLst>
              <a:gd name="adj" fmla="val 50000"/>
            </a:avLst>
          </a:prstGeom>
          <a:solidFill>
            <a:schemeClr val="accent3"/>
          </a:solidFill>
          <a:ln/>
        </p:spPr>
      </p:sp>
      <p:sp>
        <p:nvSpPr>
          <p:cNvPr id="15" name="pill#5t"/>
          <p:cNvSpPr txBox="1"/>
          <p:nvPr/>
        </p:nvSpPr>
        <p:spPr>
          <a:xfrm>
            <a:off x="1554480" y="5257800"/>
            <a:ext cx="900684" cy="292608"/>
          </a:xfrm>
          <a:prstGeom prst="rect">
            <a:avLst/>
          </a:prstGeom>
          <a:noFill/>
          <a:ln/>
        </p:spPr>
        <p:txBody>
          <a:bodyPr wrap="square" lIns="0" tIns="0" rIns="0" bIns="0" rtlCol="0" anchor="ctr"/>
          <a:lstStyle/>
          <a:p>
            <a:pPr algn="ctr" indent="0" marL="0">
              <a:buNone/>
            </a:pPr>
            <a:r>
              <a:rPr lang="en-US" sz="1100" b="1" dirty="0">
                <a:solidFill>
                  <a:schemeClr val="bg1"/>
                </a:solidFill>
              </a:rPr>
              <a:t>Thème n°4</a:t>
            </a:r>
            <a:endParaRPr lang="en-US" sz="1100" dirty="0"/>
          </a:p>
        </p:txBody>
      </p:sp>
      <p:sp>
        <p:nvSpPr>
          <p:cNvPr id="16" name="pill#6"/>
          <p:cNvSpPr/>
          <p:nvPr/>
        </p:nvSpPr>
        <p:spPr>
          <a:xfrm>
            <a:off x="2638044" y="5257800"/>
            <a:ext cx="1056132" cy="292608"/>
          </a:xfrm>
          <a:prstGeom prst="roundRect">
            <a:avLst>
              <a:gd name="adj" fmla="val 50000"/>
            </a:avLst>
          </a:prstGeom>
          <a:solidFill>
            <a:schemeClr val="accent3"/>
          </a:solidFill>
          <a:ln/>
        </p:spPr>
      </p:sp>
      <p:sp>
        <p:nvSpPr>
          <p:cNvPr id="17" name="pill#6t"/>
          <p:cNvSpPr txBox="1"/>
          <p:nvPr/>
        </p:nvSpPr>
        <p:spPr>
          <a:xfrm>
            <a:off x="2638044" y="5257800"/>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2026 / 2027</a:t>
            </a:r>
            <a:endParaRPr lang="en-US" sz="11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10"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42" presetClass="entr" presetSubtype="0" fill="hold" grpId="0" nodeType="withEffect">
                                  <p:stCondLst>
                                    <p:cond delay="44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44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6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66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10" presetClass="entr" presetSubtype="0" fill="hold" grpId="0" nodeType="withEffect">
                                  <p:stCondLst>
                                    <p:cond delay="88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8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8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88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par>
                                <p:cTn id="50" presetID="10" presetClass="entr" presetSubtype="0" fill="hold" grpId="0" nodeType="withEffect">
                                  <p:stCondLst>
                                    <p:cond delay="88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grpId="0" nodeType="withEffect">
                                  <p:stCondLst>
                                    <p:cond delay="88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Membres du groupe</a:t>
            </a:r>
            <a:endParaRPr lang="en-US" sz="3000" dirty="0"/>
          </a:p>
        </p:txBody>
      </p:sp>
      <p:sp>
        <p:nvSpPr>
          <p:cNvPr id="3" name="pill#7"/>
          <p:cNvSpPr/>
          <p:nvPr/>
        </p:nvSpPr>
        <p:spPr>
          <a:xfrm>
            <a:off x="548640" y="384048"/>
            <a:ext cx="822960" cy="292608"/>
          </a:xfrm>
          <a:prstGeom prst="roundRect">
            <a:avLst>
              <a:gd name="adj" fmla="val 50000"/>
            </a:avLst>
          </a:prstGeom>
          <a:solidFill>
            <a:schemeClr val="accent3"/>
          </a:solidFill>
          <a:ln/>
        </p:spPr>
      </p:sp>
      <p:sp>
        <p:nvSpPr>
          <p:cNvPr id="4" name="pill#7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5" name="mb#8"/>
          <p:cNvSpPr/>
          <p:nvPr/>
        </p:nvSpPr>
        <p:spPr>
          <a:xfrm>
            <a:off x="54864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mb#8b"/>
          <p:cNvSpPr/>
          <p:nvPr/>
        </p:nvSpPr>
        <p:spPr>
          <a:xfrm>
            <a:off x="548640" y="1691640"/>
            <a:ext cx="2103120" cy="822960"/>
          </a:xfrm>
          <a:prstGeom prst="roundRect">
            <a:avLst>
              <a:gd name="adj" fmla="val 16667"/>
            </a:avLst>
          </a:prstGeom>
          <a:solidFill>
            <a:srgbClr val="F28C28">
              <a:alpha val="18000"/>
            </a:srgbClr>
          </a:solidFill>
          <a:ln/>
        </p:spPr>
      </p:sp>
      <p:sp>
        <p:nvSpPr>
          <p:cNvPr id="7" name="mb#8o"/>
          <p:cNvSpPr/>
          <p:nvPr/>
        </p:nvSpPr>
        <p:spPr>
          <a:xfrm>
            <a:off x="1097280" y="1965960"/>
            <a:ext cx="1005840" cy="1005840"/>
          </a:xfrm>
          <a:prstGeom prst="ellipse">
            <a:avLst/>
          </a:prstGeom>
          <a:solidFill>
            <a:srgbClr val="F28C28"/>
          </a:solidFill>
          <a:ln w="50800">
            <a:solidFill>
              <a:srgbClr val="FFFFFF"/>
            </a:solidFill>
            <a:prstDash val="solid"/>
          </a:ln>
        </p:spPr>
      </p:sp>
      <p:sp>
        <p:nvSpPr>
          <p:cNvPr id="8" name="mb#8i"/>
          <p:cNvSpPr txBox="1"/>
          <p:nvPr/>
        </p:nvSpPr>
        <p:spPr>
          <a:xfrm>
            <a:off x="109728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NA</a:t>
            </a:r>
            <a:endParaRPr lang="en-US" sz="2600" dirty="0"/>
          </a:p>
        </p:txBody>
      </p:sp>
      <p:sp>
        <p:nvSpPr>
          <p:cNvPr id="9" name="mb#8n"/>
          <p:cNvSpPr txBox="1"/>
          <p:nvPr/>
        </p:nvSpPr>
        <p:spPr>
          <a:xfrm>
            <a:off x="64008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NANA</a:t>
            </a:r>
            <a:endParaRPr lang="en-US" sz="1400" dirty="0"/>
          </a:p>
          <a:p>
            <a:pPr algn="ctr" indent="0" marL="0">
              <a:buNone/>
            </a:pPr>
            <a:r>
              <a:rPr lang="en-US" sz="1300" dirty="0">
                <a:solidFill>
                  <a:schemeClr val="tx1"/>
                </a:solidFill>
              </a:rPr>
              <a:t>Abdoul Faycal</a:t>
            </a:r>
            <a:endParaRPr lang="en-US" sz="1400" dirty="0"/>
          </a:p>
        </p:txBody>
      </p:sp>
      <p:sp>
        <p:nvSpPr>
          <p:cNvPr id="10" name="mb#8l"/>
          <p:cNvSpPr/>
          <p:nvPr/>
        </p:nvSpPr>
        <p:spPr>
          <a:xfrm>
            <a:off x="1325880" y="4069080"/>
            <a:ext cx="548640" cy="0"/>
          </a:xfrm>
          <a:prstGeom prst="line">
            <a:avLst/>
          </a:prstGeom>
          <a:noFill/>
          <a:ln w="25400">
            <a:solidFill>
              <a:srgbClr val="F28C28"/>
            </a:solidFill>
            <a:prstDash val="solid"/>
          </a:ln>
        </p:spPr>
      </p:sp>
      <p:sp>
        <p:nvSpPr>
          <p:cNvPr id="11" name="mb#8r"/>
          <p:cNvSpPr txBox="1"/>
          <p:nvPr/>
        </p:nvSpPr>
        <p:spPr>
          <a:xfrm>
            <a:off x="68580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Modèle de données, bases, Docker Compose</a:t>
            </a:r>
            <a:endParaRPr lang="en-US" sz="1200" dirty="0"/>
          </a:p>
        </p:txBody>
      </p:sp>
      <p:sp>
        <p:nvSpPr>
          <p:cNvPr id="12" name="mb#9"/>
          <p:cNvSpPr/>
          <p:nvPr/>
        </p:nvSpPr>
        <p:spPr>
          <a:xfrm>
            <a:off x="278892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3" name="mb#9b"/>
          <p:cNvSpPr/>
          <p:nvPr/>
        </p:nvSpPr>
        <p:spPr>
          <a:xfrm>
            <a:off x="2788920" y="1691640"/>
            <a:ext cx="2103120" cy="822960"/>
          </a:xfrm>
          <a:prstGeom prst="roundRect">
            <a:avLst>
              <a:gd name="adj" fmla="val 16667"/>
            </a:avLst>
          </a:prstGeom>
          <a:solidFill>
            <a:srgbClr val="1BA39C">
              <a:alpha val="18000"/>
            </a:srgbClr>
          </a:solidFill>
          <a:ln/>
        </p:spPr>
      </p:sp>
      <p:sp>
        <p:nvSpPr>
          <p:cNvPr id="14" name="mb#9o"/>
          <p:cNvSpPr/>
          <p:nvPr/>
        </p:nvSpPr>
        <p:spPr>
          <a:xfrm>
            <a:off x="3337560" y="1965960"/>
            <a:ext cx="1005840" cy="1005840"/>
          </a:xfrm>
          <a:prstGeom prst="ellipse">
            <a:avLst/>
          </a:prstGeom>
          <a:solidFill>
            <a:srgbClr val="1BA39C"/>
          </a:solidFill>
          <a:ln w="50800">
            <a:solidFill>
              <a:srgbClr val="FFFFFF"/>
            </a:solidFill>
            <a:prstDash val="solid"/>
          </a:ln>
        </p:spPr>
      </p:sp>
      <p:sp>
        <p:nvSpPr>
          <p:cNvPr id="15" name="mb#9i"/>
          <p:cNvSpPr txBox="1"/>
          <p:nvPr/>
        </p:nvSpPr>
        <p:spPr>
          <a:xfrm>
            <a:off x="333756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OI</a:t>
            </a:r>
            <a:endParaRPr lang="en-US" sz="2600" dirty="0"/>
          </a:p>
        </p:txBody>
      </p:sp>
      <p:sp>
        <p:nvSpPr>
          <p:cNvPr id="16" name="mb#9n"/>
          <p:cNvSpPr txBox="1"/>
          <p:nvPr/>
        </p:nvSpPr>
        <p:spPr>
          <a:xfrm>
            <a:off x="288036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OUEDRAOGO</a:t>
            </a:r>
            <a:endParaRPr lang="en-US" sz="1400" dirty="0"/>
          </a:p>
          <a:p>
            <a:pPr algn="ctr" indent="0" marL="0">
              <a:buNone/>
            </a:pPr>
            <a:r>
              <a:rPr lang="en-US" sz="1300" dirty="0">
                <a:solidFill>
                  <a:schemeClr val="tx1"/>
                </a:solidFill>
              </a:rPr>
              <a:t>Y. Ibrahim</a:t>
            </a:r>
            <a:endParaRPr lang="en-US" sz="1400" dirty="0"/>
          </a:p>
        </p:txBody>
      </p:sp>
      <p:sp>
        <p:nvSpPr>
          <p:cNvPr id="17" name="mb#9l"/>
          <p:cNvSpPr/>
          <p:nvPr/>
        </p:nvSpPr>
        <p:spPr>
          <a:xfrm>
            <a:off x="3566160" y="4069080"/>
            <a:ext cx="548640" cy="0"/>
          </a:xfrm>
          <a:prstGeom prst="line">
            <a:avLst/>
          </a:prstGeom>
          <a:noFill/>
          <a:ln w="25400">
            <a:solidFill>
              <a:srgbClr val="1BA39C"/>
            </a:solidFill>
            <a:prstDash val="solid"/>
          </a:ln>
        </p:spPr>
      </p:sp>
      <p:sp>
        <p:nvSpPr>
          <p:cNvPr id="18" name="mb#9r"/>
          <p:cNvSpPr txBox="1"/>
          <p:nvPr/>
        </p:nvSpPr>
        <p:spPr>
          <a:xfrm>
            <a:off x="292608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Jobs Pentaho aller et retour</a:t>
            </a:r>
            <a:endParaRPr lang="en-US" sz="1200" dirty="0"/>
          </a:p>
        </p:txBody>
      </p:sp>
      <p:sp>
        <p:nvSpPr>
          <p:cNvPr id="19" name="mb#10"/>
          <p:cNvSpPr/>
          <p:nvPr/>
        </p:nvSpPr>
        <p:spPr>
          <a:xfrm>
            <a:off x="502920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0" name="mb#10b"/>
          <p:cNvSpPr/>
          <p:nvPr/>
        </p:nvSpPr>
        <p:spPr>
          <a:xfrm>
            <a:off x="5029200" y="1691640"/>
            <a:ext cx="2103120" cy="822960"/>
          </a:xfrm>
          <a:prstGeom prst="roundRect">
            <a:avLst>
              <a:gd name="adj" fmla="val 16667"/>
            </a:avLst>
          </a:prstGeom>
          <a:solidFill>
            <a:srgbClr val="3D6FD8">
              <a:alpha val="18000"/>
            </a:srgbClr>
          </a:solidFill>
          <a:ln/>
        </p:spPr>
      </p:sp>
      <p:sp>
        <p:nvSpPr>
          <p:cNvPr id="21" name="mb#10o"/>
          <p:cNvSpPr/>
          <p:nvPr/>
        </p:nvSpPr>
        <p:spPr>
          <a:xfrm>
            <a:off x="5577840" y="1965960"/>
            <a:ext cx="1005840" cy="1005840"/>
          </a:xfrm>
          <a:prstGeom prst="ellipse">
            <a:avLst/>
          </a:prstGeom>
          <a:solidFill>
            <a:srgbClr val="3D6FD8"/>
          </a:solidFill>
          <a:ln w="50800">
            <a:solidFill>
              <a:srgbClr val="FFFFFF"/>
            </a:solidFill>
            <a:prstDash val="solid"/>
          </a:ln>
        </p:spPr>
      </p:sp>
      <p:sp>
        <p:nvSpPr>
          <p:cNvPr id="22" name="mb#10i"/>
          <p:cNvSpPr txBox="1"/>
          <p:nvPr/>
        </p:nvSpPr>
        <p:spPr>
          <a:xfrm>
            <a:off x="557784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KW</a:t>
            </a:r>
            <a:endParaRPr lang="en-US" sz="2600" dirty="0"/>
          </a:p>
        </p:txBody>
      </p:sp>
      <p:sp>
        <p:nvSpPr>
          <p:cNvPr id="23" name="mb#10n"/>
          <p:cNvSpPr txBox="1"/>
          <p:nvPr/>
        </p:nvSpPr>
        <p:spPr>
          <a:xfrm>
            <a:off x="512064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KABORE</a:t>
            </a:r>
            <a:endParaRPr lang="en-US" sz="1400" dirty="0"/>
          </a:p>
          <a:p>
            <a:pPr algn="ctr" indent="0" marL="0">
              <a:buNone/>
            </a:pPr>
            <a:r>
              <a:rPr lang="en-US" sz="1300" dirty="0">
                <a:solidFill>
                  <a:schemeClr val="tx1"/>
                </a:solidFill>
              </a:rPr>
              <a:t>Wend-Barka Boukary</a:t>
            </a:r>
            <a:endParaRPr lang="en-US" sz="1400" dirty="0"/>
          </a:p>
        </p:txBody>
      </p:sp>
      <p:sp>
        <p:nvSpPr>
          <p:cNvPr id="24" name="mb#10l"/>
          <p:cNvSpPr/>
          <p:nvPr/>
        </p:nvSpPr>
        <p:spPr>
          <a:xfrm>
            <a:off x="5806440" y="4069080"/>
            <a:ext cx="548640" cy="0"/>
          </a:xfrm>
          <a:prstGeom prst="line">
            <a:avLst/>
          </a:prstGeom>
          <a:noFill/>
          <a:ln w="25400">
            <a:solidFill>
              <a:srgbClr val="3D6FD8"/>
            </a:solidFill>
            <a:prstDash val="solid"/>
          </a:ln>
        </p:spPr>
      </p:sp>
      <p:sp>
        <p:nvSpPr>
          <p:cNvPr id="25" name="mb#10r"/>
          <p:cNvSpPr txBox="1"/>
          <p:nvPr/>
        </p:nvSpPr>
        <p:spPr>
          <a:xfrm>
            <a:off x="516636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Contrat WSDL, service CXF, erreurs SOAP</a:t>
            </a:r>
            <a:endParaRPr lang="en-US" sz="1200" dirty="0"/>
          </a:p>
        </p:txBody>
      </p:sp>
      <p:sp>
        <p:nvSpPr>
          <p:cNvPr id="26" name="mb#11"/>
          <p:cNvSpPr/>
          <p:nvPr/>
        </p:nvSpPr>
        <p:spPr>
          <a:xfrm>
            <a:off x="726948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7" name="mb#11b"/>
          <p:cNvSpPr/>
          <p:nvPr/>
        </p:nvSpPr>
        <p:spPr>
          <a:xfrm>
            <a:off x="7269480" y="1691640"/>
            <a:ext cx="2103120" cy="822960"/>
          </a:xfrm>
          <a:prstGeom prst="roundRect">
            <a:avLst>
              <a:gd name="adj" fmla="val 16667"/>
            </a:avLst>
          </a:prstGeom>
          <a:solidFill>
            <a:srgbClr val="E04F5F">
              <a:alpha val="18000"/>
            </a:srgbClr>
          </a:solidFill>
          <a:ln/>
        </p:spPr>
      </p:sp>
      <p:sp>
        <p:nvSpPr>
          <p:cNvPr id="28" name="mb#11o"/>
          <p:cNvSpPr/>
          <p:nvPr/>
        </p:nvSpPr>
        <p:spPr>
          <a:xfrm>
            <a:off x="7818120" y="1965960"/>
            <a:ext cx="1005840" cy="1005840"/>
          </a:xfrm>
          <a:prstGeom prst="ellipse">
            <a:avLst/>
          </a:prstGeom>
          <a:solidFill>
            <a:srgbClr val="E04F5F"/>
          </a:solidFill>
          <a:ln w="50800">
            <a:solidFill>
              <a:srgbClr val="FFFFFF"/>
            </a:solidFill>
            <a:prstDash val="solid"/>
          </a:ln>
        </p:spPr>
      </p:sp>
      <p:sp>
        <p:nvSpPr>
          <p:cNvPr id="29" name="mb#11i"/>
          <p:cNvSpPr txBox="1"/>
          <p:nvPr/>
        </p:nvSpPr>
        <p:spPr>
          <a:xfrm>
            <a:off x="781812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TF</a:t>
            </a:r>
            <a:endParaRPr lang="en-US" sz="2600" dirty="0"/>
          </a:p>
        </p:txBody>
      </p:sp>
      <p:sp>
        <p:nvSpPr>
          <p:cNvPr id="30" name="mb#11n"/>
          <p:cNvSpPr txBox="1"/>
          <p:nvPr/>
        </p:nvSpPr>
        <p:spPr>
          <a:xfrm>
            <a:off x="736092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TINDANO</a:t>
            </a:r>
            <a:endParaRPr lang="en-US" sz="1400" dirty="0"/>
          </a:p>
          <a:p>
            <a:pPr algn="ctr" indent="0" marL="0">
              <a:buNone/>
            </a:pPr>
            <a:r>
              <a:rPr lang="en-US" sz="1300" dirty="0">
                <a:solidFill>
                  <a:schemeClr val="tx1"/>
                </a:solidFill>
              </a:rPr>
              <a:t>Fernand Amed</a:t>
            </a:r>
            <a:endParaRPr lang="en-US" sz="1400" dirty="0"/>
          </a:p>
        </p:txBody>
      </p:sp>
      <p:sp>
        <p:nvSpPr>
          <p:cNvPr id="31" name="mb#11l"/>
          <p:cNvSpPr/>
          <p:nvPr/>
        </p:nvSpPr>
        <p:spPr>
          <a:xfrm>
            <a:off x="8046720" y="4069080"/>
            <a:ext cx="548640" cy="0"/>
          </a:xfrm>
          <a:prstGeom prst="line">
            <a:avLst/>
          </a:prstGeom>
          <a:noFill/>
          <a:ln w="25400">
            <a:solidFill>
              <a:srgbClr val="E04F5F"/>
            </a:solidFill>
            <a:prstDash val="solid"/>
          </a:ln>
        </p:spPr>
      </p:sp>
      <p:sp>
        <p:nvSpPr>
          <p:cNvPr id="32" name="mb#11r"/>
          <p:cNvSpPr txBox="1"/>
          <p:nvPr/>
        </p:nvSpPr>
        <p:spPr>
          <a:xfrm>
            <a:off x="740664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Règles métier, tests JUnit et SoapUI</a:t>
            </a:r>
            <a:endParaRPr lang="en-US" sz="1200" dirty="0"/>
          </a:p>
        </p:txBody>
      </p:sp>
      <p:sp>
        <p:nvSpPr>
          <p:cNvPr id="33" name="mb#12"/>
          <p:cNvSpPr/>
          <p:nvPr/>
        </p:nvSpPr>
        <p:spPr>
          <a:xfrm>
            <a:off x="950976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4" name="mb#12b"/>
          <p:cNvSpPr/>
          <p:nvPr/>
        </p:nvSpPr>
        <p:spPr>
          <a:xfrm>
            <a:off x="9509760" y="1691640"/>
            <a:ext cx="2103120" cy="822960"/>
          </a:xfrm>
          <a:prstGeom prst="roundRect">
            <a:avLst>
              <a:gd name="adj" fmla="val 16667"/>
            </a:avLst>
          </a:prstGeom>
          <a:solidFill>
            <a:srgbClr val="0D2340">
              <a:alpha val="18000"/>
            </a:srgbClr>
          </a:solidFill>
          <a:ln/>
        </p:spPr>
      </p:sp>
      <p:sp>
        <p:nvSpPr>
          <p:cNvPr id="35" name="mb#12o"/>
          <p:cNvSpPr/>
          <p:nvPr/>
        </p:nvSpPr>
        <p:spPr>
          <a:xfrm>
            <a:off x="10058400" y="1965960"/>
            <a:ext cx="1005840" cy="1005840"/>
          </a:xfrm>
          <a:prstGeom prst="ellipse">
            <a:avLst/>
          </a:prstGeom>
          <a:solidFill>
            <a:srgbClr val="0D2340"/>
          </a:solidFill>
          <a:ln w="50800">
            <a:solidFill>
              <a:srgbClr val="FFFFFF"/>
            </a:solidFill>
            <a:prstDash val="solid"/>
          </a:ln>
        </p:spPr>
      </p:sp>
      <p:sp>
        <p:nvSpPr>
          <p:cNvPr id="36" name="mb#12i"/>
          <p:cNvSpPr txBox="1"/>
          <p:nvPr/>
        </p:nvSpPr>
        <p:spPr>
          <a:xfrm>
            <a:off x="1005840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KA</a:t>
            </a:r>
            <a:endParaRPr lang="en-US" sz="2600" dirty="0"/>
          </a:p>
        </p:txBody>
      </p:sp>
      <p:sp>
        <p:nvSpPr>
          <p:cNvPr id="37" name="mb#12n"/>
          <p:cNvSpPr txBox="1"/>
          <p:nvPr/>
        </p:nvSpPr>
        <p:spPr>
          <a:xfrm>
            <a:off x="960120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KOMPAORE</a:t>
            </a:r>
            <a:endParaRPr lang="en-US" sz="1400" dirty="0"/>
          </a:p>
          <a:p>
            <a:pPr algn="ctr" indent="0" marL="0">
              <a:buNone/>
            </a:pPr>
            <a:r>
              <a:rPr lang="en-US" sz="1300" dirty="0">
                <a:solidFill>
                  <a:schemeClr val="tx1"/>
                </a:solidFill>
              </a:rPr>
              <a:t>Abdoul Malick</a:t>
            </a:r>
            <a:endParaRPr lang="en-US" sz="1400" dirty="0"/>
          </a:p>
        </p:txBody>
      </p:sp>
      <p:sp>
        <p:nvSpPr>
          <p:cNvPr id="38" name="mb#12l"/>
          <p:cNvSpPr/>
          <p:nvPr/>
        </p:nvSpPr>
        <p:spPr>
          <a:xfrm>
            <a:off x="10287000" y="4069080"/>
            <a:ext cx="548640" cy="0"/>
          </a:xfrm>
          <a:prstGeom prst="line">
            <a:avLst/>
          </a:prstGeom>
          <a:noFill/>
          <a:ln w="25400">
            <a:solidFill>
              <a:srgbClr val="0D2340"/>
            </a:solidFill>
            <a:prstDash val="solid"/>
          </a:ln>
        </p:spPr>
      </p:sp>
      <p:sp>
        <p:nvSpPr>
          <p:cNvPr id="39" name="mb#12r"/>
          <p:cNvSpPr txBox="1"/>
          <p:nvPr/>
        </p:nvSpPr>
        <p:spPr>
          <a:xfrm>
            <a:off x="964692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Netdata, test de bout en bout, documentation</a:t>
            </a:r>
            <a:endParaRPr lang="en-US" sz="1200" dirty="0"/>
          </a:p>
        </p:txBody>
      </p:sp>
      <p:sp>
        <p:nvSpPr>
          <p:cNvPr id="40" name="modLine"/>
          <p:cNvSpPr txBox="1"/>
          <p:nvPr/>
        </p:nvSpPr>
        <p:spPr>
          <a:xfrm>
            <a:off x="548640" y="5623560"/>
            <a:ext cx="11064240" cy="365760"/>
          </a:xfrm>
          <a:prstGeom prst="rect">
            <a:avLst/>
          </a:prstGeom>
          <a:noFill/>
          <a:ln/>
        </p:spPr>
        <p:txBody>
          <a:bodyPr wrap="square" lIns="0" tIns="0" rIns="0" bIns="0" rtlCol="0" anchor="t"/>
          <a:lstStyle/>
          <a:p>
            <a:pPr algn="ctr" indent="0" marL="0">
              <a:buNone/>
            </a:pPr>
            <a:r>
              <a:rPr lang="en-US" sz="1300" b="1" dirty="0">
                <a:solidFill>
                  <a:schemeClr val="accent3"/>
                </a:solidFill>
              </a:rPr>
              <a:t>Filière SI · Module : </a:t>
            </a:r>
            <a:pPr algn="ctr" indent="0" marL="0">
              <a:buNone/>
            </a:pPr>
            <a:r>
              <a:rPr lang="en-US" sz="1300" dirty="0">
                <a:solidFill>
                  <a:schemeClr val="tx1"/>
                </a:solidFill>
              </a:rPr>
              <a:t>Développement à base de composants et services web</a:t>
            </a:r>
            <a:endParaRPr lang="en-US" sz="1300" dirty="0"/>
          </a:p>
        </p:txBody>
      </p:sp>
      <p:sp>
        <p:nvSpPr>
          <p:cNvPr id="41"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22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44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44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44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66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6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6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66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66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66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66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8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8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88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500"/>
                                        <p:tgtEl>
                                          <p:spTgt spid="35"/>
                                        </p:tgtEl>
                                      </p:cBhvr>
                                    </p:animEffect>
                                    <p:anim calcmode="lin" valueType="num">
                                      <p:cBhvr additive="base">
                                        <p:cTn id="158" dur="500" fill="hold"/>
                                        <p:tgtEl>
                                          <p:spTgt spid="35"/>
                                        </p:tgtEl>
                                        <p:attrNameLst>
                                          <p:attrName>ppt_x</p:attrName>
                                        </p:attrNameLst>
                                      </p:cBhvr>
                                      <p:tavLst>
                                        <p:tav tm="0">
                                          <p:val>
                                            <p:strVal val="#ppt_x"/>
                                          </p:val>
                                        </p:tav>
                                        <p:tav tm="100000">
                                          <p:val>
                                            <p:strVal val="#ppt_x"/>
                                          </p:val>
                                        </p:tav>
                                      </p:tavLst>
                                    </p:anim>
                                    <p:anim calcmode="lin" valueType="num">
                                      <p:cBhvr additive="base">
                                        <p:cTn id="159" dur="500" fill="hold"/>
                                        <p:tgtEl>
                                          <p:spTgt spid="35"/>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880"/>
                                  </p:stCondLst>
                                  <p:childTnLst>
                                    <p:set>
                                      <p:cBhvr>
                                        <p:cTn id="161" dur="1" fill="hold">
                                          <p:stCondLst>
                                            <p:cond delay="0"/>
                                          </p:stCondLst>
                                        </p:cTn>
                                        <p:tgtEl>
                                          <p:spTgt spid="36"/>
                                        </p:tgtEl>
                                        <p:attrNameLst>
                                          <p:attrName>style.visibility</p:attrName>
                                        </p:attrNameLst>
                                      </p:cBhvr>
                                      <p:to>
                                        <p:strVal val="visible"/>
                                      </p:to>
                                    </p:set>
                                    <p:animEffect transition="in" filter="fade">
                                      <p:cBhvr>
                                        <p:cTn id="162" dur="500"/>
                                        <p:tgtEl>
                                          <p:spTgt spid="36"/>
                                        </p:tgtEl>
                                      </p:cBhvr>
                                    </p:animEffect>
                                    <p:anim calcmode="lin" valueType="num">
                                      <p:cBhvr additive="base">
                                        <p:cTn id="163" dur="500" fill="hold"/>
                                        <p:tgtEl>
                                          <p:spTgt spid="36"/>
                                        </p:tgtEl>
                                        <p:attrNameLst>
                                          <p:attrName>ppt_x</p:attrName>
                                        </p:attrNameLst>
                                      </p:cBhvr>
                                      <p:tavLst>
                                        <p:tav tm="0">
                                          <p:val>
                                            <p:strVal val="#ppt_x"/>
                                          </p:val>
                                        </p:tav>
                                        <p:tav tm="100000">
                                          <p:val>
                                            <p:strVal val="#ppt_x"/>
                                          </p:val>
                                        </p:tav>
                                      </p:tavLst>
                                    </p:anim>
                                    <p:anim calcmode="lin" valueType="num">
                                      <p:cBhvr additive="base">
                                        <p:cTn id="164" dur="500" fill="hold"/>
                                        <p:tgtEl>
                                          <p:spTgt spid="36"/>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880"/>
                                  </p:stCondLst>
                                  <p:childTnLst>
                                    <p:set>
                                      <p:cBhvr>
                                        <p:cTn id="166" dur="1" fill="hold">
                                          <p:stCondLst>
                                            <p:cond delay="0"/>
                                          </p:stCondLst>
                                        </p:cTn>
                                        <p:tgtEl>
                                          <p:spTgt spid="37"/>
                                        </p:tgtEl>
                                        <p:attrNameLst>
                                          <p:attrName>style.visibility</p:attrName>
                                        </p:attrNameLst>
                                      </p:cBhvr>
                                      <p:to>
                                        <p:strVal val="visible"/>
                                      </p:to>
                                    </p:set>
                                    <p:animEffect transition="in" filter="fade">
                                      <p:cBhvr>
                                        <p:cTn id="167" dur="500"/>
                                        <p:tgtEl>
                                          <p:spTgt spid="37"/>
                                        </p:tgtEl>
                                      </p:cBhvr>
                                    </p:animEffect>
                                    <p:anim calcmode="lin" valueType="num">
                                      <p:cBhvr additive="base">
                                        <p:cTn id="168" dur="500" fill="hold"/>
                                        <p:tgtEl>
                                          <p:spTgt spid="37"/>
                                        </p:tgtEl>
                                        <p:attrNameLst>
                                          <p:attrName>ppt_x</p:attrName>
                                        </p:attrNameLst>
                                      </p:cBhvr>
                                      <p:tavLst>
                                        <p:tav tm="0">
                                          <p:val>
                                            <p:strVal val="#ppt_x"/>
                                          </p:val>
                                        </p:tav>
                                        <p:tav tm="100000">
                                          <p:val>
                                            <p:strVal val="#ppt_x"/>
                                          </p:val>
                                        </p:tav>
                                      </p:tavLst>
                                    </p:anim>
                                    <p:anim calcmode="lin" valueType="num">
                                      <p:cBhvr additive="base">
                                        <p:cTn id="169" dur="500" fill="hold"/>
                                        <p:tgtEl>
                                          <p:spTgt spid="37"/>
                                        </p:tgtEl>
                                        <p:attrNameLst>
                                          <p:attrName>ppt_y</p:attrName>
                                        </p:attrNameLst>
                                      </p:cBhvr>
                                      <p:tavLst>
                                        <p:tav tm="0">
                                          <p:val>
                                            <p:strVal val="#ppt_y+.1"/>
                                          </p:val>
                                        </p:tav>
                                        <p:tav tm="100000">
                                          <p:val>
                                            <p:strVal val="#ppt_y"/>
                                          </p:val>
                                        </p:tav>
                                      </p:tavLst>
                                    </p:anim>
                                  </p:childTnLst>
                                </p:cTn>
                              </p:par>
                              <p:par>
                                <p:cTn id="170" presetID="42" presetClass="entr" presetSubtype="0" fill="hold" grpId="0" nodeType="withEffect">
                                  <p:stCondLst>
                                    <p:cond delay="880"/>
                                  </p:stCondLst>
                                  <p:childTnLst>
                                    <p:set>
                                      <p:cBhvr>
                                        <p:cTn id="171" dur="1" fill="hold">
                                          <p:stCondLst>
                                            <p:cond delay="0"/>
                                          </p:stCondLst>
                                        </p:cTn>
                                        <p:tgtEl>
                                          <p:spTgt spid="38"/>
                                        </p:tgtEl>
                                        <p:attrNameLst>
                                          <p:attrName>style.visibility</p:attrName>
                                        </p:attrNameLst>
                                      </p:cBhvr>
                                      <p:to>
                                        <p:strVal val="visible"/>
                                      </p:to>
                                    </p:set>
                                    <p:animEffect transition="in" filter="fade">
                                      <p:cBhvr>
                                        <p:cTn id="172" dur="500"/>
                                        <p:tgtEl>
                                          <p:spTgt spid="38"/>
                                        </p:tgtEl>
                                      </p:cBhvr>
                                    </p:animEffect>
                                    <p:anim calcmode="lin" valueType="num">
                                      <p:cBhvr additive="base">
                                        <p:cTn id="173" dur="500" fill="hold"/>
                                        <p:tgtEl>
                                          <p:spTgt spid="38"/>
                                        </p:tgtEl>
                                        <p:attrNameLst>
                                          <p:attrName>ppt_x</p:attrName>
                                        </p:attrNameLst>
                                      </p:cBhvr>
                                      <p:tavLst>
                                        <p:tav tm="0">
                                          <p:val>
                                            <p:strVal val="#ppt_x"/>
                                          </p:val>
                                        </p:tav>
                                        <p:tav tm="100000">
                                          <p:val>
                                            <p:strVal val="#ppt_x"/>
                                          </p:val>
                                        </p:tav>
                                      </p:tavLst>
                                    </p:anim>
                                    <p:anim calcmode="lin" valueType="num">
                                      <p:cBhvr additive="base">
                                        <p:cTn id="174" dur="500" fill="hold"/>
                                        <p:tgtEl>
                                          <p:spTgt spid="38"/>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880"/>
                                  </p:stCondLst>
                                  <p:childTnLst>
                                    <p:set>
                                      <p:cBhvr>
                                        <p:cTn id="176" dur="1" fill="hold">
                                          <p:stCondLst>
                                            <p:cond delay="0"/>
                                          </p:stCondLst>
                                        </p:cTn>
                                        <p:tgtEl>
                                          <p:spTgt spid="39"/>
                                        </p:tgtEl>
                                        <p:attrNameLst>
                                          <p:attrName>style.visibility</p:attrName>
                                        </p:attrNameLst>
                                      </p:cBhvr>
                                      <p:to>
                                        <p:strVal val="visible"/>
                                      </p:to>
                                    </p:set>
                                    <p:animEffect transition="in" filter="fade">
                                      <p:cBhvr>
                                        <p:cTn id="177" dur="500"/>
                                        <p:tgtEl>
                                          <p:spTgt spid="39"/>
                                        </p:tgtEl>
                                      </p:cBhvr>
                                    </p:animEffect>
                                    <p:anim calcmode="lin" valueType="num">
                                      <p:cBhvr additive="base">
                                        <p:cTn id="178" dur="500" fill="hold"/>
                                        <p:tgtEl>
                                          <p:spTgt spid="39"/>
                                        </p:tgtEl>
                                        <p:attrNameLst>
                                          <p:attrName>ppt_x</p:attrName>
                                        </p:attrNameLst>
                                      </p:cBhvr>
                                      <p:tavLst>
                                        <p:tav tm="0">
                                          <p:val>
                                            <p:strVal val="#ppt_x"/>
                                          </p:val>
                                        </p:tav>
                                        <p:tav tm="100000">
                                          <p:val>
                                            <p:strVal val="#ppt_x"/>
                                          </p:val>
                                        </p:tav>
                                      </p:tavLst>
                                    </p:anim>
                                    <p:anim calcmode="lin" valueType="num">
                                      <p:cBhvr additive="base">
                                        <p:cTn id="179" dur="500" fill="hold"/>
                                        <p:tgtEl>
                                          <p:spTgt spid="39"/>
                                        </p:tgtEl>
                                        <p:attrNameLst>
                                          <p:attrName>ppt_y</p:attrName>
                                        </p:attrNameLst>
                                      </p:cBhvr>
                                      <p:tavLst>
                                        <p:tav tm="0">
                                          <p:val>
                                            <p:strVal val="#ppt_y+.1"/>
                                          </p:val>
                                        </p:tav>
                                        <p:tav tm="100000">
                                          <p:val>
                                            <p:strVal val="#ppt_y"/>
                                          </p:val>
                                        </p:tav>
                                      </p:tavLst>
                                    </p:anim>
                                  </p:childTnLst>
                                </p:cTn>
                              </p:par>
                              <p:par>
                                <p:cTn id="180" presetID="10" presetClass="entr" presetSubtype="0" fill="hold" grpId="0" nodeType="withEffect">
                                  <p:stCondLst>
                                    <p:cond delay="1100"/>
                                  </p:stCondLst>
                                  <p:childTnLst>
                                    <p:set>
                                      <p:cBhvr>
                                        <p:cTn id="181" dur="1" fill="hold">
                                          <p:stCondLst>
                                            <p:cond delay="0"/>
                                          </p:stCondLst>
                                        </p:cTn>
                                        <p:tgtEl>
                                          <p:spTgt spid="40"/>
                                        </p:tgtEl>
                                        <p:attrNameLst>
                                          <p:attrName>style.visibility</p:attrName>
                                        </p:attrNameLst>
                                      </p:cBhvr>
                                      <p:to>
                                        <p:strVal val="visible"/>
                                      </p:to>
                                    </p:set>
                                    <p:animEffect transition="in" filter="fade">
                                      <p:cBhvr>
                                        <p:cTn id="18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Plan de la présentation</a:t>
            </a:r>
            <a:endParaRPr lang="en-US" sz="3000" dirty="0"/>
          </a:p>
        </p:txBody>
      </p:sp>
      <p:sp>
        <p:nvSpPr>
          <p:cNvPr id="3" name="pill#13"/>
          <p:cNvSpPr/>
          <p:nvPr/>
        </p:nvSpPr>
        <p:spPr>
          <a:xfrm>
            <a:off x="548640" y="384048"/>
            <a:ext cx="822960" cy="292608"/>
          </a:xfrm>
          <a:prstGeom prst="roundRect">
            <a:avLst>
              <a:gd name="adj" fmla="val 50000"/>
            </a:avLst>
          </a:prstGeom>
          <a:solidFill>
            <a:schemeClr val="accent2"/>
          </a:solidFill>
          <a:ln/>
        </p:spPr>
      </p:sp>
      <p:sp>
        <p:nvSpPr>
          <p:cNvPr id="4" name="pill#13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Sommaire</a:t>
            </a:r>
            <a:endParaRPr lang="en-US" sz="1100" dirty="0"/>
          </a:p>
        </p:txBody>
      </p:sp>
      <p:sp>
        <p:nvSpPr>
          <p:cNvPr id="5" name="plan#14"/>
          <p:cNvSpPr/>
          <p:nvPr/>
        </p:nvSpPr>
        <p:spPr>
          <a:xfrm>
            <a:off x="54864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6" name="plan#14o"/>
          <p:cNvSpPr/>
          <p:nvPr/>
        </p:nvSpPr>
        <p:spPr>
          <a:xfrm>
            <a:off x="685800" y="1965960"/>
            <a:ext cx="640080" cy="640080"/>
          </a:xfrm>
          <a:prstGeom prst="ellipse">
            <a:avLst/>
          </a:prstGeom>
          <a:solidFill>
            <a:schemeClr val="accent3"/>
          </a:solidFill>
          <a:ln/>
        </p:spPr>
      </p:sp>
      <p:sp>
        <p:nvSpPr>
          <p:cNvPr id="7" name="plan#14n"/>
          <p:cNvSpPr txBox="1"/>
          <p:nvPr/>
        </p:nvSpPr>
        <p:spPr>
          <a:xfrm>
            <a:off x="68580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01</a:t>
            </a:r>
            <a:endParaRPr lang="en-US" sz="1600" dirty="0"/>
          </a:p>
        </p:txBody>
      </p:sp>
      <p:sp>
        <p:nvSpPr>
          <p:cNvPr id="8" name="plan#14t"/>
          <p:cNvSpPr txBox="1"/>
          <p:nvPr/>
        </p:nvSpPr>
        <p:spPr>
          <a:xfrm>
            <a:off x="155448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Contexte et objectifs</a:t>
            </a:r>
            <a:endParaRPr lang="en-US" sz="1800" dirty="0"/>
          </a:p>
        </p:txBody>
      </p:sp>
      <p:sp>
        <p:nvSpPr>
          <p:cNvPr id="9" name="plan#15"/>
          <p:cNvSpPr/>
          <p:nvPr/>
        </p:nvSpPr>
        <p:spPr>
          <a:xfrm>
            <a:off x="54864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0" name="plan#15o"/>
          <p:cNvSpPr/>
          <p:nvPr/>
        </p:nvSpPr>
        <p:spPr>
          <a:xfrm>
            <a:off x="685800" y="3200400"/>
            <a:ext cx="640080" cy="640080"/>
          </a:xfrm>
          <a:prstGeom prst="ellipse">
            <a:avLst/>
          </a:prstGeom>
          <a:solidFill>
            <a:schemeClr val="accent2"/>
          </a:solidFill>
          <a:ln/>
        </p:spPr>
      </p:sp>
      <p:sp>
        <p:nvSpPr>
          <p:cNvPr id="11" name="plan#15n"/>
          <p:cNvSpPr txBox="1"/>
          <p:nvPr/>
        </p:nvSpPr>
        <p:spPr>
          <a:xfrm>
            <a:off x="68580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02</a:t>
            </a:r>
            <a:endParaRPr lang="en-US" sz="1600" dirty="0"/>
          </a:p>
        </p:txBody>
      </p:sp>
      <p:sp>
        <p:nvSpPr>
          <p:cNvPr id="12" name="plan#15t"/>
          <p:cNvSpPr txBox="1"/>
          <p:nvPr/>
        </p:nvSpPr>
        <p:spPr>
          <a:xfrm>
            <a:off x="155448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Architecture et modèle de données</a:t>
            </a:r>
            <a:endParaRPr lang="en-US" sz="1800" dirty="0"/>
          </a:p>
        </p:txBody>
      </p:sp>
      <p:sp>
        <p:nvSpPr>
          <p:cNvPr id="13" name="plan#16"/>
          <p:cNvSpPr/>
          <p:nvPr/>
        </p:nvSpPr>
        <p:spPr>
          <a:xfrm>
            <a:off x="54864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4" name="plan#16o"/>
          <p:cNvSpPr/>
          <p:nvPr/>
        </p:nvSpPr>
        <p:spPr>
          <a:xfrm>
            <a:off x="685800" y="4434840"/>
            <a:ext cx="640080" cy="640080"/>
          </a:xfrm>
          <a:prstGeom prst="ellipse">
            <a:avLst/>
          </a:prstGeom>
          <a:solidFill>
            <a:schemeClr val="accent4"/>
          </a:solidFill>
          <a:ln/>
        </p:spPr>
      </p:sp>
      <p:sp>
        <p:nvSpPr>
          <p:cNvPr id="15" name="plan#16n"/>
          <p:cNvSpPr txBox="1"/>
          <p:nvPr/>
        </p:nvSpPr>
        <p:spPr>
          <a:xfrm>
            <a:off x="68580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03</a:t>
            </a:r>
            <a:endParaRPr lang="en-US" sz="1600" dirty="0"/>
          </a:p>
        </p:txBody>
      </p:sp>
      <p:sp>
        <p:nvSpPr>
          <p:cNvPr id="16" name="plan#16t"/>
          <p:cNvSpPr txBox="1"/>
          <p:nvPr/>
        </p:nvSpPr>
        <p:spPr>
          <a:xfrm>
            <a:off x="155448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Synchronisation avec Pentaho</a:t>
            </a:r>
            <a:endParaRPr lang="en-US" sz="1800" dirty="0"/>
          </a:p>
        </p:txBody>
      </p:sp>
      <p:sp>
        <p:nvSpPr>
          <p:cNvPr id="17" name="plan#17"/>
          <p:cNvSpPr/>
          <p:nvPr/>
        </p:nvSpPr>
        <p:spPr>
          <a:xfrm>
            <a:off x="621792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8" name="plan#17o"/>
          <p:cNvSpPr/>
          <p:nvPr/>
        </p:nvSpPr>
        <p:spPr>
          <a:xfrm>
            <a:off x="6355080" y="1965960"/>
            <a:ext cx="640080" cy="640080"/>
          </a:xfrm>
          <a:prstGeom prst="ellipse">
            <a:avLst/>
          </a:prstGeom>
          <a:solidFill>
            <a:schemeClr val="accent5"/>
          </a:solidFill>
          <a:ln/>
        </p:spPr>
      </p:sp>
      <p:sp>
        <p:nvSpPr>
          <p:cNvPr id="19" name="plan#17n"/>
          <p:cNvSpPr txBox="1"/>
          <p:nvPr/>
        </p:nvSpPr>
        <p:spPr>
          <a:xfrm>
            <a:off x="635508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04</a:t>
            </a:r>
            <a:endParaRPr lang="en-US" sz="1600" dirty="0"/>
          </a:p>
        </p:txBody>
      </p:sp>
      <p:sp>
        <p:nvSpPr>
          <p:cNvPr id="20" name="plan#17t"/>
          <p:cNvSpPr txBox="1"/>
          <p:nvPr/>
        </p:nvSpPr>
        <p:spPr>
          <a:xfrm>
            <a:off x="722376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Le service SOAP</a:t>
            </a:r>
            <a:endParaRPr lang="en-US" sz="1800" dirty="0"/>
          </a:p>
        </p:txBody>
      </p:sp>
      <p:sp>
        <p:nvSpPr>
          <p:cNvPr id="21" name="plan#18"/>
          <p:cNvSpPr/>
          <p:nvPr/>
        </p:nvSpPr>
        <p:spPr>
          <a:xfrm>
            <a:off x="621792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2" name="plan#18o"/>
          <p:cNvSpPr/>
          <p:nvPr/>
        </p:nvSpPr>
        <p:spPr>
          <a:xfrm>
            <a:off x="6355080" y="3200400"/>
            <a:ext cx="640080" cy="640080"/>
          </a:xfrm>
          <a:prstGeom prst="ellipse">
            <a:avLst/>
          </a:prstGeom>
          <a:solidFill>
            <a:schemeClr val="accent3"/>
          </a:solidFill>
          <a:ln/>
        </p:spPr>
      </p:sp>
      <p:sp>
        <p:nvSpPr>
          <p:cNvPr id="23" name="plan#18n"/>
          <p:cNvSpPr txBox="1"/>
          <p:nvPr/>
        </p:nvSpPr>
        <p:spPr>
          <a:xfrm>
            <a:off x="635508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05</a:t>
            </a:r>
            <a:endParaRPr lang="en-US" sz="1600" dirty="0"/>
          </a:p>
        </p:txBody>
      </p:sp>
      <p:sp>
        <p:nvSpPr>
          <p:cNvPr id="24" name="plan#18t"/>
          <p:cNvSpPr txBox="1"/>
          <p:nvPr/>
        </p:nvSpPr>
        <p:spPr>
          <a:xfrm>
            <a:off x="722376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Supervision et tests</a:t>
            </a:r>
            <a:endParaRPr lang="en-US" sz="1800" dirty="0"/>
          </a:p>
        </p:txBody>
      </p:sp>
      <p:sp>
        <p:nvSpPr>
          <p:cNvPr id="25" name="plan#19"/>
          <p:cNvSpPr/>
          <p:nvPr/>
        </p:nvSpPr>
        <p:spPr>
          <a:xfrm>
            <a:off x="621792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6" name="plan#19o"/>
          <p:cNvSpPr/>
          <p:nvPr/>
        </p:nvSpPr>
        <p:spPr>
          <a:xfrm>
            <a:off x="6355080" y="4434840"/>
            <a:ext cx="640080" cy="640080"/>
          </a:xfrm>
          <a:prstGeom prst="ellipse">
            <a:avLst/>
          </a:prstGeom>
          <a:solidFill>
            <a:schemeClr val="accent2"/>
          </a:solidFill>
          <a:ln/>
        </p:spPr>
      </p:sp>
      <p:sp>
        <p:nvSpPr>
          <p:cNvPr id="27" name="plan#19n"/>
          <p:cNvSpPr txBox="1"/>
          <p:nvPr/>
        </p:nvSpPr>
        <p:spPr>
          <a:xfrm>
            <a:off x="635508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06</a:t>
            </a:r>
            <a:endParaRPr lang="en-US" sz="1600" dirty="0"/>
          </a:p>
        </p:txBody>
      </p:sp>
      <p:sp>
        <p:nvSpPr>
          <p:cNvPr id="28" name="plan#19t"/>
          <p:cNvSpPr txBox="1"/>
          <p:nvPr/>
        </p:nvSpPr>
        <p:spPr>
          <a:xfrm>
            <a:off x="722376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Conclusion</a:t>
            </a:r>
            <a:endParaRPr lang="en-US" sz="18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66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8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88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88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88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110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110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110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110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ing#20"/>
          <p:cNvSpPr/>
          <p:nvPr/>
        </p:nvSpPr>
        <p:spPr>
          <a:xfrm>
            <a:off x="7223760" y="1234440"/>
            <a:ext cx="4389120" cy="4389120"/>
          </a:xfrm>
          <a:prstGeom prst="ellipse">
            <a:avLst/>
          </a:prstGeom>
          <a:solidFill>
            <a:srgbClr val="1BA39C">
              <a:alpha val="20000"/>
            </a:srgbClr>
          </a:solidFill>
          <a:ln/>
        </p:spPr>
      </p:sp>
      <p:sp>
        <p:nvSpPr>
          <p:cNvPr id="3" name="ring#21"/>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01</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1</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Contexte et objectifs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Ce que demande le thème 4</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Six exigences à couvrir</a:t>
            </a:r>
            <a:endParaRPr lang="en-US" sz="3000" dirty="0"/>
          </a:p>
        </p:txBody>
      </p:sp>
      <p:sp>
        <p:nvSpPr>
          <p:cNvPr id="3" name="pill#22"/>
          <p:cNvSpPr/>
          <p:nvPr/>
        </p:nvSpPr>
        <p:spPr>
          <a:xfrm>
            <a:off x="548640" y="384048"/>
            <a:ext cx="1833372" cy="292608"/>
          </a:xfrm>
          <a:prstGeom prst="roundRect">
            <a:avLst>
              <a:gd name="adj" fmla="val 50000"/>
            </a:avLst>
          </a:prstGeom>
          <a:solidFill>
            <a:schemeClr val="accent3"/>
          </a:solidFill>
          <a:ln/>
        </p:spPr>
      </p:sp>
      <p:sp>
        <p:nvSpPr>
          <p:cNvPr id="4" name="pill#22t"/>
          <p:cNvSpPr txBox="1"/>
          <p:nvPr/>
        </p:nvSpPr>
        <p:spPr>
          <a:xfrm>
            <a:off x="548640" y="384048"/>
            <a:ext cx="1833372" cy="292608"/>
          </a:xfrm>
          <a:prstGeom prst="rect">
            <a:avLst/>
          </a:prstGeom>
          <a:noFill/>
          <a:ln/>
        </p:spPr>
        <p:txBody>
          <a:bodyPr wrap="square" lIns="0" tIns="0" rIns="0" bIns="0" rtlCol="0" anchor="ctr"/>
          <a:lstStyle/>
          <a:p>
            <a:pPr algn="ctr" indent="0" marL="0">
              <a:buNone/>
            </a:pPr>
            <a:r>
              <a:rPr lang="en-US" sz="1100" b="1" dirty="0">
                <a:solidFill>
                  <a:schemeClr val="bg1"/>
                </a:solidFill>
              </a:rPr>
              <a:t>Contexte et objectifs</a:t>
            </a:r>
            <a:endParaRPr lang="en-US" sz="1100" dirty="0"/>
          </a:p>
        </p:txBody>
      </p:sp>
      <p:sp>
        <p:nvSpPr>
          <p:cNvPr id="5" name="req#23"/>
          <p:cNvSpPr/>
          <p:nvPr/>
        </p:nvSpPr>
        <p:spPr>
          <a:xfrm>
            <a:off x="548640"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req#23d"/>
          <p:cNvSpPr/>
          <p:nvPr/>
        </p:nvSpPr>
        <p:spPr>
          <a:xfrm>
            <a:off x="822960" y="2057400"/>
            <a:ext cx="685800" cy="685800"/>
          </a:xfrm>
          <a:prstGeom prst="ellipse">
            <a:avLst/>
          </a:prstGeom>
          <a:solidFill>
            <a:schemeClr val="accent3"/>
          </a:solidFill>
          <a:ln/>
        </p:spPr>
      </p:sp>
      <p:pic>
        <p:nvPicPr>
          <p:cNvPr id="7" name="req#23di" descr="preencoded.png">    </p:cNvPr>
          <p:cNvPicPr>
            <a:picLocks noChangeAspect="1"/>
          </p:cNvPicPr>
          <p:nvPr/>
        </p:nvPicPr>
        <p:blipFill>
          <a:blip r:embed="rId1"/>
          <a:stretch>
            <a:fillRect/>
          </a:stretch>
        </p:blipFill>
        <p:spPr>
          <a:xfrm>
            <a:off x="1008126" y="2242566"/>
            <a:ext cx="315468" cy="315468"/>
          </a:xfrm>
          <a:prstGeom prst="rect">
            <a:avLst/>
          </a:prstGeom>
        </p:spPr>
      </p:pic>
      <p:sp>
        <p:nvSpPr>
          <p:cNvPr id="8" name="req#23h"/>
          <p:cNvSpPr txBox="1"/>
          <p:nvPr/>
        </p:nvSpPr>
        <p:spPr>
          <a:xfrm>
            <a:off x="1691640"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Modèle commun</a:t>
            </a:r>
            <a:endParaRPr lang="en-US" sz="1800" dirty="0"/>
          </a:p>
        </p:txBody>
      </p:sp>
      <p:sp>
        <p:nvSpPr>
          <p:cNvPr id="9" name="req#23b"/>
          <p:cNvSpPr txBox="1"/>
          <p:nvPr/>
        </p:nvSpPr>
        <p:spPr>
          <a:xfrm>
            <a:off x="822960"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Un même modèle d'employé et une base de référence.</a:t>
            </a:r>
            <a:endParaRPr lang="en-US" sz="1400" dirty="0"/>
          </a:p>
        </p:txBody>
      </p:sp>
      <p:sp>
        <p:nvSpPr>
          <p:cNvPr id="10" name="req#24"/>
          <p:cNvSpPr/>
          <p:nvPr/>
        </p:nvSpPr>
        <p:spPr>
          <a:xfrm>
            <a:off x="4315968"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1" name="req#24d"/>
          <p:cNvSpPr/>
          <p:nvPr/>
        </p:nvSpPr>
        <p:spPr>
          <a:xfrm>
            <a:off x="4590288" y="2057400"/>
            <a:ext cx="685800" cy="685800"/>
          </a:xfrm>
          <a:prstGeom prst="ellipse">
            <a:avLst/>
          </a:prstGeom>
          <a:solidFill>
            <a:schemeClr val="accent2"/>
          </a:solidFill>
          <a:ln/>
        </p:spPr>
      </p:sp>
      <p:pic>
        <p:nvPicPr>
          <p:cNvPr id="12" name="req#24di" descr="preencoded.png">    </p:cNvPr>
          <p:cNvPicPr>
            <a:picLocks noChangeAspect="1"/>
          </p:cNvPicPr>
          <p:nvPr/>
        </p:nvPicPr>
        <p:blipFill>
          <a:blip r:embed="rId2"/>
          <a:stretch>
            <a:fillRect/>
          </a:stretch>
        </p:blipFill>
        <p:spPr>
          <a:xfrm>
            <a:off x="4775454" y="2242566"/>
            <a:ext cx="315468" cy="315468"/>
          </a:xfrm>
          <a:prstGeom prst="rect">
            <a:avLst/>
          </a:prstGeom>
        </p:spPr>
      </p:pic>
      <p:sp>
        <p:nvSpPr>
          <p:cNvPr id="13" name="req#24h"/>
          <p:cNvSpPr txBox="1"/>
          <p:nvPr/>
        </p:nvSpPr>
        <p:spPr>
          <a:xfrm>
            <a:off x="5458968"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Synchronisation</a:t>
            </a:r>
            <a:endParaRPr lang="en-US" sz="1800" dirty="0"/>
          </a:p>
        </p:txBody>
      </p:sp>
      <p:sp>
        <p:nvSpPr>
          <p:cNvPr id="14" name="req#24b"/>
          <p:cNvSpPr txBox="1"/>
          <p:nvPr/>
        </p:nvSpPr>
        <p:spPr>
          <a:xfrm>
            <a:off x="4590288"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Copier MySQL vers PostgreSQL avec Pentaho.</a:t>
            </a:r>
            <a:endParaRPr lang="en-US" sz="1400" dirty="0"/>
          </a:p>
        </p:txBody>
      </p:sp>
      <p:sp>
        <p:nvSpPr>
          <p:cNvPr id="15" name="req#25"/>
          <p:cNvSpPr/>
          <p:nvPr/>
        </p:nvSpPr>
        <p:spPr>
          <a:xfrm>
            <a:off x="8083296"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6" name="req#25d"/>
          <p:cNvSpPr/>
          <p:nvPr/>
        </p:nvSpPr>
        <p:spPr>
          <a:xfrm>
            <a:off x="8357616" y="2057400"/>
            <a:ext cx="685800" cy="685800"/>
          </a:xfrm>
          <a:prstGeom prst="ellipse">
            <a:avLst/>
          </a:prstGeom>
          <a:solidFill>
            <a:schemeClr val="accent4"/>
          </a:solidFill>
          <a:ln/>
        </p:spPr>
      </p:sp>
      <p:pic>
        <p:nvPicPr>
          <p:cNvPr id="17" name="req#25di" descr="preencoded.png">    </p:cNvPr>
          <p:cNvPicPr>
            <a:picLocks noChangeAspect="1"/>
          </p:cNvPicPr>
          <p:nvPr/>
        </p:nvPicPr>
        <p:blipFill>
          <a:blip r:embed="rId3"/>
          <a:stretch>
            <a:fillRect/>
          </a:stretch>
        </p:blipFill>
        <p:spPr>
          <a:xfrm>
            <a:off x="8542782" y="2242566"/>
            <a:ext cx="315468" cy="315468"/>
          </a:xfrm>
          <a:prstGeom prst="rect">
            <a:avLst/>
          </a:prstGeom>
        </p:spPr>
      </p:pic>
      <p:sp>
        <p:nvSpPr>
          <p:cNvPr id="18" name="req#25h"/>
          <p:cNvSpPr txBox="1"/>
          <p:nvPr/>
        </p:nvSpPr>
        <p:spPr>
          <a:xfrm>
            <a:off x="9226296"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Trois opérations</a:t>
            </a:r>
            <a:endParaRPr lang="en-US" sz="1800" dirty="0"/>
          </a:p>
        </p:txBody>
      </p:sp>
      <p:sp>
        <p:nvSpPr>
          <p:cNvPr id="19" name="req#25b"/>
          <p:cNvSpPr txBox="1"/>
          <p:nvPr/>
        </p:nvSpPr>
        <p:spPr>
          <a:xfrm>
            <a:off x="8357616"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getEmployeeDetails, createEmployee, updateEmployee.</a:t>
            </a:r>
            <a:endParaRPr lang="en-US" sz="1400" dirty="0"/>
          </a:p>
        </p:txBody>
      </p:sp>
      <p:sp>
        <p:nvSpPr>
          <p:cNvPr id="20" name="req#26"/>
          <p:cNvSpPr/>
          <p:nvPr/>
        </p:nvSpPr>
        <p:spPr>
          <a:xfrm>
            <a:off x="548640"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1" name="req#26d"/>
          <p:cNvSpPr/>
          <p:nvPr/>
        </p:nvSpPr>
        <p:spPr>
          <a:xfrm>
            <a:off x="822960" y="4251960"/>
            <a:ext cx="685800" cy="685800"/>
          </a:xfrm>
          <a:prstGeom prst="ellipse">
            <a:avLst/>
          </a:prstGeom>
          <a:solidFill>
            <a:schemeClr val="accent5"/>
          </a:solidFill>
          <a:ln/>
        </p:spPr>
      </p:sp>
      <p:pic>
        <p:nvPicPr>
          <p:cNvPr id="22" name="req#26di" descr="preencoded.png">    </p:cNvPr>
          <p:cNvPicPr>
            <a:picLocks noChangeAspect="1"/>
          </p:cNvPicPr>
          <p:nvPr/>
        </p:nvPicPr>
        <p:blipFill>
          <a:blip r:embed="rId4"/>
          <a:stretch>
            <a:fillRect/>
          </a:stretch>
        </p:blipFill>
        <p:spPr>
          <a:xfrm>
            <a:off x="1008126" y="4437126"/>
            <a:ext cx="315468" cy="315468"/>
          </a:xfrm>
          <a:prstGeom prst="rect">
            <a:avLst/>
          </a:prstGeom>
        </p:spPr>
      </p:pic>
      <p:sp>
        <p:nvSpPr>
          <p:cNvPr id="23" name="req#26h"/>
          <p:cNvSpPr txBox="1"/>
          <p:nvPr/>
        </p:nvSpPr>
        <p:spPr>
          <a:xfrm>
            <a:off x="1691640"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WSDL et erreurs</a:t>
            </a:r>
            <a:endParaRPr lang="en-US" sz="1800" dirty="0"/>
          </a:p>
        </p:txBody>
      </p:sp>
      <p:sp>
        <p:nvSpPr>
          <p:cNvPr id="24" name="req#26b"/>
          <p:cNvSpPr txBox="1"/>
          <p:nvPr/>
        </p:nvSpPr>
        <p:spPr>
          <a:xfrm>
            <a:off x="822960"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Publier le contrat et documenter les SOAP Faults.</a:t>
            </a:r>
            <a:endParaRPr lang="en-US" sz="1400" dirty="0"/>
          </a:p>
        </p:txBody>
      </p:sp>
      <p:sp>
        <p:nvSpPr>
          <p:cNvPr id="25" name="req#27"/>
          <p:cNvSpPr/>
          <p:nvPr/>
        </p:nvSpPr>
        <p:spPr>
          <a:xfrm>
            <a:off x="4315968"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6" name="req#27d"/>
          <p:cNvSpPr/>
          <p:nvPr/>
        </p:nvSpPr>
        <p:spPr>
          <a:xfrm>
            <a:off x="4590288" y="4251960"/>
            <a:ext cx="685800" cy="685800"/>
          </a:xfrm>
          <a:prstGeom prst="ellipse">
            <a:avLst/>
          </a:prstGeom>
          <a:solidFill>
            <a:schemeClr val="accent3"/>
          </a:solidFill>
          <a:ln/>
        </p:spPr>
      </p:sp>
      <p:pic>
        <p:nvPicPr>
          <p:cNvPr id="27" name="req#27di" descr="preencoded.png">    </p:cNvPr>
          <p:cNvPicPr>
            <a:picLocks noChangeAspect="1"/>
          </p:cNvPicPr>
          <p:nvPr/>
        </p:nvPicPr>
        <p:blipFill>
          <a:blip r:embed="rId5"/>
          <a:stretch>
            <a:fillRect/>
          </a:stretch>
        </p:blipFill>
        <p:spPr>
          <a:xfrm>
            <a:off x="4775454" y="4437126"/>
            <a:ext cx="315468" cy="315468"/>
          </a:xfrm>
          <a:prstGeom prst="rect">
            <a:avLst/>
          </a:prstGeom>
        </p:spPr>
      </p:pic>
      <p:sp>
        <p:nvSpPr>
          <p:cNvPr id="28" name="req#27h"/>
          <p:cNvSpPr txBox="1"/>
          <p:nvPr/>
        </p:nvSpPr>
        <p:spPr>
          <a:xfrm>
            <a:off x="5458968"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Retour vers MySQL</a:t>
            </a:r>
            <a:endParaRPr lang="en-US" sz="1800" dirty="0"/>
          </a:p>
        </p:txBody>
      </p:sp>
      <p:sp>
        <p:nvSpPr>
          <p:cNvPr id="29" name="req#27b"/>
          <p:cNvSpPr txBox="1"/>
          <p:nvPr/>
        </p:nvSpPr>
        <p:spPr>
          <a:xfrm>
            <a:off x="4590288"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Répercuter les modifications faites par le service.</a:t>
            </a:r>
            <a:endParaRPr lang="en-US" sz="1400" dirty="0"/>
          </a:p>
        </p:txBody>
      </p:sp>
      <p:sp>
        <p:nvSpPr>
          <p:cNvPr id="30" name="req#28"/>
          <p:cNvSpPr/>
          <p:nvPr/>
        </p:nvSpPr>
        <p:spPr>
          <a:xfrm>
            <a:off x="8083296"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1" name="req#28d"/>
          <p:cNvSpPr/>
          <p:nvPr/>
        </p:nvSpPr>
        <p:spPr>
          <a:xfrm>
            <a:off x="8357616" y="4251960"/>
            <a:ext cx="685800" cy="685800"/>
          </a:xfrm>
          <a:prstGeom prst="ellipse">
            <a:avLst/>
          </a:prstGeom>
          <a:solidFill>
            <a:schemeClr val="accent2"/>
          </a:solidFill>
          <a:ln/>
        </p:spPr>
      </p:sp>
      <p:pic>
        <p:nvPicPr>
          <p:cNvPr id="32" name="req#28di" descr="preencoded.png">    </p:cNvPr>
          <p:cNvPicPr>
            <a:picLocks noChangeAspect="1"/>
          </p:cNvPicPr>
          <p:nvPr/>
        </p:nvPicPr>
        <p:blipFill>
          <a:blip r:embed="rId6"/>
          <a:stretch>
            <a:fillRect/>
          </a:stretch>
        </p:blipFill>
        <p:spPr>
          <a:xfrm>
            <a:off x="8542782" y="4437126"/>
            <a:ext cx="315468" cy="315468"/>
          </a:xfrm>
          <a:prstGeom prst="rect">
            <a:avLst/>
          </a:prstGeom>
        </p:spPr>
      </p:pic>
      <p:sp>
        <p:nvSpPr>
          <p:cNvPr id="33" name="req#28h"/>
          <p:cNvSpPr txBox="1"/>
          <p:nvPr/>
        </p:nvSpPr>
        <p:spPr>
          <a:xfrm>
            <a:off x="9226296"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Netdata et tests</a:t>
            </a:r>
            <a:endParaRPr lang="en-US" sz="1800" dirty="0"/>
          </a:p>
        </p:txBody>
      </p:sp>
      <p:sp>
        <p:nvSpPr>
          <p:cNvPr id="34" name="req#28b"/>
          <p:cNvSpPr txBox="1"/>
          <p:nvPr/>
        </p:nvSpPr>
        <p:spPr>
          <a:xfrm>
            <a:off x="8357616"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Superviser et tester toute la chaîne.</a:t>
            </a:r>
            <a:endParaRPr lang="en-US" sz="1400" dirty="0"/>
          </a:p>
        </p:txBody>
      </p:sp>
      <p:sp>
        <p:nvSpPr>
          <p:cNvPr id="3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110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qDot"/>
          <p:cNvSpPr/>
          <p:nvPr/>
        </p:nvSpPr>
        <p:spPr>
          <a:xfrm>
            <a:off x="5641848" y="914400"/>
            <a:ext cx="914400" cy="914400"/>
          </a:xfrm>
          <a:prstGeom prst="ellipse">
            <a:avLst/>
          </a:prstGeom>
          <a:solidFill>
            <a:schemeClr val="accent2"/>
          </a:solidFill>
          <a:ln/>
        </p:spPr>
      </p:sp>
      <p:pic>
        <p:nvPicPr>
          <p:cNvPr id="3" name="qDoti" descr="preencoded.png">    </p:cNvPr>
          <p:cNvPicPr>
            <a:picLocks noChangeAspect="1"/>
          </p:cNvPicPr>
          <p:nvPr/>
        </p:nvPicPr>
        <p:blipFill>
          <a:blip r:embed="rId1"/>
          <a:stretch>
            <a:fillRect/>
          </a:stretch>
        </p:blipFill>
        <p:spPr>
          <a:xfrm>
            <a:off x="5888736" y="1161288"/>
            <a:ext cx="420624" cy="420624"/>
          </a:xfrm>
          <a:prstGeom prst="rect">
            <a:avLst/>
          </a:prstGeom>
        </p:spPr>
      </p:pic>
      <p:sp>
        <p:nvSpPr>
          <p:cNvPr id="4" name="qLbl"/>
          <p:cNvSpPr txBox="1"/>
          <p:nvPr/>
        </p:nvSpPr>
        <p:spPr>
          <a:xfrm>
            <a:off x="548640" y="2011680"/>
            <a:ext cx="11064240" cy="365760"/>
          </a:xfrm>
          <a:prstGeom prst="rect">
            <a:avLst/>
          </a:prstGeom>
          <a:noFill/>
          <a:ln/>
        </p:spPr>
        <p:txBody>
          <a:bodyPr wrap="square" lIns="0" tIns="0" rIns="0" bIns="0" rtlCol="0" anchor="t"/>
          <a:lstStyle/>
          <a:p>
            <a:pPr algn="ctr" indent="0" marL="0">
              <a:buNone/>
            </a:pPr>
            <a:r>
              <a:rPr lang="en-US" sz="1400" b="1" spc="400" kern="0" dirty="0">
                <a:solidFill>
                  <a:schemeClr val="accent2"/>
                </a:solidFill>
              </a:rPr>
              <a:t>PROBLÉMATIQUE</a:t>
            </a:r>
            <a:endParaRPr lang="en-US" sz="1400" dirty="0"/>
          </a:p>
        </p:txBody>
      </p:sp>
      <p:sp>
        <p:nvSpPr>
          <p:cNvPr id="5" name="qTxt"/>
          <p:cNvSpPr txBox="1"/>
          <p:nvPr/>
        </p:nvSpPr>
        <p:spPr>
          <a:xfrm>
            <a:off x="1280160" y="2560320"/>
            <a:ext cx="9601200" cy="2194560"/>
          </a:xfrm>
          <a:prstGeom prst="rect">
            <a:avLst/>
          </a:prstGeom>
          <a:noFill/>
          <a:ln/>
        </p:spPr>
        <p:txBody>
          <a:bodyPr wrap="square" lIns="0" tIns="0" rIns="0" bIns="0" rtlCol="0" anchor="ctr"/>
          <a:lstStyle/>
          <a:p>
            <a:pPr algn="ctr" indent="0" marL="0">
              <a:buNone/>
            </a:pPr>
            <a:r>
              <a:rPr lang="en-US" sz="2800" b="1" dirty="0">
                <a:solidFill>
                  <a:schemeClr val="bg1"/>
                </a:solidFill>
              </a:rPr>
              <a:t>Comment exposer les données des employés par un service SOAP fiable, en gardant MySQL et PostgreSQL cohérents, et en surveillant l'ensemble en continu ?</a:t>
            </a:r>
            <a:endParaRPr lang="en-US" sz="2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ppt_w</p:attrName>
                                        </p:attrNameLst>
                                      </p:cBhvr>
                                      <p:tavLst>
                                        <p:tav tm="0">
                                          <p:val>
                                            <p:strVal val="0"/>
                                          </p:val>
                                        </p:tav>
                                        <p:tav tm="100000">
                                          <p:val>
                                            <p:strVal val="#ppt_w"/>
                                          </p:val>
                                        </p:tav>
                                      </p:tavLst>
                                    </p:anim>
                                    <p:anim calcmode="lin" valueType="num">
                                      <p:cBhvr additive="base">
                                        <p:cTn id="8" dur="500" fill="hold"/>
                                        <p:tgtEl>
                                          <p:spTgt spid="2"/>
                                        </p:tgtEl>
                                        <p:attrNameLst>
                                          <p:attrName>ppt_h</p:attrName>
                                        </p:attrNameLst>
                                      </p:cBhvr>
                                      <p:tavLst>
                                        <p:tav tm="0">
                                          <p:val>
                                            <p:str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ppt_w</p:attrName>
                                        </p:attrNameLst>
                                      </p:cBhvr>
                                      <p:tavLst>
                                        <p:tav tm="0">
                                          <p:val>
                                            <p:strVal val="0"/>
                                          </p:val>
                                        </p:tav>
                                        <p:tav tm="100000">
                                          <p:val>
                                            <p:strVal val="#ppt_w"/>
                                          </p:val>
                                        </p:tav>
                                      </p:tavLst>
                                    </p:anim>
                                    <p:anim calcmode="lin" valueType="num">
                                      <p:cBhvr additive="base">
                                        <p:cTn id="13" dur="500" fill="hold"/>
                                        <p:tgtEl>
                                          <p:spTgt spid="3"/>
                                        </p:tgtEl>
                                        <p:attrNameLst>
                                          <p:attrName>ppt_h</p:attrName>
                                        </p:attrNameLst>
                                      </p:cBhvr>
                                      <p:tavLst>
                                        <p:tav tm="0">
                                          <p:val>
                                            <p:strVal val="0"/>
                                          </p:val>
                                        </p:tav>
                                        <p:tav tm="100000">
                                          <p:val>
                                            <p:strVal val="#ppt_h"/>
                                          </p:val>
                                        </p:tav>
                                      </p:tavLst>
                                    </p:anim>
                                    <p:animEffect transition="in" filter="fade">
                                      <p:cBhvr>
                                        <p:cTn id="14" dur="500"/>
                                        <p:tgtEl>
                                          <p:spTgt spid="3"/>
                                        </p:tgtEl>
                                      </p:cBhvr>
                                    </p:animEffect>
                                  </p:childTnLst>
                                </p:cTn>
                              </p:par>
                              <p:par>
                                <p:cTn id="15" presetID="10" presetClass="entr" presetSubtype="0" fill="hold" grpId="0" nodeType="withEffect">
                                  <p:stCondLst>
                                    <p:cond delay="22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42" presetClass="entr" presetSubtype="0" fill="hold" grpId="0" nodeType="withEffect">
                                  <p:stCondLst>
                                    <p:cond delay="44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anim calcmode="lin" valueType="num">
                                      <p:cBhvr additive="base">
                                        <p:cTn id="21" dur="500" fill="hold"/>
                                        <p:tgtEl>
                                          <p:spTgt spid="5"/>
                                        </p:tgtEl>
                                        <p:attrNameLst>
                                          <p:attrName>ppt_x</p:attrName>
                                        </p:attrNameLst>
                                      </p:cBhvr>
                                      <p:tavLst>
                                        <p:tav tm="0">
                                          <p:val>
                                            <p:strVal val="#ppt_x"/>
                                          </p:val>
                                        </p:tav>
                                        <p:tav tm="100000">
                                          <p:val>
                                            <p:strVal val="#ppt_x"/>
                                          </p:val>
                                        </p:tav>
                                      </p:tavLst>
                                    </p:anim>
                                    <p:anim calcmode="lin" valueType="num">
                                      <p:cBhvr additive="base">
                                        <p:cTn id="22"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ring#29"/>
          <p:cNvSpPr/>
          <p:nvPr/>
        </p:nvSpPr>
        <p:spPr>
          <a:xfrm>
            <a:off x="7223760" y="1234440"/>
            <a:ext cx="4389120" cy="4389120"/>
          </a:xfrm>
          <a:prstGeom prst="ellipse">
            <a:avLst/>
          </a:prstGeom>
          <a:solidFill>
            <a:srgbClr val="1BA39C">
              <a:alpha val="20000"/>
            </a:srgbClr>
          </a:solidFill>
          <a:ln/>
        </p:spPr>
      </p:sp>
      <p:sp>
        <p:nvSpPr>
          <p:cNvPr id="3" name="ring#3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02</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2</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Architecture et modèle de données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Les composants et la base de référence</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Architecture de la solution</a:t>
            </a:r>
            <a:endParaRPr lang="en-US" sz="3000" dirty="0"/>
          </a:p>
        </p:txBody>
      </p:sp>
      <p:sp>
        <p:nvSpPr>
          <p:cNvPr id="3" name="pill#31"/>
          <p:cNvSpPr/>
          <p:nvPr/>
        </p:nvSpPr>
        <p:spPr>
          <a:xfrm>
            <a:off x="548640" y="384048"/>
            <a:ext cx="1133856" cy="292608"/>
          </a:xfrm>
          <a:prstGeom prst="roundRect">
            <a:avLst>
              <a:gd name="adj" fmla="val 50000"/>
            </a:avLst>
          </a:prstGeom>
          <a:solidFill>
            <a:schemeClr val="accent2"/>
          </a:solidFill>
          <a:ln/>
        </p:spPr>
      </p:sp>
      <p:sp>
        <p:nvSpPr>
          <p:cNvPr id="4" name="pill#31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bMy"/>
          <p:cNvSpPr/>
          <p:nvPr/>
        </p:nvSpPr>
        <p:spPr>
          <a:xfrm>
            <a:off x="548640" y="1828800"/>
            <a:ext cx="2468880" cy="1280160"/>
          </a:xfrm>
          <a:prstGeom prst="roundRect">
            <a:avLst>
              <a:gd name="adj" fmla="val 7143"/>
            </a:avLst>
          </a:prstGeom>
          <a:solidFill>
            <a:schemeClr val="accent4"/>
          </a:solidFill>
          <a:ln/>
          <a:effectLst>
            <a:outerShdw sx="100000" sy="100000" kx="0" ky="0" algn="bl" rotWithShape="0" blurRad="127000" dist="38100" dir="5400000">
              <a:srgbClr val="0D2340">
                <a:alpha val="12000"/>
              </a:srgbClr>
            </a:outerShdw>
          </a:effectLst>
        </p:spPr>
      </p:sp>
      <p:sp>
        <p:nvSpPr>
          <p:cNvPr id="6" name="bMyt"/>
          <p:cNvSpPr txBox="1"/>
          <p:nvPr/>
        </p:nvSpPr>
        <p:spPr>
          <a:xfrm>
            <a:off x="54864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MySQL 8</a:t>
            </a:r>
            <a:endParaRPr lang="en-US" sz="1400" dirty="0"/>
          </a:p>
          <a:p>
            <a:pPr algn="ctr" indent="0" marL="0">
              <a:buNone/>
            </a:pPr>
            <a:r>
              <a:rPr lang="en-US" sz="1200" dirty="0">
                <a:solidFill>
                  <a:schemeClr val="bg1"/>
                </a:solidFill>
              </a:rPr>
              <a:t>base source RH</a:t>
            </a:r>
            <a:endParaRPr lang="en-US" sz="1400" dirty="0"/>
          </a:p>
        </p:txBody>
      </p:sp>
      <p:sp>
        <p:nvSpPr>
          <p:cNvPr id="7" name="bPdi"/>
          <p:cNvSpPr/>
          <p:nvPr/>
        </p:nvSpPr>
        <p:spPr>
          <a:xfrm>
            <a:off x="3840480" y="1828800"/>
            <a:ext cx="2468880" cy="1280160"/>
          </a:xfrm>
          <a:prstGeom prst="roundRect">
            <a:avLst>
              <a:gd name="adj" fmla="val 7143"/>
            </a:avLst>
          </a:prstGeom>
          <a:solidFill>
            <a:schemeClr val="accent2"/>
          </a:solidFill>
          <a:ln/>
          <a:effectLst>
            <a:outerShdw sx="100000" sy="100000" kx="0" ky="0" algn="bl" rotWithShape="0" blurRad="127000" dist="38100" dir="5400000">
              <a:srgbClr val="0D2340">
                <a:alpha val="12000"/>
              </a:srgbClr>
            </a:outerShdw>
          </a:effectLst>
        </p:spPr>
      </p:sp>
      <p:sp>
        <p:nvSpPr>
          <p:cNvPr id="8" name="bPdit"/>
          <p:cNvSpPr txBox="1"/>
          <p:nvPr/>
        </p:nvSpPr>
        <p:spPr>
          <a:xfrm>
            <a:off x="384048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Pentaho PDI</a:t>
            </a:r>
            <a:endParaRPr lang="en-US" sz="1400" dirty="0"/>
          </a:p>
          <a:p>
            <a:pPr algn="ctr" indent="0" marL="0">
              <a:buNone/>
            </a:pPr>
            <a:r>
              <a:rPr lang="en-US" sz="1200" dirty="0">
                <a:solidFill>
                  <a:schemeClr val="bg1"/>
                </a:solidFill>
              </a:rPr>
              <a:t>jobs aller et retour</a:t>
            </a:r>
            <a:endParaRPr lang="en-US" sz="1400" dirty="0"/>
          </a:p>
        </p:txBody>
      </p:sp>
      <p:sp>
        <p:nvSpPr>
          <p:cNvPr id="9" name="l1"/>
          <p:cNvSpPr/>
          <p:nvPr/>
        </p:nvSpPr>
        <p:spPr>
          <a:xfrm>
            <a:off x="3017520" y="2240280"/>
            <a:ext cx="822960" cy="0"/>
          </a:xfrm>
          <a:prstGeom prst="line">
            <a:avLst/>
          </a:prstGeom>
          <a:noFill/>
          <a:ln w="25400">
            <a:solidFill>
              <a:srgbClr val="8B97AD"/>
            </a:solidFill>
            <a:prstDash val="solid"/>
            <a:tailEnd type="triangle"/>
          </a:ln>
        </p:spPr>
      </p:sp>
      <p:sp>
        <p:nvSpPr>
          <p:cNvPr id="10" name="l4"/>
          <p:cNvSpPr/>
          <p:nvPr/>
        </p:nvSpPr>
        <p:spPr>
          <a:xfrm flipH="1">
            <a:off x="3017520" y="2697480"/>
            <a:ext cx="822960" cy="0"/>
          </a:xfrm>
          <a:prstGeom prst="line">
            <a:avLst/>
          </a:prstGeom>
          <a:noFill/>
          <a:ln w="25400">
            <a:solidFill>
              <a:srgbClr val="8B97AD"/>
            </a:solidFill>
            <a:prstDash val="solid"/>
            <a:tailEnd type="triangle"/>
          </a:ln>
        </p:spPr>
      </p:sp>
      <p:sp>
        <p:nvSpPr>
          <p:cNvPr id="11" name="bPg"/>
          <p:cNvSpPr/>
          <p:nvPr/>
        </p:nvSpPr>
        <p:spPr>
          <a:xfrm>
            <a:off x="7132320" y="1828800"/>
            <a:ext cx="2468880" cy="1280160"/>
          </a:xfrm>
          <a:prstGeom prst="roundRect">
            <a:avLst>
              <a:gd name="adj" fmla="val 7143"/>
            </a:avLst>
          </a:prstGeom>
          <a:solidFill>
            <a:schemeClr val="tx2"/>
          </a:solidFill>
          <a:ln/>
          <a:effectLst>
            <a:outerShdw sx="100000" sy="100000" kx="0" ky="0" algn="bl" rotWithShape="0" blurRad="127000" dist="38100" dir="5400000">
              <a:srgbClr val="0D2340">
                <a:alpha val="12000"/>
              </a:srgbClr>
            </a:outerShdw>
          </a:effectLst>
        </p:spPr>
      </p:sp>
      <p:sp>
        <p:nvSpPr>
          <p:cNvPr id="12" name="bPgt"/>
          <p:cNvSpPr txBox="1"/>
          <p:nvPr/>
        </p:nvSpPr>
        <p:spPr>
          <a:xfrm>
            <a:off x="713232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PostgreSQL 16</a:t>
            </a:r>
            <a:endParaRPr lang="en-US" sz="1400" dirty="0"/>
          </a:p>
          <a:p>
            <a:pPr algn="ctr" indent="0" marL="0">
              <a:buNone/>
            </a:pPr>
            <a:r>
              <a:rPr lang="en-US" sz="1200" dirty="0">
                <a:solidFill>
                  <a:schemeClr val="bg1"/>
                </a:solidFill>
              </a:rPr>
              <a:t>base de référence</a:t>
            </a:r>
            <a:endParaRPr lang="en-US" sz="1400" dirty="0"/>
          </a:p>
        </p:txBody>
      </p:sp>
      <p:sp>
        <p:nvSpPr>
          <p:cNvPr id="13" name="l2"/>
          <p:cNvSpPr/>
          <p:nvPr/>
        </p:nvSpPr>
        <p:spPr>
          <a:xfrm>
            <a:off x="6309360" y="2240280"/>
            <a:ext cx="822960" cy="0"/>
          </a:xfrm>
          <a:prstGeom prst="line">
            <a:avLst/>
          </a:prstGeom>
          <a:noFill/>
          <a:ln w="25400">
            <a:solidFill>
              <a:srgbClr val="8B97AD"/>
            </a:solidFill>
            <a:prstDash val="solid"/>
            <a:tailEnd type="triangle"/>
          </a:ln>
        </p:spPr>
      </p:sp>
      <p:sp>
        <p:nvSpPr>
          <p:cNvPr id="14" name="l3"/>
          <p:cNvSpPr/>
          <p:nvPr/>
        </p:nvSpPr>
        <p:spPr>
          <a:xfrm flipH="1">
            <a:off x="6309360" y="2697480"/>
            <a:ext cx="822960" cy="0"/>
          </a:xfrm>
          <a:prstGeom prst="line">
            <a:avLst/>
          </a:prstGeom>
          <a:noFill/>
          <a:ln w="25400">
            <a:solidFill>
              <a:srgbClr val="8B97AD"/>
            </a:solidFill>
            <a:prstDash val="solid"/>
            <a:tailEnd type="triangle"/>
          </a:ln>
        </p:spPr>
      </p:sp>
      <p:sp>
        <p:nvSpPr>
          <p:cNvPr id="15" name="lb1"/>
          <p:cNvSpPr txBox="1"/>
          <p:nvPr/>
        </p:nvSpPr>
        <p:spPr>
          <a:xfrm>
            <a:off x="301752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extraction</a:t>
            </a:r>
            <a:endParaRPr lang="en-US" sz="1100" dirty="0"/>
          </a:p>
        </p:txBody>
      </p:sp>
      <p:sp>
        <p:nvSpPr>
          <p:cNvPr id="16" name="lb2"/>
          <p:cNvSpPr txBox="1"/>
          <p:nvPr/>
        </p:nvSpPr>
        <p:spPr>
          <a:xfrm>
            <a:off x="630936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chargement</a:t>
            </a:r>
            <a:endParaRPr lang="en-US" sz="1100" dirty="0"/>
          </a:p>
        </p:txBody>
      </p:sp>
      <p:sp>
        <p:nvSpPr>
          <p:cNvPr id="17" name="lb3"/>
          <p:cNvSpPr txBox="1"/>
          <p:nvPr/>
        </p:nvSpPr>
        <p:spPr>
          <a:xfrm>
            <a:off x="630936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outbox</a:t>
            </a:r>
            <a:endParaRPr lang="en-US" sz="1100" dirty="0"/>
          </a:p>
        </p:txBody>
      </p:sp>
      <p:sp>
        <p:nvSpPr>
          <p:cNvPr id="18" name="lb4"/>
          <p:cNvSpPr txBox="1"/>
          <p:nvPr/>
        </p:nvSpPr>
        <p:spPr>
          <a:xfrm>
            <a:off x="301752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retour</a:t>
            </a:r>
            <a:endParaRPr lang="en-US" sz="1100" dirty="0"/>
          </a:p>
        </p:txBody>
      </p:sp>
      <p:sp>
        <p:nvSpPr>
          <p:cNvPr id="19" name="bWs"/>
          <p:cNvSpPr/>
          <p:nvPr/>
        </p:nvSpPr>
        <p:spPr>
          <a:xfrm>
            <a:off x="7132320" y="4297680"/>
            <a:ext cx="2468880" cy="1280160"/>
          </a:xfrm>
          <a:prstGeom prst="roundRect">
            <a:avLst>
              <a:gd name="adj" fmla="val 7143"/>
            </a:avLst>
          </a:prstGeom>
          <a:solidFill>
            <a:schemeClr val="accent3"/>
          </a:solidFill>
          <a:ln/>
          <a:effectLst>
            <a:outerShdw sx="100000" sy="100000" kx="0" ky="0" algn="bl" rotWithShape="0" blurRad="127000" dist="38100" dir="5400000">
              <a:srgbClr val="0D2340">
                <a:alpha val="12000"/>
              </a:srgbClr>
            </a:outerShdw>
          </a:effectLst>
        </p:spPr>
      </p:sp>
      <p:sp>
        <p:nvSpPr>
          <p:cNvPr id="20" name="bWst"/>
          <p:cNvSpPr txBox="1"/>
          <p:nvPr/>
        </p:nvSpPr>
        <p:spPr>
          <a:xfrm>
            <a:off x="713232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Service SOAP</a:t>
            </a:r>
            <a:endParaRPr lang="en-US" sz="1400" dirty="0"/>
          </a:p>
          <a:p>
            <a:pPr algn="ctr" indent="0" marL="0">
              <a:buNone/>
            </a:pPr>
            <a:r>
              <a:rPr lang="en-US" sz="1200" dirty="0">
                <a:solidFill>
                  <a:schemeClr val="bg1"/>
                </a:solidFill>
              </a:rPr>
              <a:t>Spring Boot 3 · Apache CXF 4</a:t>
            </a:r>
            <a:endParaRPr lang="en-US" sz="1400" dirty="0"/>
          </a:p>
        </p:txBody>
      </p:sp>
      <p:sp>
        <p:nvSpPr>
          <p:cNvPr id="21" name="l5"/>
          <p:cNvSpPr/>
          <p:nvPr/>
        </p:nvSpPr>
        <p:spPr>
          <a:xfrm>
            <a:off x="8366760" y="3108960"/>
            <a:ext cx="0" cy="1188720"/>
          </a:xfrm>
          <a:prstGeom prst="line">
            <a:avLst/>
          </a:prstGeom>
          <a:noFill/>
          <a:ln w="25400">
            <a:solidFill>
              <a:srgbClr val="8B97AD"/>
            </a:solidFill>
            <a:prstDash val="solid"/>
            <a:tailEnd type="triangle"/>
          </a:ln>
        </p:spPr>
      </p:sp>
      <p:sp>
        <p:nvSpPr>
          <p:cNvPr id="22" name="lb5"/>
          <p:cNvSpPr txBox="1"/>
          <p:nvPr/>
        </p:nvSpPr>
        <p:spPr>
          <a:xfrm>
            <a:off x="8503920" y="3520440"/>
            <a:ext cx="731520" cy="274320"/>
          </a:xfrm>
          <a:prstGeom prst="rect">
            <a:avLst/>
          </a:prstGeom>
          <a:noFill/>
          <a:ln/>
        </p:spPr>
        <p:txBody>
          <a:bodyPr wrap="square" lIns="0" tIns="0" rIns="0" bIns="0" rtlCol="0" anchor="t"/>
          <a:lstStyle/>
          <a:p>
            <a:pPr indent="0" marL="0">
              <a:buNone/>
            </a:pPr>
            <a:r>
              <a:rPr lang="en-US" sz="1100" dirty="0">
                <a:solidFill>
                  <a:schemeClr val="accent6"/>
                </a:solidFill>
              </a:rPr>
              <a:t>JDBC</a:t>
            </a:r>
            <a:endParaRPr lang="en-US" sz="1100" dirty="0"/>
          </a:p>
        </p:txBody>
      </p:sp>
      <p:sp>
        <p:nvSpPr>
          <p:cNvPr id="23" name="bUi"/>
          <p:cNvSpPr/>
          <p:nvPr/>
        </p:nvSpPr>
        <p:spPr>
          <a:xfrm>
            <a:off x="10058400" y="4297680"/>
            <a:ext cx="1600200" cy="1280160"/>
          </a:xfrm>
          <a:prstGeom prst="roundRect">
            <a:avLst>
              <a:gd name="adj" fmla="val 7143"/>
            </a:avLst>
          </a:prstGeom>
          <a:solidFill>
            <a:schemeClr val="accent6"/>
          </a:solidFill>
          <a:ln/>
          <a:effectLst>
            <a:outerShdw sx="100000" sy="100000" kx="0" ky="0" algn="bl" rotWithShape="0" blurRad="127000" dist="38100" dir="5400000">
              <a:srgbClr val="0D2340">
                <a:alpha val="12000"/>
              </a:srgbClr>
            </a:outerShdw>
          </a:effectLst>
        </p:spPr>
      </p:sp>
      <p:sp>
        <p:nvSpPr>
          <p:cNvPr id="24" name="bUit"/>
          <p:cNvSpPr txBox="1"/>
          <p:nvPr/>
        </p:nvSpPr>
        <p:spPr>
          <a:xfrm>
            <a:off x="10058400" y="4297680"/>
            <a:ext cx="1600200" cy="1280160"/>
          </a:xfrm>
          <a:prstGeom prst="rect">
            <a:avLst/>
          </a:prstGeom>
          <a:noFill/>
          <a:ln/>
        </p:spPr>
        <p:txBody>
          <a:bodyPr wrap="square" lIns="0" tIns="0" rIns="0" bIns="0" rtlCol="0" anchor="ctr"/>
          <a:lstStyle/>
          <a:p>
            <a:pPr algn="ctr" indent="0" marL="0">
              <a:buNone/>
            </a:pPr>
            <a:r>
              <a:rPr lang="en-US" sz="1800" b="1" dirty="0">
                <a:solidFill>
                  <a:schemeClr val="bg1"/>
                </a:solidFill>
              </a:rPr>
              <a:t>SoapUI</a:t>
            </a:r>
            <a:endParaRPr lang="en-US" sz="1400" dirty="0"/>
          </a:p>
          <a:p>
            <a:pPr algn="ctr" indent="0" marL="0">
              <a:buNone/>
            </a:pPr>
            <a:r>
              <a:rPr lang="en-US" sz="1200" dirty="0">
                <a:solidFill>
                  <a:schemeClr val="bg1"/>
                </a:solidFill>
              </a:rPr>
              <a:t>client de test</a:t>
            </a:r>
            <a:endParaRPr lang="en-US" sz="1400" dirty="0"/>
          </a:p>
        </p:txBody>
      </p:sp>
      <p:sp>
        <p:nvSpPr>
          <p:cNvPr id="25" name="l6"/>
          <p:cNvSpPr/>
          <p:nvPr/>
        </p:nvSpPr>
        <p:spPr>
          <a:xfrm flipH="1">
            <a:off x="9601200" y="4937760"/>
            <a:ext cx="457200" cy="0"/>
          </a:xfrm>
          <a:prstGeom prst="line">
            <a:avLst/>
          </a:prstGeom>
          <a:noFill/>
          <a:ln w="25400">
            <a:solidFill>
              <a:srgbClr val="8B97AD"/>
            </a:solidFill>
            <a:prstDash val="solid"/>
            <a:tailEnd type="triangle"/>
          </a:ln>
        </p:spPr>
      </p:sp>
      <p:sp>
        <p:nvSpPr>
          <p:cNvPr id="26" name="bNd"/>
          <p:cNvSpPr/>
          <p:nvPr/>
        </p:nvSpPr>
        <p:spPr>
          <a:xfrm>
            <a:off x="548640" y="4297680"/>
            <a:ext cx="2468880" cy="1280160"/>
          </a:xfrm>
          <a:prstGeom prst="roundRect">
            <a:avLst>
              <a:gd name="adj" fmla="val 7143"/>
            </a:avLst>
          </a:prstGeom>
          <a:solidFill>
            <a:schemeClr val="accent5"/>
          </a:solidFill>
          <a:ln/>
          <a:effectLst>
            <a:outerShdw sx="100000" sy="100000" kx="0" ky="0" algn="bl" rotWithShape="0" blurRad="127000" dist="38100" dir="5400000">
              <a:srgbClr val="0D2340">
                <a:alpha val="12000"/>
              </a:srgbClr>
            </a:outerShdw>
          </a:effectLst>
        </p:spPr>
      </p:sp>
      <p:sp>
        <p:nvSpPr>
          <p:cNvPr id="27" name="bNdt"/>
          <p:cNvSpPr txBox="1"/>
          <p:nvPr/>
        </p:nvSpPr>
        <p:spPr>
          <a:xfrm>
            <a:off x="54864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Netdata</a:t>
            </a:r>
            <a:endParaRPr lang="en-US" sz="1400" dirty="0"/>
          </a:p>
          <a:p>
            <a:pPr algn="ctr" indent="0" marL="0">
              <a:buNone/>
            </a:pPr>
            <a:r>
              <a:rPr lang="en-US" sz="1200" dirty="0">
                <a:solidFill>
                  <a:schemeClr val="bg1"/>
                </a:solidFill>
              </a:rPr>
              <a:t>supervision · port 19999</a:t>
            </a:r>
            <a:endParaRPr lang="en-US" sz="1400" dirty="0"/>
          </a:p>
        </p:txBody>
      </p:sp>
      <p:sp>
        <p:nvSpPr>
          <p:cNvPr id="28" name="archTxt"/>
          <p:cNvSpPr txBox="1"/>
          <p:nvPr/>
        </p:nvSpPr>
        <p:spPr>
          <a:xfrm>
            <a:off x="3337560" y="4434840"/>
            <a:ext cx="3474720" cy="1097280"/>
          </a:xfrm>
          <a:prstGeom prst="rect">
            <a:avLst/>
          </a:prstGeom>
          <a:noFill/>
          <a:ln/>
        </p:spPr>
        <p:txBody>
          <a:bodyPr wrap="square" lIns="0" tIns="0" rIns="0" bIns="0" rtlCol="0" anchor="t"/>
          <a:lstStyle/>
          <a:p>
            <a:pPr indent="0" marL="0">
              <a:buNone/>
            </a:pPr>
            <a:r>
              <a:rPr lang="en-US" sz="1300" dirty="0">
                <a:solidFill>
                  <a:schemeClr val="tx1"/>
                </a:solidFill>
              </a:rPr>
              <a:t>Netdata surveille MySQL, PostgreSQL et le service. Tout démarre avec Docker Compose ; Pentaho s'installe à part.</a:t>
            </a:r>
            <a:endParaRPr lang="en-US" sz="13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53" presetClass="entr" presetSubtype="16"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par>
                                <p:cTn id="20" presetID="53" presetClass="entr" presetSubtype="16"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5" presetID="53" presetClass="entr" presetSubtype="16"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0" presetID="53" presetClass="entr" presetSubtype="16"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5" presetID="53" presetClass="entr" presetSubtype="16"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ppt_w</p:attrName>
                                        </p:attrNameLst>
                                      </p:cBhvr>
                                      <p:tavLst>
                                        <p:tav tm="0">
                                          <p:val>
                                            <p:strVal val="0"/>
                                          </p:val>
                                        </p:tav>
                                        <p:tav tm="100000">
                                          <p:val>
                                            <p:strVal val="#ppt_w"/>
                                          </p:val>
                                        </p:tav>
                                      </p:tavLst>
                                    </p:anim>
                                    <p:anim calcmode="lin" valueType="num">
                                      <p:cBhvr additive="base">
                                        <p:cTn id="38" dur="500" fill="hold"/>
                                        <p:tgtEl>
                                          <p:spTgt spid="11"/>
                                        </p:tgtEl>
                                        <p:attrNameLst>
                                          <p:attrName>ppt_h</p:attrName>
                                        </p:attrNameLst>
                                      </p:cBhvr>
                                      <p:tavLst>
                                        <p:tav tm="0">
                                          <p:val>
                                            <p:strVal val="0"/>
                                          </p:val>
                                        </p:tav>
                                        <p:tav tm="100000">
                                          <p:val>
                                            <p:strVal val="#ppt_h"/>
                                          </p:val>
                                        </p:tav>
                                      </p:tavLst>
                                    </p:anim>
                                    <p:animEffect transition="in" filter="fade">
                                      <p:cBhvr>
                                        <p:cTn id="39" dur="500"/>
                                        <p:tgtEl>
                                          <p:spTgt spid="11"/>
                                        </p:tgtEl>
                                      </p:cBhvr>
                                    </p:animEffect>
                                  </p:childTnLst>
                                </p:cTn>
                              </p:par>
                              <p:par>
                                <p:cTn id="40" presetID="53" presetClass="entr" presetSubtype="16"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ppt_w</p:attrName>
                                        </p:attrNameLst>
                                      </p:cBhvr>
                                      <p:tavLst>
                                        <p:tav tm="0">
                                          <p:val>
                                            <p:strVal val="0"/>
                                          </p:val>
                                        </p:tav>
                                        <p:tav tm="100000">
                                          <p:val>
                                            <p:strVal val="#ppt_w"/>
                                          </p:val>
                                        </p:tav>
                                      </p:tavLst>
                                    </p:anim>
                                    <p:anim calcmode="lin" valueType="num">
                                      <p:cBhvr additive="base">
                                        <p:cTn id="43" dur="500" fill="hold"/>
                                        <p:tgtEl>
                                          <p:spTgt spid="12"/>
                                        </p:tgtEl>
                                        <p:attrNameLst>
                                          <p:attrName>ppt_h</p:attrName>
                                        </p:attrNameLst>
                                      </p:cBhvr>
                                      <p:tavLst>
                                        <p:tav tm="0">
                                          <p:val>
                                            <p:strVal val="0"/>
                                          </p:val>
                                        </p:tav>
                                        <p:tav tm="100000">
                                          <p:val>
                                            <p:strVal val="#ppt_h"/>
                                          </p:val>
                                        </p:tav>
                                      </p:tavLst>
                                    </p:anim>
                                    <p:animEffect transition="in" filter="fade">
                                      <p:cBhvr>
                                        <p:cTn id="44" dur="500"/>
                                        <p:tgtEl>
                                          <p:spTgt spid="12"/>
                                        </p:tgtEl>
                                      </p:cBhvr>
                                    </p:animEffect>
                                  </p:childTnLst>
                                </p:cTn>
                              </p:par>
                              <p:par>
                                <p:cTn id="45" presetID="53" presetClass="entr" presetSubtype="16"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par>
                                <p:cTn id="50" presetID="53" presetClass="entr" presetSubtype="16"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ppt_w</p:attrName>
                                        </p:attrNameLst>
                                      </p:cBhvr>
                                      <p:tavLst>
                                        <p:tav tm="0">
                                          <p:val>
                                            <p:strVal val="0"/>
                                          </p:val>
                                        </p:tav>
                                        <p:tav tm="100000">
                                          <p:val>
                                            <p:strVal val="#ppt_w"/>
                                          </p:val>
                                        </p:tav>
                                      </p:tavLst>
                                    </p:anim>
                                    <p:anim calcmode="lin" valueType="num">
                                      <p:cBhvr additive="base">
                                        <p:cTn id="53" dur="500" fill="hold"/>
                                        <p:tgtEl>
                                          <p:spTgt spid="14"/>
                                        </p:tgtEl>
                                        <p:attrNameLst>
                                          <p:attrName>ppt_h</p:attrName>
                                        </p:attrNameLst>
                                      </p:cBhvr>
                                      <p:tavLst>
                                        <p:tav tm="0">
                                          <p:val>
                                            <p:strVal val="0"/>
                                          </p:val>
                                        </p:tav>
                                        <p:tav tm="100000">
                                          <p:val>
                                            <p:strVal val="#ppt_h"/>
                                          </p:val>
                                        </p:tav>
                                      </p:tavLst>
                                    </p:anim>
                                    <p:animEffect transition="in" filter="fade">
                                      <p:cBhvr>
                                        <p:cTn id="54" dur="500"/>
                                        <p:tgtEl>
                                          <p:spTgt spid="14"/>
                                        </p:tgtEl>
                                      </p:cBhvr>
                                    </p:animEffect>
                                  </p:childTnLst>
                                </p:cTn>
                              </p:par>
                              <p:par>
                                <p:cTn id="55" presetID="10"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childTnLst>
                                </p:cTn>
                              </p:par>
                              <p:par>
                                <p:cTn id="58" presetID="10" presetClass="entr" presetSubtype="0" fill="hold" grpId="0" nodeType="withEffect">
                                  <p:stCondLst>
                                    <p:cond delay="6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childTnLst>
                                </p:cTn>
                              </p:par>
                              <p:par>
                                <p:cTn id="61" presetID="10" presetClass="entr" presetSubtype="0" fill="hold" grpId="0" nodeType="withEffect">
                                  <p:stCondLst>
                                    <p:cond delay="6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childTnLst>
                                </p:cTn>
                              </p:par>
                              <p:par>
                                <p:cTn id="64" presetID="10" presetClass="entr" presetSubtype="0" fill="hold" grpId="0" nodeType="withEffect">
                                  <p:stCondLst>
                                    <p:cond delay="66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childTnLst>
                                </p:cTn>
                              </p:par>
                              <p:par>
                                <p:cTn id="67" presetID="53" presetClass="entr" presetSubtype="16" fill="hold" grpId="0" nodeType="withEffect">
                                  <p:stCondLst>
                                    <p:cond delay="880"/>
                                  </p:stCondLst>
                                  <p:childTnLst>
                                    <p:set>
                                      <p:cBhvr>
                                        <p:cTn id="68" dur="1" fill="hold">
                                          <p:stCondLst>
                                            <p:cond delay="0"/>
                                          </p:stCondLst>
                                        </p:cTn>
                                        <p:tgtEl>
                                          <p:spTgt spid="19"/>
                                        </p:tgtEl>
                                        <p:attrNameLst>
                                          <p:attrName>style.visibility</p:attrName>
                                        </p:attrNameLst>
                                      </p:cBhvr>
                                      <p:to>
                                        <p:strVal val="visible"/>
                                      </p:to>
                                    </p:set>
                                    <p:anim calcmode="lin" valueType="num">
                                      <p:cBhvr additive="base">
                                        <p:cTn id="69" dur="500" fill="hold"/>
                                        <p:tgtEl>
                                          <p:spTgt spid="19"/>
                                        </p:tgtEl>
                                        <p:attrNameLst>
                                          <p:attrName>ppt_w</p:attrName>
                                        </p:attrNameLst>
                                      </p:cBhvr>
                                      <p:tavLst>
                                        <p:tav tm="0">
                                          <p:val>
                                            <p:strVal val="0"/>
                                          </p:val>
                                        </p:tav>
                                        <p:tav tm="100000">
                                          <p:val>
                                            <p:strVal val="#ppt_w"/>
                                          </p:val>
                                        </p:tav>
                                      </p:tavLst>
                                    </p:anim>
                                    <p:anim calcmode="lin" valueType="num">
                                      <p:cBhvr additive="base">
                                        <p:cTn id="70" dur="500" fill="hold"/>
                                        <p:tgtEl>
                                          <p:spTgt spid="19"/>
                                        </p:tgtEl>
                                        <p:attrNameLst>
                                          <p:attrName>ppt_h</p:attrName>
                                        </p:attrNameLst>
                                      </p:cBhvr>
                                      <p:tavLst>
                                        <p:tav tm="0">
                                          <p:val>
                                            <p:strVal val="0"/>
                                          </p:val>
                                        </p:tav>
                                        <p:tav tm="100000">
                                          <p:val>
                                            <p:strVal val="#ppt_h"/>
                                          </p:val>
                                        </p:tav>
                                      </p:tavLst>
                                    </p:anim>
                                    <p:animEffect transition="in" filter="fade">
                                      <p:cBhvr>
                                        <p:cTn id="71" dur="500"/>
                                        <p:tgtEl>
                                          <p:spTgt spid="19"/>
                                        </p:tgtEl>
                                      </p:cBhvr>
                                    </p:animEffect>
                                  </p:childTnLst>
                                </p:cTn>
                              </p:par>
                              <p:par>
                                <p:cTn id="72" presetID="53" presetClass="entr" presetSubtype="16" fill="hold" grpId="0" nodeType="withEffect">
                                  <p:stCondLst>
                                    <p:cond delay="880"/>
                                  </p:stCondLst>
                                  <p:childTnLst>
                                    <p:set>
                                      <p:cBhvr>
                                        <p:cTn id="73" dur="1" fill="hold">
                                          <p:stCondLst>
                                            <p:cond delay="0"/>
                                          </p:stCondLst>
                                        </p:cTn>
                                        <p:tgtEl>
                                          <p:spTgt spid="20"/>
                                        </p:tgtEl>
                                        <p:attrNameLst>
                                          <p:attrName>style.visibility</p:attrName>
                                        </p:attrNameLst>
                                      </p:cBhvr>
                                      <p:to>
                                        <p:strVal val="visible"/>
                                      </p:to>
                                    </p:set>
                                    <p:anim calcmode="lin" valueType="num">
                                      <p:cBhvr additive="base">
                                        <p:cTn id="74" dur="500" fill="hold"/>
                                        <p:tgtEl>
                                          <p:spTgt spid="20"/>
                                        </p:tgtEl>
                                        <p:attrNameLst>
                                          <p:attrName>ppt_w</p:attrName>
                                        </p:attrNameLst>
                                      </p:cBhvr>
                                      <p:tavLst>
                                        <p:tav tm="0">
                                          <p:val>
                                            <p:strVal val="0"/>
                                          </p:val>
                                        </p:tav>
                                        <p:tav tm="100000">
                                          <p:val>
                                            <p:strVal val="#ppt_w"/>
                                          </p:val>
                                        </p:tav>
                                      </p:tavLst>
                                    </p:anim>
                                    <p:anim calcmode="lin" valueType="num">
                                      <p:cBhvr additive="base">
                                        <p:cTn id="75" dur="500" fill="hold"/>
                                        <p:tgtEl>
                                          <p:spTgt spid="20"/>
                                        </p:tgtEl>
                                        <p:attrNameLst>
                                          <p:attrName>ppt_h</p:attrName>
                                        </p:attrNameLst>
                                      </p:cBhvr>
                                      <p:tavLst>
                                        <p:tav tm="0">
                                          <p:val>
                                            <p:strVal val="0"/>
                                          </p:val>
                                        </p:tav>
                                        <p:tav tm="100000">
                                          <p:val>
                                            <p:strVal val="#ppt_h"/>
                                          </p:val>
                                        </p:tav>
                                      </p:tavLst>
                                    </p:anim>
                                    <p:animEffect transition="in" filter="fade">
                                      <p:cBhvr>
                                        <p:cTn id="76" dur="500"/>
                                        <p:tgtEl>
                                          <p:spTgt spid="20"/>
                                        </p:tgtEl>
                                      </p:cBhvr>
                                    </p:animEffect>
                                  </p:childTnLst>
                                </p:cTn>
                              </p:par>
                              <p:par>
                                <p:cTn id="77" presetID="53" presetClass="entr" presetSubtype="16" fill="hold" grpId="0" nodeType="withEffect">
                                  <p:stCondLst>
                                    <p:cond delay="880"/>
                                  </p:stCondLst>
                                  <p:childTnLst>
                                    <p:set>
                                      <p:cBhvr>
                                        <p:cTn id="78" dur="1" fill="hold">
                                          <p:stCondLst>
                                            <p:cond delay="0"/>
                                          </p:stCondLst>
                                        </p:cTn>
                                        <p:tgtEl>
                                          <p:spTgt spid="21"/>
                                        </p:tgtEl>
                                        <p:attrNameLst>
                                          <p:attrName>style.visibility</p:attrName>
                                        </p:attrNameLst>
                                      </p:cBhvr>
                                      <p:to>
                                        <p:strVal val="visible"/>
                                      </p:to>
                                    </p:set>
                                    <p:anim calcmode="lin" valueType="num">
                                      <p:cBhvr additive="base">
                                        <p:cTn id="79" dur="500" fill="hold"/>
                                        <p:tgtEl>
                                          <p:spTgt spid="21"/>
                                        </p:tgtEl>
                                        <p:attrNameLst>
                                          <p:attrName>ppt_w</p:attrName>
                                        </p:attrNameLst>
                                      </p:cBhvr>
                                      <p:tavLst>
                                        <p:tav tm="0">
                                          <p:val>
                                            <p:strVal val="0"/>
                                          </p:val>
                                        </p:tav>
                                        <p:tav tm="100000">
                                          <p:val>
                                            <p:strVal val="#ppt_w"/>
                                          </p:val>
                                        </p:tav>
                                      </p:tavLst>
                                    </p:anim>
                                    <p:anim calcmode="lin" valueType="num">
                                      <p:cBhvr additive="base">
                                        <p:cTn id="80" dur="500" fill="hold"/>
                                        <p:tgtEl>
                                          <p:spTgt spid="21"/>
                                        </p:tgtEl>
                                        <p:attrNameLst>
                                          <p:attrName>ppt_h</p:attrName>
                                        </p:attrNameLst>
                                      </p:cBhvr>
                                      <p:tavLst>
                                        <p:tav tm="0">
                                          <p:val>
                                            <p:strVal val="0"/>
                                          </p:val>
                                        </p:tav>
                                        <p:tav tm="100000">
                                          <p:val>
                                            <p:strVal val="#ppt_h"/>
                                          </p:val>
                                        </p:tav>
                                      </p:tavLst>
                                    </p:anim>
                                    <p:animEffect transition="in" filter="fade">
                                      <p:cBhvr>
                                        <p:cTn id="81" dur="500"/>
                                        <p:tgtEl>
                                          <p:spTgt spid="21"/>
                                        </p:tgtEl>
                                      </p:cBhvr>
                                    </p:animEffect>
                                  </p:childTnLst>
                                </p:cTn>
                              </p:par>
                              <p:par>
                                <p:cTn id="82" presetID="53" presetClass="entr" presetSubtype="16" fill="hold" grpId="0" nodeType="withEffect">
                                  <p:stCondLst>
                                    <p:cond delay="880"/>
                                  </p:stCondLst>
                                  <p:childTnLst>
                                    <p:set>
                                      <p:cBhvr>
                                        <p:cTn id="83" dur="1" fill="hold">
                                          <p:stCondLst>
                                            <p:cond delay="0"/>
                                          </p:stCondLst>
                                        </p:cTn>
                                        <p:tgtEl>
                                          <p:spTgt spid="22"/>
                                        </p:tgtEl>
                                        <p:attrNameLst>
                                          <p:attrName>style.visibility</p:attrName>
                                        </p:attrNameLst>
                                      </p:cBhvr>
                                      <p:to>
                                        <p:strVal val="visible"/>
                                      </p:to>
                                    </p:set>
                                    <p:anim calcmode="lin" valueType="num">
                                      <p:cBhvr additive="base">
                                        <p:cTn id="84" dur="500" fill="hold"/>
                                        <p:tgtEl>
                                          <p:spTgt spid="22"/>
                                        </p:tgtEl>
                                        <p:attrNameLst>
                                          <p:attrName>ppt_w</p:attrName>
                                        </p:attrNameLst>
                                      </p:cBhvr>
                                      <p:tavLst>
                                        <p:tav tm="0">
                                          <p:val>
                                            <p:strVal val="0"/>
                                          </p:val>
                                        </p:tav>
                                        <p:tav tm="100000">
                                          <p:val>
                                            <p:strVal val="#ppt_w"/>
                                          </p:val>
                                        </p:tav>
                                      </p:tavLst>
                                    </p:anim>
                                    <p:anim calcmode="lin" valueType="num">
                                      <p:cBhvr additive="base">
                                        <p:cTn id="85" dur="500" fill="hold"/>
                                        <p:tgtEl>
                                          <p:spTgt spid="22"/>
                                        </p:tgtEl>
                                        <p:attrNameLst>
                                          <p:attrName>ppt_h</p:attrName>
                                        </p:attrNameLst>
                                      </p:cBhvr>
                                      <p:tavLst>
                                        <p:tav tm="0">
                                          <p:val>
                                            <p:strVal val="0"/>
                                          </p:val>
                                        </p:tav>
                                        <p:tav tm="100000">
                                          <p:val>
                                            <p:strVal val="#ppt_h"/>
                                          </p:val>
                                        </p:tav>
                                      </p:tavLst>
                                    </p:anim>
                                    <p:animEffect transition="in" filter="fade">
                                      <p:cBhvr>
                                        <p:cTn id="86" dur="500"/>
                                        <p:tgtEl>
                                          <p:spTgt spid="22"/>
                                        </p:tgtEl>
                                      </p:cBhvr>
                                    </p:animEffect>
                                  </p:childTnLst>
                                </p:cTn>
                              </p:par>
                              <p:par>
                                <p:cTn id="87" presetID="53" presetClass="entr" presetSubtype="16" fill="hold" grpId="0" nodeType="withEffect">
                                  <p:stCondLst>
                                    <p:cond delay="1100"/>
                                  </p:stCondLst>
                                  <p:childTnLst>
                                    <p:set>
                                      <p:cBhvr>
                                        <p:cTn id="88" dur="1" fill="hold">
                                          <p:stCondLst>
                                            <p:cond delay="0"/>
                                          </p:stCondLst>
                                        </p:cTn>
                                        <p:tgtEl>
                                          <p:spTgt spid="23"/>
                                        </p:tgtEl>
                                        <p:attrNameLst>
                                          <p:attrName>style.visibility</p:attrName>
                                        </p:attrNameLst>
                                      </p:cBhvr>
                                      <p:to>
                                        <p:strVal val="visible"/>
                                      </p:to>
                                    </p:set>
                                    <p:anim calcmode="lin" valueType="num">
                                      <p:cBhvr additive="base">
                                        <p:cTn id="89" dur="500" fill="hold"/>
                                        <p:tgtEl>
                                          <p:spTgt spid="23"/>
                                        </p:tgtEl>
                                        <p:attrNameLst>
                                          <p:attrName>ppt_w</p:attrName>
                                        </p:attrNameLst>
                                      </p:cBhvr>
                                      <p:tavLst>
                                        <p:tav tm="0">
                                          <p:val>
                                            <p:strVal val="0"/>
                                          </p:val>
                                        </p:tav>
                                        <p:tav tm="100000">
                                          <p:val>
                                            <p:strVal val="#ppt_w"/>
                                          </p:val>
                                        </p:tav>
                                      </p:tavLst>
                                    </p:anim>
                                    <p:anim calcmode="lin" valueType="num">
                                      <p:cBhvr additive="base">
                                        <p:cTn id="90" dur="500" fill="hold"/>
                                        <p:tgtEl>
                                          <p:spTgt spid="23"/>
                                        </p:tgtEl>
                                        <p:attrNameLst>
                                          <p:attrName>ppt_h</p:attrName>
                                        </p:attrNameLst>
                                      </p:cBhvr>
                                      <p:tavLst>
                                        <p:tav tm="0">
                                          <p:val>
                                            <p:strVal val="0"/>
                                          </p:val>
                                        </p:tav>
                                        <p:tav tm="100000">
                                          <p:val>
                                            <p:strVal val="#ppt_h"/>
                                          </p:val>
                                        </p:tav>
                                      </p:tavLst>
                                    </p:anim>
                                    <p:animEffect transition="in" filter="fade">
                                      <p:cBhvr>
                                        <p:cTn id="91" dur="500"/>
                                        <p:tgtEl>
                                          <p:spTgt spid="23"/>
                                        </p:tgtEl>
                                      </p:cBhvr>
                                    </p:animEffect>
                                  </p:childTnLst>
                                </p:cTn>
                              </p:par>
                              <p:par>
                                <p:cTn id="92" presetID="53" presetClass="entr" presetSubtype="16" fill="hold" grpId="0" nodeType="withEffect">
                                  <p:stCondLst>
                                    <p:cond delay="1100"/>
                                  </p:stCondLst>
                                  <p:childTnLst>
                                    <p:set>
                                      <p:cBhvr>
                                        <p:cTn id="93" dur="1" fill="hold">
                                          <p:stCondLst>
                                            <p:cond delay="0"/>
                                          </p:stCondLst>
                                        </p:cTn>
                                        <p:tgtEl>
                                          <p:spTgt spid="24"/>
                                        </p:tgtEl>
                                        <p:attrNameLst>
                                          <p:attrName>style.visibility</p:attrName>
                                        </p:attrNameLst>
                                      </p:cBhvr>
                                      <p:to>
                                        <p:strVal val="visible"/>
                                      </p:to>
                                    </p:set>
                                    <p:anim calcmode="lin" valueType="num">
                                      <p:cBhvr additive="base">
                                        <p:cTn id="94" dur="500" fill="hold"/>
                                        <p:tgtEl>
                                          <p:spTgt spid="24"/>
                                        </p:tgtEl>
                                        <p:attrNameLst>
                                          <p:attrName>ppt_w</p:attrName>
                                        </p:attrNameLst>
                                      </p:cBhvr>
                                      <p:tavLst>
                                        <p:tav tm="0">
                                          <p:val>
                                            <p:strVal val="0"/>
                                          </p:val>
                                        </p:tav>
                                        <p:tav tm="100000">
                                          <p:val>
                                            <p:strVal val="#ppt_w"/>
                                          </p:val>
                                        </p:tav>
                                      </p:tavLst>
                                    </p:anim>
                                    <p:anim calcmode="lin" valueType="num">
                                      <p:cBhvr additive="base">
                                        <p:cTn id="95" dur="500" fill="hold"/>
                                        <p:tgtEl>
                                          <p:spTgt spid="24"/>
                                        </p:tgtEl>
                                        <p:attrNameLst>
                                          <p:attrName>ppt_h</p:attrName>
                                        </p:attrNameLst>
                                      </p:cBhvr>
                                      <p:tavLst>
                                        <p:tav tm="0">
                                          <p:val>
                                            <p:strVal val="0"/>
                                          </p:val>
                                        </p:tav>
                                        <p:tav tm="100000">
                                          <p:val>
                                            <p:strVal val="#ppt_h"/>
                                          </p:val>
                                        </p:tav>
                                      </p:tavLst>
                                    </p:anim>
                                    <p:animEffect transition="in" filter="fade">
                                      <p:cBhvr>
                                        <p:cTn id="96" dur="500"/>
                                        <p:tgtEl>
                                          <p:spTgt spid="24"/>
                                        </p:tgtEl>
                                      </p:cBhvr>
                                    </p:animEffect>
                                  </p:childTnLst>
                                </p:cTn>
                              </p:par>
                              <p:par>
                                <p:cTn id="97" presetID="53" presetClass="entr" presetSubtype="16" fill="hold" grpId="0" nodeType="withEffect">
                                  <p:stCondLst>
                                    <p:cond delay="110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9" dur="500" fill="hold"/>
                                        <p:tgtEl>
                                          <p:spTgt spid="25"/>
                                        </p:tgtEl>
                                        <p:attrNameLst>
                                          <p:attrName>ppt_w</p:attrName>
                                        </p:attrNameLst>
                                      </p:cBhvr>
                                      <p:tavLst>
                                        <p:tav tm="0">
                                          <p:val>
                                            <p:strVal val="0"/>
                                          </p:val>
                                        </p:tav>
                                        <p:tav tm="100000">
                                          <p:val>
                                            <p:strVal val="#ppt_w"/>
                                          </p:val>
                                        </p:tav>
                                      </p:tavLst>
                                    </p:anim>
                                    <p:anim calcmode="lin" valueType="num">
                                      <p:cBhvr additive="base">
                                        <p:cTn id="100" dur="500" fill="hold"/>
                                        <p:tgtEl>
                                          <p:spTgt spid="25"/>
                                        </p:tgtEl>
                                        <p:attrNameLst>
                                          <p:attrName>ppt_h</p:attrName>
                                        </p:attrNameLst>
                                      </p:cBhvr>
                                      <p:tavLst>
                                        <p:tav tm="0">
                                          <p:val>
                                            <p:strVal val="0"/>
                                          </p:val>
                                        </p:tav>
                                        <p:tav tm="100000">
                                          <p:val>
                                            <p:strVal val="#ppt_h"/>
                                          </p:val>
                                        </p:tav>
                                      </p:tavLst>
                                    </p:anim>
                                    <p:animEffect transition="in" filter="fade">
                                      <p:cBhvr>
                                        <p:cTn id="101" dur="500"/>
                                        <p:tgtEl>
                                          <p:spTgt spid="25"/>
                                        </p:tgtEl>
                                      </p:cBhvr>
                                    </p:animEffect>
                                  </p:childTnLst>
                                </p:cTn>
                              </p:par>
                              <p:par>
                                <p:cTn id="102" presetID="53" presetClass="entr" presetSubtype="16" fill="hold" grpId="0" nodeType="withEffect">
                                  <p:stCondLst>
                                    <p:cond delay="1320"/>
                                  </p:stCondLst>
                                  <p:childTnLst>
                                    <p:set>
                                      <p:cBhvr>
                                        <p:cTn id="103" dur="1" fill="hold">
                                          <p:stCondLst>
                                            <p:cond delay="0"/>
                                          </p:stCondLst>
                                        </p:cTn>
                                        <p:tgtEl>
                                          <p:spTgt spid="26"/>
                                        </p:tgtEl>
                                        <p:attrNameLst>
                                          <p:attrName>style.visibility</p:attrName>
                                        </p:attrNameLst>
                                      </p:cBhvr>
                                      <p:to>
                                        <p:strVal val="visible"/>
                                      </p:to>
                                    </p:set>
                                    <p:anim calcmode="lin" valueType="num">
                                      <p:cBhvr additive="base">
                                        <p:cTn id="104" dur="500" fill="hold"/>
                                        <p:tgtEl>
                                          <p:spTgt spid="26"/>
                                        </p:tgtEl>
                                        <p:attrNameLst>
                                          <p:attrName>ppt_w</p:attrName>
                                        </p:attrNameLst>
                                      </p:cBhvr>
                                      <p:tavLst>
                                        <p:tav tm="0">
                                          <p:val>
                                            <p:strVal val="0"/>
                                          </p:val>
                                        </p:tav>
                                        <p:tav tm="100000">
                                          <p:val>
                                            <p:strVal val="#ppt_w"/>
                                          </p:val>
                                        </p:tav>
                                      </p:tavLst>
                                    </p:anim>
                                    <p:anim calcmode="lin" valueType="num">
                                      <p:cBhvr additive="base">
                                        <p:cTn id="105" dur="500" fill="hold"/>
                                        <p:tgtEl>
                                          <p:spTgt spid="26"/>
                                        </p:tgtEl>
                                        <p:attrNameLst>
                                          <p:attrName>ppt_h</p:attrName>
                                        </p:attrNameLst>
                                      </p:cBhvr>
                                      <p:tavLst>
                                        <p:tav tm="0">
                                          <p:val>
                                            <p:strVal val="0"/>
                                          </p:val>
                                        </p:tav>
                                        <p:tav tm="100000">
                                          <p:val>
                                            <p:strVal val="#ppt_h"/>
                                          </p:val>
                                        </p:tav>
                                      </p:tavLst>
                                    </p:anim>
                                    <p:animEffect transition="in" filter="fade">
                                      <p:cBhvr>
                                        <p:cTn id="106" dur="500"/>
                                        <p:tgtEl>
                                          <p:spTgt spid="26"/>
                                        </p:tgtEl>
                                      </p:cBhvr>
                                    </p:animEffect>
                                  </p:childTnLst>
                                </p:cTn>
                              </p:par>
                              <p:par>
                                <p:cTn id="107" presetID="53" presetClass="entr" presetSubtype="16" fill="hold" grpId="0" nodeType="withEffect">
                                  <p:stCondLst>
                                    <p:cond delay="1320"/>
                                  </p:stCondLst>
                                  <p:childTnLst>
                                    <p:set>
                                      <p:cBhvr>
                                        <p:cTn id="108" dur="1" fill="hold">
                                          <p:stCondLst>
                                            <p:cond delay="0"/>
                                          </p:stCondLst>
                                        </p:cTn>
                                        <p:tgtEl>
                                          <p:spTgt spid="27"/>
                                        </p:tgtEl>
                                        <p:attrNameLst>
                                          <p:attrName>style.visibility</p:attrName>
                                        </p:attrNameLst>
                                      </p:cBhvr>
                                      <p:to>
                                        <p:strVal val="visible"/>
                                      </p:to>
                                    </p:set>
                                    <p:anim calcmode="lin" valueType="num">
                                      <p:cBhvr additive="base">
                                        <p:cTn id="109" dur="500" fill="hold"/>
                                        <p:tgtEl>
                                          <p:spTgt spid="27"/>
                                        </p:tgtEl>
                                        <p:attrNameLst>
                                          <p:attrName>ppt_w</p:attrName>
                                        </p:attrNameLst>
                                      </p:cBhvr>
                                      <p:tavLst>
                                        <p:tav tm="0">
                                          <p:val>
                                            <p:strVal val="0"/>
                                          </p:val>
                                        </p:tav>
                                        <p:tav tm="100000">
                                          <p:val>
                                            <p:strVal val="#ppt_w"/>
                                          </p:val>
                                        </p:tav>
                                      </p:tavLst>
                                    </p:anim>
                                    <p:anim calcmode="lin" valueType="num">
                                      <p:cBhvr additive="base">
                                        <p:cTn id="110" dur="500" fill="hold"/>
                                        <p:tgtEl>
                                          <p:spTgt spid="27"/>
                                        </p:tgtEl>
                                        <p:attrNameLst>
                                          <p:attrName>ppt_h</p:attrName>
                                        </p:attrNameLst>
                                      </p:cBhvr>
                                      <p:tavLst>
                                        <p:tav tm="0">
                                          <p:val>
                                            <p:strVal val="0"/>
                                          </p:val>
                                        </p:tav>
                                        <p:tav tm="100000">
                                          <p:val>
                                            <p:strVal val="#ppt_h"/>
                                          </p:val>
                                        </p:tav>
                                      </p:tavLst>
                                    </p:anim>
                                    <p:animEffect transition="in" filter="fade">
                                      <p:cBhvr>
                                        <p:cTn id="111" dur="500"/>
                                        <p:tgtEl>
                                          <p:spTgt spid="27"/>
                                        </p:tgtEl>
                                      </p:cBhvr>
                                    </p:animEffect>
                                  </p:childTnLst>
                                </p:cTn>
                              </p:par>
                              <p:par>
                                <p:cTn id="112" presetID="10" presetClass="entr" presetSubtype="0" fill="hold" grpId="0" nodeType="withEffect">
                                  <p:stCondLst>
                                    <p:cond delay="154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Technologies utilisées</a:t>
            </a:r>
            <a:endParaRPr lang="en-US" sz="3000" dirty="0"/>
          </a:p>
        </p:txBody>
      </p:sp>
      <p:sp>
        <p:nvSpPr>
          <p:cNvPr id="3" name="pill#32"/>
          <p:cNvSpPr/>
          <p:nvPr/>
        </p:nvSpPr>
        <p:spPr>
          <a:xfrm>
            <a:off x="548640" y="384048"/>
            <a:ext cx="1133856" cy="292608"/>
          </a:xfrm>
          <a:prstGeom prst="roundRect">
            <a:avLst>
              <a:gd name="adj" fmla="val 50000"/>
            </a:avLst>
          </a:prstGeom>
          <a:solidFill>
            <a:schemeClr val="accent2"/>
          </a:solidFill>
          <a:ln/>
        </p:spPr>
      </p:sp>
      <p:sp>
        <p:nvSpPr>
          <p:cNvPr id="4" name="pill#32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tech#33"/>
          <p:cNvSpPr/>
          <p:nvPr/>
        </p:nvSpPr>
        <p:spPr>
          <a:xfrm>
            <a:off x="548640" y="1783080"/>
            <a:ext cx="2560320" cy="1965960"/>
          </a:xfrm>
          <a:prstGeom prst="roundRect">
            <a:avLst>
              <a:gd name="adj" fmla="val 4651"/>
            </a:avLst>
          </a:prstGeom>
          <a:solidFill>
            <a:schemeClr val="bg2"/>
          </a:solidFill>
          <a:ln/>
        </p:spPr>
      </p:sp>
      <p:sp>
        <p:nvSpPr>
          <p:cNvPr id="6" name="tech#33d"/>
          <p:cNvSpPr/>
          <p:nvPr/>
        </p:nvSpPr>
        <p:spPr>
          <a:xfrm>
            <a:off x="1463040" y="2011680"/>
            <a:ext cx="731520" cy="731520"/>
          </a:xfrm>
          <a:prstGeom prst="ellipse">
            <a:avLst/>
          </a:prstGeom>
          <a:solidFill>
            <a:schemeClr val="accent2"/>
          </a:solidFill>
          <a:ln/>
        </p:spPr>
      </p:sp>
      <p:pic>
        <p:nvPicPr>
          <p:cNvPr id="7" name="tech#33di" descr="preencoded.png">    </p:cNvPr>
          <p:cNvPicPr>
            <a:picLocks noChangeAspect="1"/>
          </p:cNvPicPr>
          <p:nvPr/>
        </p:nvPicPr>
        <p:blipFill>
          <a:blip r:embed="rId1"/>
          <a:stretch>
            <a:fillRect/>
          </a:stretch>
        </p:blipFill>
        <p:spPr>
          <a:xfrm>
            <a:off x="1660550" y="2209190"/>
            <a:ext cx="336499" cy="336499"/>
          </a:xfrm>
          <a:prstGeom prst="rect">
            <a:avLst/>
          </a:prstGeom>
        </p:spPr>
      </p:pic>
      <p:sp>
        <p:nvSpPr>
          <p:cNvPr id="8" name="tech#33h"/>
          <p:cNvSpPr txBox="1"/>
          <p:nvPr/>
        </p:nvSpPr>
        <p:spPr>
          <a:xfrm>
            <a:off x="640080"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Java 17</a:t>
            </a:r>
            <a:endParaRPr lang="en-US" sz="1700" dirty="0"/>
          </a:p>
        </p:txBody>
      </p:sp>
      <p:sp>
        <p:nvSpPr>
          <p:cNvPr id="9" name="tech#33b"/>
          <p:cNvSpPr txBox="1"/>
          <p:nvPr/>
        </p:nvSpPr>
        <p:spPr>
          <a:xfrm>
            <a:off x="640080"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Spring Boot 3.3</a:t>
            </a:r>
            <a:endParaRPr lang="en-US" sz="1300" dirty="0"/>
          </a:p>
        </p:txBody>
      </p:sp>
      <p:sp>
        <p:nvSpPr>
          <p:cNvPr id="10" name="tech#34"/>
          <p:cNvSpPr/>
          <p:nvPr/>
        </p:nvSpPr>
        <p:spPr>
          <a:xfrm>
            <a:off x="3355848" y="1783080"/>
            <a:ext cx="2560320" cy="1965960"/>
          </a:xfrm>
          <a:prstGeom prst="roundRect">
            <a:avLst>
              <a:gd name="adj" fmla="val 4651"/>
            </a:avLst>
          </a:prstGeom>
          <a:solidFill>
            <a:schemeClr val="bg2"/>
          </a:solidFill>
          <a:ln/>
        </p:spPr>
      </p:sp>
      <p:sp>
        <p:nvSpPr>
          <p:cNvPr id="11" name="tech#34d"/>
          <p:cNvSpPr/>
          <p:nvPr/>
        </p:nvSpPr>
        <p:spPr>
          <a:xfrm>
            <a:off x="4270248" y="2011680"/>
            <a:ext cx="731520" cy="731520"/>
          </a:xfrm>
          <a:prstGeom prst="ellipse">
            <a:avLst/>
          </a:prstGeom>
          <a:solidFill>
            <a:schemeClr val="accent3"/>
          </a:solidFill>
          <a:ln/>
        </p:spPr>
      </p:sp>
      <p:pic>
        <p:nvPicPr>
          <p:cNvPr id="12" name="tech#34di" descr="preencoded.png">    </p:cNvPr>
          <p:cNvPicPr>
            <a:picLocks noChangeAspect="1"/>
          </p:cNvPicPr>
          <p:nvPr/>
        </p:nvPicPr>
        <p:blipFill>
          <a:blip r:embed="rId2"/>
          <a:stretch>
            <a:fillRect/>
          </a:stretch>
        </p:blipFill>
        <p:spPr>
          <a:xfrm>
            <a:off x="4467758" y="2209190"/>
            <a:ext cx="336499" cy="336499"/>
          </a:xfrm>
          <a:prstGeom prst="rect">
            <a:avLst/>
          </a:prstGeom>
        </p:spPr>
      </p:pic>
      <p:sp>
        <p:nvSpPr>
          <p:cNvPr id="13" name="tech#34h"/>
          <p:cNvSpPr txBox="1"/>
          <p:nvPr/>
        </p:nvSpPr>
        <p:spPr>
          <a:xfrm>
            <a:off x="3447288"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Apache CXF 4</a:t>
            </a:r>
            <a:endParaRPr lang="en-US" sz="1700" dirty="0"/>
          </a:p>
        </p:txBody>
      </p:sp>
      <p:sp>
        <p:nvSpPr>
          <p:cNvPr id="14" name="tech#34b"/>
          <p:cNvSpPr txBox="1"/>
          <p:nvPr/>
        </p:nvSpPr>
        <p:spPr>
          <a:xfrm>
            <a:off x="3447288"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SOAP, WSDL, Faults</a:t>
            </a:r>
            <a:endParaRPr lang="en-US" sz="1300" dirty="0"/>
          </a:p>
        </p:txBody>
      </p:sp>
      <p:sp>
        <p:nvSpPr>
          <p:cNvPr id="15" name="tech#35"/>
          <p:cNvSpPr/>
          <p:nvPr/>
        </p:nvSpPr>
        <p:spPr>
          <a:xfrm>
            <a:off x="6163056" y="1783080"/>
            <a:ext cx="2560320" cy="1965960"/>
          </a:xfrm>
          <a:prstGeom prst="roundRect">
            <a:avLst>
              <a:gd name="adj" fmla="val 4651"/>
            </a:avLst>
          </a:prstGeom>
          <a:solidFill>
            <a:schemeClr val="bg2"/>
          </a:solidFill>
          <a:ln/>
        </p:spPr>
      </p:sp>
      <p:sp>
        <p:nvSpPr>
          <p:cNvPr id="16" name="tech#35d"/>
          <p:cNvSpPr/>
          <p:nvPr/>
        </p:nvSpPr>
        <p:spPr>
          <a:xfrm>
            <a:off x="7077456" y="2011680"/>
            <a:ext cx="731520" cy="731520"/>
          </a:xfrm>
          <a:prstGeom prst="ellipse">
            <a:avLst/>
          </a:prstGeom>
          <a:solidFill>
            <a:schemeClr val="accent4"/>
          </a:solidFill>
          <a:ln/>
        </p:spPr>
      </p:sp>
      <p:pic>
        <p:nvPicPr>
          <p:cNvPr id="17" name="tech#35di" descr="preencoded.png">    </p:cNvPr>
          <p:cNvPicPr>
            <a:picLocks noChangeAspect="1"/>
          </p:cNvPicPr>
          <p:nvPr/>
        </p:nvPicPr>
        <p:blipFill>
          <a:blip r:embed="rId3"/>
          <a:stretch>
            <a:fillRect/>
          </a:stretch>
        </p:blipFill>
        <p:spPr>
          <a:xfrm>
            <a:off x="7274966" y="2209190"/>
            <a:ext cx="336499" cy="336499"/>
          </a:xfrm>
          <a:prstGeom prst="rect">
            <a:avLst/>
          </a:prstGeom>
        </p:spPr>
      </p:pic>
      <p:sp>
        <p:nvSpPr>
          <p:cNvPr id="18" name="tech#35h"/>
          <p:cNvSpPr txBox="1"/>
          <p:nvPr/>
        </p:nvSpPr>
        <p:spPr>
          <a:xfrm>
            <a:off x="6254496"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MySQL 8</a:t>
            </a:r>
            <a:endParaRPr lang="en-US" sz="1700" dirty="0"/>
          </a:p>
        </p:txBody>
      </p:sp>
      <p:sp>
        <p:nvSpPr>
          <p:cNvPr id="19" name="tech#35b"/>
          <p:cNvSpPr txBox="1"/>
          <p:nvPr/>
        </p:nvSpPr>
        <p:spPr>
          <a:xfrm>
            <a:off x="6254496"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source</a:t>
            </a:r>
            <a:endParaRPr lang="en-US" sz="1300" dirty="0"/>
          </a:p>
        </p:txBody>
      </p:sp>
      <p:sp>
        <p:nvSpPr>
          <p:cNvPr id="20" name="tech#36"/>
          <p:cNvSpPr/>
          <p:nvPr/>
        </p:nvSpPr>
        <p:spPr>
          <a:xfrm>
            <a:off x="8970264" y="1783080"/>
            <a:ext cx="2560320" cy="1965960"/>
          </a:xfrm>
          <a:prstGeom prst="roundRect">
            <a:avLst>
              <a:gd name="adj" fmla="val 4651"/>
            </a:avLst>
          </a:prstGeom>
          <a:solidFill>
            <a:schemeClr val="bg2"/>
          </a:solidFill>
          <a:ln/>
        </p:spPr>
      </p:sp>
      <p:sp>
        <p:nvSpPr>
          <p:cNvPr id="21" name="tech#36d"/>
          <p:cNvSpPr/>
          <p:nvPr/>
        </p:nvSpPr>
        <p:spPr>
          <a:xfrm>
            <a:off x="9884664" y="2011680"/>
            <a:ext cx="731520" cy="731520"/>
          </a:xfrm>
          <a:prstGeom prst="ellipse">
            <a:avLst/>
          </a:prstGeom>
          <a:solidFill>
            <a:schemeClr val="tx2"/>
          </a:solidFill>
          <a:ln/>
        </p:spPr>
      </p:sp>
      <p:pic>
        <p:nvPicPr>
          <p:cNvPr id="22" name="tech#36di" descr="preencoded.png">    </p:cNvPr>
          <p:cNvPicPr>
            <a:picLocks noChangeAspect="1"/>
          </p:cNvPicPr>
          <p:nvPr/>
        </p:nvPicPr>
        <p:blipFill>
          <a:blip r:embed="rId4"/>
          <a:stretch>
            <a:fillRect/>
          </a:stretch>
        </p:blipFill>
        <p:spPr>
          <a:xfrm>
            <a:off x="10082174" y="2209190"/>
            <a:ext cx="336499" cy="336499"/>
          </a:xfrm>
          <a:prstGeom prst="rect">
            <a:avLst/>
          </a:prstGeom>
        </p:spPr>
      </p:pic>
      <p:sp>
        <p:nvSpPr>
          <p:cNvPr id="23" name="tech#36h"/>
          <p:cNvSpPr txBox="1"/>
          <p:nvPr/>
        </p:nvSpPr>
        <p:spPr>
          <a:xfrm>
            <a:off x="9061704"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PostgreSQL 16</a:t>
            </a:r>
            <a:endParaRPr lang="en-US" sz="1700" dirty="0"/>
          </a:p>
        </p:txBody>
      </p:sp>
      <p:sp>
        <p:nvSpPr>
          <p:cNvPr id="24" name="tech#36b"/>
          <p:cNvSpPr txBox="1"/>
          <p:nvPr/>
        </p:nvSpPr>
        <p:spPr>
          <a:xfrm>
            <a:off x="9061704"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de référence</a:t>
            </a:r>
            <a:endParaRPr lang="en-US" sz="1300" dirty="0"/>
          </a:p>
        </p:txBody>
      </p:sp>
      <p:sp>
        <p:nvSpPr>
          <p:cNvPr id="25" name="tech#37"/>
          <p:cNvSpPr/>
          <p:nvPr/>
        </p:nvSpPr>
        <p:spPr>
          <a:xfrm>
            <a:off x="548640" y="4023360"/>
            <a:ext cx="2560320" cy="1965960"/>
          </a:xfrm>
          <a:prstGeom prst="roundRect">
            <a:avLst>
              <a:gd name="adj" fmla="val 4651"/>
            </a:avLst>
          </a:prstGeom>
          <a:solidFill>
            <a:schemeClr val="bg2"/>
          </a:solidFill>
          <a:ln/>
        </p:spPr>
      </p:sp>
      <p:sp>
        <p:nvSpPr>
          <p:cNvPr id="26" name="tech#37d"/>
          <p:cNvSpPr/>
          <p:nvPr/>
        </p:nvSpPr>
        <p:spPr>
          <a:xfrm>
            <a:off x="1463040" y="4251960"/>
            <a:ext cx="731520" cy="731520"/>
          </a:xfrm>
          <a:prstGeom prst="ellipse">
            <a:avLst/>
          </a:prstGeom>
          <a:solidFill>
            <a:schemeClr val="accent2"/>
          </a:solidFill>
          <a:ln/>
        </p:spPr>
      </p:sp>
      <p:pic>
        <p:nvPicPr>
          <p:cNvPr id="27" name="tech#37di" descr="preencoded.png">    </p:cNvPr>
          <p:cNvPicPr>
            <a:picLocks noChangeAspect="1"/>
          </p:cNvPicPr>
          <p:nvPr/>
        </p:nvPicPr>
        <p:blipFill>
          <a:blip r:embed="rId5"/>
          <a:stretch>
            <a:fillRect/>
          </a:stretch>
        </p:blipFill>
        <p:spPr>
          <a:xfrm>
            <a:off x="1660550" y="4449470"/>
            <a:ext cx="336499" cy="336499"/>
          </a:xfrm>
          <a:prstGeom prst="rect">
            <a:avLst/>
          </a:prstGeom>
        </p:spPr>
      </p:pic>
      <p:sp>
        <p:nvSpPr>
          <p:cNvPr id="28" name="tech#37h"/>
          <p:cNvSpPr txBox="1"/>
          <p:nvPr/>
        </p:nvSpPr>
        <p:spPr>
          <a:xfrm>
            <a:off x="640080"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Pentaho PDI</a:t>
            </a:r>
            <a:endParaRPr lang="en-US" sz="1700" dirty="0"/>
          </a:p>
        </p:txBody>
      </p:sp>
      <p:sp>
        <p:nvSpPr>
          <p:cNvPr id="29" name="tech#37b"/>
          <p:cNvSpPr txBox="1"/>
          <p:nvPr/>
        </p:nvSpPr>
        <p:spPr>
          <a:xfrm>
            <a:off x="640080"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Kitchen, Spoon</a:t>
            </a:r>
            <a:endParaRPr lang="en-US" sz="1300" dirty="0"/>
          </a:p>
        </p:txBody>
      </p:sp>
      <p:sp>
        <p:nvSpPr>
          <p:cNvPr id="30" name="tech#38"/>
          <p:cNvSpPr/>
          <p:nvPr/>
        </p:nvSpPr>
        <p:spPr>
          <a:xfrm>
            <a:off x="3355848" y="4023360"/>
            <a:ext cx="2560320" cy="1965960"/>
          </a:xfrm>
          <a:prstGeom prst="roundRect">
            <a:avLst>
              <a:gd name="adj" fmla="val 4651"/>
            </a:avLst>
          </a:prstGeom>
          <a:solidFill>
            <a:schemeClr val="bg2"/>
          </a:solidFill>
          <a:ln/>
        </p:spPr>
      </p:sp>
      <p:sp>
        <p:nvSpPr>
          <p:cNvPr id="31" name="tech#38d"/>
          <p:cNvSpPr/>
          <p:nvPr/>
        </p:nvSpPr>
        <p:spPr>
          <a:xfrm>
            <a:off x="4270248" y="4251960"/>
            <a:ext cx="731520" cy="731520"/>
          </a:xfrm>
          <a:prstGeom prst="ellipse">
            <a:avLst/>
          </a:prstGeom>
          <a:solidFill>
            <a:schemeClr val="accent5"/>
          </a:solidFill>
          <a:ln/>
        </p:spPr>
      </p:sp>
      <p:pic>
        <p:nvPicPr>
          <p:cNvPr id="32" name="tech#38di" descr="preencoded.png">    </p:cNvPr>
          <p:cNvPicPr>
            <a:picLocks noChangeAspect="1"/>
          </p:cNvPicPr>
          <p:nvPr/>
        </p:nvPicPr>
        <p:blipFill>
          <a:blip r:embed="rId6"/>
          <a:stretch>
            <a:fillRect/>
          </a:stretch>
        </p:blipFill>
        <p:spPr>
          <a:xfrm>
            <a:off x="4467758" y="4449470"/>
            <a:ext cx="336499" cy="336499"/>
          </a:xfrm>
          <a:prstGeom prst="rect">
            <a:avLst/>
          </a:prstGeom>
        </p:spPr>
      </p:pic>
      <p:sp>
        <p:nvSpPr>
          <p:cNvPr id="33" name="tech#38h"/>
          <p:cNvSpPr txBox="1"/>
          <p:nvPr/>
        </p:nvSpPr>
        <p:spPr>
          <a:xfrm>
            <a:off x="3447288"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Netdata</a:t>
            </a:r>
            <a:endParaRPr lang="en-US" sz="1700" dirty="0"/>
          </a:p>
        </p:txBody>
      </p:sp>
      <p:sp>
        <p:nvSpPr>
          <p:cNvPr id="34" name="tech#38b"/>
          <p:cNvSpPr txBox="1"/>
          <p:nvPr/>
        </p:nvSpPr>
        <p:spPr>
          <a:xfrm>
            <a:off x="3447288"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métriques et alertes</a:t>
            </a:r>
            <a:endParaRPr lang="en-US" sz="1300" dirty="0"/>
          </a:p>
        </p:txBody>
      </p:sp>
      <p:sp>
        <p:nvSpPr>
          <p:cNvPr id="35" name="tech#39"/>
          <p:cNvSpPr/>
          <p:nvPr/>
        </p:nvSpPr>
        <p:spPr>
          <a:xfrm>
            <a:off x="6163056" y="4023360"/>
            <a:ext cx="2560320" cy="1965960"/>
          </a:xfrm>
          <a:prstGeom prst="roundRect">
            <a:avLst>
              <a:gd name="adj" fmla="val 4651"/>
            </a:avLst>
          </a:prstGeom>
          <a:solidFill>
            <a:schemeClr val="bg2"/>
          </a:solidFill>
          <a:ln/>
        </p:spPr>
      </p:sp>
      <p:sp>
        <p:nvSpPr>
          <p:cNvPr id="36" name="tech#39d"/>
          <p:cNvSpPr/>
          <p:nvPr/>
        </p:nvSpPr>
        <p:spPr>
          <a:xfrm>
            <a:off x="7077456" y="4251960"/>
            <a:ext cx="731520" cy="731520"/>
          </a:xfrm>
          <a:prstGeom prst="ellipse">
            <a:avLst/>
          </a:prstGeom>
          <a:solidFill>
            <a:schemeClr val="accent4"/>
          </a:solidFill>
          <a:ln/>
        </p:spPr>
      </p:sp>
      <p:pic>
        <p:nvPicPr>
          <p:cNvPr id="37" name="tech#39di" descr="preencoded.png">    </p:cNvPr>
          <p:cNvPicPr>
            <a:picLocks noChangeAspect="1"/>
          </p:cNvPicPr>
          <p:nvPr/>
        </p:nvPicPr>
        <p:blipFill>
          <a:blip r:embed="rId7"/>
          <a:stretch>
            <a:fillRect/>
          </a:stretch>
        </p:blipFill>
        <p:spPr>
          <a:xfrm>
            <a:off x="7274966" y="4449470"/>
            <a:ext cx="336499" cy="336499"/>
          </a:xfrm>
          <a:prstGeom prst="rect">
            <a:avLst/>
          </a:prstGeom>
        </p:spPr>
      </p:pic>
      <p:sp>
        <p:nvSpPr>
          <p:cNvPr id="38" name="tech#39h"/>
          <p:cNvSpPr txBox="1"/>
          <p:nvPr/>
        </p:nvSpPr>
        <p:spPr>
          <a:xfrm>
            <a:off x="6254496"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Docker Compose</a:t>
            </a:r>
            <a:endParaRPr lang="en-US" sz="1700" dirty="0"/>
          </a:p>
        </p:txBody>
      </p:sp>
      <p:sp>
        <p:nvSpPr>
          <p:cNvPr id="39" name="tech#39b"/>
          <p:cNvSpPr txBox="1"/>
          <p:nvPr/>
        </p:nvSpPr>
        <p:spPr>
          <a:xfrm>
            <a:off x="6254496"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installation reproductible</a:t>
            </a:r>
            <a:endParaRPr lang="en-US" sz="1300" dirty="0"/>
          </a:p>
        </p:txBody>
      </p:sp>
      <p:sp>
        <p:nvSpPr>
          <p:cNvPr id="40" name="tech#40"/>
          <p:cNvSpPr/>
          <p:nvPr/>
        </p:nvSpPr>
        <p:spPr>
          <a:xfrm>
            <a:off x="8970264" y="4023360"/>
            <a:ext cx="2560320" cy="1965960"/>
          </a:xfrm>
          <a:prstGeom prst="roundRect">
            <a:avLst>
              <a:gd name="adj" fmla="val 4651"/>
            </a:avLst>
          </a:prstGeom>
          <a:solidFill>
            <a:schemeClr val="bg2"/>
          </a:solidFill>
          <a:ln/>
        </p:spPr>
      </p:sp>
      <p:sp>
        <p:nvSpPr>
          <p:cNvPr id="41" name="tech#40d"/>
          <p:cNvSpPr/>
          <p:nvPr/>
        </p:nvSpPr>
        <p:spPr>
          <a:xfrm>
            <a:off x="9884664" y="4251960"/>
            <a:ext cx="731520" cy="731520"/>
          </a:xfrm>
          <a:prstGeom prst="ellipse">
            <a:avLst/>
          </a:prstGeom>
          <a:solidFill>
            <a:schemeClr val="accent3"/>
          </a:solidFill>
          <a:ln/>
        </p:spPr>
      </p:sp>
      <p:pic>
        <p:nvPicPr>
          <p:cNvPr id="42" name="tech#40di" descr="preencoded.png">    </p:cNvPr>
          <p:cNvPicPr>
            <a:picLocks noChangeAspect="1"/>
          </p:cNvPicPr>
          <p:nvPr/>
        </p:nvPicPr>
        <p:blipFill>
          <a:blip r:embed="rId8"/>
          <a:stretch>
            <a:fillRect/>
          </a:stretch>
        </p:blipFill>
        <p:spPr>
          <a:xfrm>
            <a:off x="10082174" y="4449470"/>
            <a:ext cx="336499" cy="336499"/>
          </a:xfrm>
          <a:prstGeom prst="rect">
            <a:avLst/>
          </a:prstGeom>
        </p:spPr>
      </p:pic>
      <p:sp>
        <p:nvSpPr>
          <p:cNvPr id="43" name="tech#40h"/>
          <p:cNvSpPr txBox="1"/>
          <p:nvPr/>
        </p:nvSpPr>
        <p:spPr>
          <a:xfrm>
            <a:off x="9061704"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SoapUI · JUnit</a:t>
            </a:r>
            <a:endParaRPr lang="en-US" sz="1700" dirty="0"/>
          </a:p>
        </p:txBody>
      </p:sp>
      <p:sp>
        <p:nvSpPr>
          <p:cNvPr id="44" name="tech#40b"/>
          <p:cNvSpPr txBox="1"/>
          <p:nvPr/>
        </p:nvSpPr>
        <p:spPr>
          <a:xfrm>
            <a:off x="9061704"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tests automatisés</a:t>
            </a:r>
            <a:endParaRPr lang="en-US" sz="1300" dirty="0"/>
          </a:p>
        </p:txBody>
      </p:sp>
      <p:sp>
        <p:nvSpPr>
          <p:cNvPr id="4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110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32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500"/>
                                        <p:tgtEl>
                                          <p:spTgt spid="35"/>
                                        </p:tgtEl>
                                      </p:cBhvr>
                                    </p:animEffect>
                                    <p:anim calcmode="lin" valueType="num">
                                      <p:cBhvr additive="base">
                                        <p:cTn id="158" dur="500" fill="hold"/>
                                        <p:tgtEl>
                                          <p:spTgt spid="35"/>
                                        </p:tgtEl>
                                        <p:attrNameLst>
                                          <p:attrName>ppt_x</p:attrName>
                                        </p:attrNameLst>
                                      </p:cBhvr>
                                      <p:tavLst>
                                        <p:tav tm="0">
                                          <p:val>
                                            <p:strVal val="#ppt_x"/>
                                          </p:val>
                                        </p:tav>
                                        <p:tav tm="100000">
                                          <p:val>
                                            <p:strVal val="#ppt_x"/>
                                          </p:val>
                                        </p:tav>
                                      </p:tavLst>
                                    </p:anim>
                                    <p:anim calcmode="lin" valueType="num">
                                      <p:cBhvr additive="base">
                                        <p:cTn id="159" dur="500" fill="hold"/>
                                        <p:tgtEl>
                                          <p:spTgt spid="35"/>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320"/>
                                  </p:stCondLst>
                                  <p:childTnLst>
                                    <p:set>
                                      <p:cBhvr>
                                        <p:cTn id="161" dur="1" fill="hold">
                                          <p:stCondLst>
                                            <p:cond delay="0"/>
                                          </p:stCondLst>
                                        </p:cTn>
                                        <p:tgtEl>
                                          <p:spTgt spid="36"/>
                                        </p:tgtEl>
                                        <p:attrNameLst>
                                          <p:attrName>style.visibility</p:attrName>
                                        </p:attrNameLst>
                                      </p:cBhvr>
                                      <p:to>
                                        <p:strVal val="visible"/>
                                      </p:to>
                                    </p:set>
                                    <p:animEffect transition="in" filter="fade">
                                      <p:cBhvr>
                                        <p:cTn id="162" dur="500"/>
                                        <p:tgtEl>
                                          <p:spTgt spid="36"/>
                                        </p:tgtEl>
                                      </p:cBhvr>
                                    </p:animEffect>
                                    <p:anim calcmode="lin" valueType="num">
                                      <p:cBhvr additive="base">
                                        <p:cTn id="163" dur="500" fill="hold"/>
                                        <p:tgtEl>
                                          <p:spTgt spid="36"/>
                                        </p:tgtEl>
                                        <p:attrNameLst>
                                          <p:attrName>ppt_x</p:attrName>
                                        </p:attrNameLst>
                                      </p:cBhvr>
                                      <p:tavLst>
                                        <p:tav tm="0">
                                          <p:val>
                                            <p:strVal val="#ppt_x"/>
                                          </p:val>
                                        </p:tav>
                                        <p:tav tm="100000">
                                          <p:val>
                                            <p:strVal val="#ppt_x"/>
                                          </p:val>
                                        </p:tav>
                                      </p:tavLst>
                                    </p:anim>
                                    <p:anim calcmode="lin" valueType="num">
                                      <p:cBhvr additive="base">
                                        <p:cTn id="164" dur="500" fill="hold"/>
                                        <p:tgtEl>
                                          <p:spTgt spid="36"/>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320"/>
                                  </p:stCondLst>
                                  <p:childTnLst>
                                    <p:set>
                                      <p:cBhvr>
                                        <p:cTn id="166" dur="1" fill="hold">
                                          <p:stCondLst>
                                            <p:cond delay="0"/>
                                          </p:stCondLst>
                                        </p:cTn>
                                        <p:tgtEl>
                                          <p:spTgt spid="37"/>
                                        </p:tgtEl>
                                        <p:attrNameLst>
                                          <p:attrName>style.visibility</p:attrName>
                                        </p:attrNameLst>
                                      </p:cBhvr>
                                      <p:to>
                                        <p:strVal val="visible"/>
                                      </p:to>
                                    </p:set>
                                    <p:animEffect transition="in" filter="fade">
                                      <p:cBhvr>
                                        <p:cTn id="167" dur="500"/>
                                        <p:tgtEl>
                                          <p:spTgt spid="37"/>
                                        </p:tgtEl>
                                      </p:cBhvr>
                                    </p:animEffect>
                                    <p:anim calcmode="lin" valueType="num">
                                      <p:cBhvr additive="base">
                                        <p:cTn id="168" dur="500" fill="hold"/>
                                        <p:tgtEl>
                                          <p:spTgt spid="37"/>
                                        </p:tgtEl>
                                        <p:attrNameLst>
                                          <p:attrName>ppt_x</p:attrName>
                                        </p:attrNameLst>
                                      </p:cBhvr>
                                      <p:tavLst>
                                        <p:tav tm="0">
                                          <p:val>
                                            <p:strVal val="#ppt_x"/>
                                          </p:val>
                                        </p:tav>
                                        <p:tav tm="100000">
                                          <p:val>
                                            <p:strVal val="#ppt_x"/>
                                          </p:val>
                                        </p:tav>
                                      </p:tavLst>
                                    </p:anim>
                                    <p:anim calcmode="lin" valueType="num">
                                      <p:cBhvr additive="base">
                                        <p:cTn id="169" dur="500" fill="hold"/>
                                        <p:tgtEl>
                                          <p:spTgt spid="37"/>
                                        </p:tgtEl>
                                        <p:attrNameLst>
                                          <p:attrName>ppt_y</p:attrName>
                                        </p:attrNameLst>
                                      </p:cBhvr>
                                      <p:tavLst>
                                        <p:tav tm="0">
                                          <p:val>
                                            <p:strVal val="#ppt_y+.1"/>
                                          </p:val>
                                        </p:tav>
                                        <p:tav tm="100000">
                                          <p:val>
                                            <p:strVal val="#ppt_y"/>
                                          </p:val>
                                        </p:tav>
                                      </p:tavLst>
                                    </p:anim>
                                  </p:childTnLst>
                                </p:cTn>
                              </p:par>
                              <p:par>
                                <p:cTn id="170" presetID="42" presetClass="entr" presetSubtype="0" fill="hold" grpId="0" nodeType="withEffect">
                                  <p:stCondLst>
                                    <p:cond delay="1320"/>
                                  </p:stCondLst>
                                  <p:childTnLst>
                                    <p:set>
                                      <p:cBhvr>
                                        <p:cTn id="171" dur="1" fill="hold">
                                          <p:stCondLst>
                                            <p:cond delay="0"/>
                                          </p:stCondLst>
                                        </p:cTn>
                                        <p:tgtEl>
                                          <p:spTgt spid="38"/>
                                        </p:tgtEl>
                                        <p:attrNameLst>
                                          <p:attrName>style.visibility</p:attrName>
                                        </p:attrNameLst>
                                      </p:cBhvr>
                                      <p:to>
                                        <p:strVal val="visible"/>
                                      </p:to>
                                    </p:set>
                                    <p:animEffect transition="in" filter="fade">
                                      <p:cBhvr>
                                        <p:cTn id="172" dur="500"/>
                                        <p:tgtEl>
                                          <p:spTgt spid="38"/>
                                        </p:tgtEl>
                                      </p:cBhvr>
                                    </p:animEffect>
                                    <p:anim calcmode="lin" valueType="num">
                                      <p:cBhvr additive="base">
                                        <p:cTn id="173" dur="500" fill="hold"/>
                                        <p:tgtEl>
                                          <p:spTgt spid="38"/>
                                        </p:tgtEl>
                                        <p:attrNameLst>
                                          <p:attrName>ppt_x</p:attrName>
                                        </p:attrNameLst>
                                      </p:cBhvr>
                                      <p:tavLst>
                                        <p:tav tm="0">
                                          <p:val>
                                            <p:strVal val="#ppt_x"/>
                                          </p:val>
                                        </p:tav>
                                        <p:tav tm="100000">
                                          <p:val>
                                            <p:strVal val="#ppt_x"/>
                                          </p:val>
                                        </p:tav>
                                      </p:tavLst>
                                    </p:anim>
                                    <p:anim calcmode="lin" valueType="num">
                                      <p:cBhvr additive="base">
                                        <p:cTn id="174" dur="500" fill="hold"/>
                                        <p:tgtEl>
                                          <p:spTgt spid="38"/>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320"/>
                                  </p:stCondLst>
                                  <p:childTnLst>
                                    <p:set>
                                      <p:cBhvr>
                                        <p:cTn id="176" dur="1" fill="hold">
                                          <p:stCondLst>
                                            <p:cond delay="0"/>
                                          </p:stCondLst>
                                        </p:cTn>
                                        <p:tgtEl>
                                          <p:spTgt spid="39"/>
                                        </p:tgtEl>
                                        <p:attrNameLst>
                                          <p:attrName>style.visibility</p:attrName>
                                        </p:attrNameLst>
                                      </p:cBhvr>
                                      <p:to>
                                        <p:strVal val="visible"/>
                                      </p:to>
                                    </p:set>
                                    <p:animEffect transition="in" filter="fade">
                                      <p:cBhvr>
                                        <p:cTn id="177" dur="500"/>
                                        <p:tgtEl>
                                          <p:spTgt spid="39"/>
                                        </p:tgtEl>
                                      </p:cBhvr>
                                    </p:animEffect>
                                    <p:anim calcmode="lin" valueType="num">
                                      <p:cBhvr additive="base">
                                        <p:cTn id="178" dur="500" fill="hold"/>
                                        <p:tgtEl>
                                          <p:spTgt spid="39"/>
                                        </p:tgtEl>
                                        <p:attrNameLst>
                                          <p:attrName>ppt_x</p:attrName>
                                        </p:attrNameLst>
                                      </p:cBhvr>
                                      <p:tavLst>
                                        <p:tav tm="0">
                                          <p:val>
                                            <p:strVal val="#ppt_x"/>
                                          </p:val>
                                        </p:tav>
                                        <p:tav tm="100000">
                                          <p:val>
                                            <p:strVal val="#ppt_x"/>
                                          </p:val>
                                        </p:tav>
                                      </p:tavLst>
                                    </p:anim>
                                    <p:anim calcmode="lin" valueType="num">
                                      <p:cBhvr additive="base">
                                        <p:cTn id="179" dur="500" fill="hold"/>
                                        <p:tgtEl>
                                          <p:spTgt spid="39"/>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540"/>
                                  </p:stCondLst>
                                  <p:childTnLst>
                                    <p:set>
                                      <p:cBhvr>
                                        <p:cTn id="181" dur="1" fill="hold">
                                          <p:stCondLst>
                                            <p:cond delay="0"/>
                                          </p:stCondLst>
                                        </p:cTn>
                                        <p:tgtEl>
                                          <p:spTgt spid="40"/>
                                        </p:tgtEl>
                                        <p:attrNameLst>
                                          <p:attrName>style.visibility</p:attrName>
                                        </p:attrNameLst>
                                      </p:cBhvr>
                                      <p:to>
                                        <p:strVal val="visible"/>
                                      </p:to>
                                    </p:set>
                                    <p:animEffect transition="in" filter="fade">
                                      <p:cBhvr>
                                        <p:cTn id="182" dur="500"/>
                                        <p:tgtEl>
                                          <p:spTgt spid="40"/>
                                        </p:tgtEl>
                                      </p:cBhvr>
                                    </p:animEffect>
                                    <p:anim calcmode="lin" valueType="num">
                                      <p:cBhvr additive="base">
                                        <p:cTn id="183" dur="500" fill="hold"/>
                                        <p:tgtEl>
                                          <p:spTgt spid="40"/>
                                        </p:tgtEl>
                                        <p:attrNameLst>
                                          <p:attrName>ppt_x</p:attrName>
                                        </p:attrNameLst>
                                      </p:cBhvr>
                                      <p:tavLst>
                                        <p:tav tm="0">
                                          <p:val>
                                            <p:strVal val="#ppt_x"/>
                                          </p:val>
                                        </p:tav>
                                        <p:tav tm="100000">
                                          <p:val>
                                            <p:strVal val="#ppt_x"/>
                                          </p:val>
                                        </p:tav>
                                      </p:tavLst>
                                    </p:anim>
                                    <p:anim calcmode="lin" valueType="num">
                                      <p:cBhvr additive="base">
                                        <p:cTn id="184" dur="500" fill="hold"/>
                                        <p:tgtEl>
                                          <p:spTgt spid="40"/>
                                        </p:tgtEl>
                                        <p:attrNameLst>
                                          <p:attrName>ppt_y</p:attrName>
                                        </p:attrNameLst>
                                      </p:cBhvr>
                                      <p:tavLst>
                                        <p:tav tm="0">
                                          <p:val>
                                            <p:strVal val="#ppt_y+.1"/>
                                          </p:val>
                                        </p:tav>
                                        <p:tav tm="100000">
                                          <p:val>
                                            <p:strVal val="#ppt_y"/>
                                          </p:val>
                                        </p:tav>
                                      </p:tavLst>
                                    </p:anim>
                                  </p:childTnLst>
                                </p:cTn>
                              </p:par>
                              <p:par>
                                <p:cTn id="185" presetID="42" presetClass="entr" presetSubtype="0" fill="hold" grpId="0" nodeType="withEffect">
                                  <p:stCondLst>
                                    <p:cond delay="1540"/>
                                  </p:stCondLst>
                                  <p:childTnLst>
                                    <p:set>
                                      <p:cBhvr>
                                        <p:cTn id="186" dur="1" fill="hold">
                                          <p:stCondLst>
                                            <p:cond delay="0"/>
                                          </p:stCondLst>
                                        </p:cTn>
                                        <p:tgtEl>
                                          <p:spTgt spid="41"/>
                                        </p:tgtEl>
                                        <p:attrNameLst>
                                          <p:attrName>style.visibility</p:attrName>
                                        </p:attrNameLst>
                                      </p:cBhvr>
                                      <p:to>
                                        <p:strVal val="visible"/>
                                      </p:to>
                                    </p:set>
                                    <p:animEffect transition="in" filter="fade">
                                      <p:cBhvr>
                                        <p:cTn id="187" dur="500"/>
                                        <p:tgtEl>
                                          <p:spTgt spid="41"/>
                                        </p:tgtEl>
                                      </p:cBhvr>
                                    </p:animEffect>
                                    <p:anim calcmode="lin" valueType="num">
                                      <p:cBhvr additive="base">
                                        <p:cTn id="188" dur="500" fill="hold"/>
                                        <p:tgtEl>
                                          <p:spTgt spid="41"/>
                                        </p:tgtEl>
                                        <p:attrNameLst>
                                          <p:attrName>ppt_x</p:attrName>
                                        </p:attrNameLst>
                                      </p:cBhvr>
                                      <p:tavLst>
                                        <p:tav tm="0">
                                          <p:val>
                                            <p:strVal val="#ppt_x"/>
                                          </p:val>
                                        </p:tav>
                                        <p:tav tm="100000">
                                          <p:val>
                                            <p:strVal val="#ppt_x"/>
                                          </p:val>
                                        </p:tav>
                                      </p:tavLst>
                                    </p:anim>
                                    <p:anim calcmode="lin" valueType="num">
                                      <p:cBhvr additive="base">
                                        <p:cTn id="189" dur="500" fill="hold"/>
                                        <p:tgtEl>
                                          <p:spTgt spid="41"/>
                                        </p:tgtEl>
                                        <p:attrNameLst>
                                          <p:attrName>ppt_y</p:attrName>
                                        </p:attrNameLst>
                                      </p:cBhvr>
                                      <p:tavLst>
                                        <p:tav tm="0">
                                          <p:val>
                                            <p:strVal val="#ppt_y+.1"/>
                                          </p:val>
                                        </p:tav>
                                        <p:tav tm="100000">
                                          <p:val>
                                            <p:strVal val="#ppt_y"/>
                                          </p:val>
                                        </p:tav>
                                      </p:tavLst>
                                    </p:anim>
                                  </p:childTnLst>
                                </p:cTn>
                              </p:par>
                              <p:par>
                                <p:cTn id="190" presetID="42" presetClass="entr" presetSubtype="0" fill="hold" grpId="0" nodeType="withEffect">
                                  <p:stCondLst>
                                    <p:cond delay="1540"/>
                                  </p:stCondLst>
                                  <p:childTnLst>
                                    <p:set>
                                      <p:cBhvr>
                                        <p:cTn id="191" dur="1" fill="hold">
                                          <p:stCondLst>
                                            <p:cond delay="0"/>
                                          </p:stCondLst>
                                        </p:cTn>
                                        <p:tgtEl>
                                          <p:spTgt spid="42"/>
                                        </p:tgtEl>
                                        <p:attrNameLst>
                                          <p:attrName>style.visibility</p:attrName>
                                        </p:attrNameLst>
                                      </p:cBhvr>
                                      <p:to>
                                        <p:strVal val="visible"/>
                                      </p:to>
                                    </p:set>
                                    <p:animEffect transition="in" filter="fade">
                                      <p:cBhvr>
                                        <p:cTn id="192" dur="500"/>
                                        <p:tgtEl>
                                          <p:spTgt spid="42"/>
                                        </p:tgtEl>
                                      </p:cBhvr>
                                    </p:animEffect>
                                    <p:anim calcmode="lin" valueType="num">
                                      <p:cBhvr additive="base">
                                        <p:cTn id="193" dur="500" fill="hold"/>
                                        <p:tgtEl>
                                          <p:spTgt spid="42"/>
                                        </p:tgtEl>
                                        <p:attrNameLst>
                                          <p:attrName>ppt_x</p:attrName>
                                        </p:attrNameLst>
                                      </p:cBhvr>
                                      <p:tavLst>
                                        <p:tav tm="0">
                                          <p:val>
                                            <p:strVal val="#ppt_x"/>
                                          </p:val>
                                        </p:tav>
                                        <p:tav tm="100000">
                                          <p:val>
                                            <p:strVal val="#ppt_x"/>
                                          </p:val>
                                        </p:tav>
                                      </p:tavLst>
                                    </p:anim>
                                    <p:anim calcmode="lin" valueType="num">
                                      <p:cBhvr additive="base">
                                        <p:cTn id="194" dur="500" fill="hold"/>
                                        <p:tgtEl>
                                          <p:spTgt spid="42"/>
                                        </p:tgtEl>
                                        <p:attrNameLst>
                                          <p:attrName>ppt_y</p:attrName>
                                        </p:attrNameLst>
                                      </p:cBhvr>
                                      <p:tavLst>
                                        <p:tav tm="0">
                                          <p:val>
                                            <p:strVal val="#ppt_y+.1"/>
                                          </p:val>
                                        </p:tav>
                                        <p:tav tm="100000">
                                          <p:val>
                                            <p:strVal val="#ppt_y"/>
                                          </p:val>
                                        </p:tav>
                                      </p:tavLst>
                                    </p:anim>
                                  </p:childTnLst>
                                </p:cTn>
                              </p:par>
                              <p:par>
                                <p:cTn id="195" presetID="42" presetClass="entr" presetSubtype="0" fill="hold" grpId="0" nodeType="withEffect">
                                  <p:stCondLst>
                                    <p:cond delay="1540"/>
                                  </p:stCondLst>
                                  <p:childTnLst>
                                    <p:set>
                                      <p:cBhvr>
                                        <p:cTn id="196" dur="1" fill="hold">
                                          <p:stCondLst>
                                            <p:cond delay="0"/>
                                          </p:stCondLst>
                                        </p:cTn>
                                        <p:tgtEl>
                                          <p:spTgt spid="43"/>
                                        </p:tgtEl>
                                        <p:attrNameLst>
                                          <p:attrName>style.visibility</p:attrName>
                                        </p:attrNameLst>
                                      </p:cBhvr>
                                      <p:to>
                                        <p:strVal val="visible"/>
                                      </p:to>
                                    </p:set>
                                    <p:animEffect transition="in" filter="fade">
                                      <p:cBhvr>
                                        <p:cTn id="197" dur="500"/>
                                        <p:tgtEl>
                                          <p:spTgt spid="43"/>
                                        </p:tgtEl>
                                      </p:cBhvr>
                                    </p:animEffect>
                                    <p:anim calcmode="lin" valueType="num">
                                      <p:cBhvr additive="base">
                                        <p:cTn id="198" dur="500" fill="hold"/>
                                        <p:tgtEl>
                                          <p:spTgt spid="43"/>
                                        </p:tgtEl>
                                        <p:attrNameLst>
                                          <p:attrName>ppt_x</p:attrName>
                                        </p:attrNameLst>
                                      </p:cBhvr>
                                      <p:tavLst>
                                        <p:tav tm="0">
                                          <p:val>
                                            <p:strVal val="#ppt_x"/>
                                          </p:val>
                                        </p:tav>
                                        <p:tav tm="100000">
                                          <p:val>
                                            <p:strVal val="#ppt_x"/>
                                          </p:val>
                                        </p:tav>
                                      </p:tavLst>
                                    </p:anim>
                                    <p:anim calcmode="lin" valueType="num">
                                      <p:cBhvr additive="base">
                                        <p:cTn id="199" dur="500" fill="hold"/>
                                        <p:tgtEl>
                                          <p:spTgt spid="43"/>
                                        </p:tgtEl>
                                        <p:attrNameLst>
                                          <p:attrName>ppt_y</p:attrName>
                                        </p:attrNameLst>
                                      </p:cBhvr>
                                      <p:tavLst>
                                        <p:tav tm="0">
                                          <p:val>
                                            <p:strVal val="#ppt_y+.1"/>
                                          </p:val>
                                        </p:tav>
                                        <p:tav tm="100000">
                                          <p:val>
                                            <p:strVal val="#ppt_y"/>
                                          </p:val>
                                        </p:tav>
                                      </p:tavLst>
                                    </p:anim>
                                  </p:childTnLst>
                                </p:cTn>
                              </p:par>
                              <p:par>
                                <p:cTn id="200" presetID="42" presetClass="entr" presetSubtype="0" fill="hold" grpId="0" nodeType="withEffect">
                                  <p:stCondLst>
                                    <p:cond delay="1540"/>
                                  </p:stCondLst>
                                  <p:childTnLst>
                                    <p:set>
                                      <p:cBhvr>
                                        <p:cTn id="201" dur="1" fill="hold">
                                          <p:stCondLst>
                                            <p:cond delay="0"/>
                                          </p:stCondLst>
                                        </p:cTn>
                                        <p:tgtEl>
                                          <p:spTgt spid="44"/>
                                        </p:tgtEl>
                                        <p:attrNameLst>
                                          <p:attrName>style.visibility</p:attrName>
                                        </p:attrNameLst>
                                      </p:cBhvr>
                                      <p:to>
                                        <p:strVal val="visible"/>
                                      </p:to>
                                    </p:set>
                                    <p:animEffect transition="in" filter="fade">
                                      <p:cBhvr>
                                        <p:cTn id="202" dur="500"/>
                                        <p:tgtEl>
                                          <p:spTgt spid="44"/>
                                        </p:tgtEl>
                                      </p:cBhvr>
                                    </p:animEffect>
                                    <p:anim calcmode="lin" valueType="num">
                                      <p:cBhvr additive="base">
                                        <p:cTn id="203" dur="500" fill="hold"/>
                                        <p:tgtEl>
                                          <p:spTgt spid="44"/>
                                        </p:tgtEl>
                                        <p:attrNameLst>
                                          <p:attrName>ppt_x</p:attrName>
                                        </p:attrNameLst>
                                      </p:cBhvr>
                                      <p:tavLst>
                                        <p:tav tm="0">
                                          <p:val>
                                            <p:strVal val="#ppt_x"/>
                                          </p:val>
                                        </p:tav>
                                        <p:tav tm="100000">
                                          <p:val>
                                            <p:strVal val="#ppt_x"/>
                                          </p:val>
                                        </p:tav>
                                      </p:tavLst>
                                    </p:anim>
                                    <p:anim calcmode="lin" valueType="num">
                                      <p:cBhvr additive="base">
                                        <p:cTn id="204" dur="500" fill="hold"/>
                                        <p:tgtEl>
                                          <p:spTgt spid="4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Modèle commun d'employé</a:t>
            </a:r>
            <a:endParaRPr lang="en-US" sz="3000" dirty="0"/>
          </a:p>
        </p:txBody>
      </p:sp>
      <p:sp>
        <p:nvSpPr>
          <p:cNvPr id="3" name="pill#41"/>
          <p:cNvSpPr/>
          <p:nvPr/>
        </p:nvSpPr>
        <p:spPr>
          <a:xfrm>
            <a:off x="548640" y="384048"/>
            <a:ext cx="1522476" cy="292608"/>
          </a:xfrm>
          <a:prstGeom prst="roundRect">
            <a:avLst>
              <a:gd name="adj" fmla="val 50000"/>
            </a:avLst>
          </a:prstGeom>
          <a:solidFill>
            <a:schemeClr val="accent2"/>
          </a:solidFill>
          <a:ln/>
        </p:spPr>
      </p:sp>
      <p:sp>
        <p:nvSpPr>
          <p:cNvPr id="4" name="pill#41t"/>
          <p:cNvSpPr txBox="1"/>
          <p:nvPr/>
        </p:nvSpPr>
        <p:spPr>
          <a:xfrm>
            <a:off x="548640" y="384048"/>
            <a:ext cx="1522476" cy="292608"/>
          </a:xfrm>
          <a:prstGeom prst="rect">
            <a:avLst/>
          </a:prstGeom>
          <a:noFill/>
          <a:ln/>
        </p:spPr>
        <p:txBody>
          <a:bodyPr wrap="square" lIns="0" tIns="0" rIns="0" bIns="0" rtlCol="0" anchor="ctr"/>
          <a:lstStyle/>
          <a:p>
            <a:pPr algn="ctr" indent="0" marL="0">
              <a:buNone/>
            </a:pPr>
            <a:r>
              <a:rPr lang="en-US" sz="1100" b="1" dirty="0">
                <a:solidFill>
                  <a:schemeClr val="bg1"/>
                </a:solidFill>
              </a:rPr>
              <a:t>Modèle de données</a:t>
            </a:r>
            <a:endParaRPr lang="en-US" sz="1100" dirty="0"/>
          </a:p>
        </p:txBody>
      </p:sp>
      <p:graphicFrame>
        <p:nvGraphicFramePr>
          <p:cNvPr id="11" name="tblModele"/>
          <p:cNvGraphicFramePr>
            <a:graphicFrameLocks noGrp="1"/>
          </p:cNvGraphicFramePr>
          <p:nvPr>
            <p:extLst>
              <p:ext uri="{D42A27DB-BD31-4B8C-83A1-F6EECF244321}">
                <p14:modId xmlns:p14="http://schemas.microsoft.com/office/powerpoint/2010/main" val="1579011935"/>
              </p:ext>
            </p:extLst>
          </p:nvPr>
        </p:nvGraphicFramePr>
        <p:xfrm>
          <a:off x="548640" y="1691640"/>
          <a:ext cx="6858000" cy="914400"/>
        </p:xfrm>
        <a:graphic>
          <a:graphicData uri="http://schemas.openxmlformats.org/drawingml/2006/table">
            <a:tbl>
              <a:tblPr/>
              <a:tblGrid>
                <a:gridCol w="1828800"/>
                <a:gridCol w="1737360"/>
                <a:gridCol w="3291840"/>
              </a:tblGrid>
              <a:tr h="429768">
                <a:tc>
                  <a:txBody>
                    <a:bodyPr/>
                    <a:lstStyle/>
                    <a:p>
                      <a:pPr indent="0" marL="0">
                        <a:buNone/>
                      </a:pPr>
                      <a:r>
                        <a:rPr lang="en-US" sz="1300" b="1" dirty="0">
                          <a:solidFill>
                            <a:srgbClr val="FFFFFF"/>
                          </a:solidFill>
                        </a:rPr>
                        <a:t>Champ</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Type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Règle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r>
              <a:tr h="429768">
                <a:tc>
                  <a:txBody>
                    <a:bodyPr/>
                    <a:lstStyle/>
                    <a:p>
                      <a:pPr indent="0" marL="0">
                        <a:buNone/>
                      </a:pPr>
                      <a:r>
                        <a:rPr lang="en-US" sz="1300" b="1" dirty="0">
                          <a:solidFill>
                            <a:srgbClr val="16213A"/>
                          </a:solidFill>
                        </a:rPr>
                        <a:t>matricule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VARCHAR(20)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clé métier, format EMP-0000</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nom, prenom</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obligatoires, nom en majuscules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email</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VARCHAR(150)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format valide, unique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date_naissance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au moins 18 ans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date_embauche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pas dans le futur</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departement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un des 6 départements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salaire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NUMERIC(12,2)</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strictement positif</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statut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ENUM</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ACTIF, SUSPENDU, SORTI</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updated_at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TIMESTAMP</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date de la dernière modification</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6" name="refCard"/>
          <p:cNvSpPr/>
          <p:nvPr/>
        </p:nvSpPr>
        <p:spPr>
          <a:xfrm>
            <a:off x="7818120" y="1691640"/>
            <a:ext cx="3794760" cy="4297680"/>
          </a:xfrm>
          <a:prstGeom prst="roundRect">
            <a:avLst>
              <a:gd name="adj" fmla="val 2410"/>
            </a:avLst>
          </a:prstGeom>
          <a:solidFill>
            <a:schemeClr val="tx2"/>
          </a:solidFill>
          <a:ln/>
          <a:effectLst>
            <a:outerShdw sx="100000" sy="100000" kx="0" ky="0" algn="bl" rotWithShape="0" blurRad="127000" dist="38100" dir="5400000">
              <a:srgbClr val="0D2340">
                <a:alpha val="12000"/>
              </a:srgbClr>
            </a:outerShdw>
          </a:effectLst>
        </p:spPr>
      </p:sp>
      <p:sp>
        <p:nvSpPr>
          <p:cNvPr id="7" name="refDot"/>
          <p:cNvSpPr/>
          <p:nvPr/>
        </p:nvSpPr>
        <p:spPr>
          <a:xfrm>
            <a:off x="8092440" y="1965960"/>
            <a:ext cx="685800" cy="685800"/>
          </a:xfrm>
          <a:prstGeom prst="ellipse">
            <a:avLst/>
          </a:prstGeom>
          <a:solidFill>
            <a:schemeClr val="accent2"/>
          </a:solidFill>
          <a:ln/>
        </p:spPr>
      </p:sp>
      <p:pic>
        <p:nvPicPr>
          <p:cNvPr id="8" name="refDoti" descr="preencoded.png">    </p:cNvPr>
          <p:cNvPicPr>
            <a:picLocks noChangeAspect="1"/>
          </p:cNvPicPr>
          <p:nvPr/>
        </p:nvPicPr>
        <p:blipFill>
          <a:blip r:embed="rId1"/>
          <a:stretch>
            <a:fillRect/>
          </a:stretch>
        </p:blipFill>
        <p:spPr>
          <a:xfrm>
            <a:off x="8277606" y="2151126"/>
            <a:ext cx="315468" cy="315468"/>
          </a:xfrm>
          <a:prstGeom prst="rect">
            <a:avLst/>
          </a:prstGeom>
        </p:spPr>
      </p:pic>
      <p:sp>
        <p:nvSpPr>
          <p:cNvPr id="9" name="refH"/>
          <p:cNvSpPr txBox="1"/>
          <p:nvPr/>
        </p:nvSpPr>
        <p:spPr>
          <a:xfrm>
            <a:off x="8092440" y="2788920"/>
            <a:ext cx="3291840" cy="731520"/>
          </a:xfrm>
          <a:prstGeom prst="rect">
            <a:avLst/>
          </a:prstGeom>
          <a:noFill/>
          <a:ln/>
        </p:spPr>
        <p:txBody>
          <a:bodyPr wrap="square" lIns="0" tIns="0" rIns="0" bIns="0" rtlCol="0" anchor="t"/>
          <a:lstStyle/>
          <a:p>
            <a:pPr indent="0" marL="0">
              <a:buNone/>
            </a:pPr>
            <a:r>
              <a:rPr lang="en-US" sz="2000" b="1" dirty="0">
                <a:solidFill>
                  <a:schemeClr val="bg1"/>
                </a:solidFill>
              </a:rPr>
              <a:t>PostgreSQL, base de référence</a:t>
            </a:r>
            <a:endParaRPr lang="en-US" sz="2000" dirty="0"/>
          </a:p>
        </p:txBody>
      </p:sp>
      <p:sp>
        <p:nvSpPr>
          <p:cNvPr id="10" name="refB"/>
          <p:cNvSpPr txBox="1"/>
          <p:nvPr/>
        </p:nvSpPr>
        <p:spPr>
          <a:xfrm>
            <a:off x="8092440" y="3566160"/>
            <a:ext cx="32918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CE4F0"/>
                </a:solidFill>
              </a:rPr>
              <a:t>Reçoit les données nettoyées par Pentaho</a:t>
            </a:r>
            <a:endParaRPr lang="en-US" sz="1400" dirty="0"/>
          </a:p>
          <a:p>
            <a:pPr marL="342900" indent="-342900">
              <a:spcAft>
                <a:spcPts val="600"/>
              </a:spcAft>
              <a:buSzPct val="100000"/>
              <a:buChar char="•"/>
            </a:pPr>
            <a:r>
              <a:rPr lang="en-US" sz="1400" dirty="0">
                <a:solidFill>
                  <a:srgbClr val="DCE4F0"/>
                </a:solidFill>
              </a:rPr>
              <a:t>Contraintes CHECK, clé étrangère, unicité</a:t>
            </a:r>
            <a:endParaRPr lang="en-US" sz="1400" dirty="0"/>
          </a:p>
          <a:p>
            <a:pPr marL="342900" indent="-342900">
              <a:spcAft>
                <a:spcPts val="600"/>
              </a:spcAft>
              <a:buSzPct val="100000"/>
              <a:buChar char="•"/>
            </a:pPr>
            <a:r>
              <a:rPr lang="en-US" sz="1400" dirty="0">
                <a:solidFill>
                  <a:srgbClr val="DCE4F0"/>
                </a:solidFill>
              </a:rPr>
              <a:t>Seule base utilisée par le service</a:t>
            </a:r>
            <a:endParaRPr lang="en-US" sz="1400" dirty="0"/>
          </a:p>
          <a:p>
            <a:pPr marL="342900" indent="-342900">
              <a:spcAft>
                <a:spcPts val="600"/>
              </a:spcAft>
              <a:buSzPct val="100000"/>
              <a:buChar char="•"/>
            </a:pPr>
            <a:r>
              <a:rPr lang="en-US" sz="1400" dirty="0">
                <a:solidFill>
                  <a:srgbClr val="DCE4F0"/>
                </a:solidFill>
              </a:rPr>
              <a:t>Mêmes règles dans Pentaho et en Java</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42" presetClass="entr" presetSubtype="0" fill="hold" grpId="0" nodeType="withEffect">
                                  <p:stCondLst>
                                    <p:cond delay="2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ing#42"/>
          <p:cNvSpPr/>
          <p:nvPr/>
        </p:nvSpPr>
        <p:spPr>
          <a:xfrm>
            <a:off x="7223760" y="1234440"/>
            <a:ext cx="4389120" cy="4389120"/>
          </a:xfrm>
          <a:prstGeom prst="ellipse">
            <a:avLst/>
          </a:prstGeom>
          <a:solidFill>
            <a:srgbClr val="1BA39C">
              <a:alpha val="20000"/>
            </a:srgbClr>
          </a:solidFill>
          <a:ln/>
        </p:spPr>
      </p:sp>
      <p:sp>
        <p:nvSpPr>
          <p:cNvPr id="3" name="ring#43"/>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03</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3</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Synchronisation avec Pentaho</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De MySQL vers PostgreSQL, et retour</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job aller : MySQL vers PostgreSQL</a:t>
            </a:r>
            <a:endParaRPr lang="en-US" sz="3000" dirty="0"/>
          </a:p>
        </p:txBody>
      </p:sp>
      <p:sp>
        <p:nvSpPr>
          <p:cNvPr id="3" name="pill#44"/>
          <p:cNvSpPr/>
          <p:nvPr/>
        </p:nvSpPr>
        <p:spPr>
          <a:xfrm>
            <a:off x="548640" y="384048"/>
            <a:ext cx="745236" cy="292608"/>
          </a:xfrm>
          <a:prstGeom prst="roundRect">
            <a:avLst>
              <a:gd name="adj" fmla="val 50000"/>
            </a:avLst>
          </a:prstGeom>
          <a:solidFill>
            <a:schemeClr val="accent4"/>
          </a:solidFill>
          <a:ln/>
        </p:spPr>
      </p:sp>
      <p:sp>
        <p:nvSpPr>
          <p:cNvPr id="4" name="pill#4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st#45d"/>
          <p:cNvSpPr/>
          <p:nvPr/>
        </p:nvSpPr>
        <p:spPr>
          <a:xfrm>
            <a:off x="1005840" y="1920240"/>
            <a:ext cx="868680" cy="868680"/>
          </a:xfrm>
          <a:prstGeom prst="ellipse">
            <a:avLst/>
          </a:prstGeom>
          <a:solidFill>
            <a:schemeClr val="accent4"/>
          </a:solidFill>
          <a:ln/>
        </p:spPr>
      </p:sp>
      <p:pic>
        <p:nvPicPr>
          <p:cNvPr id="6" name="st#45di" descr="preencoded.png">    </p:cNvPr>
          <p:cNvPicPr>
            <a:picLocks noChangeAspect="1"/>
          </p:cNvPicPr>
          <p:nvPr/>
        </p:nvPicPr>
        <p:blipFill>
          <a:blip r:embed="rId1"/>
          <a:stretch>
            <a:fillRect/>
          </a:stretch>
        </p:blipFill>
        <p:spPr>
          <a:xfrm>
            <a:off x="1240384" y="2154784"/>
            <a:ext cx="399593" cy="399593"/>
          </a:xfrm>
          <a:prstGeom prst="rect">
            <a:avLst/>
          </a:prstGeom>
        </p:spPr>
      </p:pic>
      <p:sp>
        <p:nvSpPr>
          <p:cNvPr id="7" name="st#45h"/>
          <p:cNvSpPr txBox="1"/>
          <p:nvPr/>
        </p:nvSpPr>
        <p:spPr>
          <a:xfrm>
            <a:off x="54864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1. Lire</a:t>
            </a:r>
            <a:endParaRPr lang="en-US" sz="1700" dirty="0"/>
          </a:p>
        </p:txBody>
      </p:sp>
      <p:sp>
        <p:nvSpPr>
          <p:cNvPr id="8" name="st#45b"/>
          <p:cNvSpPr txBox="1"/>
          <p:nvPr/>
        </p:nvSpPr>
        <p:spPr>
          <a:xfrm>
            <a:off x="54864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table employes</a:t>
            </a:r>
            <a:endParaRPr lang="en-US" sz="1300" dirty="0"/>
          </a:p>
        </p:txBody>
      </p:sp>
      <p:sp>
        <p:nvSpPr>
          <p:cNvPr id="9" name="st#45l"/>
          <p:cNvSpPr/>
          <p:nvPr/>
        </p:nvSpPr>
        <p:spPr>
          <a:xfrm>
            <a:off x="1965960" y="2354580"/>
            <a:ext cx="841248" cy="0"/>
          </a:xfrm>
          <a:prstGeom prst="line">
            <a:avLst/>
          </a:prstGeom>
          <a:noFill/>
          <a:ln w="19050">
            <a:solidFill>
              <a:srgbClr val="C5CDDA"/>
            </a:solidFill>
            <a:prstDash val="dash"/>
            <a:tailEnd type="triangle"/>
          </a:ln>
        </p:spPr>
      </p:sp>
      <p:sp>
        <p:nvSpPr>
          <p:cNvPr id="10" name="st#46d"/>
          <p:cNvSpPr/>
          <p:nvPr/>
        </p:nvSpPr>
        <p:spPr>
          <a:xfrm>
            <a:off x="2898648" y="1920240"/>
            <a:ext cx="868680" cy="868680"/>
          </a:xfrm>
          <a:prstGeom prst="ellipse">
            <a:avLst/>
          </a:prstGeom>
          <a:solidFill>
            <a:schemeClr val="accent2"/>
          </a:solidFill>
          <a:ln/>
        </p:spPr>
      </p:sp>
      <p:pic>
        <p:nvPicPr>
          <p:cNvPr id="11" name="st#46di" descr="preencoded.png">    </p:cNvPr>
          <p:cNvPicPr>
            <a:picLocks noChangeAspect="1"/>
          </p:cNvPicPr>
          <p:nvPr/>
        </p:nvPicPr>
        <p:blipFill>
          <a:blip r:embed="rId2"/>
          <a:stretch>
            <a:fillRect/>
          </a:stretch>
        </p:blipFill>
        <p:spPr>
          <a:xfrm>
            <a:off x="3133192" y="2154784"/>
            <a:ext cx="399593" cy="399593"/>
          </a:xfrm>
          <a:prstGeom prst="rect">
            <a:avLst/>
          </a:prstGeom>
        </p:spPr>
      </p:pic>
      <p:sp>
        <p:nvSpPr>
          <p:cNvPr id="12" name="st#46h"/>
          <p:cNvSpPr txBox="1"/>
          <p:nvPr/>
        </p:nvSpPr>
        <p:spPr>
          <a:xfrm>
            <a:off x="2441448"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2. Nettoyer</a:t>
            </a:r>
            <a:endParaRPr lang="en-US" sz="1700" dirty="0"/>
          </a:p>
        </p:txBody>
      </p:sp>
      <p:sp>
        <p:nvSpPr>
          <p:cNvPr id="13" name="st#46b"/>
          <p:cNvSpPr txBox="1"/>
          <p:nvPr/>
        </p:nvSpPr>
        <p:spPr>
          <a:xfrm>
            <a:off x="2441448"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espaces et casse</a:t>
            </a:r>
            <a:endParaRPr lang="en-US" sz="1300" dirty="0"/>
          </a:p>
        </p:txBody>
      </p:sp>
      <p:sp>
        <p:nvSpPr>
          <p:cNvPr id="14" name="st#46l"/>
          <p:cNvSpPr/>
          <p:nvPr/>
        </p:nvSpPr>
        <p:spPr>
          <a:xfrm>
            <a:off x="3858768" y="2354580"/>
            <a:ext cx="841248" cy="0"/>
          </a:xfrm>
          <a:prstGeom prst="line">
            <a:avLst/>
          </a:prstGeom>
          <a:noFill/>
          <a:ln w="19050">
            <a:solidFill>
              <a:srgbClr val="C5CDDA"/>
            </a:solidFill>
            <a:prstDash val="dash"/>
            <a:tailEnd type="triangle"/>
          </a:ln>
        </p:spPr>
      </p:sp>
      <p:sp>
        <p:nvSpPr>
          <p:cNvPr id="15" name="st#47d"/>
          <p:cNvSpPr/>
          <p:nvPr/>
        </p:nvSpPr>
        <p:spPr>
          <a:xfrm>
            <a:off x="4791456" y="1920240"/>
            <a:ext cx="868680" cy="868680"/>
          </a:xfrm>
          <a:prstGeom prst="ellipse">
            <a:avLst/>
          </a:prstGeom>
          <a:solidFill>
            <a:schemeClr val="accent4"/>
          </a:solidFill>
          <a:ln/>
        </p:spPr>
      </p:sp>
      <p:pic>
        <p:nvPicPr>
          <p:cNvPr id="16" name="st#47di" descr="preencoded.png">    </p:cNvPr>
          <p:cNvPicPr>
            <a:picLocks noChangeAspect="1"/>
          </p:cNvPicPr>
          <p:nvPr/>
        </p:nvPicPr>
        <p:blipFill>
          <a:blip r:embed="rId3"/>
          <a:stretch>
            <a:fillRect/>
          </a:stretch>
        </p:blipFill>
        <p:spPr>
          <a:xfrm>
            <a:off x="5026000" y="2154784"/>
            <a:ext cx="399593" cy="399593"/>
          </a:xfrm>
          <a:prstGeom prst="rect">
            <a:avLst/>
          </a:prstGeom>
        </p:spPr>
      </p:pic>
      <p:sp>
        <p:nvSpPr>
          <p:cNvPr id="17" name="st#47h"/>
          <p:cNvSpPr txBox="1"/>
          <p:nvPr/>
        </p:nvSpPr>
        <p:spPr>
          <a:xfrm>
            <a:off x="4334256"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3. Normaliser</a:t>
            </a:r>
            <a:endParaRPr lang="en-US" sz="1700" dirty="0"/>
          </a:p>
        </p:txBody>
      </p:sp>
      <p:sp>
        <p:nvSpPr>
          <p:cNvPr id="18" name="st#47b"/>
          <p:cNvSpPr txBox="1"/>
          <p:nvPr/>
        </p:nvSpPr>
        <p:spPr>
          <a:xfrm>
            <a:off x="4334256"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alias de département</a:t>
            </a:r>
            <a:endParaRPr lang="en-US" sz="1300" dirty="0"/>
          </a:p>
        </p:txBody>
      </p:sp>
      <p:sp>
        <p:nvSpPr>
          <p:cNvPr id="19" name="st#47l"/>
          <p:cNvSpPr/>
          <p:nvPr/>
        </p:nvSpPr>
        <p:spPr>
          <a:xfrm>
            <a:off x="5751576" y="2354580"/>
            <a:ext cx="841248" cy="0"/>
          </a:xfrm>
          <a:prstGeom prst="line">
            <a:avLst/>
          </a:prstGeom>
          <a:noFill/>
          <a:ln w="19050">
            <a:solidFill>
              <a:srgbClr val="C5CDDA"/>
            </a:solidFill>
            <a:prstDash val="dash"/>
            <a:tailEnd type="triangle"/>
          </a:ln>
        </p:spPr>
      </p:sp>
      <p:sp>
        <p:nvSpPr>
          <p:cNvPr id="20" name="st#48d"/>
          <p:cNvSpPr/>
          <p:nvPr/>
        </p:nvSpPr>
        <p:spPr>
          <a:xfrm>
            <a:off x="6684264" y="1920240"/>
            <a:ext cx="868680" cy="868680"/>
          </a:xfrm>
          <a:prstGeom prst="ellipse">
            <a:avLst/>
          </a:prstGeom>
          <a:solidFill>
            <a:schemeClr val="accent2"/>
          </a:solidFill>
          <a:ln/>
        </p:spPr>
      </p:sp>
      <p:pic>
        <p:nvPicPr>
          <p:cNvPr id="21" name="st#48di" descr="preencoded.png">    </p:cNvPr>
          <p:cNvPicPr>
            <a:picLocks noChangeAspect="1"/>
          </p:cNvPicPr>
          <p:nvPr/>
        </p:nvPicPr>
        <p:blipFill>
          <a:blip r:embed="rId4"/>
          <a:stretch>
            <a:fillRect/>
          </a:stretch>
        </p:blipFill>
        <p:spPr>
          <a:xfrm>
            <a:off x="6918808" y="2154784"/>
            <a:ext cx="399593" cy="399593"/>
          </a:xfrm>
          <a:prstGeom prst="rect">
            <a:avLst/>
          </a:prstGeom>
        </p:spPr>
      </p:pic>
      <p:sp>
        <p:nvSpPr>
          <p:cNvPr id="22" name="st#48h"/>
          <p:cNvSpPr txBox="1"/>
          <p:nvPr/>
        </p:nvSpPr>
        <p:spPr>
          <a:xfrm>
            <a:off x="6227064"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4. Valider</a:t>
            </a:r>
            <a:endParaRPr lang="en-US" sz="1700" dirty="0"/>
          </a:p>
        </p:txBody>
      </p:sp>
      <p:sp>
        <p:nvSpPr>
          <p:cNvPr id="23" name="st#48b"/>
          <p:cNvSpPr txBox="1"/>
          <p:nvPr/>
        </p:nvSpPr>
        <p:spPr>
          <a:xfrm>
            <a:off x="6227064"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règles du modèle</a:t>
            </a:r>
            <a:endParaRPr lang="en-US" sz="1300" dirty="0"/>
          </a:p>
        </p:txBody>
      </p:sp>
      <p:sp>
        <p:nvSpPr>
          <p:cNvPr id="24" name="st#48l"/>
          <p:cNvSpPr/>
          <p:nvPr/>
        </p:nvSpPr>
        <p:spPr>
          <a:xfrm>
            <a:off x="7644384" y="2354580"/>
            <a:ext cx="841248" cy="0"/>
          </a:xfrm>
          <a:prstGeom prst="line">
            <a:avLst/>
          </a:prstGeom>
          <a:noFill/>
          <a:ln w="19050">
            <a:solidFill>
              <a:srgbClr val="C5CDDA"/>
            </a:solidFill>
            <a:prstDash val="dash"/>
            <a:tailEnd type="triangle"/>
          </a:ln>
        </p:spPr>
      </p:sp>
      <p:sp>
        <p:nvSpPr>
          <p:cNvPr id="25" name="st#49d"/>
          <p:cNvSpPr/>
          <p:nvPr/>
        </p:nvSpPr>
        <p:spPr>
          <a:xfrm>
            <a:off x="8577072" y="1920240"/>
            <a:ext cx="868680" cy="868680"/>
          </a:xfrm>
          <a:prstGeom prst="ellipse">
            <a:avLst/>
          </a:prstGeom>
          <a:solidFill>
            <a:schemeClr val="accent4"/>
          </a:solidFill>
          <a:ln/>
        </p:spPr>
      </p:sp>
      <p:pic>
        <p:nvPicPr>
          <p:cNvPr id="26" name="st#49di" descr="preencoded.png">    </p:cNvPr>
          <p:cNvPicPr>
            <a:picLocks noChangeAspect="1"/>
          </p:cNvPicPr>
          <p:nvPr/>
        </p:nvPicPr>
        <p:blipFill>
          <a:blip r:embed="rId5"/>
          <a:stretch>
            <a:fillRect/>
          </a:stretch>
        </p:blipFill>
        <p:spPr>
          <a:xfrm>
            <a:off x="8811616" y="2154784"/>
            <a:ext cx="399593" cy="399593"/>
          </a:xfrm>
          <a:prstGeom prst="rect">
            <a:avLst/>
          </a:prstGeom>
        </p:spPr>
      </p:pic>
      <p:sp>
        <p:nvSpPr>
          <p:cNvPr id="27" name="st#49h"/>
          <p:cNvSpPr txBox="1"/>
          <p:nvPr/>
        </p:nvSpPr>
        <p:spPr>
          <a:xfrm>
            <a:off x="8119872"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5. Charger</a:t>
            </a:r>
            <a:endParaRPr lang="en-US" sz="1700" dirty="0"/>
          </a:p>
        </p:txBody>
      </p:sp>
      <p:sp>
        <p:nvSpPr>
          <p:cNvPr id="28" name="st#49b"/>
          <p:cNvSpPr txBox="1"/>
          <p:nvPr/>
        </p:nvSpPr>
        <p:spPr>
          <a:xfrm>
            <a:off x="8119872"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transit ou rejets</a:t>
            </a:r>
            <a:endParaRPr lang="en-US" sz="1300" dirty="0"/>
          </a:p>
        </p:txBody>
      </p:sp>
      <p:sp>
        <p:nvSpPr>
          <p:cNvPr id="29" name="st#49l"/>
          <p:cNvSpPr/>
          <p:nvPr/>
        </p:nvSpPr>
        <p:spPr>
          <a:xfrm>
            <a:off x="9537192" y="2354580"/>
            <a:ext cx="841248" cy="0"/>
          </a:xfrm>
          <a:prstGeom prst="line">
            <a:avLst/>
          </a:prstGeom>
          <a:noFill/>
          <a:ln w="19050">
            <a:solidFill>
              <a:srgbClr val="C5CDDA"/>
            </a:solidFill>
            <a:prstDash val="dash"/>
            <a:tailEnd type="triangle"/>
          </a:ln>
        </p:spPr>
      </p:sp>
      <p:sp>
        <p:nvSpPr>
          <p:cNvPr id="30" name="st#50d"/>
          <p:cNvSpPr/>
          <p:nvPr/>
        </p:nvSpPr>
        <p:spPr>
          <a:xfrm>
            <a:off x="10469880" y="1920240"/>
            <a:ext cx="868680" cy="868680"/>
          </a:xfrm>
          <a:prstGeom prst="ellipse">
            <a:avLst/>
          </a:prstGeom>
          <a:solidFill>
            <a:schemeClr val="accent2"/>
          </a:solidFill>
          <a:ln/>
        </p:spPr>
      </p:sp>
      <p:pic>
        <p:nvPicPr>
          <p:cNvPr id="31" name="st#50di" descr="preencoded.png">    </p:cNvPr>
          <p:cNvPicPr>
            <a:picLocks noChangeAspect="1"/>
          </p:cNvPicPr>
          <p:nvPr/>
        </p:nvPicPr>
        <p:blipFill>
          <a:blip r:embed="rId6"/>
          <a:stretch>
            <a:fillRect/>
          </a:stretch>
        </p:blipFill>
        <p:spPr>
          <a:xfrm>
            <a:off x="10704424" y="2154784"/>
            <a:ext cx="399593" cy="399593"/>
          </a:xfrm>
          <a:prstGeom prst="rect">
            <a:avLst/>
          </a:prstGeom>
        </p:spPr>
      </p:pic>
      <p:sp>
        <p:nvSpPr>
          <p:cNvPr id="32" name="st#50h"/>
          <p:cNvSpPr txBox="1"/>
          <p:nvPr/>
        </p:nvSpPr>
        <p:spPr>
          <a:xfrm>
            <a:off x="1001268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6. Fusionner</a:t>
            </a:r>
            <a:endParaRPr lang="en-US" sz="1700" dirty="0"/>
          </a:p>
        </p:txBody>
      </p:sp>
      <p:sp>
        <p:nvSpPr>
          <p:cNvPr id="33" name="st#50b"/>
          <p:cNvSpPr txBox="1"/>
          <p:nvPr/>
        </p:nvSpPr>
        <p:spPr>
          <a:xfrm>
            <a:off x="1001268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la plus récente gagne</a:t>
            </a:r>
            <a:endParaRPr lang="en-US" sz="1300" dirty="0"/>
          </a:p>
        </p:txBody>
      </p:sp>
      <p:sp>
        <p:nvSpPr>
          <p:cNvPr id="34" name="pdiNote"/>
          <p:cNvSpPr/>
          <p:nvPr/>
        </p:nvSpPr>
        <p:spPr>
          <a:xfrm>
            <a:off x="548640" y="4251960"/>
            <a:ext cx="11064240" cy="1691640"/>
          </a:xfrm>
          <a:prstGeom prst="roundRect">
            <a:avLst>
              <a:gd name="adj" fmla="val 5405"/>
            </a:avLst>
          </a:prstGeom>
          <a:solidFill>
            <a:schemeClr val="bg2"/>
          </a:solidFill>
          <a:ln/>
        </p:spPr>
      </p:sp>
      <p:sp>
        <p:nvSpPr>
          <p:cNvPr id="35" name="pdiNoteT"/>
          <p:cNvSpPr txBox="1"/>
          <p:nvPr/>
        </p:nvSpPr>
        <p:spPr>
          <a:xfrm>
            <a:off x="822960" y="4389120"/>
            <a:ext cx="10515600" cy="146304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Pourquoi une zone de transit ?</a:t>
            </a:r>
            <a:endParaRPr lang="en-US" sz="1400" dirty="0"/>
          </a:p>
          <a:p>
            <a:pPr indent="0" marL="0">
              <a:spcAft>
                <a:spcPts val="600"/>
              </a:spcAft>
              <a:buNone/>
            </a:pPr>
            <a:r>
              <a:rPr lang="en-US" sz="1400" dirty="0">
                <a:solidFill>
                  <a:schemeClr val="tx1"/>
                </a:solidFill>
              </a:rPr>
              <a:t>Pentaho charge d'abord les lignes valides dans stg_employee, puis une requête de fusion (ON CONFLICT) ne met à jour PostgreSQL que si la donnée MySQL est plus récente. Une modification faite par le service SOAP n'est donc jamais écrasée. Le job peut être relancé autant de fois que nécessaire sans rien casser.</a:t>
            </a:r>
            <a:endParaRPr lang="en-US" sz="1400" dirty="0"/>
          </a:p>
        </p:txBody>
      </p:sp>
      <p:sp>
        <p:nvSpPr>
          <p:cNvPr id="3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10" presetClass="entr" presetSubtype="0" fill="hold" grpId="0" nodeType="withEffect">
                                  <p:stCondLst>
                                    <p:cond delay="132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childTnLst>
                                </p:cTn>
                              </p:par>
                              <p:par>
                                <p:cTn id="153" presetID="10" presetClass="entr" presetSubtype="0" fill="hold" grpId="0" nodeType="withEffect">
                                  <p:stCondLst>
                                    <p:cond delay="132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Résultat de la synchronisation</a:t>
            </a:r>
            <a:endParaRPr lang="en-US" sz="3000" dirty="0"/>
          </a:p>
        </p:txBody>
      </p:sp>
      <p:sp>
        <p:nvSpPr>
          <p:cNvPr id="3" name="pill#51"/>
          <p:cNvSpPr/>
          <p:nvPr/>
        </p:nvSpPr>
        <p:spPr>
          <a:xfrm>
            <a:off x="548640" y="384048"/>
            <a:ext cx="745236" cy="292608"/>
          </a:xfrm>
          <a:prstGeom prst="roundRect">
            <a:avLst>
              <a:gd name="adj" fmla="val 50000"/>
            </a:avLst>
          </a:prstGeom>
          <a:solidFill>
            <a:schemeClr val="accent4"/>
          </a:solidFill>
          <a:ln/>
        </p:spPr>
      </p:sp>
      <p:sp>
        <p:nvSpPr>
          <p:cNvPr id="4" name="pill#51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graphicFrame>
        <p:nvGraphicFramePr>
          <p:cNvPr id="5" name="donut" descr=""/>
          <p:cNvGraphicFramePr/>
          <p:nvPr/>
        </p:nvGraphicFramePr>
        <p:xfrm>
          <a:off x="548640" y="1645920"/>
          <a:ext cx="4389120" cy="4297680"/>
        </p:xfrm>
        <a:graphic xmlns:a="http://schemas.openxmlformats.org/drawingml/2006/main">
          <a:graphicData uri="http://schemas.openxmlformats.org/drawingml/2006/chart">
            <c:chart xmlns:c="http://schemas.openxmlformats.org/drawingml/2006/chart" r:id="rId1"/>
          </a:graphicData>
        </a:graphic>
      </p:graphicFrame>
      <p:sp>
        <p:nvSpPr>
          <p:cNvPr id="6" name="donutC"/>
          <p:cNvSpPr txBox="1"/>
          <p:nvPr/>
        </p:nvSpPr>
        <p:spPr>
          <a:xfrm>
            <a:off x="1737360" y="3154680"/>
            <a:ext cx="2011680" cy="1280160"/>
          </a:xfrm>
          <a:prstGeom prst="rect">
            <a:avLst/>
          </a:prstGeom>
          <a:noFill/>
          <a:ln/>
        </p:spPr>
        <p:txBody>
          <a:bodyPr wrap="square" lIns="0" tIns="0" rIns="0" bIns="0" rtlCol="0" anchor="ctr"/>
          <a:lstStyle/>
          <a:p>
            <a:pPr algn="ctr" indent="0" marL="0">
              <a:buNone/>
            </a:pPr>
            <a:r>
              <a:rPr lang="en-US" sz="4400" b="1" dirty="0">
                <a:solidFill>
                  <a:schemeClr val="tx2"/>
                </a:solidFill>
              </a:rPr>
              <a:t>23</a:t>
            </a:r>
            <a:endParaRPr lang="en-US" sz="1400" dirty="0"/>
          </a:p>
          <a:p>
            <a:pPr algn="ctr" indent="0" marL="0">
              <a:buNone/>
            </a:pPr>
            <a:r>
              <a:rPr lang="en-US" sz="1400" dirty="0">
                <a:solidFill>
                  <a:schemeClr val="accent6"/>
                </a:solidFill>
              </a:rPr>
              <a:t>employés lus</a:t>
            </a:r>
            <a:endParaRPr lang="en-US" sz="1400" dirty="0"/>
          </a:p>
        </p:txBody>
      </p:sp>
      <p:sp>
        <p:nvSpPr>
          <p:cNvPr id="7" name="res#52"/>
          <p:cNvSpPr/>
          <p:nvPr/>
        </p:nvSpPr>
        <p:spPr>
          <a:xfrm>
            <a:off x="5486400" y="1737360"/>
            <a:ext cx="6126480" cy="1005840"/>
          </a:xfrm>
          <a:prstGeom prst="roundRect">
            <a:avLst>
              <a:gd name="adj" fmla="val 9091"/>
            </a:avLst>
          </a:prstGeom>
          <a:solidFill>
            <a:schemeClr val="bg2"/>
          </a:solidFill>
          <a:ln/>
        </p:spPr>
      </p:sp>
      <p:sp>
        <p:nvSpPr>
          <p:cNvPr id="8" name="res#52n"/>
          <p:cNvSpPr txBox="1"/>
          <p:nvPr/>
        </p:nvSpPr>
        <p:spPr>
          <a:xfrm>
            <a:off x="5669280" y="1737360"/>
            <a:ext cx="1188720" cy="1005840"/>
          </a:xfrm>
          <a:prstGeom prst="rect">
            <a:avLst/>
          </a:prstGeom>
          <a:noFill/>
          <a:ln/>
        </p:spPr>
        <p:txBody>
          <a:bodyPr wrap="square" lIns="0" tIns="0" rIns="0" bIns="0" rtlCol="0" anchor="ctr"/>
          <a:lstStyle/>
          <a:p>
            <a:pPr indent="0" marL="0">
              <a:buNone/>
            </a:pPr>
            <a:r>
              <a:rPr lang="en-US" sz="3600" b="1" dirty="0">
                <a:solidFill>
                  <a:schemeClr val="accent3"/>
                </a:solidFill>
              </a:rPr>
              <a:t>20</a:t>
            </a:r>
            <a:endParaRPr lang="en-US" sz="3600" dirty="0"/>
          </a:p>
        </p:txBody>
      </p:sp>
      <p:sp>
        <p:nvSpPr>
          <p:cNvPr id="9" name="res#52t"/>
          <p:cNvSpPr txBox="1"/>
          <p:nvPr/>
        </p:nvSpPr>
        <p:spPr>
          <a:xfrm>
            <a:off x="6858000" y="173736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chargés dans PostgreSQL</a:t>
            </a:r>
            <a:endParaRPr lang="en-US" sz="1600" dirty="0"/>
          </a:p>
          <a:p>
            <a:pPr indent="0" marL="0">
              <a:buNone/>
            </a:pPr>
            <a:r>
              <a:rPr lang="en-US" sz="1300" dirty="0">
                <a:solidFill>
                  <a:schemeClr val="accent6"/>
                </a:solidFill>
              </a:rPr>
              <a:t>nettoyés et normalisés</a:t>
            </a:r>
            <a:endParaRPr lang="en-US" sz="1600" dirty="0"/>
          </a:p>
        </p:txBody>
      </p:sp>
      <p:sp>
        <p:nvSpPr>
          <p:cNvPr id="10" name="res#53"/>
          <p:cNvSpPr/>
          <p:nvPr/>
        </p:nvSpPr>
        <p:spPr>
          <a:xfrm>
            <a:off x="5486400" y="2971800"/>
            <a:ext cx="6126480" cy="1005840"/>
          </a:xfrm>
          <a:prstGeom prst="roundRect">
            <a:avLst>
              <a:gd name="adj" fmla="val 9091"/>
            </a:avLst>
          </a:prstGeom>
          <a:solidFill>
            <a:schemeClr val="bg2"/>
          </a:solidFill>
          <a:ln/>
        </p:spPr>
      </p:sp>
      <p:sp>
        <p:nvSpPr>
          <p:cNvPr id="11" name="res#53n"/>
          <p:cNvSpPr txBox="1"/>
          <p:nvPr/>
        </p:nvSpPr>
        <p:spPr>
          <a:xfrm>
            <a:off x="5669280" y="2971800"/>
            <a:ext cx="1188720" cy="1005840"/>
          </a:xfrm>
          <a:prstGeom prst="rect">
            <a:avLst/>
          </a:prstGeom>
          <a:noFill/>
          <a:ln/>
        </p:spPr>
        <p:txBody>
          <a:bodyPr wrap="square" lIns="0" tIns="0" rIns="0" bIns="0" rtlCol="0" anchor="ctr"/>
          <a:lstStyle/>
          <a:p>
            <a:pPr indent="0" marL="0">
              <a:buNone/>
            </a:pPr>
            <a:r>
              <a:rPr lang="en-US" sz="3600" b="1" dirty="0">
                <a:solidFill>
                  <a:schemeClr val="accent5"/>
                </a:solidFill>
              </a:rPr>
              <a:t>3</a:t>
            </a:r>
            <a:endParaRPr lang="en-US" sz="3600" dirty="0"/>
          </a:p>
        </p:txBody>
      </p:sp>
      <p:sp>
        <p:nvSpPr>
          <p:cNvPr id="12" name="res#53t"/>
          <p:cNvSpPr txBox="1"/>
          <p:nvPr/>
        </p:nvSpPr>
        <p:spPr>
          <a:xfrm>
            <a:off x="6858000" y="297180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rejetés avec leur motif</a:t>
            </a:r>
            <a:endParaRPr lang="en-US" sz="1600" dirty="0"/>
          </a:p>
          <a:p>
            <a:pPr indent="0" marL="0">
              <a:buNone/>
            </a:pPr>
            <a:r>
              <a:rPr lang="en-US" sz="1300" dirty="0">
                <a:solidFill>
                  <a:schemeClr val="accent6"/>
                </a:solidFill>
              </a:rPr>
              <a:t>tracés dans sync_reject</a:t>
            </a:r>
            <a:endParaRPr lang="en-US" sz="1600" dirty="0"/>
          </a:p>
        </p:txBody>
      </p:sp>
      <p:sp>
        <p:nvSpPr>
          <p:cNvPr id="13" name="rjCard"/>
          <p:cNvSpPr/>
          <p:nvPr/>
        </p:nvSpPr>
        <p:spPr>
          <a:xfrm>
            <a:off x="5486400" y="4251960"/>
            <a:ext cx="6126480" cy="1691640"/>
          </a:xfrm>
          <a:prstGeom prst="roundRect">
            <a:avLst>
              <a:gd name="adj" fmla="val 5405"/>
            </a:avLst>
          </a:prstGeom>
          <a:solidFill>
            <a:schemeClr val="tx2"/>
          </a:solidFill>
          <a:ln/>
        </p:spPr>
      </p:sp>
      <p:sp>
        <p:nvSpPr>
          <p:cNvPr id="14" name="rjT"/>
          <p:cNvSpPr txBox="1"/>
          <p:nvPr/>
        </p:nvSpPr>
        <p:spPr>
          <a:xfrm>
            <a:off x="5760720" y="4389120"/>
            <a:ext cx="5669280" cy="1463040"/>
          </a:xfrm>
          <a:prstGeom prst="rect">
            <a:avLst/>
          </a:prstGeom>
          <a:noFill/>
          <a:ln/>
        </p:spPr>
        <p:txBody>
          <a:bodyPr wrap="square" lIns="0" tIns="0" rIns="0" bIns="0" rtlCol="0" anchor="t"/>
          <a:lstStyle/>
          <a:p>
            <a:pPr indent="0" marL="0">
              <a:spcAft>
                <a:spcPts val="400"/>
              </a:spcAft>
              <a:buNone/>
            </a:pPr>
            <a:r>
              <a:rPr lang="en-US" sz="1400" b="1" dirty="0">
                <a:solidFill>
                  <a:schemeClr val="accent2"/>
                </a:solidFill>
              </a:rPr>
              <a:t>Lignes rejetées</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EMP-0021 : nom obligatoire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EMP-0022 : email invalide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EMP-0023 : salaire doit être positif</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10"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par>
                                <p:cTn id="48" presetID="10" presetClass="entr" presetSubtype="0" fill="hold" grpId="0" nodeType="withEffect">
                                  <p:stCondLst>
                                    <p:cond delay="6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retour vers MySQL</a:t>
            </a:r>
            <a:endParaRPr lang="en-US" sz="3000" dirty="0"/>
          </a:p>
        </p:txBody>
      </p:sp>
      <p:sp>
        <p:nvSpPr>
          <p:cNvPr id="3" name="pill#54"/>
          <p:cNvSpPr/>
          <p:nvPr/>
        </p:nvSpPr>
        <p:spPr>
          <a:xfrm>
            <a:off x="548640" y="384048"/>
            <a:ext cx="745236" cy="292608"/>
          </a:xfrm>
          <a:prstGeom prst="roundRect">
            <a:avLst>
              <a:gd name="adj" fmla="val 50000"/>
            </a:avLst>
          </a:prstGeom>
          <a:solidFill>
            <a:schemeClr val="accent4"/>
          </a:solidFill>
          <a:ln/>
        </p:spPr>
      </p:sp>
      <p:sp>
        <p:nvSpPr>
          <p:cNvPr id="4" name="pill#5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fl#55"/>
          <p:cNvSpPr/>
          <p:nvPr/>
        </p:nvSpPr>
        <p:spPr>
          <a:xfrm>
            <a:off x="54864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6" name="fl#55i" descr="preencoded.png">    </p:cNvPr>
          <p:cNvPicPr>
            <a:picLocks noChangeAspect="1"/>
          </p:cNvPicPr>
          <p:nvPr/>
        </p:nvPicPr>
        <p:blipFill>
          <a:blip r:embed="rId1"/>
          <a:stretch>
            <a:fillRect/>
          </a:stretch>
        </p:blipFill>
        <p:spPr>
          <a:xfrm>
            <a:off x="1572768" y="1874520"/>
            <a:ext cx="457200" cy="457200"/>
          </a:xfrm>
          <a:prstGeom prst="rect">
            <a:avLst/>
          </a:prstGeom>
        </p:spPr>
      </p:pic>
      <p:sp>
        <p:nvSpPr>
          <p:cNvPr id="7" name="fl#55t"/>
          <p:cNvSpPr txBox="1"/>
          <p:nvPr/>
        </p:nvSpPr>
        <p:spPr>
          <a:xfrm>
            <a:off x="64008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Appel SOAP</a:t>
            </a:r>
            <a:endParaRPr lang="en-US" sz="1400" dirty="0"/>
          </a:p>
          <a:p>
            <a:pPr algn="ctr" indent="0" marL="0">
              <a:buNone/>
            </a:pPr>
            <a:r>
              <a:rPr lang="en-US" sz="1300" dirty="0">
                <a:solidFill>
                  <a:schemeClr val="tx1"/>
                </a:solidFill>
              </a:rPr>
              <a:t>create ou update</a:t>
            </a:r>
            <a:endParaRPr lang="en-US" sz="1400" dirty="0"/>
          </a:p>
        </p:txBody>
      </p:sp>
      <p:sp>
        <p:nvSpPr>
          <p:cNvPr id="8" name="fl#55l"/>
          <p:cNvSpPr/>
          <p:nvPr/>
        </p:nvSpPr>
        <p:spPr>
          <a:xfrm>
            <a:off x="3063240" y="2537460"/>
            <a:ext cx="320040" cy="0"/>
          </a:xfrm>
          <a:prstGeom prst="line">
            <a:avLst/>
          </a:prstGeom>
          <a:noFill/>
          <a:ln w="25400">
            <a:solidFill>
              <a:srgbClr val="8B97AD"/>
            </a:solidFill>
            <a:prstDash val="solid"/>
            <a:tailEnd type="triangle"/>
          </a:ln>
        </p:spPr>
      </p:sp>
      <p:sp>
        <p:nvSpPr>
          <p:cNvPr id="9" name="fl#56"/>
          <p:cNvSpPr/>
          <p:nvPr/>
        </p:nvSpPr>
        <p:spPr>
          <a:xfrm>
            <a:off x="3383280" y="1737360"/>
            <a:ext cx="2514600" cy="1600200"/>
          </a:xfrm>
          <a:prstGeom prst="roundRect">
            <a:avLst>
              <a:gd name="adj" fmla="val 5714"/>
            </a:avLst>
          </a:prstGeom>
          <a:solidFill>
            <a:schemeClr val="accent3"/>
          </a:solidFill>
          <a:ln/>
          <a:effectLst>
            <a:outerShdw sx="100000" sy="100000" kx="0" ky="0" algn="bl" rotWithShape="0" blurRad="127000" dist="38100" dir="5400000">
              <a:srgbClr val="0D2340">
                <a:alpha val="12000"/>
              </a:srgbClr>
            </a:outerShdw>
          </a:effectLst>
        </p:spPr>
      </p:sp>
      <p:pic>
        <p:nvPicPr>
          <p:cNvPr id="10" name="fl#56i" descr="preencoded.png">    </p:cNvPr>
          <p:cNvPicPr>
            <a:picLocks noChangeAspect="1"/>
          </p:cNvPicPr>
          <p:nvPr/>
        </p:nvPicPr>
        <p:blipFill>
          <a:blip r:embed="rId2"/>
          <a:stretch>
            <a:fillRect/>
          </a:stretch>
        </p:blipFill>
        <p:spPr>
          <a:xfrm>
            <a:off x="4407408" y="1874520"/>
            <a:ext cx="457200" cy="457200"/>
          </a:xfrm>
          <a:prstGeom prst="rect">
            <a:avLst/>
          </a:prstGeom>
        </p:spPr>
      </p:pic>
      <p:sp>
        <p:nvSpPr>
          <p:cNvPr id="11" name="fl#56t"/>
          <p:cNvSpPr txBox="1"/>
          <p:nvPr/>
        </p:nvSpPr>
        <p:spPr>
          <a:xfrm>
            <a:off x="3474720" y="2377440"/>
            <a:ext cx="2331720" cy="868680"/>
          </a:xfrm>
          <a:prstGeom prst="rect">
            <a:avLst/>
          </a:prstGeom>
          <a:noFill/>
          <a:ln/>
        </p:spPr>
        <p:txBody>
          <a:bodyPr wrap="square" lIns="0" tIns="0" rIns="0" bIns="0" rtlCol="0" anchor="t"/>
          <a:lstStyle/>
          <a:p>
            <a:pPr algn="ctr" indent="0" marL="0">
              <a:buNone/>
            </a:pPr>
            <a:r>
              <a:rPr lang="en-US" sz="1600" b="1" dirty="0">
                <a:solidFill>
                  <a:schemeClr val="bg1"/>
                </a:solidFill>
              </a:rPr>
              <a:t>Transaction PostgreSQL</a:t>
            </a:r>
            <a:endParaRPr lang="en-US" sz="1400" dirty="0"/>
          </a:p>
          <a:p>
            <a:pPr algn="ctr" indent="0" marL="0">
              <a:buNone/>
            </a:pPr>
            <a:r>
              <a:rPr lang="en-US" sz="1300" dirty="0">
                <a:solidFill>
                  <a:schemeClr val="bg1"/>
                </a:solidFill>
              </a:rPr>
              <a:t>employee + outbox</a:t>
            </a:r>
            <a:endParaRPr lang="en-US" sz="1400" dirty="0"/>
          </a:p>
        </p:txBody>
      </p:sp>
      <p:sp>
        <p:nvSpPr>
          <p:cNvPr id="12" name="fl#56l"/>
          <p:cNvSpPr/>
          <p:nvPr/>
        </p:nvSpPr>
        <p:spPr>
          <a:xfrm>
            <a:off x="5897880" y="2537460"/>
            <a:ext cx="320040" cy="0"/>
          </a:xfrm>
          <a:prstGeom prst="line">
            <a:avLst/>
          </a:prstGeom>
          <a:noFill/>
          <a:ln w="25400">
            <a:solidFill>
              <a:srgbClr val="8B97AD"/>
            </a:solidFill>
            <a:prstDash val="solid"/>
            <a:tailEnd type="triangle"/>
          </a:ln>
        </p:spPr>
      </p:sp>
      <p:sp>
        <p:nvSpPr>
          <p:cNvPr id="13" name="fl#57"/>
          <p:cNvSpPr/>
          <p:nvPr/>
        </p:nvSpPr>
        <p:spPr>
          <a:xfrm>
            <a:off x="621792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4" name="fl#57i" descr="preencoded.png">    </p:cNvPr>
          <p:cNvPicPr>
            <a:picLocks noChangeAspect="1"/>
          </p:cNvPicPr>
          <p:nvPr/>
        </p:nvPicPr>
        <p:blipFill>
          <a:blip r:embed="rId3"/>
          <a:stretch>
            <a:fillRect/>
          </a:stretch>
        </p:blipFill>
        <p:spPr>
          <a:xfrm>
            <a:off x="7242048" y="1874520"/>
            <a:ext cx="457200" cy="457200"/>
          </a:xfrm>
          <a:prstGeom prst="rect">
            <a:avLst/>
          </a:prstGeom>
        </p:spPr>
      </p:pic>
      <p:sp>
        <p:nvSpPr>
          <p:cNvPr id="15" name="fl#57t"/>
          <p:cNvSpPr txBox="1"/>
          <p:nvPr/>
        </p:nvSpPr>
        <p:spPr>
          <a:xfrm>
            <a:off x="630936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Job Pentaho retour</a:t>
            </a:r>
            <a:endParaRPr lang="en-US" sz="1400" dirty="0"/>
          </a:p>
          <a:p>
            <a:pPr algn="ctr" indent="0" marL="0">
              <a:buNone/>
            </a:pPr>
            <a:r>
              <a:rPr lang="en-US" sz="1300" dirty="0">
                <a:solidFill>
                  <a:schemeClr val="tx1"/>
                </a:solidFill>
              </a:rPr>
              <a:t>lit l'outbox</a:t>
            </a:r>
            <a:endParaRPr lang="en-US" sz="1400" dirty="0"/>
          </a:p>
        </p:txBody>
      </p:sp>
      <p:sp>
        <p:nvSpPr>
          <p:cNvPr id="16" name="fl#57l"/>
          <p:cNvSpPr/>
          <p:nvPr/>
        </p:nvSpPr>
        <p:spPr>
          <a:xfrm>
            <a:off x="8732520" y="2537460"/>
            <a:ext cx="320040" cy="0"/>
          </a:xfrm>
          <a:prstGeom prst="line">
            <a:avLst/>
          </a:prstGeom>
          <a:noFill/>
          <a:ln w="25400">
            <a:solidFill>
              <a:srgbClr val="8B97AD"/>
            </a:solidFill>
            <a:prstDash val="solid"/>
            <a:tailEnd type="triangle"/>
          </a:ln>
        </p:spPr>
      </p:sp>
      <p:sp>
        <p:nvSpPr>
          <p:cNvPr id="17" name="fl#58"/>
          <p:cNvSpPr/>
          <p:nvPr/>
        </p:nvSpPr>
        <p:spPr>
          <a:xfrm>
            <a:off x="905256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8" name="fl#58i" descr="preencoded.png">    </p:cNvPr>
          <p:cNvPicPr>
            <a:picLocks noChangeAspect="1"/>
          </p:cNvPicPr>
          <p:nvPr/>
        </p:nvPicPr>
        <p:blipFill>
          <a:blip r:embed="rId4"/>
          <a:stretch>
            <a:fillRect/>
          </a:stretch>
        </p:blipFill>
        <p:spPr>
          <a:xfrm>
            <a:off x="10076688" y="1874520"/>
            <a:ext cx="457200" cy="457200"/>
          </a:xfrm>
          <a:prstGeom prst="rect">
            <a:avLst/>
          </a:prstGeom>
        </p:spPr>
      </p:pic>
      <p:sp>
        <p:nvSpPr>
          <p:cNvPr id="19" name="fl#58t"/>
          <p:cNvSpPr txBox="1"/>
          <p:nvPr/>
        </p:nvSpPr>
        <p:spPr>
          <a:xfrm>
            <a:off x="914400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MySQL à jour</a:t>
            </a:r>
            <a:endParaRPr lang="en-US" sz="1400" dirty="0"/>
          </a:p>
          <a:p>
            <a:pPr algn="ctr" indent="0" marL="0">
              <a:buNone/>
            </a:pPr>
            <a:r>
              <a:rPr lang="en-US" sz="1300" dirty="0">
                <a:solidFill>
                  <a:schemeClr val="tx1"/>
                </a:solidFill>
              </a:rPr>
              <a:t>même updated_at</a:t>
            </a:r>
            <a:endParaRPr lang="en-US" sz="1400" dirty="0"/>
          </a:p>
        </p:txBody>
      </p:sp>
      <p:sp>
        <p:nvSpPr>
          <p:cNvPr id="20" name="rule#59d"/>
          <p:cNvSpPr/>
          <p:nvPr/>
        </p:nvSpPr>
        <p:spPr>
          <a:xfrm>
            <a:off x="548640" y="3749040"/>
            <a:ext cx="685800" cy="685800"/>
          </a:xfrm>
          <a:prstGeom prst="ellipse">
            <a:avLst/>
          </a:prstGeom>
          <a:solidFill>
            <a:schemeClr val="accent2"/>
          </a:solidFill>
          <a:ln/>
        </p:spPr>
      </p:sp>
      <p:pic>
        <p:nvPicPr>
          <p:cNvPr id="21" name="rule#59di" descr="preencoded.png">    </p:cNvPr>
          <p:cNvPicPr>
            <a:picLocks noChangeAspect="1"/>
          </p:cNvPicPr>
          <p:nvPr/>
        </p:nvPicPr>
        <p:blipFill>
          <a:blip r:embed="rId5"/>
          <a:stretch>
            <a:fillRect/>
          </a:stretch>
        </p:blipFill>
        <p:spPr>
          <a:xfrm>
            <a:off x="733806" y="3934206"/>
            <a:ext cx="315468" cy="315468"/>
          </a:xfrm>
          <a:prstGeom prst="rect">
            <a:avLst/>
          </a:prstGeom>
        </p:spPr>
      </p:pic>
      <p:sp>
        <p:nvSpPr>
          <p:cNvPr id="22" name="rule#59h"/>
          <p:cNvSpPr txBox="1"/>
          <p:nvPr/>
        </p:nvSpPr>
        <p:spPr>
          <a:xfrm>
            <a:off x="141732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perte</a:t>
            </a:r>
            <a:endParaRPr lang="en-US" sz="1600" dirty="0"/>
          </a:p>
        </p:txBody>
      </p:sp>
      <p:sp>
        <p:nvSpPr>
          <p:cNvPr id="23" name="rule#59b"/>
          <p:cNvSpPr txBox="1"/>
          <p:nvPr/>
        </p:nvSpPr>
        <p:spPr>
          <a:xfrm>
            <a:off x="141732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L'outbox est écrite dans la même transaction que la modification.</a:t>
            </a:r>
            <a:endParaRPr lang="en-US" sz="1400" dirty="0"/>
          </a:p>
        </p:txBody>
      </p:sp>
      <p:sp>
        <p:nvSpPr>
          <p:cNvPr id="24" name="rule#60d"/>
          <p:cNvSpPr/>
          <p:nvPr/>
        </p:nvSpPr>
        <p:spPr>
          <a:xfrm>
            <a:off x="6217920" y="3749040"/>
            <a:ext cx="685800" cy="685800"/>
          </a:xfrm>
          <a:prstGeom prst="ellipse">
            <a:avLst/>
          </a:prstGeom>
          <a:solidFill>
            <a:schemeClr val="accent2"/>
          </a:solidFill>
          <a:ln/>
        </p:spPr>
      </p:sp>
      <p:pic>
        <p:nvPicPr>
          <p:cNvPr id="25" name="rule#60di" descr="preencoded.png">    </p:cNvPr>
          <p:cNvPicPr>
            <a:picLocks noChangeAspect="1"/>
          </p:cNvPicPr>
          <p:nvPr/>
        </p:nvPicPr>
        <p:blipFill>
          <a:blip r:embed="rId6"/>
          <a:stretch>
            <a:fillRect/>
          </a:stretch>
        </p:blipFill>
        <p:spPr>
          <a:xfrm>
            <a:off x="6403086" y="3934206"/>
            <a:ext cx="315468" cy="315468"/>
          </a:xfrm>
          <a:prstGeom prst="rect">
            <a:avLst/>
          </a:prstGeom>
        </p:spPr>
      </p:pic>
      <p:sp>
        <p:nvSpPr>
          <p:cNvPr id="26" name="rule#60h"/>
          <p:cNvSpPr txBox="1"/>
          <p:nvPr/>
        </p:nvSpPr>
        <p:spPr>
          <a:xfrm>
            <a:off x="708660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boucle</a:t>
            </a:r>
            <a:endParaRPr lang="en-US" sz="1600" dirty="0"/>
          </a:p>
        </p:txBody>
      </p:sp>
      <p:sp>
        <p:nvSpPr>
          <p:cNvPr id="27" name="rule#60b"/>
          <p:cNvSpPr txBox="1"/>
          <p:nvPr/>
        </p:nvSpPr>
        <p:spPr>
          <a:xfrm>
            <a:off x="708660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MySQL reçoit le même updated_at : rien n'est réécrit au tour suivant.</a:t>
            </a:r>
            <a:endParaRPr lang="en-US" sz="1400" dirty="0"/>
          </a:p>
        </p:txBody>
      </p:sp>
      <p:sp>
        <p:nvSpPr>
          <p:cNvPr id="28" name="rule#61d"/>
          <p:cNvSpPr/>
          <p:nvPr/>
        </p:nvSpPr>
        <p:spPr>
          <a:xfrm>
            <a:off x="548640" y="4983480"/>
            <a:ext cx="685800" cy="685800"/>
          </a:xfrm>
          <a:prstGeom prst="ellipse">
            <a:avLst/>
          </a:prstGeom>
          <a:solidFill>
            <a:schemeClr val="accent2"/>
          </a:solidFill>
          <a:ln/>
        </p:spPr>
      </p:sp>
      <p:pic>
        <p:nvPicPr>
          <p:cNvPr id="29" name="rule#61di" descr="preencoded.png">    </p:cNvPr>
          <p:cNvPicPr>
            <a:picLocks noChangeAspect="1"/>
          </p:cNvPicPr>
          <p:nvPr/>
        </p:nvPicPr>
        <p:blipFill>
          <a:blip r:embed="rId7"/>
          <a:stretch>
            <a:fillRect/>
          </a:stretch>
        </p:blipFill>
        <p:spPr>
          <a:xfrm>
            <a:off x="733806" y="5168646"/>
            <a:ext cx="315468" cy="315468"/>
          </a:xfrm>
          <a:prstGeom prst="rect">
            <a:avLst/>
          </a:prstGeom>
        </p:spPr>
      </p:pic>
      <p:sp>
        <p:nvSpPr>
          <p:cNvPr id="30" name="rule#61h"/>
          <p:cNvSpPr txBox="1"/>
          <p:nvPr/>
        </p:nvSpPr>
        <p:spPr>
          <a:xfrm>
            <a:off x="141732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Conflits</a:t>
            </a:r>
            <a:endParaRPr lang="en-US" sz="1600" dirty="0"/>
          </a:p>
        </p:txBody>
      </p:sp>
      <p:sp>
        <p:nvSpPr>
          <p:cNvPr id="31" name="rule#61b"/>
          <p:cNvSpPr txBox="1"/>
          <p:nvPr/>
        </p:nvSpPr>
        <p:spPr>
          <a:xfrm>
            <a:off x="141732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La modification la plus récente gagne.</a:t>
            </a:r>
            <a:endParaRPr lang="en-US" sz="1400" dirty="0"/>
          </a:p>
        </p:txBody>
      </p:sp>
      <p:sp>
        <p:nvSpPr>
          <p:cNvPr id="32" name="rule#62d"/>
          <p:cNvSpPr/>
          <p:nvPr/>
        </p:nvSpPr>
        <p:spPr>
          <a:xfrm>
            <a:off x="6217920" y="4983480"/>
            <a:ext cx="685800" cy="685800"/>
          </a:xfrm>
          <a:prstGeom prst="ellipse">
            <a:avLst/>
          </a:prstGeom>
          <a:solidFill>
            <a:schemeClr val="accent2"/>
          </a:solidFill>
          <a:ln/>
        </p:spPr>
      </p:sp>
      <p:pic>
        <p:nvPicPr>
          <p:cNvPr id="33" name="rule#62di" descr="preencoded.png">    </p:cNvPr>
          <p:cNvPicPr>
            <a:picLocks noChangeAspect="1"/>
          </p:cNvPicPr>
          <p:nvPr/>
        </p:nvPicPr>
        <p:blipFill>
          <a:blip r:embed="rId8"/>
          <a:stretch>
            <a:fillRect/>
          </a:stretch>
        </p:blipFill>
        <p:spPr>
          <a:xfrm>
            <a:off x="6403086" y="5168646"/>
            <a:ext cx="315468" cy="315468"/>
          </a:xfrm>
          <a:prstGeom prst="rect">
            <a:avLst/>
          </a:prstGeom>
        </p:spPr>
      </p:pic>
      <p:sp>
        <p:nvSpPr>
          <p:cNvPr id="34" name="rule#62h"/>
          <p:cNvSpPr txBox="1"/>
          <p:nvPr/>
        </p:nvSpPr>
        <p:spPr>
          <a:xfrm>
            <a:off x="708660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Reprise</a:t>
            </a:r>
            <a:endParaRPr lang="en-US" sz="1600" dirty="0"/>
          </a:p>
        </p:txBody>
      </p:sp>
      <p:sp>
        <p:nvSpPr>
          <p:cNvPr id="35" name="rule#62b"/>
          <p:cNvSpPr txBox="1"/>
          <p:nvPr/>
        </p:nvSpPr>
        <p:spPr>
          <a:xfrm>
            <a:off x="708660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Une ligne n'est marquée traitée qu'après l'écriture dans MySQL.</a:t>
            </a:r>
            <a:endParaRPr lang="en-US" sz="1400" dirty="0"/>
          </a:p>
        </p:txBody>
      </p:sp>
      <p:sp>
        <p:nvSpPr>
          <p:cNvPr id="3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66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10" presetClass="entr" presetSubtype="0" fill="hold" grpId="0" nodeType="withEffect">
                                  <p:stCondLst>
                                    <p:cond delay="88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grpId="0" nodeType="withEffect">
                                  <p:stCondLst>
                                    <p:cond delay="88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par>
                                <p:cTn id="86" presetID="10" presetClass="entr" presetSubtype="0" fill="hold" grpId="0" nodeType="withEffect">
                                  <p:stCondLst>
                                    <p:cond delay="8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par>
                                <p:cTn id="89" presetID="10" presetClass="entr" presetSubtype="0" fill="hold" grpId="0" nodeType="withEffect">
                                  <p:stCondLst>
                                    <p:cond delay="88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childTnLst>
                                </p:cTn>
                              </p:par>
                              <p:par>
                                <p:cTn id="92" presetID="10" presetClass="entr" presetSubtype="0" fill="hold" grpId="0" nodeType="withEffect">
                                  <p:stCondLst>
                                    <p:cond delay="11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00"/>
                                        <p:tgtEl>
                                          <p:spTgt spid="24"/>
                                        </p:tgtEl>
                                      </p:cBhvr>
                                    </p:animEffect>
                                  </p:childTnLst>
                                </p:cTn>
                              </p:par>
                              <p:par>
                                <p:cTn id="95" presetID="10" presetClass="entr" presetSubtype="0" fill="hold" grpId="0" nodeType="withEffect">
                                  <p:stCondLst>
                                    <p:cond delay="110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childTnLst>
                                </p:cTn>
                              </p:par>
                              <p:par>
                                <p:cTn id="98" presetID="10" presetClass="entr" presetSubtype="0" fill="hold" grpId="0" nodeType="withEffect">
                                  <p:stCondLst>
                                    <p:cond delay="1100"/>
                                  </p:stCondLst>
                                  <p:childTnLst>
                                    <p:set>
                                      <p:cBhvr>
                                        <p:cTn id="99" dur="1" fill="hold">
                                          <p:stCondLst>
                                            <p:cond delay="0"/>
                                          </p:stCondLst>
                                        </p:cTn>
                                        <p:tgtEl>
                                          <p:spTgt spid="26"/>
                                        </p:tgtEl>
                                        <p:attrNameLst>
                                          <p:attrName>style.visibility</p:attrName>
                                        </p:attrNameLst>
                                      </p:cBhvr>
                                      <p:to>
                                        <p:strVal val="visible"/>
                                      </p:to>
                                    </p:set>
                                    <p:animEffect transition="in" filter="fade">
                                      <p:cBhvr>
                                        <p:cTn id="100" dur="500"/>
                                        <p:tgtEl>
                                          <p:spTgt spid="26"/>
                                        </p:tgtEl>
                                      </p:cBhvr>
                                    </p:animEffect>
                                  </p:childTnLst>
                                </p:cTn>
                              </p:par>
                              <p:par>
                                <p:cTn id="101" presetID="10" presetClass="entr" presetSubtype="0" fill="hold" grpId="0" nodeType="withEffect">
                                  <p:stCondLst>
                                    <p:cond delay="110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par>
                                <p:cTn id="104" presetID="10" presetClass="entr" presetSubtype="0" fill="hold" grpId="0" nodeType="withEffect">
                                  <p:stCondLst>
                                    <p:cond delay="132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00"/>
                                        <p:tgtEl>
                                          <p:spTgt spid="28"/>
                                        </p:tgtEl>
                                      </p:cBhvr>
                                    </p:animEffect>
                                  </p:childTnLst>
                                </p:cTn>
                              </p:par>
                              <p:par>
                                <p:cTn id="107" presetID="10" presetClass="entr" presetSubtype="0" fill="hold" grpId="0" nodeType="withEffect">
                                  <p:stCondLst>
                                    <p:cond delay="1320"/>
                                  </p:stCondLst>
                                  <p:childTnLst>
                                    <p:set>
                                      <p:cBhvr>
                                        <p:cTn id="108" dur="1" fill="hold">
                                          <p:stCondLst>
                                            <p:cond delay="0"/>
                                          </p:stCondLst>
                                        </p:cTn>
                                        <p:tgtEl>
                                          <p:spTgt spid="29"/>
                                        </p:tgtEl>
                                        <p:attrNameLst>
                                          <p:attrName>style.visibility</p:attrName>
                                        </p:attrNameLst>
                                      </p:cBhvr>
                                      <p:to>
                                        <p:strVal val="visible"/>
                                      </p:to>
                                    </p:set>
                                    <p:animEffect transition="in" filter="fade">
                                      <p:cBhvr>
                                        <p:cTn id="109" dur="500"/>
                                        <p:tgtEl>
                                          <p:spTgt spid="29"/>
                                        </p:tgtEl>
                                      </p:cBhvr>
                                    </p:animEffect>
                                  </p:childTnLst>
                                </p:cTn>
                              </p:par>
                              <p:par>
                                <p:cTn id="110" presetID="10" presetClass="entr" presetSubtype="0" fill="hold" grpId="0" nodeType="withEffect">
                                  <p:stCondLst>
                                    <p:cond delay="1320"/>
                                  </p:stCondLst>
                                  <p:childTnLst>
                                    <p:set>
                                      <p:cBhvr>
                                        <p:cTn id="111" dur="1" fill="hold">
                                          <p:stCondLst>
                                            <p:cond delay="0"/>
                                          </p:stCondLst>
                                        </p:cTn>
                                        <p:tgtEl>
                                          <p:spTgt spid="30"/>
                                        </p:tgtEl>
                                        <p:attrNameLst>
                                          <p:attrName>style.visibility</p:attrName>
                                        </p:attrNameLst>
                                      </p:cBhvr>
                                      <p:to>
                                        <p:strVal val="visible"/>
                                      </p:to>
                                    </p:set>
                                    <p:animEffect transition="in" filter="fade">
                                      <p:cBhvr>
                                        <p:cTn id="112" dur="500"/>
                                        <p:tgtEl>
                                          <p:spTgt spid="30"/>
                                        </p:tgtEl>
                                      </p:cBhvr>
                                    </p:animEffect>
                                  </p:childTnLst>
                                </p:cTn>
                              </p:par>
                              <p:par>
                                <p:cTn id="113" presetID="10" presetClass="entr" presetSubtype="0" fill="hold" grpId="0" nodeType="withEffect">
                                  <p:stCondLst>
                                    <p:cond delay="1320"/>
                                  </p:stCondLst>
                                  <p:childTnLst>
                                    <p:set>
                                      <p:cBhvr>
                                        <p:cTn id="114" dur="1" fill="hold">
                                          <p:stCondLst>
                                            <p:cond delay="0"/>
                                          </p:stCondLst>
                                        </p:cTn>
                                        <p:tgtEl>
                                          <p:spTgt spid="31"/>
                                        </p:tgtEl>
                                        <p:attrNameLst>
                                          <p:attrName>style.visibility</p:attrName>
                                        </p:attrNameLst>
                                      </p:cBhvr>
                                      <p:to>
                                        <p:strVal val="visible"/>
                                      </p:to>
                                    </p:set>
                                    <p:animEffect transition="in" filter="fade">
                                      <p:cBhvr>
                                        <p:cTn id="115" dur="500"/>
                                        <p:tgtEl>
                                          <p:spTgt spid="31"/>
                                        </p:tgtEl>
                                      </p:cBhvr>
                                    </p:animEffect>
                                  </p:childTnLst>
                                </p:cTn>
                              </p:par>
                              <p:par>
                                <p:cTn id="116" presetID="10" presetClass="entr" presetSubtype="0" fill="hold" grpId="0" nodeType="withEffect">
                                  <p:stCondLst>
                                    <p:cond delay="154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500"/>
                                        <p:tgtEl>
                                          <p:spTgt spid="32"/>
                                        </p:tgtEl>
                                      </p:cBhvr>
                                    </p:animEffect>
                                  </p:childTnLst>
                                </p:cTn>
                              </p:par>
                              <p:par>
                                <p:cTn id="119" presetID="10" presetClass="entr" presetSubtype="0" fill="hold" grpId="0" nodeType="withEffect">
                                  <p:stCondLst>
                                    <p:cond delay="1540"/>
                                  </p:stCondLst>
                                  <p:childTnLst>
                                    <p:set>
                                      <p:cBhvr>
                                        <p:cTn id="120" dur="1" fill="hold">
                                          <p:stCondLst>
                                            <p:cond delay="0"/>
                                          </p:stCondLst>
                                        </p:cTn>
                                        <p:tgtEl>
                                          <p:spTgt spid="33"/>
                                        </p:tgtEl>
                                        <p:attrNameLst>
                                          <p:attrName>style.visibility</p:attrName>
                                        </p:attrNameLst>
                                      </p:cBhvr>
                                      <p:to>
                                        <p:strVal val="visible"/>
                                      </p:to>
                                    </p:set>
                                    <p:animEffect transition="in" filter="fade">
                                      <p:cBhvr>
                                        <p:cTn id="121" dur="500"/>
                                        <p:tgtEl>
                                          <p:spTgt spid="33"/>
                                        </p:tgtEl>
                                      </p:cBhvr>
                                    </p:animEffect>
                                  </p:childTnLst>
                                </p:cTn>
                              </p:par>
                              <p:par>
                                <p:cTn id="122" presetID="10" presetClass="entr" presetSubtype="0" fill="hold" grpId="0" nodeType="withEffect">
                                  <p:stCondLst>
                                    <p:cond delay="154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par>
                                <p:cTn id="125" presetID="10" presetClass="entr" presetSubtype="0" fill="hold" grpId="0" nodeType="withEffect">
                                  <p:stCondLst>
                                    <p:cond delay="154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4" grpId="0" animBg="1"/>
      <p:bldP spid="3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ring#63"/>
          <p:cNvSpPr/>
          <p:nvPr/>
        </p:nvSpPr>
        <p:spPr>
          <a:xfrm>
            <a:off x="7223760" y="1234440"/>
            <a:ext cx="4389120" cy="4389120"/>
          </a:xfrm>
          <a:prstGeom prst="ellipse">
            <a:avLst/>
          </a:prstGeom>
          <a:solidFill>
            <a:srgbClr val="1BA39C">
              <a:alpha val="20000"/>
            </a:srgbClr>
          </a:solidFill>
          <a:ln/>
        </p:spPr>
      </p:sp>
      <p:sp>
        <p:nvSpPr>
          <p:cNvPr id="3" name="ring#64"/>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04</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4</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Le service SOAP</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Contrat WSDL, opérations et erreurs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Trois opérations SOAP</a:t>
            </a:r>
            <a:endParaRPr lang="en-US" sz="3000" dirty="0"/>
          </a:p>
        </p:txBody>
      </p:sp>
      <p:sp>
        <p:nvSpPr>
          <p:cNvPr id="3" name="pill#65"/>
          <p:cNvSpPr/>
          <p:nvPr/>
        </p:nvSpPr>
        <p:spPr>
          <a:xfrm>
            <a:off x="548640" y="384048"/>
            <a:ext cx="1133856" cy="292608"/>
          </a:xfrm>
          <a:prstGeom prst="roundRect">
            <a:avLst>
              <a:gd name="adj" fmla="val 50000"/>
            </a:avLst>
          </a:prstGeom>
          <a:solidFill>
            <a:schemeClr val="accent5"/>
          </a:solidFill>
          <a:ln/>
        </p:spPr>
      </p:sp>
      <p:sp>
        <p:nvSpPr>
          <p:cNvPr id="4" name="pill#65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op#66"/>
          <p:cNvSpPr/>
          <p:nvPr/>
        </p:nvSpPr>
        <p:spPr>
          <a:xfrm>
            <a:off x="548640"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op#66d"/>
          <p:cNvSpPr/>
          <p:nvPr/>
        </p:nvSpPr>
        <p:spPr>
          <a:xfrm>
            <a:off x="1847088" y="2057400"/>
            <a:ext cx="914400" cy="914400"/>
          </a:xfrm>
          <a:prstGeom prst="ellipse">
            <a:avLst/>
          </a:prstGeom>
          <a:solidFill>
            <a:schemeClr val="accent4"/>
          </a:solidFill>
          <a:ln/>
        </p:spPr>
      </p:sp>
      <p:pic>
        <p:nvPicPr>
          <p:cNvPr id="7" name="op#66di" descr="preencoded.png">    </p:cNvPr>
          <p:cNvPicPr>
            <a:picLocks noChangeAspect="1"/>
          </p:cNvPicPr>
          <p:nvPr/>
        </p:nvPicPr>
        <p:blipFill>
          <a:blip r:embed="rId1"/>
          <a:stretch>
            <a:fillRect/>
          </a:stretch>
        </p:blipFill>
        <p:spPr>
          <a:xfrm>
            <a:off x="2093976" y="2304288"/>
            <a:ext cx="420624" cy="420624"/>
          </a:xfrm>
          <a:prstGeom prst="rect">
            <a:avLst/>
          </a:prstGeom>
        </p:spPr>
      </p:pic>
      <p:sp>
        <p:nvSpPr>
          <p:cNvPr id="8" name="op#66k"/>
          <p:cNvSpPr txBox="1"/>
          <p:nvPr/>
        </p:nvSpPr>
        <p:spPr>
          <a:xfrm>
            <a:off x="731520"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4"/>
                </a:solidFill>
              </a:rPr>
              <a:t>CONSULTER</a:t>
            </a:r>
            <a:endParaRPr lang="en-US" sz="1200" dirty="0"/>
          </a:p>
        </p:txBody>
      </p:sp>
      <p:sp>
        <p:nvSpPr>
          <p:cNvPr id="9" name="op#66h"/>
          <p:cNvSpPr txBox="1"/>
          <p:nvPr/>
        </p:nvSpPr>
        <p:spPr>
          <a:xfrm>
            <a:off x="731520"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getEmployeeDetails</a:t>
            </a:r>
            <a:endParaRPr lang="en-US" sz="1900" dirty="0"/>
          </a:p>
        </p:txBody>
      </p:sp>
      <p:sp>
        <p:nvSpPr>
          <p:cNvPr id="10" name="op#66b"/>
          <p:cNvSpPr txBox="1"/>
          <p:nvPr/>
        </p:nvSpPr>
        <p:spPr>
          <a:xfrm>
            <a:off x="868680"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Entrée : un matricule. Sortie : la fiche complète de l'employé.</a:t>
            </a:r>
            <a:endParaRPr lang="en-US" sz="1400" dirty="0"/>
          </a:p>
        </p:txBody>
      </p:sp>
      <p:sp>
        <p:nvSpPr>
          <p:cNvPr id="11" name="op#67"/>
          <p:cNvSpPr/>
          <p:nvPr/>
        </p:nvSpPr>
        <p:spPr>
          <a:xfrm>
            <a:off x="4315968"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2" name="op#67d"/>
          <p:cNvSpPr/>
          <p:nvPr/>
        </p:nvSpPr>
        <p:spPr>
          <a:xfrm>
            <a:off x="5614416" y="2057400"/>
            <a:ext cx="914400" cy="914400"/>
          </a:xfrm>
          <a:prstGeom prst="ellipse">
            <a:avLst/>
          </a:prstGeom>
          <a:solidFill>
            <a:schemeClr val="accent3"/>
          </a:solidFill>
          <a:ln/>
        </p:spPr>
      </p:sp>
      <p:pic>
        <p:nvPicPr>
          <p:cNvPr id="13" name="op#67di" descr="preencoded.png">    </p:cNvPr>
          <p:cNvPicPr>
            <a:picLocks noChangeAspect="1"/>
          </p:cNvPicPr>
          <p:nvPr/>
        </p:nvPicPr>
        <p:blipFill>
          <a:blip r:embed="rId2"/>
          <a:stretch>
            <a:fillRect/>
          </a:stretch>
        </p:blipFill>
        <p:spPr>
          <a:xfrm>
            <a:off x="5861304" y="2304288"/>
            <a:ext cx="420624" cy="420624"/>
          </a:xfrm>
          <a:prstGeom prst="rect">
            <a:avLst/>
          </a:prstGeom>
        </p:spPr>
      </p:pic>
      <p:sp>
        <p:nvSpPr>
          <p:cNvPr id="14" name="op#67k"/>
          <p:cNvSpPr txBox="1"/>
          <p:nvPr/>
        </p:nvSpPr>
        <p:spPr>
          <a:xfrm>
            <a:off x="4498848"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3"/>
                </a:solidFill>
              </a:rPr>
              <a:t>CRÉER</a:t>
            </a:r>
            <a:endParaRPr lang="en-US" sz="1200" dirty="0"/>
          </a:p>
        </p:txBody>
      </p:sp>
      <p:sp>
        <p:nvSpPr>
          <p:cNvPr id="15" name="op#67h"/>
          <p:cNvSpPr txBox="1"/>
          <p:nvPr/>
        </p:nvSpPr>
        <p:spPr>
          <a:xfrm>
            <a:off x="4498848"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createEmployee</a:t>
            </a:r>
            <a:endParaRPr lang="en-US" sz="1900" dirty="0"/>
          </a:p>
        </p:txBody>
      </p:sp>
      <p:sp>
        <p:nvSpPr>
          <p:cNvPr id="16" name="op#67b"/>
          <p:cNvSpPr txBox="1"/>
          <p:nvPr/>
        </p:nvSpPr>
        <p:spPr>
          <a:xfrm>
            <a:off x="4636008"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Normalise, valide, enregistre la fiche et l'inscrit dans l'outbox.</a:t>
            </a:r>
            <a:endParaRPr lang="en-US" sz="1400" dirty="0"/>
          </a:p>
        </p:txBody>
      </p:sp>
      <p:sp>
        <p:nvSpPr>
          <p:cNvPr id="17" name="op#68"/>
          <p:cNvSpPr/>
          <p:nvPr/>
        </p:nvSpPr>
        <p:spPr>
          <a:xfrm>
            <a:off x="8083296"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8" name="op#68d"/>
          <p:cNvSpPr/>
          <p:nvPr/>
        </p:nvSpPr>
        <p:spPr>
          <a:xfrm>
            <a:off x="9381744" y="2057400"/>
            <a:ext cx="914400" cy="914400"/>
          </a:xfrm>
          <a:prstGeom prst="ellipse">
            <a:avLst/>
          </a:prstGeom>
          <a:solidFill>
            <a:schemeClr val="accent2"/>
          </a:solidFill>
          <a:ln/>
        </p:spPr>
      </p:sp>
      <p:pic>
        <p:nvPicPr>
          <p:cNvPr id="19" name="op#68di" descr="preencoded.png">    </p:cNvPr>
          <p:cNvPicPr>
            <a:picLocks noChangeAspect="1"/>
          </p:cNvPicPr>
          <p:nvPr/>
        </p:nvPicPr>
        <p:blipFill>
          <a:blip r:embed="rId3"/>
          <a:stretch>
            <a:fillRect/>
          </a:stretch>
        </p:blipFill>
        <p:spPr>
          <a:xfrm>
            <a:off x="9628632" y="2304288"/>
            <a:ext cx="420624" cy="420624"/>
          </a:xfrm>
          <a:prstGeom prst="rect">
            <a:avLst/>
          </a:prstGeom>
        </p:spPr>
      </p:pic>
      <p:sp>
        <p:nvSpPr>
          <p:cNvPr id="20" name="op#68k"/>
          <p:cNvSpPr txBox="1"/>
          <p:nvPr/>
        </p:nvSpPr>
        <p:spPr>
          <a:xfrm>
            <a:off x="8266176"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2"/>
                </a:solidFill>
              </a:rPr>
              <a:t>MODIFIER</a:t>
            </a:r>
            <a:endParaRPr lang="en-US" sz="1200" dirty="0"/>
          </a:p>
        </p:txBody>
      </p:sp>
      <p:sp>
        <p:nvSpPr>
          <p:cNvPr id="21" name="op#68h"/>
          <p:cNvSpPr txBox="1"/>
          <p:nvPr/>
        </p:nvSpPr>
        <p:spPr>
          <a:xfrm>
            <a:off x="8266176"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updateEmployee</a:t>
            </a:r>
            <a:endParaRPr lang="en-US" sz="1900" dirty="0"/>
          </a:p>
        </p:txBody>
      </p:sp>
      <p:sp>
        <p:nvSpPr>
          <p:cNvPr id="22" name="op#68b"/>
          <p:cNvSpPr txBox="1"/>
          <p:nvPr/>
        </p:nvSpPr>
        <p:spPr>
          <a:xfrm>
            <a:off x="8403336"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Modification partielle : seuls les champs envoyés changent.</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Contrat WSDL et exemple d'appel</a:t>
            </a:r>
            <a:endParaRPr lang="en-US" sz="3000" dirty="0"/>
          </a:p>
        </p:txBody>
      </p:sp>
      <p:sp>
        <p:nvSpPr>
          <p:cNvPr id="3" name="pill#69"/>
          <p:cNvSpPr/>
          <p:nvPr/>
        </p:nvSpPr>
        <p:spPr>
          <a:xfrm>
            <a:off x="548640" y="384048"/>
            <a:ext cx="1133856" cy="292608"/>
          </a:xfrm>
          <a:prstGeom prst="roundRect">
            <a:avLst>
              <a:gd name="adj" fmla="val 50000"/>
            </a:avLst>
          </a:prstGeom>
          <a:solidFill>
            <a:schemeClr val="accent5"/>
          </a:solidFill>
          <a:ln/>
        </p:spPr>
      </p:sp>
      <p:sp>
        <p:nvSpPr>
          <p:cNvPr id="4" name="pill#69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code"/>
          <p:cNvSpPr/>
          <p:nvPr/>
        </p:nvSpPr>
        <p:spPr>
          <a:xfrm>
            <a:off x="548640" y="1691640"/>
            <a:ext cx="6583680" cy="4297680"/>
          </a:xfrm>
          <a:prstGeom prst="roundRect">
            <a:avLst>
              <a:gd name="adj" fmla="val 2128"/>
            </a:avLst>
          </a:prstGeom>
          <a:solidFill>
            <a:srgbClr val="101A2E"/>
          </a:solidFill>
          <a:ln/>
        </p:spPr>
      </p:sp>
      <p:sp>
        <p:nvSpPr>
          <p:cNvPr id="6" name="codeT"/>
          <p:cNvSpPr txBox="1"/>
          <p:nvPr/>
        </p:nvSpPr>
        <p:spPr>
          <a:xfrm>
            <a:off x="822960" y="1920240"/>
            <a:ext cx="6126480" cy="3840480"/>
          </a:xfrm>
          <a:prstGeom prst="rect">
            <a:avLst/>
          </a:prstGeom>
          <a:noFill/>
          <a:ln/>
        </p:spPr>
        <p:txBody>
          <a:bodyPr wrap="square" lIns="0" tIns="0" rIns="0" bIns="0" rtlCol="0" anchor="t"/>
          <a:lstStyle/>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 </a:t>
            </a:r>
            <a:pPr indent="0" marL="0">
              <a:buNone/>
            </a:pPr>
            <a:r>
              <a:rPr lang="en-US" sz="1300" dirty="0">
                <a:solidFill>
                  <a:srgbClr val="9AA8C2"/>
                </a:solidFill>
                <a:latin typeface="Courier New" pitchFamily="34" charset="0"/>
                <a:ea typeface="Courier New" pitchFamily="34" charset="-122"/>
                <a:cs typeface="Courier New" pitchFamily="34" charset="-120"/>
              </a:rPr>
              <a:t>xmlns:emp=</a:t>
            </a:r>
            <a:pPr indent="0" marL="0">
              <a:buNone/>
            </a:pPr>
            <a:r>
              <a:rPr lang="en-US" sz="1300" dirty="0">
                <a:solidFill>
                  <a:srgbClr val="F2B66D"/>
                </a:solidFill>
                <a:latin typeface="Courier New" pitchFamily="34" charset="0"/>
                <a:ea typeface="Courier New" pitchFamily="34" charset="-122"/>
                <a:cs typeface="Courier New" pitchFamily="34" charset="-120"/>
              </a:rPr>
              <a:t>"…/employes/v1"</a:t>
            </a:r>
            <a:pPr indent="0" marL="0">
              <a:buNone/>
            </a:pPr>
            <a:r>
              <a:rPr lang="en-US" sz="1300" dirty="0">
                <a:solidFill>
                  <a:srgbClr val="7FB4FF"/>
                </a:solidFill>
                <a:latin typeface="Courier New" pitchFamily="34" charset="0"/>
                <a:ea typeface="Courier New" pitchFamily="34" charset="-122"/>
                <a:cs typeface="Courier New" pitchFamily="34" charset="-120"/>
              </a:rPr>
              <a: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&lt;emp:matricule&gt;</a:t>
            </a:r>
            <a:pPr indent="0" marL="0">
              <a:buNone/>
            </a:pPr>
            <a:r>
              <a:rPr lang="en-US" sz="1300" dirty="0">
                <a:solidFill>
                  <a:srgbClr val="FFFFFF"/>
                </a:solidFill>
                <a:latin typeface="Courier New" pitchFamily="34" charset="0"/>
                <a:ea typeface="Courier New" pitchFamily="34" charset="-122"/>
                <a:cs typeface="Courier New" pitchFamily="34" charset="-120"/>
              </a:rPr>
              <a:t>EMP-0002</a:t>
            </a:r>
            <a:pPr indent="0" marL="0">
              <a:buNone/>
            </a:pPr>
            <a:r>
              <a:rPr lang="en-US" sz="1300" dirty="0">
                <a:solidFill>
                  <a:srgbClr val="5FD3C6"/>
                </a:solidFill>
                <a:latin typeface="Courier New" pitchFamily="34" charset="0"/>
                <a:ea typeface="Courier New" pitchFamily="34" charset="-122"/>
                <a:cs typeface="Courier New" pitchFamily="34" charset="-120"/>
              </a:rPr>
              <a:t>&lt;/emp:matricule&gt;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&lt;emp:poste&gt;</a:t>
            </a:r>
            <a:pPr indent="0" marL="0">
              <a:buNone/>
            </a:pPr>
            <a:r>
              <a:rPr lang="en-US" sz="1300" dirty="0">
                <a:solidFill>
                  <a:srgbClr val="FFFFFF"/>
                </a:solidFill>
                <a:latin typeface="Courier New" pitchFamily="34" charset="0"/>
                <a:ea typeface="Courier New" pitchFamily="34" charset="-122"/>
                <a:cs typeface="Courier New" pitchFamily="34" charset="-120"/>
              </a:rPr>
              <a:t>Responsable infra</a:t>
            </a:r>
            <a:pPr indent="0" marL="0">
              <a:buNone/>
            </a:pPr>
            <a:r>
              <a:rPr lang="en-US" sz="1300" dirty="0">
                <a:solidFill>
                  <a:srgbClr val="5FD3C6"/>
                </a:solidFill>
                <a:latin typeface="Courier New" pitchFamily="34" charset="0"/>
                <a:ea typeface="Courier New" pitchFamily="34" charset="-122"/>
                <a:cs typeface="Courier New" pitchFamily="34" charset="-120"/>
              </a:rPr>
              <a:t>&lt;/emp:poste&gt;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&lt;emp:salaire&gt;</a:t>
            </a:r>
            <a:pPr indent="0" marL="0">
              <a:buNone/>
            </a:pPr>
            <a:r>
              <a:rPr lang="en-US" sz="1300" dirty="0">
                <a:solidFill>
                  <a:srgbClr val="FFFFFF"/>
                </a:solidFill>
                <a:latin typeface="Courier New" pitchFamily="34" charset="0"/>
                <a:ea typeface="Courier New" pitchFamily="34" charset="-122"/>
                <a:cs typeface="Courier New" pitchFamily="34" charset="-120"/>
              </a:rPr>
              <a:t>850000.00</a:t>
            </a:r>
            <a:pPr indent="0" marL="0">
              <a:buNone/>
            </a:pPr>
            <a:r>
              <a:rPr lang="en-US" sz="1300" dirty="0">
                <a:solidFill>
                  <a:srgbClr val="5FD3C6"/>
                </a:solidFill>
                <a:latin typeface="Courier New" pitchFamily="34" charset="0"/>
                <a:ea typeface="Courier New" pitchFamily="34" charset="-122"/>
                <a:cs typeface="Courier New" pitchFamily="34" charset="-120"/>
              </a:rPr>
              <a:t>&lt;/emp:salaire&gt;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&lt;/soapenv:Envelope&gt;</a:t>
            </a:r>
            <a:endParaRPr lang="en-US" sz="1300" dirty="0"/>
          </a:p>
        </p:txBody>
      </p:sp>
      <p:sp>
        <p:nvSpPr>
          <p:cNvPr id="7" name="pt#70o"/>
          <p:cNvSpPr/>
          <p:nvPr/>
        </p:nvSpPr>
        <p:spPr>
          <a:xfrm>
            <a:off x="7498080" y="1810512"/>
            <a:ext cx="384048" cy="384048"/>
          </a:xfrm>
          <a:prstGeom prst="ellipse">
            <a:avLst/>
          </a:prstGeom>
          <a:solidFill>
            <a:schemeClr val="accent5"/>
          </a:solidFill>
          <a:ln/>
        </p:spPr>
      </p:sp>
      <p:sp>
        <p:nvSpPr>
          <p:cNvPr id="8" name="pt#70n"/>
          <p:cNvSpPr txBox="1"/>
          <p:nvPr/>
        </p:nvSpPr>
        <p:spPr>
          <a:xfrm>
            <a:off x="7498080" y="18105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pt#70t"/>
          <p:cNvSpPr txBox="1"/>
          <p:nvPr/>
        </p:nvSpPr>
        <p:spPr>
          <a:xfrm>
            <a:off x="8046720" y="1737360"/>
            <a:ext cx="3566160" cy="960120"/>
          </a:xfrm>
          <a:prstGeom prst="rect">
            <a:avLst/>
          </a:prstGeom>
          <a:noFill/>
          <a:ln/>
        </p:spPr>
        <p:txBody>
          <a:bodyPr wrap="square" lIns="0" tIns="0" rIns="0" bIns="0" rtlCol="0" anchor="t"/>
          <a:lstStyle/>
          <a:p>
            <a:pPr indent="0" marL="0">
              <a:buNone/>
            </a:pPr>
            <a:r>
              <a:rPr lang="en-US" sz="1600" b="1" dirty="0">
                <a:solidFill>
                  <a:schemeClr val="tx2"/>
                </a:solidFill>
              </a:rPr>
              <a:t>Contract-first</a:t>
            </a:r>
            <a:endParaRPr lang="en-US" sz="1300" dirty="0"/>
          </a:p>
          <a:p>
            <a:pPr indent="0" marL="0">
              <a:buNone/>
            </a:pPr>
            <a:r>
              <a:rPr lang="en-US" sz="1300" dirty="0">
                <a:solidFill>
                  <a:schemeClr val="tx1"/>
                </a:solidFill>
              </a:rPr>
              <a:t>Le WSDL est écrit d'abord ; le code Java en est généré.</a:t>
            </a:r>
            <a:endParaRPr lang="en-US" sz="1300" dirty="0"/>
          </a:p>
        </p:txBody>
      </p:sp>
      <p:sp>
        <p:nvSpPr>
          <p:cNvPr id="10" name="pt#71o"/>
          <p:cNvSpPr/>
          <p:nvPr/>
        </p:nvSpPr>
        <p:spPr>
          <a:xfrm>
            <a:off x="7498080" y="2889504"/>
            <a:ext cx="384048" cy="384048"/>
          </a:xfrm>
          <a:prstGeom prst="ellipse">
            <a:avLst/>
          </a:prstGeom>
          <a:solidFill>
            <a:schemeClr val="accent5"/>
          </a:solidFill>
          <a:ln/>
        </p:spPr>
      </p:sp>
      <p:sp>
        <p:nvSpPr>
          <p:cNvPr id="11" name="pt#71n"/>
          <p:cNvSpPr txBox="1"/>
          <p:nvPr/>
        </p:nvSpPr>
        <p:spPr>
          <a:xfrm>
            <a:off x="7498080" y="28895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pt#71t"/>
          <p:cNvSpPr txBox="1"/>
          <p:nvPr/>
        </p:nvSpPr>
        <p:spPr>
          <a:xfrm>
            <a:off x="8046720" y="2816352"/>
            <a:ext cx="3566160" cy="960120"/>
          </a:xfrm>
          <a:prstGeom prst="rect">
            <a:avLst/>
          </a:prstGeom>
          <a:noFill/>
          <a:ln/>
        </p:spPr>
        <p:txBody>
          <a:bodyPr wrap="square" lIns="0" tIns="0" rIns="0" bIns="0" rtlCol="0" anchor="t"/>
          <a:lstStyle/>
          <a:p>
            <a:pPr indent="0" marL="0">
              <a:buNone/>
            </a:pPr>
            <a:r>
              <a:rPr lang="en-US" sz="1600" b="1" dirty="0">
                <a:solidFill>
                  <a:schemeClr val="tx2"/>
                </a:solidFill>
              </a:rPr>
              <a:t>Publié tel quel</a:t>
            </a:r>
            <a:endParaRPr lang="en-US" sz="1300" dirty="0"/>
          </a:p>
          <a:p>
            <a:pPr indent="0" marL="0">
              <a:buNone/>
            </a:pPr>
            <a:r>
              <a:rPr lang="en-US" sz="1300" dirty="0">
                <a:solidFill>
                  <a:schemeClr val="tx1"/>
                </a:solidFill>
              </a:rPr>
              <a:t>localhost:8080/services/EmployeeService?wsdl</a:t>
            </a:r>
            <a:endParaRPr lang="en-US" sz="1300" dirty="0"/>
          </a:p>
        </p:txBody>
      </p:sp>
      <p:sp>
        <p:nvSpPr>
          <p:cNvPr id="13" name="pt#72o"/>
          <p:cNvSpPr/>
          <p:nvPr/>
        </p:nvSpPr>
        <p:spPr>
          <a:xfrm>
            <a:off x="7498080" y="3968496"/>
            <a:ext cx="384048" cy="384048"/>
          </a:xfrm>
          <a:prstGeom prst="ellipse">
            <a:avLst/>
          </a:prstGeom>
          <a:solidFill>
            <a:schemeClr val="accent5"/>
          </a:solidFill>
          <a:ln/>
        </p:spPr>
      </p:sp>
      <p:sp>
        <p:nvSpPr>
          <p:cNvPr id="14" name="pt#72n"/>
          <p:cNvSpPr txBox="1"/>
          <p:nvPr/>
        </p:nvSpPr>
        <p:spPr>
          <a:xfrm>
            <a:off x="7498080" y="39684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pt#72t"/>
          <p:cNvSpPr txBox="1"/>
          <p:nvPr/>
        </p:nvSpPr>
        <p:spPr>
          <a:xfrm>
            <a:off x="8046720" y="3895344"/>
            <a:ext cx="3566160" cy="960120"/>
          </a:xfrm>
          <a:prstGeom prst="rect">
            <a:avLst/>
          </a:prstGeom>
          <a:noFill/>
          <a:ln/>
        </p:spPr>
        <p:txBody>
          <a:bodyPr wrap="square" lIns="0" tIns="0" rIns="0" bIns="0" rtlCol="0" anchor="t"/>
          <a:lstStyle/>
          <a:p>
            <a:pPr indent="0" marL="0">
              <a:buNone/>
            </a:pPr>
            <a:r>
              <a:rPr lang="en-US" sz="1600" b="1" dirty="0">
                <a:solidFill>
                  <a:schemeClr val="tx2"/>
                </a:solidFill>
              </a:rPr>
              <a:t>Transaction unique</a:t>
            </a:r>
            <a:endParaRPr lang="en-US" sz="1300" dirty="0"/>
          </a:p>
          <a:p>
            <a:pPr indent="0" marL="0">
              <a:buNone/>
            </a:pPr>
            <a:r>
              <a:rPr lang="en-US" sz="1300" dirty="0">
                <a:solidFill>
                  <a:schemeClr val="tx1"/>
                </a:solidFill>
              </a:rPr>
              <a:t>La modification et l'outbox sont enregistrées ensemble.</a:t>
            </a:r>
            <a:endParaRPr lang="en-US" sz="1300" dirty="0"/>
          </a:p>
        </p:txBody>
      </p:sp>
      <p:sp>
        <p:nvSpPr>
          <p:cNvPr id="16" name="pt#73o"/>
          <p:cNvSpPr/>
          <p:nvPr/>
        </p:nvSpPr>
        <p:spPr>
          <a:xfrm>
            <a:off x="7498080" y="5047488"/>
            <a:ext cx="384048" cy="384048"/>
          </a:xfrm>
          <a:prstGeom prst="ellipse">
            <a:avLst/>
          </a:prstGeom>
          <a:solidFill>
            <a:schemeClr val="accent5"/>
          </a:solidFill>
          <a:ln/>
        </p:spPr>
      </p:sp>
      <p:sp>
        <p:nvSpPr>
          <p:cNvPr id="17" name="pt#73n"/>
          <p:cNvSpPr txBox="1"/>
          <p:nvPr/>
        </p:nvSpPr>
        <p:spPr>
          <a:xfrm>
            <a:off x="7498080" y="5047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pt#73t"/>
          <p:cNvSpPr txBox="1"/>
          <p:nvPr/>
        </p:nvSpPr>
        <p:spPr>
          <a:xfrm>
            <a:off x="8046720" y="4974336"/>
            <a:ext cx="3566160" cy="960120"/>
          </a:xfrm>
          <a:prstGeom prst="rect">
            <a:avLst/>
          </a:prstGeom>
          <a:noFill/>
          <a:ln/>
        </p:spPr>
        <p:txBody>
          <a:bodyPr wrap="square" lIns="0" tIns="0" rIns="0" bIns="0" rtlCol="0" anchor="t"/>
          <a:lstStyle/>
          <a:p>
            <a:pPr indent="0" marL="0">
              <a:buNone/>
            </a:pPr>
            <a:r>
              <a:rPr lang="en-US" sz="1600" b="1" dirty="0">
                <a:solidFill>
                  <a:schemeClr val="tx2"/>
                </a:solidFill>
              </a:rPr>
              <a:t>Mesuré</a:t>
            </a:r>
            <a:endParaRPr lang="en-US" sz="1300" dirty="0"/>
          </a:p>
          <a:p>
            <a:pPr indent="0" marL="0">
              <a:buNone/>
            </a:pPr>
            <a:r>
              <a:rPr lang="en-US" sz="1300" dirty="0">
                <a:solidFill>
                  <a:schemeClr val="tx1"/>
                </a:solidFill>
              </a:rPr>
              <a:t>Chaque appel produit des métriques lues par Netdata.</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42" presetClass="entr" presetSubtype="0" fill="hold" grpId="0" nodeType="withEffect">
                                  <p:stCondLst>
                                    <p:cond delay="2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2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44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44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additive="base">
                                        <p:cTn id="34" dur="500" fill="hold"/>
                                        <p:tgtEl>
                                          <p:spTgt spid="11"/>
                                        </p:tgtEl>
                                        <p:attrNameLst>
                                          <p:attrName>ppt_x</p:attrName>
                                        </p:attrNameLst>
                                      </p:cBhvr>
                                      <p:tavLst>
                                        <p:tav tm="0">
                                          <p:val>
                                            <p:strVal val="#ppt_x"/>
                                          </p:val>
                                        </p:tav>
                                        <p:tav tm="100000">
                                          <p:val>
                                            <p:strVal val="#ppt_x"/>
                                          </p:val>
                                        </p:tav>
                                      </p:tavLst>
                                    </p:anim>
                                    <p:anim calcmode="lin" valueType="num">
                                      <p:cBhvr additive="base">
                                        <p:cTn id="35" dur="500" fill="hold"/>
                                        <p:tgtEl>
                                          <p:spTgt spid="11"/>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4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66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ppt_x</p:attrName>
                                        </p:attrNameLst>
                                      </p:cBhvr>
                                      <p:tavLst>
                                        <p:tav tm="0">
                                          <p:val>
                                            <p:strVal val="#ppt_x"/>
                                          </p:val>
                                        </p:tav>
                                        <p:tav tm="100000">
                                          <p:val>
                                            <p:strVal val="#ppt_x"/>
                                          </p:val>
                                        </p:tav>
                                      </p:tavLst>
                                    </p:anim>
                                    <p:anim calcmode="lin" valueType="num">
                                      <p:cBhvr additive="base">
                                        <p:cTn id="45"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66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66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88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additive="base">
                                        <p:cTn id="59" dur="500" fill="hold"/>
                                        <p:tgtEl>
                                          <p:spTgt spid="16"/>
                                        </p:tgtEl>
                                        <p:attrNameLst>
                                          <p:attrName>ppt_x</p:attrName>
                                        </p:attrNameLst>
                                      </p:cBhvr>
                                      <p:tavLst>
                                        <p:tav tm="0">
                                          <p:val>
                                            <p:strVal val="#ppt_x"/>
                                          </p:val>
                                        </p:tav>
                                        <p:tav tm="100000">
                                          <p:val>
                                            <p:strVal val="#ppt_x"/>
                                          </p:val>
                                        </p:tav>
                                      </p:tavLst>
                                    </p:anim>
                                    <p:anim calcmode="lin" valueType="num">
                                      <p:cBhvr additive="base">
                                        <p:cTn id="60" dur="500" fill="hold"/>
                                        <p:tgtEl>
                                          <p:spTgt spid="16"/>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88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additive="base">
                                        <p:cTn id="64" dur="500" fill="hold"/>
                                        <p:tgtEl>
                                          <p:spTgt spid="17"/>
                                        </p:tgtEl>
                                        <p:attrNameLst>
                                          <p:attrName>ppt_x</p:attrName>
                                        </p:attrNameLst>
                                      </p:cBhvr>
                                      <p:tavLst>
                                        <p:tav tm="0">
                                          <p:val>
                                            <p:strVal val="#ppt_x"/>
                                          </p:val>
                                        </p:tav>
                                        <p:tav tm="100000">
                                          <p:val>
                                            <p:strVal val="#ppt_x"/>
                                          </p:val>
                                        </p:tav>
                                      </p:tavLst>
                                    </p:anim>
                                    <p:anim calcmode="lin" valueType="num">
                                      <p:cBhvr additive="base">
                                        <p:cTn id="65" dur="500" fill="hold"/>
                                        <p:tgtEl>
                                          <p:spTgt spid="17"/>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88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additive="base">
                                        <p:cTn id="69" dur="500" fill="hold"/>
                                        <p:tgtEl>
                                          <p:spTgt spid="18"/>
                                        </p:tgtEl>
                                        <p:attrNameLst>
                                          <p:attrName>ppt_x</p:attrName>
                                        </p:attrNameLst>
                                      </p:cBhvr>
                                      <p:tavLst>
                                        <p:tav tm="0">
                                          <p:val>
                                            <p:strVal val="#ppt_x"/>
                                          </p:val>
                                        </p:tav>
                                        <p:tav tm="100000">
                                          <p:val>
                                            <p:strVal val="#ppt_x"/>
                                          </p:val>
                                        </p:tav>
                                      </p:tavLst>
                                    </p:anim>
                                    <p:anim calcmode="lin" valueType="num">
                                      <p:cBhvr additive="base">
                                        <p:cTn id="7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Gestion des erreurs SOAP</a:t>
            </a:r>
            <a:endParaRPr lang="en-US" sz="3000" dirty="0"/>
          </a:p>
        </p:txBody>
      </p:sp>
      <p:sp>
        <p:nvSpPr>
          <p:cNvPr id="3" name="pill#74"/>
          <p:cNvSpPr/>
          <p:nvPr/>
        </p:nvSpPr>
        <p:spPr>
          <a:xfrm>
            <a:off x="548640" y="384048"/>
            <a:ext cx="1133856" cy="292608"/>
          </a:xfrm>
          <a:prstGeom prst="roundRect">
            <a:avLst>
              <a:gd name="adj" fmla="val 50000"/>
            </a:avLst>
          </a:prstGeom>
          <a:solidFill>
            <a:schemeClr val="accent5"/>
          </a:solidFill>
          <a:ln/>
        </p:spPr>
      </p:sp>
      <p:sp>
        <p:nvSpPr>
          <p:cNvPr id="4" name="pill#74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ft#75"/>
          <p:cNvSpPr/>
          <p:nvPr/>
        </p:nvSpPr>
        <p:spPr>
          <a:xfrm>
            <a:off x="548640" y="1737360"/>
            <a:ext cx="5394960" cy="1874520"/>
          </a:xfrm>
          <a:prstGeom prst="roundRect">
            <a:avLst>
              <a:gd name="adj" fmla="val 4878"/>
            </a:avLst>
          </a:prstGeom>
          <a:solidFill>
            <a:schemeClr val="bg2"/>
          </a:solidFill>
          <a:ln/>
        </p:spPr>
      </p:sp>
      <p:sp>
        <p:nvSpPr>
          <p:cNvPr id="6" name="ft#75d"/>
          <p:cNvSpPr/>
          <p:nvPr/>
        </p:nvSpPr>
        <p:spPr>
          <a:xfrm>
            <a:off x="822960" y="2057400"/>
            <a:ext cx="777240" cy="777240"/>
          </a:xfrm>
          <a:prstGeom prst="ellipse">
            <a:avLst/>
          </a:prstGeom>
          <a:solidFill>
            <a:schemeClr val="accent4"/>
          </a:solidFill>
          <a:ln/>
        </p:spPr>
      </p:sp>
      <p:pic>
        <p:nvPicPr>
          <p:cNvPr id="7" name="ft#75di" descr="preencoded.png">    </p:cNvPr>
          <p:cNvPicPr>
            <a:picLocks noChangeAspect="1"/>
          </p:cNvPicPr>
          <p:nvPr/>
        </p:nvPicPr>
        <p:blipFill>
          <a:blip r:embed="rId1"/>
          <a:stretch>
            <a:fillRect/>
          </a:stretch>
        </p:blipFill>
        <p:spPr>
          <a:xfrm>
            <a:off x="1032815" y="2267255"/>
            <a:ext cx="357530" cy="357530"/>
          </a:xfrm>
          <a:prstGeom prst="rect">
            <a:avLst/>
          </a:prstGeom>
        </p:spPr>
      </p:pic>
      <p:sp>
        <p:nvSpPr>
          <p:cNvPr id="8" name="ft#75h"/>
          <p:cNvSpPr txBox="1"/>
          <p:nvPr/>
        </p:nvSpPr>
        <p:spPr>
          <a:xfrm>
            <a:off x="182880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EMPLOYEE_NOT_FOUND</a:t>
            </a:r>
            <a:endParaRPr lang="en-US" sz="1800" dirty="0"/>
          </a:p>
        </p:txBody>
      </p:sp>
      <p:sp>
        <p:nvSpPr>
          <p:cNvPr id="9" name="ft#75c"/>
          <p:cNvSpPr txBox="1"/>
          <p:nvPr/>
        </p:nvSpPr>
        <p:spPr>
          <a:xfrm>
            <a:off x="1828800" y="2450592"/>
            <a:ext cx="3931920" cy="320040"/>
          </a:xfrm>
          <a:prstGeom prst="rect">
            <a:avLst/>
          </a:prstGeom>
          <a:noFill/>
          <a:ln/>
        </p:spPr>
        <p:txBody>
          <a:bodyPr wrap="square" lIns="0" tIns="0" rIns="0" bIns="0" rtlCol="0" anchor="t"/>
          <a:lstStyle/>
          <a:p>
            <a:pPr indent="0" marL="0">
              <a:buNone/>
            </a:pPr>
            <a:r>
              <a:rPr lang="en-US" sz="1300" b="1" dirty="0">
                <a:solidFill>
                  <a:schemeClr val="accent4"/>
                </a:solidFill>
              </a:rPr>
              <a:t>soap:Client</a:t>
            </a:r>
            <a:endParaRPr lang="en-US" sz="1300" dirty="0"/>
          </a:p>
        </p:txBody>
      </p:sp>
      <p:sp>
        <p:nvSpPr>
          <p:cNvPr id="10" name="ft#75b"/>
          <p:cNvSpPr txBox="1"/>
          <p:nvPr/>
        </p:nvSpPr>
        <p:spPr>
          <a:xfrm>
            <a:off x="182880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inexistant</a:t>
            </a:r>
            <a:endParaRPr lang="en-US" sz="1400" dirty="0"/>
          </a:p>
        </p:txBody>
      </p:sp>
      <p:sp>
        <p:nvSpPr>
          <p:cNvPr id="11" name="ft#76"/>
          <p:cNvSpPr/>
          <p:nvPr/>
        </p:nvSpPr>
        <p:spPr>
          <a:xfrm>
            <a:off x="6217920" y="1737360"/>
            <a:ext cx="5394960" cy="1874520"/>
          </a:xfrm>
          <a:prstGeom prst="roundRect">
            <a:avLst>
              <a:gd name="adj" fmla="val 4878"/>
            </a:avLst>
          </a:prstGeom>
          <a:solidFill>
            <a:schemeClr val="bg2"/>
          </a:solidFill>
          <a:ln/>
        </p:spPr>
      </p:sp>
      <p:sp>
        <p:nvSpPr>
          <p:cNvPr id="12" name="ft#76d"/>
          <p:cNvSpPr/>
          <p:nvPr/>
        </p:nvSpPr>
        <p:spPr>
          <a:xfrm>
            <a:off x="6492240" y="2057400"/>
            <a:ext cx="777240" cy="777240"/>
          </a:xfrm>
          <a:prstGeom prst="ellipse">
            <a:avLst/>
          </a:prstGeom>
          <a:solidFill>
            <a:schemeClr val="accent2"/>
          </a:solidFill>
          <a:ln/>
        </p:spPr>
      </p:sp>
      <p:pic>
        <p:nvPicPr>
          <p:cNvPr id="13" name="ft#76di" descr="preencoded.png">    </p:cNvPr>
          <p:cNvPicPr>
            <a:picLocks noChangeAspect="1"/>
          </p:cNvPicPr>
          <p:nvPr/>
        </p:nvPicPr>
        <p:blipFill>
          <a:blip r:embed="rId2"/>
          <a:stretch>
            <a:fillRect/>
          </a:stretch>
        </p:blipFill>
        <p:spPr>
          <a:xfrm>
            <a:off x="6702095" y="2267255"/>
            <a:ext cx="357530" cy="357530"/>
          </a:xfrm>
          <a:prstGeom prst="rect">
            <a:avLst/>
          </a:prstGeom>
        </p:spPr>
      </p:pic>
      <p:sp>
        <p:nvSpPr>
          <p:cNvPr id="14" name="ft#76h"/>
          <p:cNvSpPr txBox="1"/>
          <p:nvPr/>
        </p:nvSpPr>
        <p:spPr>
          <a:xfrm>
            <a:off x="749808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VALIDATION_ERROR</a:t>
            </a:r>
            <a:endParaRPr lang="en-US" sz="1800" dirty="0"/>
          </a:p>
        </p:txBody>
      </p:sp>
      <p:sp>
        <p:nvSpPr>
          <p:cNvPr id="15" name="ft#76c"/>
          <p:cNvSpPr txBox="1"/>
          <p:nvPr/>
        </p:nvSpPr>
        <p:spPr>
          <a:xfrm>
            <a:off x="7498080" y="2450592"/>
            <a:ext cx="3931920" cy="320040"/>
          </a:xfrm>
          <a:prstGeom prst="rect">
            <a:avLst/>
          </a:prstGeom>
          <a:noFill/>
          <a:ln/>
        </p:spPr>
        <p:txBody>
          <a:bodyPr wrap="square" lIns="0" tIns="0" rIns="0" bIns="0" rtlCol="0" anchor="t"/>
          <a:lstStyle/>
          <a:p>
            <a:pPr indent="0" marL="0">
              <a:buNone/>
            </a:pPr>
            <a:r>
              <a:rPr lang="en-US" sz="1300" b="1" dirty="0">
                <a:solidFill>
                  <a:schemeClr val="accent2"/>
                </a:solidFill>
              </a:rPr>
              <a:t>soap:Client</a:t>
            </a:r>
            <a:endParaRPr lang="en-US" sz="1300" dirty="0"/>
          </a:p>
        </p:txBody>
      </p:sp>
      <p:sp>
        <p:nvSpPr>
          <p:cNvPr id="16" name="ft#76b"/>
          <p:cNvSpPr txBox="1"/>
          <p:nvPr/>
        </p:nvSpPr>
        <p:spPr>
          <a:xfrm>
            <a:off x="749808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Données invalides, avec la liste des champs en erreur</a:t>
            </a:r>
            <a:endParaRPr lang="en-US" sz="1400" dirty="0"/>
          </a:p>
        </p:txBody>
      </p:sp>
      <p:sp>
        <p:nvSpPr>
          <p:cNvPr id="17" name="ft#77"/>
          <p:cNvSpPr/>
          <p:nvPr/>
        </p:nvSpPr>
        <p:spPr>
          <a:xfrm>
            <a:off x="548640" y="3886200"/>
            <a:ext cx="5394960" cy="1874520"/>
          </a:xfrm>
          <a:prstGeom prst="roundRect">
            <a:avLst>
              <a:gd name="adj" fmla="val 4878"/>
            </a:avLst>
          </a:prstGeom>
          <a:solidFill>
            <a:schemeClr val="bg2"/>
          </a:solidFill>
          <a:ln/>
        </p:spPr>
      </p:sp>
      <p:sp>
        <p:nvSpPr>
          <p:cNvPr id="18" name="ft#77d"/>
          <p:cNvSpPr/>
          <p:nvPr/>
        </p:nvSpPr>
        <p:spPr>
          <a:xfrm>
            <a:off x="822960" y="4206240"/>
            <a:ext cx="777240" cy="777240"/>
          </a:xfrm>
          <a:prstGeom prst="ellipse">
            <a:avLst/>
          </a:prstGeom>
          <a:solidFill>
            <a:schemeClr val="accent3"/>
          </a:solidFill>
          <a:ln/>
        </p:spPr>
      </p:sp>
      <p:pic>
        <p:nvPicPr>
          <p:cNvPr id="19" name="ft#77di" descr="preencoded.png">    </p:cNvPr>
          <p:cNvPicPr>
            <a:picLocks noChangeAspect="1"/>
          </p:cNvPicPr>
          <p:nvPr/>
        </p:nvPicPr>
        <p:blipFill>
          <a:blip r:embed="rId3"/>
          <a:stretch>
            <a:fillRect/>
          </a:stretch>
        </p:blipFill>
        <p:spPr>
          <a:xfrm>
            <a:off x="1032815" y="4416095"/>
            <a:ext cx="357530" cy="357530"/>
          </a:xfrm>
          <a:prstGeom prst="rect">
            <a:avLst/>
          </a:prstGeom>
        </p:spPr>
      </p:pic>
      <p:sp>
        <p:nvSpPr>
          <p:cNvPr id="20" name="ft#77h"/>
          <p:cNvSpPr txBox="1"/>
          <p:nvPr/>
        </p:nvSpPr>
        <p:spPr>
          <a:xfrm>
            <a:off x="182880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DUPLICATE_EMPLOYEE</a:t>
            </a:r>
            <a:endParaRPr lang="en-US" sz="1800" dirty="0"/>
          </a:p>
        </p:txBody>
      </p:sp>
      <p:sp>
        <p:nvSpPr>
          <p:cNvPr id="21" name="ft#77c"/>
          <p:cNvSpPr txBox="1"/>
          <p:nvPr/>
        </p:nvSpPr>
        <p:spPr>
          <a:xfrm>
            <a:off x="1828800" y="4599432"/>
            <a:ext cx="3931920" cy="320040"/>
          </a:xfrm>
          <a:prstGeom prst="rect">
            <a:avLst/>
          </a:prstGeom>
          <a:noFill/>
          <a:ln/>
        </p:spPr>
        <p:txBody>
          <a:bodyPr wrap="square" lIns="0" tIns="0" rIns="0" bIns="0" rtlCol="0" anchor="t"/>
          <a:lstStyle/>
          <a:p>
            <a:pPr indent="0" marL="0">
              <a:buNone/>
            </a:pPr>
            <a:r>
              <a:rPr lang="en-US" sz="1300" b="1" dirty="0">
                <a:solidFill>
                  <a:schemeClr val="accent3"/>
                </a:solidFill>
              </a:rPr>
              <a:t>soap:Client</a:t>
            </a:r>
            <a:endParaRPr lang="en-US" sz="1300" dirty="0"/>
          </a:p>
        </p:txBody>
      </p:sp>
      <p:sp>
        <p:nvSpPr>
          <p:cNvPr id="22" name="ft#77b"/>
          <p:cNvSpPr txBox="1"/>
          <p:nvPr/>
        </p:nvSpPr>
        <p:spPr>
          <a:xfrm>
            <a:off x="182880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ou email déjà utilisé</a:t>
            </a:r>
            <a:endParaRPr lang="en-US" sz="1400" dirty="0"/>
          </a:p>
        </p:txBody>
      </p:sp>
      <p:sp>
        <p:nvSpPr>
          <p:cNvPr id="23" name="ft#78"/>
          <p:cNvSpPr/>
          <p:nvPr/>
        </p:nvSpPr>
        <p:spPr>
          <a:xfrm>
            <a:off x="6217920" y="3886200"/>
            <a:ext cx="5394960" cy="1874520"/>
          </a:xfrm>
          <a:prstGeom prst="roundRect">
            <a:avLst>
              <a:gd name="adj" fmla="val 4878"/>
            </a:avLst>
          </a:prstGeom>
          <a:solidFill>
            <a:schemeClr val="bg2"/>
          </a:solidFill>
          <a:ln/>
        </p:spPr>
      </p:sp>
      <p:sp>
        <p:nvSpPr>
          <p:cNvPr id="24" name="ft#78d"/>
          <p:cNvSpPr/>
          <p:nvPr/>
        </p:nvSpPr>
        <p:spPr>
          <a:xfrm>
            <a:off x="6492240" y="4206240"/>
            <a:ext cx="777240" cy="777240"/>
          </a:xfrm>
          <a:prstGeom prst="ellipse">
            <a:avLst/>
          </a:prstGeom>
          <a:solidFill>
            <a:schemeClr val="accent5"/>
          </a:solidFill>
          <a:ln/>
        </p:spPr>
      </p:sp>
      <p:pic>
        <p:nvPicPr>
          <p:cNvPr id="25" name="ft#78di" descr="preencoded.png">    </p:cNvPr>
          <p:cNvPicPr>
            <a:picLocks noChangeAspect="1"/>
          </p:cNvPicPr>
          <p:nvPr/>
        </p:nvPicPr>
        <p:blipFill>
          <a:blip r:embed="rId4"/>
          <a:stretch>
            <a:fillRect/>
          </a:stretch>
        </p:blipFill>
        <p:spPr>
          <a:xfrm>
            <a:off x="6702095" y="4416095"/>
            <a:ext cx="357530" cy="357530"/>
          </a:xfrm>
          <a:prstGeom prst="rect">
            <a:avLst/>
          </a:prstGeom>
        </p:spPr>
      </p:pic>
      <p:sp>
        <p:nvSpPr>
          <p:cNvPr id="26" name="ft#78h"/>
          <p:cNvSpPr txBox="1"/>
          <p:nvPr/>
        </p:nvSpPr>
        <p:spPr>
          <a:xfrm>
            <a:off x="749808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DATA_ACCESS_ERROR</a:t>
            </a:r>
            <a:endParaRPr lang="en-US" sz="1800" dirty="0"/>
          </a:p>
        </p:txBody>
      </p:sp>
      <p:sp>
        <p:nvSpPr>
          <p:cNvPr id="27" name="ft#78c"/>
          <p:cNvSpPr txBox="1"/>
          <p:nvPr/>
        </p:nvSpPr>
        <p:spPr>
          <a:xfrm>
            <a:off x="7498080" y="4599432"/>
            <a:ext cx="3931920" cy="320040"/>
          </a:xfrm>
          <a:prstGeom prst="rect">
            <a:avLst/>
          </a:prstGeom>
          <a:noFill/>
          <a:ln/>
        </p:spPr>
        <p:txBody>
          <a:bodyPr wrap="square" lIns="0" tIns="0" rIns="0" bIns="0" rtlCol="0" anchor="t"/>
          <a:lstStyle/>
          <a:p>
            <a:pPr indent="0" marL="0">
              <a:buNone/>
            </a:pPr>
            <a:r>
              <a:rPr lang="en-US" sz="1300" b="1" dirty="0">
                <a:solidFill>
                  <a:schemeClr val="accent5"/>
                </a:solidFill>
              </a:rPr>
              <a:t>soap:Server</a:t>
            </a:r>
            <a:endParaRPr lang="en-US" sz="1300" dirty="0"/>
          </a:p>
        </p:txBody>
      </p:sp>
      <p:sp>
        <p:nvSpPr>
          <p:cNvPr id="28" name="ft#78b"/>
          <p:cNvSpPr txBox="1"/>
          <p:nvPr/>
        </p:nvSpPr>
        <p:spPr>
          <a:xfrm>
            <a:off x="749808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Base indisponible, le client peut réessayer</a:t>
            </a:r>
            <a:endParaRPr lang="en-US" sz="14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6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66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6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6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ing#79"/>
          <p:cNvSpPr/>
          <p:nvPr/>
        </p:nvSpPr>
        <p:spPr>
          <a:xfrm>
            <a:off x="7223760" y="1234440"/>
            <a:ext cx="4389120" cy="4389120"/>
          </a:xfrm>
          <a:prstGeom prst="ellipse">
            <a:avLst/>
          </a:prstGeom>
          <a:solidFill>
            <a:srgbClr val="1BA39C">
              <a:alpha val="20000"/>
            </a:srgbClr>
          </a:solidFill>
          <a:ln/>
        </p:spPr>
      </p:sp>
      <p:sp>
        <p:nvSpPr>
          <p:cNvPr id="3" name="ring#8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05</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5</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Supervision et tests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Netdata, SoapUI, JUnit et test de bout en bout</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Supervision avec Netdata</a:t>
            </a:r>
            <a:endParaRPr lang="en-US" sz="3000" dirty="0"/>
          </a:p>
        </p:txBody>
      </p:sp>
      <p:sp>
        <p:nvSpPr>
          <p:cNvPr id="3" name="pill#81"/>
          <p:cNvSpPr/>
          <p:nvPr/>
        </p:nvSpPr>
        <p:spPr>
          <a:xfrm>
            <a:off x="548640" y="384048"/>
            <a:ext cx="1056132" cy="292608"/>
          </a:xfrm>
          <a:prstGeom prst="roundRect">
            <a:avLst>
              <a:gd name="adj" fmla="val 50000"/>
            </a:avLst>
          </a:prstGeom>
          <a:solidFill>
            <a:schemeClr val="accent3"/>
          </a:solidFill>
          <a:ln/>
        </p:spPr>
      </p:sp>
      <p:sp>
        <p:nvSpPr>
          <p:cNvPr id="4" name="pill#81t"/>
          <p:cNvSpPr txBox="1"/>
          <p:nvPr/>
        </p:nvSpPr>
        <p:spPr>
          <a:xfrm>
            <a:off x="548640" y="384048"/>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Supervision</a:t>
            </a:r>
            <a:endParaRPr lang="en-US" sz="1100" dirty="0"/>
          </a:p>
        </p:txBody>
      </p:sp>
      <p:sp>
        <p:nvSpPr>
          <p:cNvPr id="5" name="shotBg"/>
          <p:cNvSpPr/>
          <p:nvPr/>
        </p:nvSpPr>
        <p:spPr>
          <a:xfrm>
            <a:off x="475488" y="1618488"/>
            <a:ext cx="7095744" cy="4315968"/>
          </a:xfrm>
          <a:prstGeom prst="roundRect">
            <a:avLst>
              <a:gd name="adj" fmla="val 2119"/>
            </a:avLst>
          </a:prstGeom>
          <a:solidFill>
            <a:srgbClr val="0B1220"/>
          </a:solidFill>
          <a:ln/>
          <a:effectLst>
            <a:outerShdw sx="100000" sy="100000" kx="0" ky="0" algn="bl" rotWithShape="0" blurRad="127000" dist="38100" dir="5400000">
              <a:srgbClr val="0D2340">
                <a:alpha val="12000"/>
              </a:srgbClr>
            </a:outerShdw>
          </a:effectLst>
        </p:spPr>
      </p:sp>
      <p:pic>
        <p:nvPicPr>
          <p:cNvPr id="6" name="shot" descr="/home/claude/employee-soap-service/docs/img/netdata-soap.png">    </p:cNvPr>
          <p:cNvPicPr>
            <a:picLocks noChangeAspect="1"/>
          </p:cNvPicPr>
          <p:nvPr/>
        </p:nvPicPr>
        <p:blipFill>
          <a:blip r:embed="rId1"/>
          <a:stretch>
            <a:fillRect/>
          </a:stretch>
        </p:blipFill>
        <p:spPr>
          <a:xfrm>
            <a:off x="548640" y="1691640"/>
            <a:ext cx="6949440" cy="4169664"/>
          </a:xfrm>
          <a:prstGeom prst="rect">
            <a:avLst/>
          </a:prstGeom>
        </p:spPr>
      </p:pic>
      <p:sp>
        <p:nvSpPr>
          <p:cNvPr id="7" name="nd#82d"/>
          <p:cNvSpPr/>
          <p:nvPr/>
        </p:nvSpPr>
        <p:spPr>
          <a:xfrm>
            <a:off x="7909560" y="1691640"/>
            <a:ext cx="640080" cy="640080"/>
          </a:xfrm>
          <a:prstGeom prst="ellipse">
            <a:avLst/>
          </a:prstGeom>
          <a:solidFill>
            <a:schemeClr val="accent3"/>
          </a:solidFill>
          <a:ln/>
        </p:spPr>
      </p:sp>
      <p:pic>
        <p:nvPicPr>
          <p:cNvPr id="8" name="nd#82di" descr="preencoded.png">    </p:cNvPr>
          <p:cNvPicPr>
            <a:picLocks noChangeAspect="1"/>
          </p:cNvPicPr>
          <p:nvPr/>
        </p:nvPicPr>
        <p:blipFill>
          <a:blip r:embed="rId2"/>
          <a:stretch>
            <a:fillRect/>
          </a:stretch>
        </p:blipFill>
        <p:spPr>
          <a:xfrm>
            <a:off x="8082382" y="1864462"/>
            <a:ext cx="294437" cy="294437"/>
          </a:xfrm>
          <a:prstGeom prst="rect">
            <a:avLst/>
          </a:prstGeom>
        </p:spPr>
      </p:pic>
      <p:sp>
        <p:nvSpPr>
          <p:cNvPr id="9" name="nd#82t"/>
          <p:cNvSpPr txBox="1"/>
          <p:nvPr/>
        </p:nvSpPr>
        <p:spPr>
          <a:xfrm>
            <a:off x="8686800" y="1664208"/>
            <a:ext cx="2926080" cy="868680"/>
          </a:xfrm>
          <a:prstGeom prst="rect">
            <a:avLst/>
          </a:prstGeom>
          <a:noFill/>
          <a:ln/>
        </p:spPr>
        <p:txBody>
          <a:bodyPr wrap="square" lIns="0" tIns="0" rIns="0" bIns="0" rtlCol="0" anchor="t"/>
          <a:lstStyle/>
          <a:p>
            <a:pPr indent="0" marL="0">
              <a:buNone/>
            </a:pPr>
            <a:r>
              <a:rPr lang="en-US" sz="1600" b="1" dirty="0">
                <a:solidFill>
                  <a:schemeClr val="tx2"/>
                </a:solidFill>
              </a:rPr>
              <a:t>Hôte et conteneurs</a:t>
            </a:r>
            <a:endParaRPr lang="en-US" sz="1300" dirty="0"/>
          </a:p>
          <a:p>
            <a:pPr indent="0" marL="0">
              <a:buNone/>
            </a:pPr>
            <a:r>
              <a:rPr lang="en-US" sz="1300" dirty="0">
                <a:solidFill>
                  <a:schemeClr val="tx1"/>
                </a:solidFill>
              </a:rPr>
              <a:t>CPU, mémoire, réseau, disque</a:t>
            </a:r>
            <a:endParaRPr lang="en-US" sz="1300" dirty="0"/>
          </a:p>
        </p:txBody>
      </p:sp>
      <p:sp>
        <p:nvSpPr>
          <p:cNvPr id="10" name="nd#83d"/>
          <p:cNvSpPr/>
          <p:nvPr/>
        </p:nvSpPr>
        <p:spPr>
          <a:xfrm>
            <a:off x="7909560" y="2761488"/>
            <a:ext cx="640080" cy="640080"/>
          </a:xfrm>
          <a:prstGeom prst="ellipse">
            <a:avLst/>
          </a:prstGeom>
          <a:solidFill>
            <a:schemeClr val="accent3"/>
          </a:solidFill>
          <a:ln/>
        </p:spPr>
      </p:sp>
      <p:pic>
        <p:nvPicPr>
          <p:cNvPr id="11" name="nd#83di" descr="preencoded.png">    </p:cNvPr>
          <p:cNvPicPr>
            <a:picLocks noChangeAspect="1"/>
          </p:cNvPicPr>
          <p:nvPr/>
        </p:nvPicPr>
        <p:blipFill>
          <a:blip r:embed="rId3"/>
          <a:stretch>
            <a:fillRect/>
          </a:stretch>
        </p:blipFill>
        <p:spPr>
          <a:xfrm>
            <a:off x="8082382" y="2934310"/>
            <a:ext cx="294437" cy="294437"/>
          </a:xfrm>
          <a:prstGeom prst="rect">
            <a:avLst/>
          </a:prstGeom>
        </p:spPr>
      </p:pic>
      <p:sp>
        <p:nvSpPr>
          <p:cNvPr id="12" name="nd#83t"/>
          <p:cNvSpPr txBox="1"/>
          <p:nvPr/>
        </p:nvSpPr>
        <p:spPr>
          <a:xfrm>
            <a:off x="8686800" y="2734056"/>
            <a:ext cx="2926080" cy="868680"/>
          </a:xfrm>
          <a:prstGeom prst="rect">
            <a:avLst/>
          </a:prstGeom>
          <a:noFill/>
          <a:ln/>
        </p:spPr>
        <p:txBody>
          <a:bodyPr wrap="square" lIns="0" tIns="0" rIns="0" bIns="0" rtlCol="0" anchor="t"/>
          <a:lstStyle/>
          <a:p>
            <a:pPr indent="0" marL="0">
              <a:buNone/>
            </a:pPr>
            <a:r>
              <a:rPr lang="en-US" sz="1600" b="1" dirty="0">
                <a:solidFill>
                  <a:schemeClr val="tx2"/>
                </a:solidFill>
              </a:rPr>
              <a:t>MySQL et PostgreSQL</a:t>
            </a:r>
            <a:endParaRPr lang="en-US" sz="1300" dirty="0"/>
          </a:p>
          <a:p>
            <a:pPr indent="0" marL="0">
              <a:buNone/>
            </a:pPr>
            <a:r>
              <a:rPr lang="en-US" sz="1300" dirty="0">
                <a:solidFill>
                  <a:schemeClr val="tx1"/>
                </a:solidFill>
              </a:rPr>
              <a:t>requêtes, connexions, tables</a:t>
            </a:r>
            <a:endParaRPr lang="en-US" sz="1300" dirty="0"/>
          </a:p>
        </p:txBody>
      </p:sp>
      <p:sp>
        <p:nvSpPr>
          <p:cNvPr id="13" name="nd#84d"/>
          <p:cNvSpPr/>
          <p:nvPr/>
        </p:nvSpPr>
        <p:spPr>
          <a:xfrm>
            <a:off x="7909560" y="3831336"/>
            <a:ext cx="640080" cy="640080"/>
          </a:xfrm>
          <a:prstGeom prst="ellipse">
            <a:avLst/>
          </a:prstGeom>
          <a:solidFill>
            <a:schemeClr val="accent3"/>
          </a:solidFill>
          <a:ln/>
        </p:spPr>
      </p:sp>
      <p:pic>
        <p:nvPicPr>
          <p:cNvPr id="14" name="nd#84di" descr="preencoded.png">    </p:cNvPr>
          <p:cNvPicPr>
            <a:picLocks noChangeAspect="1"/>
          </p:cNvPicPr>
          <p:nvPr/>
        </p:nvPicPr>
        <p:blipFill>
          <a:blip r:embed="rId4"/>
          <a:stretch>
            <a:fillRect/>
          </a:stretch>
        </p:blipFill>
        <p:spPr>
          <a:xfrm>
            <a:off x="8082382" y="4004158"/>
            <a:ext cx="294437" cy="294437"/>
          </a:xfrm>
          <a:prstGeom prst="rect">
            <a:avLst/>
          </a:prstGeom>
        </p:spPr>
      </p:pic>
      <p:sp>
        <p:nvSpPr>
          <p:cNvPr id="15" name="nd#84t"/>
          <p:cNvSpPr txBox="1"/>
          <p:nvPr/>
        </p:nvSpPr>
        <p:spPr>
          <a:xfrm>
            <a:off x="8686800" y="3803904"/>
            <a:ext cx="2926080" cy="868680"/>
          </a:xfrm>
          <a:prstGeom prst="rect">
            <a:avLst/>
          </a:prstGeom>
          <a:noFill/>
          <a:ln/>
        </p:spPr>
        <p:txBody>
          <a:bodyPr wrap="square" lIns="0" tIns="0" rIns="0" bIns="0" rtlCol="0" anchor="t"/>
          <a:lstStyle/>
          <a:p>
            <a:pPr indent="0" marL="0">
              <a:buNone/>
            </a:pPr>
            <a:r>
              <a:rPr lang="en-US" sz="1600" b="1" dirty="0">
                <a:solidFill>
                  <a:schemeClr val="tx2"/>
                </a:solidFill>
              </a:rPr>
              <a:t>Service SOAP</a:t>
            </a:r>
            <a:endParaRPr lang="en-US" sz="1300" dirty="0"/>
          </a:p>
          <a:p>
            <a:pPr indent="0" marL="0">
              <a:buNone/>
            </a:pPr>
            <a:r>
              <a:rPr lang="en-US" sz="1300" dirty="0">
                <a:solidFill>
                  <a:schemeClr val="tx1"/>
                </a:solidFill>
              </a:rPr>
              <a:t>appels par opération, erreurs, durée</a:t>
            </a:r>
            <a:endParaRPr lang="en-US" sz="1300" dirty="0"/>
          </a:p>
        </p:txBody>
      </p:sp>
      <p:sp>
        <p:nvSpPr>
          <p:cNvPr id="16" name="nd#85d"/>
          <p:cNvSpPr/>
          <p:nvPr/>
        </p:nvSpPr>
        <p:spPr>
          <a:xfrm>
            <a:off x="7909560" y="4901184"/>
            <a:ext cx="640080" cy="640080"/>
          </a:xfrm>
          <a:prstGeom prst="ellipse">
            <a:avLst/>
          </a:prstGeom>
          <a:solidFill>
            <a:schemeClr val="accent5"/>
          </a:solidFill>
          <a:ln/>
        </p:spPr>
      </p:sp>
      <p:pic>
        <p:nvPicPr>
          <p:cNvPr id="17" name="nd#85di" descr="preencoded.png">    </p:cNvPr>
          <p:cNvPicPr>
            <a:picLocks noChangeAspect="1"/>
          </p:cNvPicPr>
          <p:nvPr/>
        </p:nvPicPr>
        <p:blipFill>
          <a:blip r:embed="rId5"/>
          <a:stretch>
            <a:fillRect/>
          </a:stretch>
        </p:blipFill>
        <p:spPr>
          <a:xfrm>
            <a:off x="8082382" y="5074006"/>
            <a:ext cx="294437" cy="294437"/>
          </a:xfrm>
          <a:prstGeom prst="rect">
            <a:avLst/>
          </a:prstGeom>
        </p:spPr>
      </p:pic>
      <p:sp>
        <p:nvSpPr>
          <p:cNvPr id="18" name="nd#85t"/>
          <p:cNvSpPr txBox="1"/>
          <p:nvPr/>
        </p:nvSpPr>
        <p:spPr>
          <a:xfrm>
            <a:off x="8686800" y="4873752"/>
            <a:ext cx="2926080" cy="868680"/>
          </a:xfrm>
          <a:prstGeom prst="rect">
            <a:avLst/>
          </a:prstGeom>
          <a:noFill/>
          <a:ln/>
        </p:spPr>
        <p:txBody>
          <a:bodyPr wrap="square" lIns="0" tIns="0" rIns="0" bIns="0" rtlCol="0" anchor="t"/>
          <a:lstStyle/>
          <a:p>
            <a:pPr indent="0" marL="0">
              <a:buNone/>
            </a:pPr>
            <a:r>
              <a:rPr lang="en-US" sz="1600" b="1" dirty="0">
                <a:solidFill>
                  <a:schemeClr val="tx2"/>
                </a:solidFill>
              </a:rPr>
              <a:t>Alerte</a:t>
            </a:r>
            <a:endParaRPr lang="en-US" sz="1300" dirty="0"/>
          </a:p>
          <a:p>
            <a:pPr indent="0" marL="0">
              <a:buNone/>
            </a:pPr>
            <a:r>
              <a:rPr lang="en-US" sz="1300" dirty="0">
                <a:solidFill>
                  <a:schemeClr val="tx1"/>
                </a:solidFill>
              </a:rPr>
              <a:t>CRITICAL si le service ne répond plus</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6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8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8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8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Des tests à tous les niveaux</a:t>
            </a:r>
            <a:endParaRPr lang="en-US" sz="3000" dirty="0"/>
          </a:p>
        </p:txBody>
      </p:sp>
      <p:sp>
        <p:nvSpPr>
          <p:cNvPr id="3" name="pill#86"/>
          <p:cNvSpPr/>
          <p:nvPr/>
        </p:nvSpPr>
        <p:spPr>
          <a:xfrm>
            <a:off x="548640" y="384048"/>
            <a:ext cx="589788" cy="292608"/>
          </a:xfrm>
          <a:prstGeom prst="roundRect">
            <a:avLst>
              <a:gd name="adj" fmla="val 50000"/>
            </a:avLst>
          </a:prstGeom>
          <a:solidFill>
            <a:schemeClr val="accent3"/>
          </a:solidFill>
          <a:ln/>
        </p:spPr>
      </p:sp>
      <p:sp>
        <p:nvSpPr>
          <p:cNvPr id="4" name="pill#86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s#87"/>
          <p:cNvSpPr/>
          <p:nvPr/>
        </p:nvSpPr>
        <p:spPr>
          <a:xfrm>
            <a:off x="548640"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6" name="ts#87i" descr="preencoded.png">    </p:cNvPr>
          <p:cNvPicPr>
            <a:picLocks noChangeAspect="1"/>
          </p:cNvPicPr>
          <p:nvPr/>
        </p:nvPicPr>
        <p:blipFill>
          <a:blip r:embed="rId1"/>
          <a:stretch>
            <a:fillRect/>
          </a:stretch>
        </p:blipFill>
        <p:spPr>
          <a:xfrm>
            <a:off x="822960" y="2011680"/>
            <a:ext cx="457200" cy="457200"/>
          </a:xfrm>
          <a:prstGeom prst="rect">
            <a:avLst/>
          </a:prstGeom>
        </p:spPr>
      </p:pic>
      <p:sp>
        <p:nvSpPr>
          <p:cNvPr id="7" name="ts#87n"/>
          <p:cNvSpPr txBox="1"/>
          <p:nvPr/>
        </p:nvSpPr>
        <p:spPr>
          <a:xfrm>
            <a:off x="548640"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4"/>
                </a:solidFill>
              </a:rPr>
              <a:t>15/15</a:t>
            </a:r>
            <a:endParaRPr lang="en-US" sz="6000" dirty="0"/>
          </a:p>
        </p:txBody>
      </p:sp>
      <p:sp>
        <p:nvSpPr>
          <p:cNvPr id="8" name="ts#87h"/>
          <p:cNvSpPr txBox="1"/>
          <p:nvPr/>
        </p:nvSpPr>
        <p:spPr>
          <a:xfrm>
            <a:off x="731520"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Tests JUnit</a:t>
            </a:r>
            <a:endParaRPr lang="en-US" sz="1900" dirty="0"/>
          </a:p>
        </p:txBody>
      </p:sp>
      <p:sp>
        <p:nvSpPr>
          <p:cNvPr id="9" name="ts#87b"/>
          <p:cNvSpPr txBox="1"/>
          <p:nvPr/>
        </p:nvSpPr>
        <p:spPr>
          <a:xfrm>
            <a:off x="822960"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règles de validation et vrais appels SOAP</a:t>
            </a:r>
            <a:endParaRPr lang="en-US" sz="1400" dirty="0"/>
          </a:p>
        </p:txBody>
      </p:sp>
      <p:sp>
        <p:nvSpPr>
          <p:cNvPr id="10" name="ts#88"/>
          <p:cNvSpPr/>
          <p:nvPr/>
        </p:nvSpPr>
        <p:spPr>
          <a:xfrm>
            <a:off x="4315968"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1" name="ts#88i" descr="preencoded.png">    </p:cNvPr>
          <p:cNvPicPr>
            <a:picLocks noChangeAspect="1"/>
          </p:cNvPicPr>
          <p:nvPr/>
        </p:nvPicPr>
        <p:blipFill>
          <a:blip r:embed="rId2"/>
          <a:stretch>
            <a:fillRect/>
          </a:stretch>
        </p:blipFill>
        <p:spPr>
          <a:xfrm>
            <a:off x="4590288" y="2011680"/>
            <a:ext cx="457200" cy="457200"/>
          </a:xfrm>
          <a:prstGeom prst="rect">
            <a:avLst/>
          </a:prstGeom>
        </p:spPr>
      </p:pic>
      <p:sp>
        <p:nvSpPr>
          <p:cNvPr id="12" name="ts#88n"/>
          <p:cNvSpPr txBox="1"/>
          <p:nvPr/>
        </p:nvSpPr>
        <p:spPr>
          <a:xfrm>
            <a:off x="4315968"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2"/>
                </a:solidFill>
              </a:rPr>
              <a:t>54/54</a:t>
            </a:r>
            <a:endParaRPr lang="en-US" sz="6000" dirty="0"/>
          </a:p>
        </p:txBody>
      </p:sp>
      <p:sp>
        <p:nvSpPr>
          <p:cNvPr id="13" name="ts#88h"/>
          <p:cNvSpPr txBox="1"/>
          <p:nvPr/>
        </p:nvSpPr>
        <p:spPr>
          <a:xfrm>
            <a:off x="4498848"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Assertions SoapUI</a:t>
            </a:r>
            <a:endParaRPr lang="en-US" sz="1900" dirty="0"/>
          </a:p>
        </p:txBody>
      </p:sp>
      <p:sp>
        <p:nvSpPr>
          <p:cNvPr id="14" name="ts#88b"/>
          <p:cNvSpPr txBox="1"/>
          <p:nvPr/>
        </p:nvSpPr>
        <p:spPr>
          <a:xfrm>
            <a:off x="4590288"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4 scénarios, 12 requêtes</a:t>
            </a:r>
            <a:endParaRPr lang="en-US" sz="1400" dirty="0"/>
          </a:p>
        </p:txBody>
      </p:sp>
      <p:sp>
        <p:nvSpPr>
          <p:cNvPr id="15" name="ts#89"/>
          <p:cNvSpPr/>
          <p:nvPr/>
        </p:nvSpPr>
        <p:spPr>
          <a:xfrm>
            <a:off x="8083296"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6" name="ts#89i" descr="preencoded.png">    </p:cNvPr>
          <p:cNvPicPr>
            <a:picLocks noChangeAspect="1"/>
          </p:cNvPicPr>
          <p:nvPr/>
        </p:nvPicPr>
        <p:blipFill>
          <a:blip r:embed="rId3"/>
          <a:stretch>
            <a:fillRect/>
          </a:stretch>
        </p:blipFill>
        <p:spPr>
          <a:xfrm>
            <a:off x="8357616" y="2011680"/>
            <a:ext cx="457200" cy="457200"/>
          </a:xfrm>
          <a:prstGeom prst="rect">
            <a:avLst/>
          </a:prstGeom>
        </p:spPr>
      </p:pic>
      <p:sp>
        <p:nvSpPr>
          <p:cNvPr id="17" name="ts#89n"/>
          <p:cNvSpPr txBox="1"/>
          <p:nvPr/>
        </p:nvSpPr>
        <p:spPr>
          <a:xfrm>
            <a:off x="8083296"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3"/>
                </a:solidFill>
              </a:rPr>
              <a:t>23/23</a:t>
            </a:r>
            <a:endParaRPr lang="en-US" sz="6000" dirty="0"/>
          </a:p>
        </p:txBody>
      </p:sp>
      <p:sp>
        <p:nvSpPr>
          <p:cNvPr id="18" name="ts#89h"/>
          <p:cNvSpPr txBox="1"/>
          <p:nvPr/>
        </p:nvSpPr>
        <p:spPr>
          <a:xfrm>
            <a:off x="8266176"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Bout en bout</a:t>
            </a:r>
            <a:endParaRPr lang="en-US" sz="1900" dirty="0"/>
          </a:p>
        </p:txBody>
      </p:sp>
      <p:sp>
        <p:nvSpPr>
          <p:cNvPr id="19" name="ts#89b"/>
          <p:cNvSpPr txBox="1"/>
          <p:nvPr/>
        </p:nvSpPr>
        <p:spPr>
          <a:xfrm>
            <a:off x="8357616"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de MySQL à MySQL, avec Netdata</a:t>
            </a:r>
            <a:endParaRPr lang="en-US" sz="1400" dirty="0"/>
          </a:p>
        </p:txBody>
      </p:sp>
      <p:sp>
        <p:nvSpPr>
          <p:cNvPr id="20" name="zeroFail"/>
          <p:cNvSpPr/>
          <p:nvPr/>
        </p:nvSpPr>
        <p:spPr>
          <a:xfrm>
            <a:off x="548640" y="5715000"/>
            <a:ext cx="4398264" cy="292608"/>
          </a:xfrm>
          <a:prstGeom prst="roundRect">
            <a:avLst>
              <a:gd name="adj" fmla="val 50000"/>
            </a:avLst>
          </a:prstGeom>
          <a:solidFill>
            <a:schemeClr val="accent3"/>
          </a:solidFill>
          <a:ln/>
        </p:spPr>
      </p:sp>
      <p:sp>
        <p:nvSpPr>
          <p:cNvPr id="21" name="zeroFailt"/>
          <p:cNvSpPr txBox="1"/>
          <p:nvPr/>
        </p:nvSpPr>
        <p:spPr>
          <a:xfrm>
            <a:off x="548640" y="5715000"/>
            <a:ext cx="4398264" cy="292608"/>
          </a:xfrm>
          <a:prstGeom prst="rect">
            <a:avLst/>
          </a:prstGeom>
          <a:noFill/>
          <a:ln/>
        </p:spPr>
        <p:txBody>
          <a:bodyPr wrap="square" lIns="0" tIns="0" rIns="0" bIns="0" rtlCol="0" anchor="ctr"/>
          <a:lstStyle/>
          <a:p>
            <a:pPr algn="ctr" indent="0" marL="0">
              <a:buNone/>
            </a:pPr>
            <a:r>
              <a:rPr lang="en-US" sz="1100" b="1" dirty="0">
                <a:solidFill>
                  <a:schemeClr val="bg1"/>
                </a:solidFill>
              </a:rPr>
              <a:t>0 échec, après une réinstallation complète depuis zéro</a:t>
            </a:r>
            <a:endParaRPr lang="en-US" sz="11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0" presetID="53" presetClass="entr" presetSubtype="16"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5" presetID="53" presetClass="entr" presetSubtype="16"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ppt_w</p:attrName>
                                        </p:attrNameLst>
                                      </p:cBhvr>
                                      <p:tavLst>
                                        <p:tav tm="0">
                                          <p:val>
                                            <p:strVal val="0"/>
                                          </p:val>
                                        </p:tav>
                                        <p:tav tm="100000">
                                          <p:val>
                                            <p:strVal val="#ppt_w"/>
                                          </p:val>
                                        </p:tav>
                                      </p:tavLst>
                                    </p:anim>
                                    <p:anim calcmode="lin" valueType="num">
                                      <p:cBhvr additive="base">
                                        <p:cTn id="38" dur="500" fill="hold"/>
                                        <p:tgtEl>
                                          <p:spTgt spid="11"/>
                                        </p:tgtEl>
                                        <p:attrNameLst>
                                          <p:attrName>ppt_h</p:attrName>
                                        </p:attrNameLst>
                                      </p:cBhvr>
                                      <p:tavLst>
                                        <p:tav tm="0">
                                          <p:val>
                                            <p:strVal val="0"/>
                                          </p:val>
                                        </p:tav>
                                        <p:tav tm="100000">
                                          <p:val>
                                            <p:strVal val="#ppt_h"/>
                                          </p:val>
                                        </p:tav>
                                      </p:tavLst>
                                    </p:anim>
                                    <p:animEffect transition="in" filter="fade">
                                      <p:cBhvr>
                                        <p:cTn id="39" dur="500"/>
                                        <p:tgtEl>
                                          <p:spTgt spid="11"/>
                                        </p:tgtEl>
                                      </p:cBhvr>
                                    </p:animEffect>
                                  </p:childTnLst>
                                </p:cTn>
                              </p:par>
                              <p:par>
                                <p:cTn id="40" presetID="53" presetClass="entr" presetSubtype="16"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ppt_w</p:attrName>
                                        </p:attrNameLst>
                                      </p:cBhvr>
                                      <p:tavLst>
                                        <p:tav tm="0">
                                          <p:val>
                                            <p:strVal val="0"/>
                                          </p:val>
                                        </p:tav>
                                        <p:tav tm="100000">
                                          <p:val>
                                            <p:strVal val="#ppt_w"/>
                                          </p:val>
                                        </p:tav>
                                      </p:tavLst>
                                    </p:anim>
                                    <p:anim calcmode="lin" valueType="num">
                                      <p:cBhvr additive="base">
                                        <p:cTn id="43" dur="500" fill="hold"/>
                                        <p:tgtEl>
                                          <p:spTgt spid="12"/>
                                        </p:tgtEl>
                                        <p:attrNameLst>
                                          <p:attrName>ppt_h</p:attrName>
                                        </p:attrNameLst>
                                      </p:cBhvr>
                                      <p:tavLst>
                                        <p:tav tm="0">
                                          <p:val>
                                            <p:strVal val="0"/>
                                          </p:val>
                                        </p:tav>
                                        <p:tav tm="100000">
                                          <p:val>
                                            <p:strVal val="#ppt_h"/>
                                          </p:val>
                                        </p:tav>
                                      </p:tavLst>
                                    </p:anim>
                                    <p:animEffect transition="in" filter="fade">
                                      <p:cBhvr>
                                        <p:cTn id="44" dur="500"/>
                                        <p:tgtEl>
                                          <p:spTgt spid="12"/>
                                        </p:tgtEl>
                                      </p:cBhvr>
                                    </p:animEffect>
                                  </p:childTnLst>
                                </p:cTn>
                              </p:par>
                              <p:par>
                                <p:cTn id="45" presetID="53" presetClass="entr" presetSubtype="16"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par>
                                <p:cTn id="50" presetID="53" presetClass="entr" presetSubtype="16"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ppt_w</p:attrName>
                                        </p:attrNameLst>
                                      </p:cBhvr>
                                      <p:tavLst>
                                        <p:tav tm="0">
                                          <p:val>
                                            <p:strVal val="0"/>
                                          </p:val>
                                        </p:tav>
                                        <p:tav tm="100000">
                                          <p:val>
                                            <p:strVal val="#ppt_w"/>
                                          </p:val>
                                        </p:tav>
                                      </p:tavLst>
                                    </p:anim>
                                    <p:anim calcmode="lin" valueType="num">
                                      <p:cBhvr additive="base">
                                        <p:cTn id="53" dur="500" fill="hold"/>
                                        <p:tgtEl>
                                          <p:spTgt spid="14"/>
                                        </p:tgtEl>
                                        <p:attrNameLst>
                                          <p:attrName>ppt_h</p:attrName>
                                        </p:attrNameLst>
                                      </p:cBhvr>
                                      <p:tavLst>
                                        <p:tav tm="0">
                                          <p:val>
                                            <p:strVal val="0"/>
                                          </p:val>
                                        </p:tav>
                                        <p:tav tm="100000">
                                          <p:val>
                                            <p:strVal val="#ppt_h"/>
                                          </p:val>
                                        </p:tav>
                                      </p:tavLst>
                                    </p:anim>
                                    <p:animEffect transition="in" filter="fade">
                                      <p:cBhvr>
                                        <p:cTn id="54" dur="500"/>
                                        <p:tgtEl>
                                          <p:spTgt spid="14"/>
                                        </p:tgtEl>
                                      </p:cBhvr>
                                    </p:animEffect>
                                  </p:childTnLst>
                                </p:cTn>
                              </p:par>
                              <p:par>
                                <p:cTn id="55" presetID="53" presetClass="entr" presetSubtype="16"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 calcmode="lin" valueType="num">
                                      <p:cBhvr additive="base">
                                        <p:cTn id="57" dur="500" fill="hold"/>
                                        <p:tgtEl>
                                          <p:spTgt spid="15"/>
                                        </p:tgtEl>
                                        <p:attrNameLst>
                                          <p:attrName>ppt_w</p:attrName>
                                        </p:attrNameLst>
                                      </p:cBhvr>
                                      <p:tavLst>
                                        <p:tav tm="0">
                                          <p:val>
                                            <p:strVal val="0"/>
                                          </p:val>
                                        </p:tav>
                                        <p:tav tm="100000">
                                          <p:val>
                                            <p:strVal val="#ppt_w"/>
                                          </p:val>
                                        </p:tav>
                                      </p:tavLst>
                                    </p:anim>
                                    <p:anim calcmode="lin" valueType="num">
                                      <p:cBhvr additive="base">
                                        <p:cTn id="58" dur="500" fill="hold"/>
                                        <p:tgtEl>
                                          <p:spTgt spid="15"/>
                                        </p:tgtEl>
                                        <p:attrNameLst>
                                          <p:attrName>ppt_h</p:attrName>
                                        </p:attrNameLst>
                                      </p:cBhvr>
                                      <p:tavLst>
                                        <p:tav tm="0">
                                          <p:val>
                                            <p:strVal val="0"/>
                                          </p:val>
                                        </p:tav>
                                        <p:tav tm="100000">
                                          <p:val>
                                            <p:strVal val="#ppt_h"/>
                                          </p:val>
                                        </p:tav>
                                      </p:tavLst>
                                    </p:anim>
                                    <p:animEffect transition="in" filter="fade">
                                      <p:cBhvr>
                                        <p:cTn id="59" dur="500"/>
                                        <p:tgtEl>
                                          <p:spTgt spid="15"/>
                                        </p:tgtEl>
                                      </p:cBhvr>
                                    </p:animEffect>
                                  </p:childTnLst>
                                </p:cTn>
                              </p:par>
                              <p:par>
                                <p:cTn id="60" presetID="53" presetClass="entr" presetSubtype="16"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500" fill="hold"/>
                                        <p:tgtEl>
                                          <p:spTgt spid="16"/>
                                        </p:tgtEl>
                                        <p:attrNameLst>
                                          <p:attrName>ppt_w</p:attrName>
                                        </p:attrNameLst>
                                      </p:cBhvr>
                                      <p:tavLst>
                                        <p:tav tm="0">
                                          <p:val>
                                            <p:strVal val="0"/>
                                          </p:val>
                                        </p:tav>
                                        <p:tav tm="100000">
                                          <p:val>
                                            <p:strVal val="#ppt_w"/>
                                          </p:val>
                                        </p:tav>
                                      </p:tavLst>
                                    </p:anim>
                                    <p:anim calcmode="lin" valueType="num">
                                      <p:cBhvr additive="base">
                                        <p:cTn id="63" dur="500" fill="hold"/>
                                        <p:tgtEl>
                                          <p:spTgt spid="16"/>
                                        </p:tgtEl>
                                        <p:attrNameLst>
                                          <p:attrName>ppt_h</p:attrName>
                                        </p:attrNameLst>
                                      </p:cBhvr>
                                      <p:tavLst>
                                        <p:tav tm="0">
                                          <p:val>
                                            <p:strVal val="0"/>
                                          </p:val>
                                        </p:tav>
                                        <p:tav tm="100000">
                                          <p:val>
                                            <p:strVal val="#ppt_h"/>
                                          </p:val>
                                        </p:tav>
                                      </p:tavLst>
                                    </p:anim>
                                    <p:animEffect transition="in" filter="fade">
                                      <p:cBhvr>
                                        <p:cTn id="64" dur="500"/>
                                        <p:tgtEl>
                                          <p:spTgt spid="16"/>
                                        </p:tgtEl>
                                      </p:cBhvr>
                                    </p:animEffect>
                                  </p:childTnLst>
                                </p:cTn>
                              </p:par>
                              <p:par>
                                <p:cTn id="65" presetID="53" presetClass="entr" presetSubtype="16"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500" fill="hold"/>
                                        <p:tgtEl>
                                          <p:spTgt spid="17"/>
                                        </p:tgtEl>
                                        <p:attrNameLst>
                                          <p:attrName>ppt_w</p:attrName>
                                        </p:attrNameLst>
                                      </p:cBhvr>
                                      <p:tavLst>
                                        <p:tav tm="0">
                                          <p:val>
                                            <p:strVal val="0"/>
                                          </p:val>
                                        </p:tav>
                                        <p:tav tm="100000">
                                          <p:val>
                                            <p:strVal val="#ppt_w"/>
                                          </p:val>
                                        </p:tav>
                                      </p:tavLst>
                                    </p:anim>
                                    <p:anim calcmode="lin" valueType="num">
                                      <p:cBhvr additive="base">
                                        <p:cTn id="68" dur="500" fill="hold"/>
                                        <p:tgtEl>
                                          <p:spTgt spid="17"/>
                                        </p:tgtEl>
                                        <p:attrNameLst>
                                          <p:attrName>ppt_h</p:attrName>
                                        </p:attrNameLst>
                                      </p:cBhvr>
                                      <p:tavLst>
                                        <p:tav tm="0">
                                          <p:val>
                                            <p:strVal val="0"/>
                                          </p:val>
                                        </p:tav>
                                        <p:tav tm="100000">
                                          <p:val>
                                            <p:strVal val="#ppt_h"/>
                                          </p:val>
                                        </p:tav>
                                      </p:tavLst>
                                    </p:anim>
                                    <p:animEffect transition="in" filter="fade">
                                      <p:cBhvr>
                                        <p:cTn id="69" dur="500"/>
                                        <p:tgtEl>
                                          <p:spTgt spid="17"/>
                                        </p:tgtEl>
                                      </p:cBhvr>
                                    </p:animEffect>
                                  </p:childTnLst>
                                </p:cTn>
                              </p:par>
                              <p:par>
                                <p:cTn id="70" presetID="53" presetClass="entr" presetSubtype="16"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500" fill="hold"/>
                                        <p:tgtEl>
                                          <p:spTgt spid="18"/>
                                        </p:tgtEl>
                                        <p:attrNameLst>
                                          <p:attrName>ppt_w</p:attrName>
                                        </p:attrNameLst>
                                      </p:cBhvr>
                                      <p:tavLst>
                                        <p:tav tm="0">
                                          <p:val>
                                            <p:strVal val="0"/>
                                          </p:val>
                                        </p:tav>
                                        <p:tav tm="100000">
                                          <p:val>
                                            <p:strVal val="#ppt_w"/>
                                          </p:val>
                                        </p:tav>
                                      </p:tavLst>
                                    </p:anim>
                                    <p:anim calcmode="lin" valueType="num">
                                      <p:cBhvr additive="base">
                                        <p:cTn id="73" dur="500" fill="hold"/>
                                        <p:tgtEl>
                                          <p:spTgt spid="18"/>
                                        </p:tgtEl>
                                        <p:attrNameLst>
                                          <p:attrName>ppt_h</p:attrName>
                                        </p:attrNameLst>
                                      </p:cBhvr>
                                      <p:tavLst>
                                        <p:tav tm="0">
                                          <p:val>
                                            <p:strVal val="0"/>
                                          </p:val>
                                        </p:tav>
                                        <p:tav tm="100000">
                                          <p:val>
                                            <p:strVal val="#ppt_h"/>
                                          </p:val>
                                        </p:tav>
                                      </p:tavLst>
                                    </p:anim>
                                    <p:animEffect transition="in" filter="fade">
                                      <p:cBhvr>
                                        <p:cTn id="74" dur="500"/>
                                        <p:tgtEl>
                                          <p:spTgt spid="18"/>
                                        </p:tgtEl>
                                      </p:cBhvr>
                                    </p:animEffect>
                                  </p:childTnLst>
                                </p:cTn>
                              </p:par>
                              <p:par>
                                <p:cTn id="75" presetID="53" presetClass="entr" presetSubtype="16"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 calcmode="lin" valueType="num">
                                      <p:cBhvr additive="base">
                                        <p:cTn id="77" dur="500" fill="hold"/>
                                        <p:tgtEl>
                                          <p:spTgt spid="19"/>
                                        </p:tgtEl>
                                        <p:attrNameLst>
                                          <p:attrName>ppt_w</p:attrName>
                                        </p:attrNameLst>
                                      </p:cBhvr>
                                      <p:tavLst>
                                        <p:tav tm="0">
                                          <p:val>
                                            <p:strVal val="0"/>
                                          </p:val>
                                        </p:tav>
                                        <p:tav tm="100000">
                                          <p:val>
                                            <p:strVal val="#ppt_w"/>
                                          </p:val>
                                        </p:tav>
                                      </p:tavLst>
                                    </p:anim>
                                    <p:anim calcmode="lin" valueType="num">
                                      <p:cBhvr additive="base">
                                        <p:cTn id="78" dur="500" fill="hold"/>
                                        <p:tgtEl>
                                          <p:spTgt spid="19"/>
                                        </p:tgtEl>
                                        <p:attrNameLst>
                                          <p:attrName>ppt_h</p:attrName>
                                        </p:attrNameLst>
                                      </p:cBhvr>
                                      <p:tavLst>
                                        <p:tav tm="0">
                                          <p:val>
                                            <p:strVal val="0"/>
                                          </p:val>
                                        </p:tav>
                                        <p:tav tm="100000">
                                          <p:val>
                                            <p:strVal val="#ppt_h"/>
                                          </p:val>
                                        </p:tav>
                                      </p:tavLst>
                                    </p:anim>
                                    <p:animEffect transition="in" filter="fade">
                                      <p:cBhvr>
                                        <p:cTn id="79" dur="500"/>
                                        <p:tgtEl>
                                          <p:spTgt spid="19"/>
                                        </p:tgtEl>
                                      </p:cBhvr>
                                    </p:animEffect>
                                  </p:childTnLst>
                                </p:cTn>
                              </p:par>
                              <p:par>
                                <p:cTn id="80" presetID="10"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grpId="0" nodeType="withEffect">
                                  <p:stCondLst>
                                    <p:cond delay="66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Scénario de démonstration</a:t>
            </a:r>
            <a:endParaRPr lang="en-US" sz="3000" dirty="0"/>
          </a:p>
        </p:txBody>
      </p:sp>
      <p:sp>
        <p:nvSpPr>
          <p:cNvPr id="3" name="pill#90"/>
          <p:cNvSpPr/>
          <p:nvPr/>
        </p:nvSpPr>
        <p:spPr>
          <a:xfrm>
            <a:off x="548640" y="384048"/>
            <a:ext cx="589788" cy="292608"/>
          </a:xfrm>
          <a:prstGeom prst="roundRect">
            <a:avLst>
              <a:gd name="adj" fmla="val 50000"/>
            </a:avLst>
          </a:prstGeom>
          <a:solidFill>
            <a:schemeClr val="accent3"/>
          </a:solidFill>
          <a:ln/>
        </p:spPr>
      </p:sp>
      <p:sp>
        <p:nvSpPr>
          <p:cNvPr id="4" name="pill#90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l"/>
          <p:cNvSpPr/>
          <p:nvPr/>
        </p:nvSpPr>
        <p:spPr>
          <a:xfrm>
            <a:off x="868680" y="1920240"/>
            <a:ext cx="10424160" cy="0"/>
          </a:xfrm>
          <a:prstGeom prst="line">
            <a:avLst/>
          </a:prstGeom>
          <a:noFill/>
          <a:ln w="38100">
            <a:solidFill>
              <a:srgbClr val="D5DCE8"/>
            </a:solidFill>
            <a:prstDash val="solid"/>
          </a:ln>
        </p:spPr>
      </p:sp>
      <p:sp>
        <p:nvSpPr>
          <p:cNvPr id="6" name="dm#91o"/>
          <p:cNvSpPr/>
          <p:nvPr/>
        </p:nvSpPr>
        <p:spPr>
          <a:xfrm>
            <a:off x="594360" y="1600200"/>
            <a:ext cx="640080" cy="640080"/>
          </a:xfrm>
          <a:prstGeom prst="ellipse">
            <a:avLst/>
          </a:prstGeom>
          <a:solidFill>
            <a:schemeClr val="accent3"/>
          </a:solidFill>
          <a:ln w="38100">
            <a:solidFill>
              <a:srgbClr val="FFFFFF"/>
            </a:solidFill>
            <a:prstDash val="solid"/>
          </a:ln>
        </p:spPr>
      </p:sp>
      <p:sp>
        <p:nvSpPr>
          <p:cNvPr id="7" name="dm#91n"/>
          <p:cNvSpPr txBox="1"/>
          <p:nvPr/>
        </p:nvSpPr>
        <p:spPr>
          <a:xfrm>
            <a:off x="59436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dm#91"/>
          <p:cNvSpPr/>
          <p:nvPr/>
        </p:nvSpPr>
        <p:spPr>
          <a:xfrm>
            <a:off x="502920" y="2514600"/>
            <a:ext cx="1298448" cy="2377440"/>
          </a:xfrm>
          <a:prstGeom prst="roundRect">
            <a:avLst>
              <a:gd name="adj" fmla="val 7042"/>
            </a:avLst>
          </a:prstGeom>
          <a:solidFill>
            <a:schemeClr val="bg2"/>
          </a:solidFill>
          <a:ln/>
        </p:spPr>
      </p:sp>
      <p:sp>
        <p:nvSpPr>
          <p:cNvPr id="9" name="dm#91t"/>
          <p:cNvSpPr txBox="1"/>
          <p:nvPr/>
        </p:nvSpPr>
        <p:spPr>
          <a:xfrm>
            <a:off x="57607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Ajouter un employé « mal saisi » dans MySQL</a:t>
            </a:r>
            <a:endParaRPr lang="en-US" sz="1200" dirty="0"/>
          </a:p>
        </p:txBody>
      </p:sp>
      <p:sp>
        <p:nvSpPr>
          <p:cNvPr id="10" name="dm#92o"/>
          <p:cNvSpPr/>
          <p:nvPr/>
        </p:nvSpPr>
        <p:spPr>
          <a:xfrm>
            <a:off x="1993392" y="1600200"/>
            <a:ext cx="640080" cy="640080"/>
          </a:xfrm>
          <a:prstGeom prst="ellipse">
            <a:avLst/>
          </a:prstGeom>
          <a:solidFill>
            <a:schemeClr val="accent3"/>
          </a:solidFill>
          <a:ln w="38100">
            <a:solidFill>
              <a:srgbClr val="FFFFFF"/>
            </a:solidFill>
            <a:prstDash val="solid"/>
          </a:ln>
        </p:spPr>
      </p:sp>
      <p:sp>
        <p:nvSpPr>
          <p:cNvPr id="11" name="dm#92n"/>
          <p:cNvSpPr txBox="1"/>
          <p:nvPr/>
        </p:nvSpPr>
        <p:spPr>
          <a:xfrm>
            <a:off x="199339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dm#92"/>
          <p:cNvSpPr/>
          <p:nvPr/>
        </p:nvSpPr>
        <p:spPr>
          <a:xfrm>
            <a:off x="1901952" y="2514600"/>
            <a:ext cx="1298448" cy="2377440"/>
          </a:xfrm>
          <a:prstGeom prst="roundRect">
            <a:avLst>
              <a:gd name="adj" fmla="val 7042"/>
            </a:avLst>
          </a:prstGeom>
          <a:solidFill>
            <a:schemeClr val="bg2"/>
          </a:solidFill>
          <a:ln/>
        </p:spPr>
      </p:sp>
      <p:sp>
        <p:nvSpPr>
          <p:cNvPr id="13" name="dm#92t"/>
          <p:cNvSpPr txBox="1"/>
          <p:nvPr/>
        </p:nvSpPr>
        <p:spPr>
          <a:xfrm>
            <a:off x="197510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 fiche propre dans PostgreSQL</a:t>
            </a:r>
            <a:endParaRPr lang="en-US" sz="1200" dirty="0"/>
          </a:p>
        </p:txBody>
      </p:sp>
      <p:sp>
        <p:nvSpPr>
          <p:cNvPr id="14" name="dm#93o"/>
          <p:cNvSpPr/>
          <p:nvPr/>
        </p:nvSpPr>
        <p:spPr>
          <a:xfrm>
            <a:off x="3392424" y="1600200"/>
            <a:ext cx="640080" cy="640080"/>
          </a:xfrm>
          <a:prstGeom prst="ellipse">
            <a:avLst/>
          </a:prstGeom>
          <a:solidFill>
            <a:schemeClr val="accent3"/>
          </a:solidFill>
          <a:ln w="38100">
            <a:solidFill>
              <a:srgbClr val="FFFFFF"/>
            </a:solidFill>
            <a:prstDash val="solid"/>
          </a:ln>
        </p:spPr>
      </p:sp>
      <p:sp>
        <p:nvSpPr>
          <p:cNvPr id="15" name="dm#93n"/>
          <p:cNvSpPr txBox="1"/>
          <p:nvPr/>
        </p:nvSpPr>
        <p:spPr>
          <a:xfrm>
            <a:off x="339242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dm#93"/>
          <p:cNvSpPr/>
          <p:nvPr/>
        </p:nvSpPr>
        <p:spPr>
          <a:xfrm>
            <a:off x="3300984" y="2514600"/>
            <a:ext cx="1298448" cy="2377440"/>
          </a:xfrm>
          <a:prstGeom prst="roundRect">
            <a:avLst>
              <a:gd name="adj" fmla="val 7042"/>
            </a:avLst>
          </a:prstGeom>
          <a:solidFill>
            <a:schemeClr val="bg2"/>
          </a:solidFill>
          <a:ln/>
        </p:spPr>
      </p:sp>
      <p:sp>
        <p:nvSpPr>
          <p:cNvPr id="17" name="dm#93t"/>
          <p:cNvSpPr txBox="1"/>
          <p:nvPr/>
        </p:nvSpPr>
        <p:spPr>
          <a:xfrm>
            <a:off x="337413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getEmployee­Details renvoie la fiche</a:t>
            </a:r>
            <a:endParaRPr lang="en-US" sz="1200" dirty="0"/>
          </a:p>
        </p:txBody>
      </p:sp>
      <p:sp>
        <p:nvSpPr>
          <p:cNvPr id="18" name="dm#94o"/>
          <p:cNvSpPr/>
          <p:nvPr/>
        </p:nvSpPr>
        <p:spPr>
          <a:xfrm>
            <a:off x="4791456" y="1600200"/>
            <a:ext cx="640080" cy="640080"/>
          </a:xfrm>
          <a:prstGeom prst="ellipse">
            <a:avLst/>
          </a:prstGeom>
          <a:solidFill>
            <a:schemeClr val="accent3"/>
          </a:solidFill>
          <a:ln w="38100">
            <a:solidFill>
              <a:srgbClr val="FFFFFF"/>
            </a:solidFill>
            <a:prstDash val="solid"/>
          </a:ln>
        </p:spPr>
      </p:sp>
      <p:sp>
        <p:nvSpPr>
          <p:cNvPr id="19" name="dm#94n"/>
          <p:cNvSpPr txBox="1"/>
          <p:nvPr/>
        </p:nvSpPr>
        <p:spPr>
          <a:xfrm>
            <a:off x="4791456"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dm#94"/>
          <p:cNvSpPr/>
          <p:nvPr/>
        </p:nvSpPr>
        <p:spPr>
          <a:xfrm>
            <a:off x="4700016" y="2514600"/>
            <a:ext cx="1298448" cy="2377440"/>
          </a:xfrm>
          <a:prstGeom prst="roundRect">
            <a:avLst>
              <a:gd name="adj" fmla="val 7042"/>
            </a:avLst>
          </a:prstGeom>
          <a:solidFill>
            <a:schemeClr val="bg2"/>
          </a:solidFill>
          <a:ln/>
        </p:spPr>
      </p:sp>
      <p:sp>
        <p:nvSpPr>
          <p:cNvPr id="21" name="dm#94t"/>
          <p:cNvSpPr txBox="1"/>
          <p:nvPr/>
        </p:nvSpPr>
        <p:spPr>
          <a:xfrm>
            <a:off x="4773168"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updateEmployee change poste et salaire</a:t>
            </a:r>
            <a:endParaRPr lang="en-US" sz="1200" dirty="0"/>
          </a:p>
        </p:txBody>
      </p:sp>
      <p:sp>
        <p:nvSpPr>
          <p:cNvPr id="22" name="dm#95o"/>
          <p:cNvSpPr/>
          <p:nvPr/>
        </p:nvSpPr>
        <p:spPr>
          <a:xfrm>
            <a:off x="6190488" y="1600200"/>
            <a:ext cx="640080" cy="640080"/>
          </a:xfrm>
          <a:prstGeom prst="ellipse">
            <a:avLst/>
          </a:prstGeom>
          <a:solidFill>
            <a:schemeClr val="accent3"/>
          </a:solidFill>
          <a:ln w="38100">
            <a:solidFill>
              <a:srgbClr val="FFFFFF"/>
            </a:solidFill>
            <a:prstDash val="solid"/>
          </a:ln>
        </p:spPr>
      </p:sp>
      <p:sp>
        <p:nvSpPr>
          <p:cNvPr id="23" name="dm#95n"/>
          <p:cNvSpPr txBox="1"/>
          <p:nvPr/>
        </p:nvSpPr>
        <p:spPr>
          <a:xfrm>
            <a:off x="6190488"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dm#95"/>
          <p:cNvSpPr/>
          <p:nvPr/>
        </p:nvSpPr>
        <p:spPr>
          <a:xfrm>
            <a:off x="6099048" y="2514600"/>
            <a:ext cx="1298448" cy="2377440"/>
          </a:xfrm>
          <a:prstGeom prst="roundRect">
            <a:avLst>
              <a:gd name="adj" fmla="val 7042"/>
            </a:avLst>
          </a:prstGeom>
          <a:solidFill>
            <a:schemeClr val="bg2"/>
          </a:solidFill>
          <a:ln/>
        </p:spPr>
      </p:sp>
      <p:sp>
        <p:nvSpPr>
          <p:cNvPr id="25" name="dm#95t"/>
          <p:cNvSpPr txBox="1"/>
          <p:nvPr/>
        </p:nvSpPr>
        <p:spPr>
          <a:xfrm>
            <a:off x="6172200"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retour : MySQL est mis à jour</a:t>
            </a:r>
            <a:endParaRPr lang="en-US" sz="1200" dirty="0"/>
          </a:p>
        </p:txBody>
      </p:sp>
      <p:sp>
        <p:nvSpPr>
          <p:cNvPr id="26" name="dm#96o"/>
          <p:cNvSpPr/>
          <p:nvPr/>
        </p:nvSpPr>
        <p:spPr>
          <a:xfrm>
            <a:off x="7589520" y="1600200"/>
            <a:ext cx="640080" cy="640080"/>
          </a:xfrm>
          <a:prstGeom prst="ellipse">
            <a:avLst/>
          </a:prstGeom>
          <a:solidFill>
            <a:schemeClr val="accent3"/>
          </a:solidFill>
          <a:ln w="38100">
            <a:solidFill>
              <a:srgbClr val="FFFFFF"/>
            </a:solidFill>
            <a:prstDash val="solid"/>
          </a:ln>
        </p:spPr>
      </p:sp>
      <p:sp>
        <p:nvSpPr>
          <p:cNvPr id="27" name="dm#96n"/>
          <p:cNvSpPr txBox="1"/>
          <p:nvPr/>
        </p:nvSpPr>
        <p:spPr>
          <a:xfrm>
            <a:off x="758952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dm#96"/>
          <p:cNvSpPr/>
          <p:nvPr/>
        </p:nvSpPr>
        <p:spPr>
          <a:xfrm>
            <a:off x="7498080" y="2514600"/>
            <a:ext cx="1298448" cy="2377440"/>
          </a:xfrm>
          <a:prstGeom prst="roundRect">
            <a:avLst>
              <a:gd name="adj" fmla="val 7042"/>
            </a:avLst>
          </a:prstGeom>
          <a:solidFill>
            <a:schemeClr val="bg2"/>
          </a:solidFill>
          <a:ln/>
        </p:spPr>
      </p:sp>
      <p:sp>
        <p:nvSpPr>
          <p:cNvPr id="29" name="dm#96t"/>
          <p:cNvSpPr txBox="1"/>
          <p:nvPr/>
        </p:nvSpPr>
        <p:spPr>
          <a:xfrm>
            <a:off x="757123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relancé : la valeur SOAP est gardée</a:t>
            </a:r>
            <a:endParaRPr lang="en-US" sz="1200" dirty="0"/>
          </a:p>
        </p:txBody>
      </p:sp>
      <p:sp>
        <p:nvSpPr>
          <p:cNvPr id="30" name="dm#97o"/>
          <p:cNvSpPr/>
          <p:nvPr/>
        </p:nvSpPr>
        <p:spPr>
          <a:xfrm>
            <a:off x="8988552" y="1600200"/>
            <a:ext cx="640080" cy="640080"/>
          </a:xfrm>
          <a:prstGeom prst="ellipse">
            <a:avLst/>
          </a:prstGeom>
          <a:solidFill>
            <a:schemeClr val="accent2"/>
          </a:solidFill>
          <a:ln w="38100">
            <a:solidFill>
              <a:srgbClr val="FFFFFF"/>
            </a:solidFill>
            <a:prstDash val="solid"/>
          </a:ln>
        </p:spPr>
      </p:sp>
      <p:sp>
        <p:nvSpPr>
          <p:cNvPr id="31" name="dm#97n"/>
          <p:cNvSpPr txBox="1"/>
          <p:nvPr/>
        </p:nvSpPr>
        <p:spPr>
          <a:xfrm>
            <a:off x="898855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2" name="dm#97"/>
          <p:cNvSpPr/>
          <p:nvPr/>
        </p:nvSpPr>
        <p:spPr>
          <a:xfrm>
            <a:off x="8897112" y="2514600"/>
            <a:ext cx="1298448" cy="2377440"/>
          </a:xfrm>
          <a:prstGeom prst="roundRect">
            <a:avLst>
              <a:gd name="adj" fmla="val 7042"/>
            </a:avLst>
          </a:prstGeom>
          <a:solidFill>
            <a:schemeClr val="bg2"/>
          </a:solidFill>
          <a:ln/>
        </p:spPr>
      </p:sp>
      <p:sp>
        <p:nvSpPr>
          <p:cNvPr id="33" name="dm#97t"/>
          <p:cNvSpPr txBox="1"/>
          <p:nvPr/>
        </p:nvSpPr>
        <p:spPr>
          <a:xfrm>
            <a:off x="897026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Erreurs : inexistant, invalide, doublon, base arrêtée</a:t>
            </a:r>
            <a:endParaRPr lang="en-US" sz="1200" dirty="0"/>
          </a:p>
        </p:txBody>
      </p:sp>
      <p:sp>
        <p:nvSpPr>
          <p:cNvPr id="34" name="dm#98o"/>
          <p:cNvSpPr/>
          <p:nvPr/>
        </p:nvSpPr>
        <p:spPr>
          <a:xfrm>
            <a:off x="10387584" y="1600200"/>
            <a:ext cx="640080" cy="640080"/>
          </a:xfrm>
          <a:prstGeom prst="ellipse">
            <a:avLst/>
          </a:prstGeom>
          <a:solidFill>
            <a:schemeClr val="accent2"/>
          </a:solidFill>
          <a:ln w="38100">
            <a:solidFill>
              <a:srgbClr val="FFFFFF"/>
            </a:solidFill>
            <a:prstDash val="solid"/>
          </a:ln>
        </p:spPr>
      </p:sp>
      <p:sp>
        <p:nvSpPr>
          <p:cNvPr id="35" name="dm#98n"/>
          <p:cNvSpPr txBox="1"/>
          <p:nvPr/>
        </p:nvSpPr>
        <p:spPr>
          <a:xfrm>
            <a:off x="1038758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6" name="dm#98"/>
          <p:cNvSpPr/>
          <p:nvPr/>
        </p:nvSpPr>
        <p:spPr>
          <a:xfrm>
            <a:off x="10296144" y="2514600"/>
            <a:ext cx="1298448" cy="2377440"/>
          </a:xfrm>
          <a:prstGeom prst="roundRect">
            <a:avLst>
              <a:gd name="adj" fmla="val 7042"/>
            </a:avLst>
          </a:prstGeom>
          <a:solidFill>
            <a:schemeClr val="bg2"/>
          </a:solidFill>
          <a:ln/>
        </p:spPr>
      </p:sp>
      <p:sp>
        <p:nvSpPr>
          <p:cNvPr id="37" name="dm#98t"/>
          <p:cNvSpPr txBox="1"/>
          <p:nvPr/>
        </p:nvSpPr>
        <p:spPr>
          <a:xfrm>
            <a:off x="1036929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Netdata affiche les appels et l'alerte</a:t>
            </a:r>
            <a:endParaRPr lang="en-US" sz="1200" dirty="0"/>
          </a:p>
        </p:txBody>
      </p:sp>
      <p:sp>
        <p:nvSpPr>
          <p:cNvPr id="38" name="dm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3"/>
                </a:solidFill>
              </a:rPr>
              <a:t>Tout ce scénario est automatisé dans tests/e2e/e2e.sh et peut être lancé en direct.</a:t>
            </a:r>
            <a:endParaRPr lang="en-US" sz="1400" dirty="0"/>
          </a:p>
        </p:txBody>
      </p:sp>
      <p:sp>
        <p:nvSpPr>
          <p:cNvPr id="3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par>
                                <p:cTn id="8" presetID="42" presetClass="entr" presetSubtype="0" fill="hold" grpId="0" nodeType="withEffect">
                                  <p:stCondLst>
                                    <p:cond delay="2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44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44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44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44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6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66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6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66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88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88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88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88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1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110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110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110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grpId="0" nodeType="withEffect">
                                  <p:stCondLst>
                                    <p:cond delay="132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grpId="0" nodeType="withEffect">
                                  <p:stCondLst>
                                    <p:cond delay="132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132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132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p:tgtEl>
                                          <p:spTgt spid="29"/>
                                        </p:tgtEl>
                                        <p:attrNameLst>
                                          <p:attrName>ppt_x</p:attrName>
                                        </p:attrNameLst>
                                      </p:cBhvr>
                                      <p:tavLst>
                                        <p:tav tm="0">
                                          <p:val>
                                            <p:strVal val="#ppt_x"/>
                                          </p:val>
                                        </p:tav>
                                        <p:tav tm="100000">
                                          <p:val>
                                            <p:strVal val="#ppt_x"/>
                                          </p:val>
                                        </p:tav>
                                      </p:tavLst>
                                    </p:anim>
                                    <p:anim calcmode="lin" valueType="num">
                                      <p:cBhvr additive="base">
                                        <p:cTn id="127" dur="500" fill="hold"/>
                                        <p:tgtEl>
                                          <p:spTgt spid="29"/>
                                        </p:tgtEl>
                                        <p:attrNameLst>
                                          <p:attrName>ppt_y</p:attrName>
                                        </p:attrNameLst>
                                      </p:cBhvr>
                                      <p:tavLst>
                                        <p:tav tm="0">
                                          <p:val>
                                            <p:strVal val="#ppt_y+.1"/>
                                          </p:val>
                                        </p:tav>
                                        <p:tav tm="100000">
                                          <p:val>
                                            <p:strVal val="#ppt_y"/>
                                          </p:val>
                                        </p:tav>
                                      </p:tavLst>
                                    </p:anim>
                                  </p:childTnLst>
                                </p:cTn>
                              </p:par>
                              <p:par>
                                <p:cTn id="128" presetID="42" presetClass="entr" presetSubtype="0" fill="hold" grpId="0" nodeType="withEffect">
                                  <p:stCondLst>
                                    <p:cond delay="154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additive="base">
                                        <p:cTn id="131" dur="500" fill="hold"/>
                                        <p:tgtEl>
                                          <p:spTgt spid="30"/>
                                        </p:tgtEl>
                                        <p:attrNameLst>
                                          <p:attrName>ppt_x</p:attrName>
                                        </p:attrNameLst>
                                      </p:cBhvr>
                                      <p:tavLst>
                                        <p:tav tm="0">
                                          <p:val>
                                            <p:strVal val="#ppt_x"/>
                                          </p:val>
                                        </p:tav>
                                        <p:tav tm="100000">
                                          <p:val>
                                            <p:strVal val="#ppt_x"/>
                                          </p:val>
                                        </p:tav>
                                      </p:tavLst>
                                    </p:anim>
                                    <p:anim calcmode="lin" valueType="num">
                                      <p:cBhvr additive="base">
                                        <p:cTn id="132" dur="500" fill="hold"/>
                                        <p:tgtEl>
                                          <p:spTgt spid="30"/>
                                        </p:tgtEl>
                                        <p:attrNameLst>
                                          <p:attrName>ppt_y</p:attrName>
                                        </p:attrNameLst>
                                      </p:cBhvr>
                                      <p:tavLst>
                                        <p:tav tm="0">
                                          <p:val>
                                            <p:strVal val="#ppt_y+.1"/>
                                          </p:val>
                                        </p:tav>
                                        <p:tav tm="100000">
                                          <p:val>
                                            <p:strVal val="#ppt_y"/>
                                          </p:val>
                                        </p:tav>
                                      </p:tavLst>
                                    </p:anim>
                                  </p:childTnLst>
                                </p:cTn>
                              </p:par>
                              <p:par>
                                <p:cTn id="133" presetID="42" presetClass="entr" presetSubtype="0" fill="hold" grpId="0" nodeType="withEffect">
                                  <p:stCondLst>
                                    <p:cond delay="154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additive="base">
                                        <p:cTn id="136" dur="500" fill="hold"/>
                                        <p:tgtEl>
                                          <p:spTgt spid="31"/>
                                        </p:tgtEl>
                                        <p:attrNameLst>
                                          <p:attrName>ppt_x</p:attrName>
                                        </p:attrNameLst>
                                      </p:cBhvr>
                                      <p:tavLst>
                                        <p:tav tm="0">
                                          <p:val>
                                            <p:strVal val="#ppt_x"/>
                                          </p:val>
                                        </p:tav>
                                        <p:tav tm="100000">
                                          <p:val>
                                            <p:strVal val="#ppt_x"/>
                                          </p:val>
                                        </p:tav>
                                      </p:tavLst>
                                    </p:anim>
                                    <p:anim calcmode="lin" valueType="num">
                                      <p:cBhvr additive="base">
                                        <p:cTn id="137" dur="500" fill="hold"/>
                                        <p:tgtEl>
                                          <p:spTgt spid="31"/>
                                        </p:tgtEl>
                                        <p:attrNameLst>
                                          <p:attrName>ppt_y</p:attrName>
                                        </p:attrNameLst>
                                      </p:cBhvr>
                                      <p:tavLst>
                                        <p:tav tm="0">
                                          <p:val>
                                            <p:strVal val="#ppt_y+.1"/>
                                          </p:val>
                                        </p:tav>
                                        <p:tav tm="100000">
                                          <p:val>
                                            <p:strVal val="#ppt_y"/>
                                          </p:val>
                                        </p:tav>
                                      </p:tavLst>
                                    </p:anim>
                                  </p:childTnLst>
                                </p:cTn>
                              </p:par>
                              <p:par>
                                <p:cTn id="138" presetID="42" presetClass="entr" presetSubtype="0" fill="hold" grpId="0" nodeType="withEffect">
                                  <p:stCondLst>
                                    <p:cond delay="154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additive="base">
                                        <p:cTn id="141" dur="500" fill="hold"/>
                                        <p:tgtEl>
                                          <p:spTgt spid="32"/>
                                        </p:tgtEl>
                                        <p:attrNameLst>
                                          <p:attrName>ppt_x</p:attrName>
                                        </p:attrNameLst>
                                      </p:cBhvr>
                                      <p:tavLst>
                                        <p:tav tm="0">
                                          <p:val>
                                            <p:strVal val="#ppt_x"/>
                                          </p:val>
                                        </p:tav>
                                        <p:tav tm="100000">
                                          <p:val>
                                            <p:strVal val="#ppt_x"/>
                                          </p:val>
                                        </p:tav>
                                      </p:tavLst>
                                    </p:anim>
                                    <p:anim calcmode="lin" valueType="num">
                                      <p:cBhvr additive="base">
                                        <p:cTn id="142" dur="500" fill="hold"/>
                                        <p:tgtEl>
                                          <p:spTgt spid="32"/>
                                        </p:tgtEl>
                                        <p:attrNameLst>
                                          <p:attrName>ppt_y</p:attrName>
                                        </p:attrNameLst>
                                      </p:cBhvr>
                                      <p:tavLst>
                                        <p:tav tm="0">
                                          <p:val>
                                            <p:strVal val="#ppt_y+.1"/>
                                          </p:val>
                                        </p:tav>
                                        <p:tav tm="100000">
                                          <p:val>
                                            <p:strVal val="#ppt_y"/>
                                          </p:val>
                                        </p:tav>
                                      </p:tavLst>
                                    </p:anim>
                                  </p:childTnLst>
                                </p:cTn>
                              </p:par>
                              <p:par>
                                <p:cTn id="143" presetID="42" presetClass="entr" presetSubtype="0" fill="hold" grpId="0" nodeType="withEffect">
                                  <p:stCondLst>
                                    <p:cond delay="154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additive="base">
                                        <p:cTn id="146" dur="500" fill="hold"/>
                                        <p:tgtEl>
                                          <p:spTgt spid="33"/>
                                        </p:tgtEl>
                                        <p:attrNameLst>
                                          <p:attrName>ppt_x</p:attrName>
                                        </p:attrNameLst>
                                      </p:cBhvr>
                                      <p:tavLst>
                                        <p:tav tm="0">
                                          <p:val>
                                            <p:strVal val="#ppt_x"/>
                                          </p:val>
                                        </p:tav>
                                        <p:tav tm="100000">
                                          <p:val>
                                            <p:strVal val="#ppt_x"/>
                                          </p:val>
                                        </p:tav>
                                      </p:tavLst>
                                    </p:anim>
                                    <p:anim calcmode="lin" valueType="num">
                                      <p:cBhvr additive="base">
                                        <p:cTn id="147" dur="500" fill="hold"/>
                                        <p:tgtEl>
                                          <p:spTgt spid="33"/>
                                        </p:tgtEl>
                                        <p:attrNameLst>
                                          <p:attrName>ppt_y</p:attrName>
                                        </p:attrNameLst>
                                      </p:cBhvr>
                                      <p:tavLst>
                                        <p:tav tm="0">
                                          <p:val>
                                            <p:strVal val="#ppt_y+.1"/>
                                          </p:val>
                                        </p:tav>
                                        <p:tav tm="100000">
                                          <p:val>
                                            <p:strVal val="#ppt_y"/>
                                          </p:val>
                                        </p:tav>
                                      </p:tavLst>
                                    </p:anim>
                                  </p:childTnLst>
                                </p:cTn>
                              </p:par>
                              <p:par>
                                <p:cTn id="148" presetID="42" presetClass="entr" presetSubtype="0" fill="hold" grpId="0" nodeType="withEffect">
                                  <p:stCondLst>
                                    <p:cond delay="176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additive="base">
                                        <p:cTn id="151" dur="500" fill="hold"/>
                                        <p:tgtEl>
                                          <p:spTgt spid="34"/>
                                        </p:tgtEl>
                                        <p:attrNameLst>
                                          <p:attrName>ppt_x</p:attrName>
                                        </p:attrNameLst>
                                      </p:cBhvr>
                                      <p:tavLst>
                                        <p:tav tm="0">
                                          <p:val>
                                            <p:strVal val="#ppt_x"/>
                                          </p:val>
                                        </p:tav>
                                        <p:tav tm="100000">
                                          <p:val>
                                            <p:strVal val="#ppt_x"/>
                                          </p:val>
                                        </p:tav>
                                      </p:tavLst>
                                    </p:anim>
                                    <p:anim calcmode="lin" valueType="num">
                                      <p:cBhvr additive="base">
                                        <p:cTn id="152" dur="500" fill="hold"/>
                                        <p:tgtEl>
                                          <p:spTgt spid="34"/>
                                        </p:tgtEl>
                                        <p:attrNameLst>
                                          <p:attrName>ppt_y</p:attrName>
                                        </p:attrNameLst>
                                      </p:cBhvr>
                                      <p:tavLst>
                                        <p:tav tm="0">
                                          <p:val>
                                            <p:strVal val="#ppt_y+.1"/>
                                          </p:val>
                                        </p:tav>
                                        <p:tav tm="100000">
                                          <p:val>
                                            <p:strVal val="#ppt_y"/>
                                          </p:val>
                                        </p:tav>
                                      </p:tavLst>
                                    </p:anim>
                                  </p:childTnLst>
                                </p:cTn>
                              </p:par>
                              <p:par>
                                <p:cTn id="153" presetID="42" presetClass="entr" presetSubtype="0" fill="hold" grpId="0" nodeType="withEffect">
                                  <p:stCondLst>
                                    <p:cond delay="176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additive="base">
                                        <p:cTn id="156" dur="500" fill="hold"/>
                                        <p:tgtEl>
                                          <p:spTgt spid="35"/>
                                        </p:tgtEl>
                                        <p:attrNameLst>
                                          <p:attrName>ppt_x</p:attrName>
                                        </p:attrNameLst>
                                      </p:cBhvr>
                                      <p:tavLst>
                                        <p:tav tm="0">
                                          <p:val>
                                            <p:strVal val="#ppt_x"/>
                                          </p:val>
                                        </p:tav>
                                        <p:tav tm="100000">
                                          <p:val>
                                            <p:strVal val="#ppt_x"/>
                                          </p:val>
                                        </p:tav>
                                      </p:tavLst>
                                    </p:anim>
                                    <p:anim calcmode="lin" valueType="num">
                                      <p:cBhvr additive="base">
                                        <p:cTn id="157" dur="500" fill="hold"/>
                                        <p:tgtEl>
                                          <p:spTgt spid="35"/>
                                        </p:tgtEl>
                                        <p:attrNameLst>
                                          <p:attrName>ppt_y</p:attrName>
                                        </p:attrNameLst>
                                      </p:cBhvr>
                                      <p:tavLst>
                                        <p:tav tm="0">
                                          <p:val>
                                            <p:strVal val="#ppt_y+.1"/>
                                          </p:val>
                                        </p:tav>
                                        <p:tav tm="100000">
                                          <p:val>
                                            <p:strVal val="#ppt_y"/>
                                          </p:val>
                                        </p:tav>
                                      </p:tavLst>
                                    </p:anim>
                                  </p:childTnLst>
                                </p:cTn>
                              </p:par>
                              <p:par>
                                <p:cTn id="158" presetID="42" presetClass="entr" presetSubtype="0" fill="hold" grpId="0" nodeType="withEffect">
                                  <p:stCondLst>
                                    <p:cond delay="176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additive="base">
                                        <p:cTn id="161" dur="500" fill="hold"/>
                                        <p:tgtEl>
                                          <p:spTgt spid="36"/>
                                        </p:tgtEl>
                                        <p:attrNameLst>
                                          <p:attrName>ppt_x</p:attrName>
                                        </p:attrNameLst>
                                      </p:cBhvr>
                                      <p:tavLst>
                                        <p:tav tm="0">
                                          <p:val>
                                            <p:strVal val="#ppt_x"/>
                                          </p:val>
                                        </p:tav>
                                        <p:tav tm="100000">
                                          <p:val>
                                            <p:strVal val="#ppt_x"/>
                                          </p:val>
                                        </p:tav>
                                      </p:tavLst>
                                    </p:anim>
                                    <p:anim calcmode="lin" valueType="num">
                                      <p:cBhvr additive="base">
                                        <p:cTn id="162" dur="500" fill="hold"/>
                                        <p:tgtEl>
                                          <p:spTgt spid="36"/>
                                        </p:tgtEl>
                                        <p:attrNameLst>
                                          <p:attrName>ppt_y</p:attrName>
                                        </p:attrNameLst>
                                      </p:cBhvr>
                                      <p:tavLst>
                                        <p:tav tm="0">
                                          <p:val>
                                            <p:strVal val="#ppt_y+.1"/>
                                          </p:val>
                                        </p:tav>
                                        <p:tav tm="100000">
                                          <p:val>
                                            <p:strVal val="#ppt_y"/>
                                          </p:val>
                                        </p:tav>
                                      </p:tavLst>
                                    </p:anim>
                                  </p:childTnLst>
                                </p:cTn>
                              </p:par>
                              <p:par>
                                <p:cTn id="163" presetID="42" presetClass="entr" presetSubtype="0" fill="hold" grpId="0" nodeType="withEffect">
                                  <p:stCondLst>
                                    <p:cond delay="176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additive="base">
                                        <p:cTn id="166" dur="500" fill="hold"/>
                                        <p:tgtEl>
                                          <p:spTgt spid="37"/>
                                        </p:tgtEl>
                                        <p:attrNameLst>
                                          <p:attrName>ppt_x</p:attrName>
                                        </p:attrNameLst>
                                      </p:cBhvr>
                                      <p:tavLst>
                                        <p:tav tm="0">
                                          <p:val>
                                            <p:strVal val="#ppt_x"/>
                                          </p:val>
                                        </p:tav>
                                        <p:tav tm="100000">
                                          <p:val>
                                            <p:strVal val="#ppt_x"/>
                                          </p:val>
                                        </p:tav>
                                      </p:tavLst>
                                    </p:anim>
                                    <p:anim calcmode="lin" valueType="num">
                                      <p:cBhvr additive="base">
                                        <p:cTn id="167" dur="500" fill="hold"/>
                                        <p:tgtEl>
                                          <p:spTgt spid="37"/>
                                        </p:tgtEl>
                                        <p:attrNameLst>
                                          <p:attrName>ppt_y</p:attrName>
                                        </p:attrNameLst>
                                      </p:cBhvr>
                                      <p:tavLst>
                                        <p:tav tm="0">
                                          <p:val>
                                            <p:strVal val="#ppt_y+.1"/>
                                          </p:val>
                                        </p:tav>
                                        <p:tav tm="100000">
                                          <p:val>
                                            <p:strVal val="#ppt_y"/>
                                          </p:val>
                                        </p:tav>
                                      </p:tavLst>
                                    </p:anim>
                                  </p:childTnLst>
                                </p:cTn>
                              </p:par>
                              <p:par>
                                <p:cTn id="168" presetID="10" presetClass="entr" presetSubtype="0" fill="hold" grpId="0" nodeType="withEffect">
                                  <p:stCondLst>
                                    <p:cond delay="198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ring#99"/>
          <p:cNvSpPr/>
          <p:nvPr/>
        </p:nvSpPr>
        <p:spPr>
          <a:xfrm>
            <a:off x="7223760" y="1234440"/>
            <a:ext cx="4389120" cy="4389120"/>
          </a:xfrm>
          <a:prstGeom prst="ellipse">
            <a:avLst/>
          </a:prstGeom>
          <a:solidFill>
            <a:srgbClr val="1BA39C">
              <a:alpha val="20000"/>
            </a:srgbClr>
          </a:solidFill>
          <a:ln/>
        </p:spPr>
      </p:sp>
      <p:sp>
        <p:nvSpPr>
          <p:cNvPr id="3" name="ring#10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06</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6</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Bilan, limites et perspectives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Bilan et perspectives</a:t>
            </a:r>
            <a:endParaRPr lang="en-US" sz="3000" dirty="0"/>
          </a:p>
        </p:txBody>
      </p:sp>
      <p:sp>
        <p:nvSpPr>
          <p:cNvPr id="3" name="pill#101"/>
          <p:cNvSpPr/>
          <p:nvPr/>
        </p:nvSpPr>
        <p:spPr>
          <a:xfrm>
            <a:off x="548640" y="384048"/>
            <a:ext cx="978408" cy="292608"/>
          </a:xfrm>
          <a:prstGeom prst="roundRect">
            <a:avLst>
              <a:gd name="adj" fmla="val 50000"/>
            </a:avLst>
          </a:prstGeom>
          <a:solidFill>
            <a:schemeClr val="accent2"/>
          </a:solidFill>
          <a:ln/>
        </p:spPr>
      </p:sp>
      <p:sp>
        <p:nvSpPr>
          <p:cNvPr id="4" name="pill#101t"/>
          <p:cNvSpPr txBox="1"/>
          <p:nvPr/>
        </p:nvSpPr>
        <p:spPr>
          <a:xfrm>
            <a:off x="548640" y="384048"/>
            <a:ext cx="978408" cy="292608"/>
          </a:xfrm>
          <a:prstGeom prst="rect">
            <a:avLst/>
          </a:prstGeom>
          <a:noFill/>
          <a:ln/>
        </p:spPr>
        <p:txBody>
          <a:bodyPr wrap="square" lIns="0" tIns="0" rIns="0" bIns="0" rtlCol="0" anchor="ctr"/>
          <a:lstStyle/>
          <a:p>
            <a:pPr algn="ctr" indent="0" marL="0">
              <a:buNone/>
            </a:pPr>
            <a:r>
              <a:rPr lang="en-US" sz="1100" b="1" dirty="0">
                <a:solidFill>
                  <a:schemeClr val="bg1"/>
                </a:solidFill>
              </a:rPr>
              <a:t>Conclusion</a:t>
            </a:r>
            <a:endParaRPr lang="en-US" sz="1100" dirty="0"/>
          </a:p>
        </p:txBody>
      </p:sp>
      <p:sp>
        <p:nvSpPr>
          <p:cNvPr id="5" name="cc#102"/>
          <p:cNvSpPr/>
          <p:nvPr/>
        </p:nvSpPr>
        <p:spPr>
          <a:xfrm>
            <a:off x="548640" y="1737360"/>
            <a:ext cx="3520440" cy="4114800"/>
          </a:xfrm>
          <a:prstGeom prst="roundRect">
            <a:avLst>
              <a:gd name="adj" fmla="val 2597"/>
            </a:avLst>
          </a:prstGeom>
          <a:solidFill>
            <a:schemeClr val="bg2"/>
          </a:solidFill>
          <a:ln/>
        </p:spPr>
      </p:sp>
      <p:sp>
        <p:nvSpPr>
          <p:cNvPr id="6" name="cc#102d"/>
          <p:cNvSpPr/>
          <p:nvPr/>
        </p:nvSpPr>
        <p:spPr>
          <a:xfrm>
            <a:off x="822960" y="2011680"/>
            <a:ext cx="731520" cy="731520"/>
          </a:xfrm>
          <a:prstGeom prst="ellipse">
            <a:avLst/>
          </a:prstGeom>
          <a:solidFill>
            <a:schemeClr val="accent3"/>
          </a:solidFill>
          <a:ln/>
        </p:spPr>
      </p:sp>
      <p:pic>
        <p:nvPicPr>
          <p:cNvPr id="7" name="cc#102di" descr="preencoded.png">    </p:cNvPr>
          <p:cNvPicPr>
            <a:picLocks noChangeAspect="1"/>
          </p:cNvPicPr>
          <p:nvPr/>
        </p:nvPicPr>
        <p:blipFill>
          <a:blip r:embed="rId1"/>
          <a:stretch>
            <a:fillRect/>
          </a:stretch>
        </p:blipFill>
        <p:spPr>
          <a:xfrm>
            <a:off x="1020470" y="2209190"/>
            <a:ext cx="336499" cy="336499"/>
          </a:xfrm>
          <a:prstGeom prst="rect">
            <a:avLst/>
          </a:prstGeom>
        </p:spPr>
      </p:pic>
      <p:sp>
        <p:nvSpPr>
          <p:cNvPr id="8" name="cc#102h"/>
          <p:cNvSpPr txBox="1"/>
          <p:nvPr/>
        </p:nvSpPr>
        <p:spPr>
          <a:xfrm>
            <a:off x="1737360"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Réalisé</a:t>
            </a:r>
            <a:endParaRPr lang="en-US" sz="2200" dirty="0"/>
          </a:p>
        </p:txBody>
      </p:sp>
      <p:sp>
        <p:nvSpPr>
          <p:cNvPr id="9" name="cc#102b"/>
          <p:cNvSpPr txBox="1"/>
          <p:nvPr/>
        </p:nvSpPr>
        <p:spPr>
          <a:xfrm>
            <a:off x="822960"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Les 6 exigences du thème</a:t>
            </a:r>
            <a:endParaRPr lang="en-US" sz="1500" dirty="0"/>
          </a:p>
          <a:p>
            <a:pPr marL="342900" indent="-342900">
              <a:spcAft>
                <a:spcPts val="1000"/>
              </a:spcAft>
              <a:buSzPct val="100000"/>
              <a:buChar char="•"/>
            </a:pPr>
            <a:r>
              <a:rPr lang="en-US" sz="1500" dirty="0">
                <a:solidFill>
                  <a:schemeClr val="tx1"/>
                </a:solidFill>
              </a:rPr>
              <a:t>Dépôt Git reproductible</a:t>
            </a:r>
            <a:endParaRPr lang="en-US" sz="1500" dirty="0"/>
          </a:p>
          <a:p>
            <a:pPr marL="342900" indent="-342900">
              <a:spcAft>
                <a:spcPts val="1000"/>
              </a:spcAft>
              <a:buSzPct val="100000"/>
              <a:buChar char="•"/>
            </a:pPr>
            <a:r>
              <a:rPr lang="en-US" sz="1500" dirty="0">
                <a:solidFill>
                  <a:schemeClr val="tx1"/>
                </a:solidFill>
              </a:rPr>
              <a:t>Documentation complète</a:t>
            </a:r>
            <a:endParaRPr lang="en-US" sz="1500" dirty="0"/>
          </a:p>
          <a:p>
            <a:pPr marL="342900" indent="-342900">
              <a:spcAft>
                <a:spcPts val="1000"/>
              </a:spcAft>
              <a:buSzPct val="100000"/>
              <a:buChar char="•"/>
            </a:pPr>
            <a:r>
              <a:rPr lang="en-US" sz="1500" dirty="0">
                <a:solidFill>
                  <a:schemeClr val="tx1"/>
                </a:solidFill>
              </a:rPr>
              <a:t>Tests tous réussis</a:t>
            </a:r>
            <a:endParaRPr lang="en-US" sz="1500" dirty="0"/>
          </a:p>
        </p:txBody>
      </p:sp>
      <p:sp>
        <p:nvSpPr>
          <p:cNvPr id="10" name="cc#103"/>
          <p:cNvSpPr/>
          <p:nvPr/>
        </p:nvSpPr>
        <p:spPr>
          <a:xfrm>
            <a:off x="4315968" y="1737360"/>
            <a:ext cx="3520440" cy="4114800"/>
          </a:xfrm>
          <a:prstGeom prst="roundRect">
            <a:avLst>
              <a:gd name="adj" fmla="val 2597"/>
            </a:avLst>
          </a:prstGeom>
          <a:solidFill>
            <a:schemeClr val="bg2"/>
          </a:solidFill>
          <a:ln/>
        </p:spPr>
      </p:sp>
      <p:sp>
        <p:nvSpPr>
          <p:cNvPr id="11" name="cc#103d"/>
          <p:cNvSpPr/>
          <p:nvPr/>
        </p:nvSpPr>
        <p:spPr>
          <a:xfrm>
            <a:off x="4590288" y="2011680"/>
            <a:ext cx="731520" cy="731520"/>
          </a:xfrm>
          <a:prstGeom prst="ellipse">
            <a:avLst/>
          </a:prstGeom>
          <a:solidFill>
            <a:schemeClr val="accent2"/>
          </a:solidFill>
          <a:ln/>
        </p:spPr>
      </p:sp>
      <p:pic>
        <p:nvPicPr>
          <p:cNvPr id="12" name="cc#103di" descr="preencoded.png">    </p:cNvPr>
          <p:cNvPicPr>
            <a:picLocks noChangeAspect="1"/>
          </p:cNvPicPr>
          <p:nvPr/>
        </p:nvPicPr>
        <p:blipFill>
          <a:blip r:embed="rId2"/>
          <a:stretch>
            <a:fillRect/>
          </a:stretch>
        </p:blipFill>
        <p:spPr>
          <a:xfrm>
            <a:off x="4787798" y="2209190"/>
            <a:ext cx="336499" cy="336499"/>
          </a:xfrm>
          <a:prstGeom prst="rect">
            <a:avLst/>
          </a:prstGeom>
        </p:spPr>
      </p:pic>
      <p:sp>
        <p:nvSpPr>
          <p:cNvPr id="13" name="cc#103h"/>
          <p:cNvSpPr txBox="1"/>
          <p:nvPr/>
        </p:nvSpPr>
        <p:spPr>
          <a:xfrm>
            <a:off x="5504688"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Limites</a:t>
            </a:r>
            <a:endParaRPr lang="en-US" sz="2200" dirty="0"/>
          </a:p>
        </p:txBody>
      </p:sp>
      <p:sp>
        <p:nvSpPr>
          <p:cNvPr id="14" name="cc#103b"/>
          <p:cNvSpPr txBox="1"/>
          <p:nvPr/>
        </p:nvSpPr>
        <p:spPr>
          <a:xfrm>
            <a:off x="4590288"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périodique</a:t>
            </a:r>
            <a:endParaRPr lang="en-US" sz="1500" dirty="0"/>
          </a:p>
          <a:p>
            <a:pPr marL="342900" indent="-342900">
              <a:spcAft>
                <a:spcPts val="1000"/>
              </a:spcAft>
              <a:buSzPct val="100000"/>
              <a:buChar char="•"/>
            </a:pPr>
            <a:r>
              <a:rPr lang="en-US" sz="1500" dirty="0">
                <a:solidFill>
                  <a:schemeClr val="tx1"/>
                </a:solidFill>
              </a:rPr>
              <a:t>Lecture MySQL complète</a:t>
            </a:r>
            <a:endParaRPr lang="en-US" sz="1500" dirty="0"/>
          </a:p>
          <a:p>
            <a:pPr marL="342900" indent="-342900">
              <a:spcAft>
                <a:spcPts val="1000"/>
              </a:spcAft>
              <a:buSzPct val="100000"/>
              <a:buChar char="•"/>
            </a:pPr>
            <a:r>
              <a:rPr lang="en-US" sz="1500" dirty="0">
                <a:solidFill>
                  <a:schemeClr val="tx1"/>
                </a:solidFill>
              </a:rPr>
              <a:t>Pas de suppression d'employé</a:t>
            </a:r>
            <a:endParaRPr lang="en-US" sz="1500" dirty="0"/>
          </a:p>
        </p:txBody>
      </p:sp>
      <p:sp>
        <p:nvSpPr>
          <p:cNvPr id="15" name="cc#104"/>
          <p:cNvSpPr/>
          <p:nvPr/>
        </p:nvSpPr>
        <p:spPr>
          <a:xfrm>
            <a:off x="8083296" y="1737360"/>
            <a:ext cx="3520440" cy="4114800"/>
          </a:xfrm>
          <a:prstGeom prst="roundRect">
            <a:avLst>
              <a:gd name="adj" fmla="val 2597"/>
            </a:avLst>
          </a:prstGeom>
          <a:solidFill>
            <a:schemeClr val="bg2"/>
          </a:solidFill>
          <a:ln/>
        </p:spPr>
      </p:sp>
      <p:sp>
        <p:nvSpPr>
          <p:cNvPr id="16" name="cc#104d"/>
          <p:cNvSpPr/>
          <p:nvPr/>
        </p:nvSpPr>
        <p:spPr>
          <a:xfrm>
            <a:off x="8357616" y="2011680"/>
            <a:ext cx="731520" cy="731520"/>
          </a:xfrm>
          <a:prstGeom prst="ellipse">
            <a:avLst/>
          </a:prstGeom>
          <a:solidFill>
            <a:schemeClr val="accent4"/>
          </a:solidFill>
          <a:ln/>
        </p:spPr>
      </p:sp>
      <p:pic>
        <p:nvPicPr>
          <p:cNvPr id="17" name="cc#104di" descr="preencoded.png">    </p:cNvPr>
          <p:cNvPicPr>
            <a:picLocks noChangeAspect="1"/>
          </p:cNvPicPr>
          <p:nvPr/>
        </p:nvPicPr>
        <p:blipFill>
          <a:blip r:embed="rId3"/>
          <a:stretch>
            <a:fillRect/>
          </a:stretch>
        </p:blipFill>
        <p:spPr>
          <a:xfrm>
            <a:off x="8555126" y="2209190"/>
            <a:ext cx="336499" cy="336499"/>
          </a:xfrm>
          <a:prstGeom prst="rect">
            <a:avLst/>
          </a:prstGeom>
        </p:spPr>
      </p:pic>
      <p:sp>
        <p:nvSpPr>
          <p:cNvPr id="18" name="cc#104h"/>
          <p:cNvSpPr txBox="1"/>
          <p:nvPr/>
        </p:nvSpPr>
        <p:spPr>
          <a:xfrm>
            <a:off x="9272016"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Perspectives</a:t>
            </a:r>
            <a:endParaRPr lang="en-US" sz="2200" dirty="0"/>
          </a:p>
        </p:txBody>
      </p:sp>
      <p:sp>
        <p:nvSpPr>
          <p:cNvPr id="19" name="cc#104b"/>
          <p:cNvSpPr txBox="1"/>
          <p:nvPr/>
        </p:nvSpPr>
        <p:spPr>
          <a:xfrm>
            <a:off x="8357616"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incrémentale</a:t>
            </a:r>
            <a:endParaRPr lang="en-US" sz="1500" dirty="0"/>
          </a:p>
          <a:p>
            <a:pPr marL="342900" indent="-342900">
              <a:spcAft>
                <a:spcPts val="1000"/>
              </a:spcAft>
              <a:buSzPct val="100000"/>
              <a:buChar char="•"/>
            </a:pPr>
            <a:r>
              <a:rPr lang="en-US" sz="1500" dirty="0">
                <a:solidFill>
                  <a:schemeClr val="tx1"/>
                </a:solidFill>
              </a:rPr>
              <a:t>Sécurité WS-Security</a:t>
            </a:r>
            <a:endParaRPr lang="en-US" sz="1500" dirty="0"/>
          </a:p>
          <a:p>
            <a:pPr marL="342900" indent="-342900">
              <a:spcAft>
                <a:spcPts val="1000"/>
              </a:spcAft>
              <a:buSzPct val="100000"/>
              <a:buChar char="•"/>
            </a:pPr>
            <a:r>
              <a:rPr lang="en-US" sz="1500" dirty="0">
                <a:solidFill>
                  <a:schemeClr val="tx1"/>
                </a:solidFill>
              </a:rPr>
              <a:t>Planification automatique</a:t>
            </a:r>
            <a:endParaRPr lang="en-US" sz="15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ring#105"/>
          <p:cNvSpPr/>
          <p:nvPr/>
        </p:nvSpPr>
        <p:spPr>
          <a:xfrm>
            <a:off x="9235440" y="-1554480"/>
            <a:ext cx="4206240" cy="4206240"/>
          </a:xfrm>
          <a:prstGeom prst="ellipse">
            <a:avLst/>
          </a:prstGeom>
          <a:solidFill>
            <a:srgbClr val="1BA39C">
              <a:alpha val="30000"/>
            </a:srgbClr>
          </a:solidFill>
          <a:ln/>
        </p:spPr>
      </p:sp>
      <p:sp>
        <p:nvSpPr>
          <p:cNvPr id="3" name="ring#106"/>
          <p:cNvSpPr/>
          <p:nvPr/>
        </p:nvSpPr>
        <p:spPr>
          <a:xfrm>
            <a:off x="9875520" y="-914400"/>
            <a:ext cx="2926080" cy="2926080"/>
          </a:xfrm>
          <a:prstGeom prst="ellipse">
            <a:avLst/>
          </a:prstGeom>
          <a:solidFill>
            <a:srgbClr val="1BA39C">
              <a:alpha val="18000"/>
            </a:srgbClr>
          </a:solidFill>
          <a:ln/>
        </p:spPr>
      </p:sp>
      <p:sp>
        <p:nvSpPr>
          <p:cNvPr id="4" name="ring#107"/>
          <p:cNvSpPr/>
          <p:nvPr/>
        </p:nvSpPr>
        <p:spPr>
          <a:xfrm>
            <a:off x="10515600" y="-274320"/>
            <a:ext cx="1645920" cy="1645920"/>
          </a:xfrm>
          <a:prstGeom prst="ellipse">
            <a:avLst/>
          </a:prstGeom>
          <a:solidFill>
            <a:srgbClr val="1BA39C">
              <a:alpha val="6000"/>
            </a:srgbClr>
          </a:solidFill>
          <a:ln/>
        </p:spPr>
      </p:sp>
      <p:sp>
        <p:nvSpPr>
          <p:cNvPr id="5" name="ring#108"/>
          <p:cNvSpPr/>
          <p:nvPr/>
        </p:nvSpPr>
        <p:spPr>
          <a:xfrm>
            <a:off x="-1005840" y="4754880"/>
            <a:ext cx="3291840" cy="3291840"/>
          </a:xfrm>
          <a:prstGeom prst="ellipse">
            <a:avLst/>
          </a:prstGeom>
          <a:solidFill>
            <a:srgbClr val="F28C28">
              <a:alpha val="18000"/>
            </a:srgbClr>
          </a:solidFill>
          <a:ln/>
        </p:spPr>
      </p:sp>
      <p:sp>
        <p:nvSpPr>
          <p:cNvPr id="6" name="ring#109"/>
          <p:cNvSpPr/>
          <p:nvPr/>
        </p:nvSpPr>
        <p:spPr>
          <a:xfrm>
            <a:off x="-457200" y="5303520"/>
            <a:ext cx="2194560" cy="2194560"/>
          </a:xfrm>
          <a:prstGeom prst="ellipse">
            <a:avLst/>
          </a:prstGeom>
          <a:solidFill>
            <a:srgbClr val="F28C28">
              <a:alpha val="6000"/>
            </a:srgbClr>
          </a:solidFill>
          <a:ln/>
        </p:spPr>
      </p:sp>
      <p:sp>
        <p:nvSpPr>
          <p:cNvPr id="7" name="thx"/>
          <p:cNvSpPr txBox="1"/>
          <p:nvPr/>
        </p:nvSpPr>
        <p:spPr>
          <a:xfrm>
            <a:off x="548640" y="2103120"/>
            <a:ext cx="11064240" cy="1097280"/>
          </a:xfrm>
          <a:prstGeom prst="rect">
            <a:avLst/>
          </a:prstGeom>
          <a:noFill/>
          <a:ln/>
        </p:spPr>
        <p:txBody>
          <a:bodyPr wrap="square" lIns="0" tIns="0" rIns="0" bIns="0" rtlCol="0" anchor="ctr"/>
          <a:lstStyle/>
          <a:p>
            <a:pPr algn="ctr" indent="0" marL="0">
              <a:buNone/>
            </a:pPr>
            <a:r>
              <a:rPr lang="en-US" sz="4800" b="1" dirty="0">
                <a:solidFill>
                  <a:schemeClr val="bg1"/>
                </a:solidFill>
              </a:rPr>
              <a:t>Merci de votre attention</a:t>
            </a:r>
            <a:endParaRPr lang="en-US" sz="4800" dirty="0"/>
          </a:p>
        </p:txBody>
      </p:sp>
      <p:sp>
        <p:nvSpPr>
          <p:cNvPr id="8" name="q"/>
          <p:cNvSpPr txBox="1"/>
          <p:nvPr/>
        </p:nvSpPr>
        <p:spPr>
          <a:xfrm>
            <a:off x="548640" y="3200400"/>
            <a:ext cx="11064240" cy="640080"/>
          </a:xfrm>
          <a:prstGeom prst="rect">
            <a:avLst/>
          </a:prstGeom>
          <a:noFill/>
          <a:ln/>
        </p:spPr>
        <p:txBody>
          <a:bodyPr wrap="square" lIns="0" tIns="0" rIns="0" bIns="0" rtlCol="0" anchor="t"/>
          <a:lstStyle/>
          <a:p>
            <a:pPr algn="ctr" indent="0" marL="0">
              <a:buNone/>
            </a:pPr>
            <a:r>
              <a:rPr lang="en-US" sz="2600" b="1" dirty="0">
                <a:solidFill>
                  <a:schemeClr val="accent2"/>
                </a:solidFill>
              </a:rPr>
              <a:t>Questions ?</a:t>
            </a:r>
            <a:endParaRPr lang="en-US" sz="2600" dirty="0"/>
          </a:p>
        </p:txBody>
      </p:sp>
      <p:sp>
        <p:nvSpPr>
          <p:cNvPr id="9" name="gh"/>
          <p:cNvSpPr txBox="1"/>
          <p:nvPr/>
        </p:nvSpPr>
        <p:spPr>
          <a:xfrm>
            <a:off x="548640" y="4114800"/>
            <a:ext cx="11064240" cy="457200"/>
          </a:xfrm>
          <a:prstGeom prst="rect">
            <a:avLst/>
          </a:prstGeom>
          <a:noFill/>
          <a:ln/>
        </p:spPr>
        <p:txBody>
          <a:bodyPr wrap="square" lIns="0" tIns="0" rIns="0" bIns="0" rtlCol="0" anchor="t"/>
          <a:lstStyle/>
          <a:p>
            <a:pPr algn="ctr" indent="0" marL="0">
              <a:buNone/>
            </a:pPr>
            <a:r>
              <a:rPr lang="en-US" sz="1600" dirty="0">
                <a:solidFill>
                  <a:srgbClr val="C9D3E3"/>
                </a:solidFill>
              </a:rPr>
              <a:t>github.com/malickabdoul/employee-soap-servic</a:t>
            </a:r>
            <a:endParaRPr lang="en-US" sz="1600" dirty="0"/>
          </a:p>
        </p:txBody>
      </p:sp>
      <p:sp>
        <p:nvSpPr>
          <p:cNvPr id="10" name="mb"/>
          <p:cNvSpPr txBox="1"/>
          <p:nvPr/>
        </p:nvSpPr>
        <p:spPr>
          <a:xfrm>
            <a:off x="548640" y="5760720"/>
            <a:ext cx="11064240" cy="457200"/>
          </a:xfrm>
          <a:prstGeom prst="rect">
            <a:avLst/>
          </a:prstGeom>
          <a:noFill/>
          <a:ln/>
        </p:spPr>
        <p:txBody>
          <a:bodyPr wrap="square" lIns="0" tIns="0" rIns="0" bIns="0" rtlCol="0" anchor="t"/>
          <a:lstStyle/>
          <a:p>
            <a:pPr algn="ctr" indent="0" marL="0">
              <a:buNone/>
            </a:pPr>
            <a:r>
              <a:rPr lang="en-US" sz="1200" dirty="0">
                <a:solidFill>
                  <a:srgbClr val="9FB0CC"/>
                </a:solidFill>
              </a:rPr>
              <a:t>NANA Abdoul Faycal   ·   OUEDRAOGO Y. Ibrahim   ·   KABORE Wend-Barka Boukary   ·   TINDANO Fernand Amed   ·   KOMPAORE Abdoul Malick</a:t>
            </a:r>
            <a:endParaRPr lang="en-US" sz="12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ppt_w</p:attrName>
                                        </p:attrNameLst>
                                      </p:cBhvr>
                                      <p:tavLst>
                                        <p:tav tm="0">
                                          <p:val>
                                            <p:strVal val="0"/>
                                          </p:val>
                                        </p:tav>
                                        <p:tav tm="100000">
                                          <p:val>
                                            <p:strVal val="#ppt_w"/>
                                          </p:val>
                                        </p:tav>
                                      </p:tavLst>
                                    </p:anim>
                                    <p:anim calcmode="lin" valueType="num">
                                      <p:cBhvr additive="base">
                                        <p:cTn id="8" dur="500" fill="hold"/>
                                        <p:tgtEl>
                                          <p:spTgt spid="7"/>
                                        </p:tgtEl>
                                        <p:attrNameLst>
                                          <p:attrName>ppt_h</p:attrName>
                                        </p:attrNameLst>
                                      </p:cBhvr>
                                      <p:tavLst>
                                        <p:tav tm="0">
                                          <p:val>
                                            <p:strVal val="0"/>
                                          </p:val>
                                        </p:tav>
                                        <p:tav tm="100000">
                                          <p:val>
                                            <p:strVal val="#ppt_h"/>
                                          </p:val>
                                        </p:tav>
                                      </p:tavLst>
                                    </p:anim>
                                    <p:animEffect transition="in" filter="fade">
                                      <p:cBhvr>
                                        <p:cTn id="9" dur="500"/>
                                        <p:tgtEl>
                                          <p:spTgt spid="7"/>
                                        </p:tgtEl>
                                      </p:cBhvr>
                                    </p:animEffect>
                                  </p:childTnLst>
                                </p:cTn>
                              </p:par>
                              <p:par>
                                <p:cTn id="10" presetID="42" presetClass="entr" presetSubtype="0" fill="hold" grpId="0" nodeType="withEffect">
                                  <p:stCondLst>
                                    <p:cond delay="22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ppt_y+.1"/>
                                          </p:val>
                                        </p:tav>
                                        <p:tav tm="100000">
                                          <p:val>
                                            <p:strVal val="#ppt_y"/>
                                          </p:val>
                                        </p:tav>
                                      </p:tavLst>
                                    </p:anim>
                                  </p:childTnLst>
                                </p:cTn>
                              </p:par>
                              <p:par>
                                <p:cTn id="15" presetID="10" presetClass="entr" presetSubtype="0" fill="hold" grpId="0" nodeType="withEffect">
                                  <p:stCondLst>
                                    <p:cond delay="44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18" presetID="10" presetClass="entr" presetSubtype="0" fill="hold" grpId="0" nodeType="withEffect">
                                  <p:stCondLst>
                                    <p:cond delay="44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theme/theme1.xml><?xml version="1.0" encoding="utf-8"?>
<a:theme xmlns:a="http://schemas.openxmlformats.org/drawingml/2006/main" name="SOAP Employes">
  <a:themeElements>
    <a:clrScheme name="SOAP Employes">
      <a:dk1>
        <a:srgbClr val="16213A"/>
      </a:dk1>
      <a:lt1>
        <a:srgbClr val="FFFFFF"/>
      </a:lt1>
      <a:dk2>
        <a:srgbClr val="0D2340"/>
      </a:dk2>
      <a:lt2>
        <a:srgbClr val="F2F5FA"/>
      </a:lt2>
      <a:accent1>
        <a:srgbClr val="0D2340"/>
      </a:accent1>
      <a:accent2>
        <a:srgbClr val="F28C28"/>
      </a:accent2>
      <a:accent3>
        <a:srgbClr val="1BA39C"/>
      </a:accent3>
      <a:accent4>
        <a:srgbClr val="3D6FD8"/>
      </a:accent4>
      <a:accent5>
        <a:srgbClr val="E04F5F"/>
      </a:accent5>
      <a:accent6>
        <a:srgbClr val="8B97AD"/>
      </a:accent6>
      <a:hlink>
        <a:srgbClr val="3D6FD8"/>
      </a:hlink>
      <a:folHlink>
        <a:srgbClr val="8B97AD"/>
      </a:folHlink>
    </a:clrScheme>
    <a:fontScheme name="SOAP Employ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gestion des employés</dc:title>
  <dc:subject>PptxGenJS Presentation</dc:subject>
  <dc:creator>Groupe 6 SI</dc:creator>
  <cp:lastModifiedBy>Groupe 6 SI</cp:lastModifiedBy>
  <cp:revision>1</cp:revision>
  <dcterms:created xsi:type="dcterms:W3CDTF">2026-10-19T15:08:46Z</dcterms:created>
  <dcterms:modified xsi:type="dcterms:W3CDTF">2026-10-19T15:08:46Z</dcterms:modified>
</cp:coreProperties>
</file>