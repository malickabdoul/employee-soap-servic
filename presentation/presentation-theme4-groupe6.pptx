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2" d="100"/>
          <a:sy n="72" d="100"/>
        </p:scale>
        <p:origin x="63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doughnutChart>
        <c:varyColors val="1"/>
        <c:ser>
          <c:idx val="0"/>
          <c:order val="0"/>
          <c:tx>
            <c:strRef>
              <c:f>Sheet1!$B$1</c:f>
              <c:strCache>
                <c:ptCount val="1"/>
                <c:pt idx="0">
                  <c:v>Employés</c:v>
                </c:pt>
              </c:strCache>
            </c:strRef>
          </c:tx>
          <c:spPr>
            <a:solidFill>
              <a:schemeClr val="accent1"/>
            </a:solidFill>
            <a:ln w="9525" cap="flat">
              <a:solidFill>
                <a:srgbClr val="F9F9F9"/>
              </a:solidFill>
              <a:prstDash val="solid"/>
              <a:round/>
            </a:ln>
            <a:effectLst/>
          </c:spPr>
          <c:dPt>
            <c:idx val="0"/>
            <c:bubble3D val="0"/>
            <c:spPr>
              <a:solidFill>
                <a:srgbClr val="1BA39C"/>
              </a:solidFill>
              <a:effectLst/>
            </c:spPr>
            <c:extLst>
              <c:ext xmlns:c16="http://schemas.microsoft.com/office/drawing/2014/chart" uri="{C3380CC4-5D6E-409C-BE32-E72D297353CC}">
                <c16:uniqueId val="{00000001-EC4B-43D2-ACDB-0A0960D4E9EE}"/>
              </c:ext>
            </c:extLst>
          </c:dPt>
          <c:dPt>
            <c:idx val="1"/>
            <c:bubble3D val="0"/>
            <c:spPr>
              <a:solidFill>
                <a:srgbClr val="E04F5F"/>
              </a:solidFill>
              <a:effectLst/>
            </c:spPr>
            <c:extLst>
              <c:ext xmlns:c16="http://schemas.microsoft.com/office/drawing/2014/chart" uri="{C3380CC4-5D6E-409C-BE32-E72D297353CC}">
                <c16:uniqueId val="{00000003-EC4B-43D2-ACDB-0A0960D4E9EE}"/>
              </c:ext>
            </c:extLst>
          </c:dPt>
          <c:cat>
            <c:strRef>
              <c:f>Sheet1!$A$2:$A$3</c:f>
              <c:strCache>
                <c:ptCount val="2"/>
                <c:pt idx="0">
                  <c:v>Chargés</c:v>
                </c:pt>
                <c:pt idx="1">
                  <c:v>Rejetés</c:v>
                </c:pt>
              </c:strCache>
            </c:strRef>
          </c:cat>
          <c:val>
            <c:numRef>
              <c:f>Sheet1!$B$2:$B$3</c:f>
              <c:numCache>
                <c:formatCode>General</c:formatCode>
                <c:ptCount val="2"/>
                <c:pt idx="0">
                  <c:v>20</c:v>
                </c:pt>
                <c:pt idx="1">
                  <c:v>3</c:v>
                </c:pt>
              </c:numCache>
            </c:numRef>
          </c:val>
          <c:extLst>
            <c:ext xmlns:c16="http://schemas.microsoft.com/office/drawing/2014/chart" uri="{C3380CC4-5D6E-409C-BE32-E72D297353CC}">
              <c16:uniqueId val="{00000004-EC4B-43D2-ACDB-0A0960D4E9EE}"/>
            </c:ext>
          </c:extLst>
        </c:ser>
        <c:dLbls>
          <c:showLegendKey val="0"/>
          <c:showVal val="0"/>
          <c:showCatName val="0"/>
          <c:showSerName val="0"/>
          <c:showPercent val="0"/>
          <c:showBubbleSize val="0"/>
          <c:showLeaderLines val="0"/>
        </c:dLbls>
        <c:firstSliceAng val="0"/>
        <c:holeSize val="62"/>
      </c:doughnutChart>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68435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tous. Le groupe 6 de la filière Sécurité informatique présente le thème 4 : un service SOAP de gestion des employés réalisé avec Java, Apache CXF, Pentaho et Netdata.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membre se présente et indique la partie dont il a été responsable.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présentation suit six parties.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Première partie : le contexte et les objectifs fixés par l'énoncé.</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L'énoncé fixe six exigences ; chacune correspond à une partie du dépôt Git.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problématique : exposer les employés en SOAP tout en gardant deux bases cohérentes et supervisées.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partie : l'architecture et le modèle de données.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données partent de MySQL, sont nettoyées par Pentaho et arrivent dans PostgreSQL, la seule base utilisée par le service SOAP. Les modifications repartent vers MySQL grâce à l'outbox.</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technologies imposées par le thème, plus Docker Compose et les outils de test.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modèle est identique dans MySQL, PostgreSQL et le WSDL. PostgreSQL est la référence.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partie : la synchronisation avec Pentaho Data Integration.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job sync_mysql_to_pg enchaîne six étapes, de la lecture MySQL jusqu'à la fusion dans PostgreSQL.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 nos 23 employés fictifs, 20 sont chargés et 3 sont rejetés avec leur motif.</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répercuter les modifications vers MySQL nous utilisons une outbox transactionnelle lue par un second job Pentaho.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Quatrième partie : le service SOAP lui-même.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service expose les trois opérations demandées.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Exemple réel de requête updateEmployee, tirée du dossier tests/requests.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Faults typés. soap:Client quand la requête doit être corrigée, soap:Server pour une panne.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Cinquième partie : la supervision et les tests.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Netdata collecte les métriques de l'hôte, des deux bases et du service. L'alerte passe en CRITICAL quand on arrête le service.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niveaux de tests, tous réussis après une réinstallation complète.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scénario que nous montrons en démonstration.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qui fonctionne, les limites connues et les améliorations possibles.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Merci. Nous sommes prêts pour vos questions et pour la démonstration.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lair">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749808"/>
            <a:ext cx="11064240" cy="685800"/>
          </a:xfrm>
          <a:prstGeom prst="rect">
            <a:avLst/>
          </a:prstGeom>
          <a:noFill/>
          <a:ln/>
        </p:spPr>
        <p:txBody>
          <a:bodyPr wrap="square" rtlCol="0"/>
          <a:lstStyle>
            <a:lvl1pPr marL="0" indent="0" algn="l">
              <a:buNone/>
              <a:defRPr lang="en-US" sz="3000" b="1" dirty="0">
                <a:solidFill>
                  <a:schemeClr val="tx2"/>
                </a:solidFill>
              </a:defRPr>
            </a:lvl1pPr>
          </a:lstStyle>
          <a:p>
            <a:pPr marL="0" indent="0" algn="l">
              <a:buNone/>
            </a:pPr>
            <a:endParaRPr lang="en-US" sz="3000" dirty="0"/>
          </a:p>
        </p:txBody>
      </p:sp>
      <p:pic>
        <p:nvPicPr>
          <p:cNvPr id="3" name="Image 0" descr="preencoded.png"/>
          <p:cNvPicPr>
            <a:picLocks noChangeAspect="1"/>
          </p:cNvPicPr>
          <p:nvPr/>
        </p:nvPicPr>
        <p:blipFill>
          <a:blip r:embed="rId2"/>
          <a:stretch>
            <a:fillRect/>
          </a:stretch>
        </p:blipFill>
        <p:spPr>
          <a:xfrm>
            <a:off x="0" y="0"/>
            <a:ext cx="12191695" cy="54864"/>
          </a:xfrm>
          <a:prstGeom prst="rect">
            <a:avLst/>
          </a:prstGeom>
        </p:spPr>
      </p:pic>
      <p:sp>
        <p:nvSpPr>
          <p:cNvPr id="4" name="Text 0"/>
          <p:cNvSpPr/>
          <p:nvPr/>
        </p:nvSpPr>
        <p:spPr>
          <a:xfrm>
            <a:off x="548640" y="6419088"/>
            <a:ext cx="6400800" cy="256032"/>
          </a:xfrm>
          <a:prstGeom prst="rect">
            <a:avLst/>
          </a:prstGeom>
          <a:noFill/>
          <a:ln/>
        </p:spPr>
        <p:txBody>
          <a:bodyPr wrap="square" lIns="0" tIns="0" rIns="0" bIns="0" rtlCol="0" anchor="ctr"/>
          <a:lstStyle/>
          <a:p>
            <a:pPr marL="0" indent="0">
              <a:buNone/>
            </a:pPr>
            <a:r>
              <a:rPr lang="en-US" sz="1000" dirty="0">
                <a:solidFill>
                  <a:schemeClr val="accent6"/>
                </a:solidFill>
              </a:rPr>
              <a:t>Groupe 6 · Thème 4 · Service SOAP de gestion des employés</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omb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6784848"/>
            <a:ext cx="12191695" cy="7315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6.png"/><Relationship Id="rId7"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8.png"/><Relationship Id="rId4" Type="http://schemas.openxmlformats.org/officeDocument/2006/relationships/image" Target="../media/image17.png"/><Relationship Id="rId9"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s>
</file>

<file path=ppt/slides/_rels/slide1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43.png"/><Relationship Id="rId4" Type="http://schemas.openxmlformats.org/officeDocument/2006/relationships/image" Target="../media/image42.png"/></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45.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8.png"/><Relationship Id="rId4" Type="http://schemas.openxmlformats.org/officeDocument/2006/relationships/image" Target="../media/image37.png"/></Relationships>
</file>

<file path=ppt/slides/_rels/slide2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7.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52.png"/><Relationship Id="rId4" Type="http://schemas.openxmlformats.org/officeDocument/2006/relationships/image" Target="../media/image51.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ring#2"/>
          <p:cNvSpPr/>
          <p:nvPr/>
        </p:nvSpPr>
        <p:spPr>
          <a:xfrm>
            <a:off x="7498080" y="1463040"/>
            <a:ext cx="3931920" cy="3931920"/>
          </a:xfrm>
          <a:prstGeom prst="ellipse">
            <a:avLst/>
          </a:prstGeom>
          <a:solidFill>
            <a:srgbClr val="F28C28">
              <a:alpha val="6000"/>
            </a:srgbClr>
          </a:solidFill>
          <a:ln/>
        </p:spPr>
      </p:sp>
      <p:sp>
        <p:nvSpPr>
          <p:cNvPr id="4" name="ring#3"/>
          <p:cNvSpPr/>
          <p:nvPr/>
        </p:nvSpPr>
        <p:spPr>
          <a:xfrm>
            <a:off x="8092440" y="2057400"/>
            <a:ext cx="2743200" cy="2743200"/>
          </a:xfrm>
          <a:prstGeom prst="ellipse">
            <a:avLst/>
          </a:prstGeom>
          <a:solidFill>
            <a:srgbClr val="F28C28">
              <a:alpha val="5000"/>
            </a:srgbClr>
          </a:solidFill>
          <a:ln/>
        </p:spPr>
      </p:sp>
      <p:sp>
        <p:nvSpPr>
          <p:cNvPr id="5" name="heroDot"/>
          <p:cNvSpPr/>
          <p:nvPr/>
        </p:nvSpPr>
        <p:spPr>
          <a:xfrm>
            <a:off x="8549640" y="2514600"/>
            <a:ext cx="1828800" cy="1828800"/>
          </a:xfrm>
          <a:prstGeom prst="ellipse">
            <a:avLst/>
          </a:prstGeom>
          <a:solidFill>
            <a:schemeClr val="accent2"/>
          </a:solidFill>
          <a:ln/>
        </p:spPr>
      </p:sp>
      <p:pic>
        <p:nvPicPr>
          <p:cNvPr id="6" name="heroIcon" descr="preencoded.png"/>
          <p:cNvPicPr>
            <a:picLocks noChangeAspect="1"/>
          </p:cNvPicPr>
          <p:nvPr/>
        </p:nvPicPr>
        <p:blipFill>
          <a:blip r:embed="rId3"/>
          <a:stretch>
            <a:fillRect/>
          </a:stretch>
        </p:blipFill>
        <p:spPr>
          <a:xfrm>
            <a:off x="9006840" y="2971800"/>
            <a:ext cx="914400" cy="914400"/>
          </a:xfrm>
          <a:prstGeom prst="rect">
            <a:avLst/>
          </a:prstGeom>
        </p:spPr>
      </p:pic>
      <p:sp>
        <p:nvSpPr>
          <p:cNvPr id="7" name="univ"/>
          <p:cNvSpPr txBox="1"/>
          <p:nvPr/>
        </p:nvSpPr>
        <p:spPr>
          <a:xfrm>
            <a:off x="2606040" y="0"/>
            <a:ext cx="5943600" cy="868680"/>
          </a:xfrm>
          <a:prstGeom prst="rect">
            <a:avLst/>
          </a:prstGeom>
          <a:noFill/>
          <a:ln/>
        </p:spPr>
        <p:txBody>
          <a:bodyPr wrap="square" lIns="0" tIns="0" rIns="0" bIns="0" rtlCol="0" anchor="ctr"/>
          <a:lstStyle/>
          <a:p>
            <a:pPr marL="0" indent="0" algn="ctr">
              <a:buNone/>
            </a:pPr>
            <a:r>
              <a:rPr lang="en-US" sz="1400" b="1" dirty="0">
                <a:solidFill>
                  <a:schemeClr val="bg1"/>
                </a:solidFill>
              </a:rPr>
              <a:t>UNIVERSITÉ JOSEPH KI-ZERBO</a:t>
            </a:r>
            <a:endParaRPr lang="en-US" sz="1400" dirty="0"/>
          </a:p>
          <a:p>
            <a:pPr marL="0" indent="0" algn="ctr">
              <a:buNone/>
            </a:pPr>
            <a:r>
              <a:rPr lang="en-US" sz="1400" dirty="0">
                <a:solidFill>
                  <a:schemeClr val="bg1"/>
                </a:solidFill>
              </a:rPr>
              <a:t>Institut Burkinabè des Arts et Métiers (IBAM)</a:t>
            </a:r>
            <a:endParaRPr lang="en-US" sz="1400" dirty="0"/>
          </a:p>
        </p:txBody>
      </p:sp>
      <p:sp>
        <p:nvSpPr>
          <p:cNvPr id="8" name="fil"/>
          <p:cNvSpPr txBox="1"/>
          <p:nvPr/>
        </p:nvSpPr>
        <p:spPr>
          <a:xfrm>
            <a:off x="548640" y="2057400"/>
            <a:ext cx="7132320" cy="320040"/>
          </a:xfrm>
          <a:prstGeom prst="rect">
            <a:avLst/>
          </a:prstGeom>
          <a:noFill/>
          <a:ln/>
        </p:spPr>
        <p:txBody>
          <a:bodyPr wrap="square" lIns="0" tIns="0" rIns="0" bIns="0" rtlCol="0" anchor="t"/>
          <a:lstStyle/>
          <a:p>
            <a:pPr marL="0" indent="0">
              <a:buNone/>
            </a:pPr>
            <a:r>
              <a:rPr lang="en-US" sz="1300" b="1" kern="0" spc="200" dirty="0">
                <a:solidFill>
                  <a:schemeClr val="accent2"/>
                </a:solidFill>
              </a:rPr>
              <a:t>FILIÈRE : SÉCURITÉ INFORMATIQUE (SI)</a:t>
            </a:r>
            <a:endParaRPr lang="en-US" sz="1300" dirty="0"/>
          </a:p>
        </p:txBody>
      </p:sp>
      <p:sp>
        <p:nvSpPr>
          <p:cNvPr id="9" name="ttl"/>
          <p:cNvSpPr txBox="1"/>
          <p:nvPr/>
        </p:nvSpPr>
        <p:spPr>
          <a:xfrm>
            <a:off x="548640" y="2423160"/>
            <a:ext cx="7223760" cy="1554480"/>
          </a:xfrm>
          <a:prstGeom prst="rect">
            <a:avLst/>
          </a:prstGeom>
          <a:noFill/>
          <a:ln/>
        </p:spPr>
        <p:txBody>
          <a:bodyPr wrap="square" lIns="0" tIns="0" rIns="0" bIns="0" rtlCol="0" anchor="ctr"/>
          <a:lstStyle/>
          <a:p>
            <a:pPr marL="0" indent="0">
              <a:buNone/>
            </a:pPr>
            <a:r>
              <a:rPr lang="en-US" sz="4400" b="1" dirty="0">
                <a:solidFill>
                  <a:schemeClr val="bg1"/>
                </a:solidFill>
              </a:rPr>
              <a:t>Service SOAP de gestion des employés</a:t>
            </a:r>
            <a:endParaRPr lang="en-US" sz="4400" dirty="0"/>
          </a:p>
        </p:txBody>
      </p:sp>
      <p:sp>
        <p:nvSpPr>
          <p:cNvPr id="10" name="stack"/>
          <p:cNvSpPr txBox="1"/>
          <p:nvPr/>
        </p:nvSpPr>
        <p:spPr>
          <a:xfrm>
            <a:off x="548640" y="4023360"/>
            <a:ext cx="7132320" cy="411480"/>
          </a:xfrm>
          <a:prstGeom prst="rect">
            <a:avLst/>
          </a:prstGeom>
          <a:noFill/>
          <a:ln/>
        </p:spPr>
        <p:txBody>
          <a:bodyPr wrap="square" lIns="0" tIns="0" rIns="0" bIns="0" rtlCol="0" anchor="t"/>
          <a:lstStyle/>
          <a:p>
            <a:pPr marL="0" indent="0">
              <a:buNone/>
            </a:pPr>
            <a:r>
              <a:rPr lang="en-US" sz="2000" b="1" dirty="0">
                <a:solidFill>
                  <a:schemeClr val="accent3"/>
                </a:solidFill>
              </a:rPr>
              <a:t>Java · Apache CXF · Pentaho · Netdata</a:t>
            </a:r>
            <a:endParaRPr lang="en-US" sz="2000" dirty="0"/>
          </a:p>
        </p:txBody>
      </p:sp>
      <p:sp>
        <p:nvSpPr>
          <p:cNvPr id="11" name="mod"/>
          <p:cNvSpPr txBox="1"/>
          <p:nvPr/>
        </p:nvSpPr>
        <p:spPr>
          <a:xfrm>
            <a:off x="548640" y="4480560"/>
            <a:ext cx="7132320" cy="365760"/>
          </a:xfrm>
          <a:prstGeom prst="rect">
            <a:avLst/>
          </a:prstGeom>
          <a:noFill/>
          <a:ln/>
        </p:spPr>
        <p:txBody>
          <a:bodyPr wrap="square" lIns="0" tIns="0" rIns="0" bIns="0" rtlCol="0" anchor="t"/>
          <a:lstStyle/>
          <a:p>
            <a:pPr marL="0" indent="0">
              <a:buNone/>
            </a:pPr>
            <a:r>
              <a:rPr lang="en-US" sz="1400" dirty="0">
                <a:solidFill>
                  <a:srgbClr val="C9D3E3"/>
                </a:solidFill>
              </a:rPr>
              <a:t>Développement à base de composants et services web</a:t>
            </a:r>
            <a:endParaRPr lang="en-US" sz="1400" dirty="0"/>
          </a:p>
        </p:txBody>
      </p:sp>
      <p:sp>
        <p:nvSpPr>
          <p:cNvPr id="12" name="pill#4"/>
          <p:cNvSpPr/>
          <p:nvPr/>
        </p:nvSpPr>
        <p:spPr>
          <a:xfrm>
            <a:off x="548640" y="5257800"/>
            <a:ext cx="822960" cy="292608"/>
          </a:xfrm>
          <a:prstGeom prst="roundRect">
            <a:avLst>
              <a:gd name="adj" fmla="val 50000"/>
            </a:avLst>
          </a:prstGeom>
          <a:solidFill>
            <a:schemeClr val="accent3"/>
          </a:solidFill>
          <a:ln/>
        </p:spPr>
      </p:sp>
      <p:sp>
        <p:nvSpPr>
          <p:cNvPr id="13" name="pill#4t"/>
          <p:cNvSpPr txBox="1"/>
          <p:nvPr/>
        </p:nvSpPr>
        <p:spPr>
          <a:xfrm>
            <a:off x="548640" y="5257800"/>
            <a:ext cx="822960" cy="292608"/>
          </a:xfrm>
          <a:prstGeom prst="rect">
            <a:avLst/>
          </a:prstGeom>
          <a:noFill/>
          <a:ln/>
        </p:spPr>
        <p:txBody>
          <a:bodyPr wrap="square" lIns="0" tIns="0" rIns="0" bIns="0" rtlCol="0" anchor="ctr"/>
          <a:lstStyle/>
          <a:p>
            <a:pPr marL="0" indent="0" algn="ctr">
              <a:buNone/>
            </a:pPr>
            <a:r>
              <a:rPr lang="en-US" sz="1100" b="1" dirty="0">
                <a:solidFill>
                  <a:schemeClr val="bg1"/>
                </a:solidFill>
              </a:rPr>
              <a:t>Groupe 6</a:t>
            </a:r>
            <a:endParaRPr lang="en-US" sz="1100" dirty="0"/>
          </a:p>
        </p:txBody>
      </p:sp>
      <p:sp>
        <p:nvSpPr>
          <p:cNvPr id="14" name="pill#5"/>
          <p:cNvSpPr/>
          <p:nvPr/>
        </p:nvSpPr>
        <p:spPr>
          <a:xfrm>
            <a:off x="1554480" y="5257800"/>
            <a:ext cx="900684" cy="292608"/>
          </a:xfrm>
          <a:prstGeom prst="roundRect">
            <a:avLst>
              <a:gd name="adj" fmla="val 50000"/>
            </a:avLst>
          </a:prstGeom>
          <a:solidFill>
            <a:schemeClr val="accent3"/>
          </a:solidFill>
          <a:ln/>
        </p:spPr>
      </p:sp>
      <p:sp>
        <p:nvSpPr>
          <p:cNvPr id="15" name="pill#5t"/>
          <p:cNvSpPr txBox="1"/>
          <p:nvPr/>
        </p:nvSpPr>
        <p:spPr>
          <a:xfrm>
            <a:off x="1554480" y="5257800"/>
            <a:ext cx="900684" cy="292608"/>
          </a:xfrm>
          <a:prstGeom prst="rect">
            <a:avLst/>
          </a:prstGeom>
          <a:noFill/>
          <a:ln/>
        </p:spPr>
        <p:txBody>
          <a:bodyPr wrap="square" lIns="0" tIns="0" rIns="0" bIns="0" rtlCol="0" anchor="ctr"/>
          <a:lstStyle/>
          <a:p>
            <a:pPr marL="0" indent="0" algn="ctr">
              <a:buNone/>
            </a:pPr>
            <a:r>
              <a:rPr lang="en-US" sz="1100" b="1" dirty="0">
                <a:solidFill>
                  <a:schemeClr val="bg1"/>
                </a:solidFill>
              </a:rPr>
              <a:t>Thème n°4</a:t>
            </a:r>
            <a:endParaRPr lang="en-US" sz="1100" dirty="0"/>
          </a:p>
        </p:txBody>
      </p:sp>
      <p:sp>
        <p:nvSpPr>
          <p:cNvPr id="16" name="pill#6"/>
          <p:cNvSpPr/>
          <p:nvPr/>
        </p:nvSpPr>
        <p:spPr>
          <a:xfrm>
            <a:off x="2638044" y="5257800"/>
            <a:ext cx="1056132" cy="292608"/>
          </a:xfrm>
          <a:prstGeom prst="roundRect">
            <a:avLst>
              <a:gd name="adj" fmla="val 50000"/>
            </a:avLst>
          </a:prstGeom>
          <a:solidFill>
            <a:schemeClr val="accent3"/>
          </a:solidFill>
          <a:ln/>
        </p:spPr>
      </p:sp>
      <p:sp>
        <p:nvSpPr>
          <p:cNvPr id="17" name="pill#6t"/>
          <p:cNvSpPr txBox="1"/>
          <p:nvPr/>
        </p:nvSpPr>
        <p:spPr>
          <a:xfrm>
            <a:off x="2638044" y="5257800"/>
            <a:ext cx="1056132" cy="292608"/>
          </a:xfrm>
          <a:prstGeom prst="rect">
            <a:avLst/>
          </a:prstGeom>
          <a:noFill/>
          <a:ln/>
        </p:spPr>
        <p:txBody>
          <a:bodyPr wrap="square" lIns="0" tIns="0" rIns="0" bIns="0" rtlCol="0" anchor="ctr"/>
          <a:lstStyle/>
          <a:p>
            <a:pPr marL="0" indent="0" algn="ctr">
              <a:buNone/>
            </a:pPr>
            <a:r>
              <a:rPr lang="en-US" sz="1100" b="1" dirty="0">
                <a:solidFill>
                  <a:schemeClr val="bg1"/>
                </a:solidFill>
              </a:rPr>
              <a:t>2026 / 2027</a:t>
            </a:r>
            <a:endParaRPr lang="en-US" sz="1100" dirty="0"/>
          </a:p>
        </p:txBody>
      </p:sp>
      <p:pic>
        <p:nvPicPr>
          <p:cNvPr id="19" name="Image 18">
            <a:extLst>
              <a:ext uri="{FF2B5EF4-FFF2-40B4-BE49-F238E27FC236}">
                <a16:creationId xmlns:a16="http://schemas.microsoft.com/office/drawing/2014/main" id="{DCCBF50C-BF51-40BD-11B3-F8065F602FAC}"/>
              </a:ext>
            </a:extLst>
          </p:cNvPr>
          <p:cNvPicPr>
            <a:picLocks noChangeAspect="1"/>
          </p:cNvPicPr>
          <p:nvPr/>
        </p:nvPicPr>
        <p:blipFill>
          <a:blip r:embed="rId4"/>
          <a:stretch>
            <a:fillRect/>
          </a:stretch>
        </p:blipFill>
        <p:spPr>
          <a:xfrm>
            <a:off x="167640" y="-24434"/>
            <a:ext cx="1662405" cy="1710359"/>
          </a:xfrm>
          <a:prstGeom prst="rect">
            <a:avLst/>
          </a:prstGeom>
        </p:spPr>
      </p:pic>
      <p:sp>
        <p:nvSpPr>
          <p:cNvPr id="22" name="Rectangle 21">
            <a:extLst>
              <a:ext uri="{FF2B5EF4-FFF2-40B4-BE49-F238E27FC236}">
                <a16:creationId xmlns:a16="http://schemas.microsoft.com/office/drawing/2014/main" id="{5AC4FB15-84B4-5A45-EC3A-FE922F306E4A}"/>
              </a:ext>
            </a:extLst>
          </p:cNvPr>
          <p:cNvSpPr/>
          <p:nvPr/>
        </p:nvSpPr>
        <p:spPr>
          <a:xfrm>
            <a:off x="10230678" y="-24434"/>
            <a:ext cx="1961322" cy="1203877"/>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FR"/>
          </a:p>
        </p:txBody>
      </p:sp>
      <p:pic>
        <p:nvPicPr>
          <p:cNvPr id="21" name="Image 20">
            <a:extLst>
              <a:ext uri="{FF2B5EF4-FFF2-40B4-BE49-F238E27FC236}">
                <a16:creationId xmlns:a16="http://schemas.microsoft.com/office/drawing/2014/main" id="{35FEA5CE-D6DC-D787-0AEE-D071DA058C8D}"/>
              </a:ext>
            </a:extLst>
          </p:cNvPr>
          <p:cNvPicPr>
            <a:picLocks noChangeAspect="1"/>
          </p:cNvPicPr>
          <p:nvPr/>
        </p:nvPicPr>
        <p:blipFill>
          <a:blip r:embed="rId5"/>
          <a:stretch>
            <a:fillRect/>
          </a:stretch>
        </p:blipFill>
        <p:spPr>
          <a:xfrm>
            <a:off x="10378440" y="10919"/>
            <a:ext cx="1645920" cy="1074761"/>
          </a:xfrm>
          <a:prstGeom prst="rect">
            <a:avLst/>
          </a:prstGeom>
        </p:spPr>
      </p:pic>
      <p:sp>
        <p:nvSpPr>
          <p:cNvPr id="23" name="AutoShape 2" descr="Résultat d’images pour icone Service SOAP de gestion des employés">
            <a:extLst>
              <a:ext uri="{FF2B5EF4-FFF2-40B4-BE49-F238E27FC236}">
                <a16:creationId xmlns:a16="http://schemas.microsoft.com/office/drawing/2014/main" id="{A85A3483-A396-1956-12CA-6C3F3B25BCC9}"/>
              </a:ext>
            </a:extLst>
          </p:cNvPr>
          <p:cNvSpPr>
            <a:spLocks noChangeAspect="1" noChangeArrowheads="1"/>
          </p:cNvSpPr>
          <p:nvPr/>
        </p:nvSpPr>
        <p:spPr bwMode="auto">
          <a:xfrm>
            <a:off x="9203312" y="3103336"/>
            <a:ext cx="863040" cy="8630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1028" name="Picture 4" descr="Gestion du personnel - Icônes utilisateur gratuites">
            <a:extLst>
              <a:ext uri="{FF2B5EF4-FFF2-40B4-BE49-F238E27FC236}">
                <a16:creationId xmlns:a16="http://schemas.microsoft.com/office/drawing/2014/main" id="{76E0A106-D143-7A39-56B2-934FF28A2C4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84704" y="2423160"/>
            <a:ext cx="1958671" cy="195867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ppt_w</p:attrName>
                                        </p:attrNameLst>
                                      </p:cBhvr>
                                      <p:tavLst>
                                        <p:tav tm="0">
                                          <p:val>
                                            <p:strVal val="0"/>
                                          </p:val>
                                        </p:tav>
                                        <p:tav tm="100000">
                                          <p:val>
                                            <p:strVal val="#ppt_w"/>
                                          </p:val>
                                        </p:tav>
                                      </p:tavLst>
                                    </p:anim>
                                    <p:anim calcmode="lin" valueType="num">
                                      <p:cBhvr additive="base">
                                        <p:cTn id="8" dur="500" fill="hold"/>
                                        <p:tgtEl>
                                          <p:spTgt spid="5"/>
                                        </p:tgtEl>
                                        <p:attrNameLst>
                                          <p:attrName>ppt_h</p:attrName>
                                        </p:attrNameLst>
                                      </p:cBhvr>
                                      <p:tavLst>
                                        <p:tav tm="0">
                                          <p:val>
                                            <p:strVal val="0"/>
                                          </p:val>
                                        </p:tav>
                                        <p:tav tm="100000">
                                          <p:val>
                                            <p:strVal val="#ppt_h"/>
                                          </p:val>
                                        </p:tav>
                                      </p:tavLst>
                                    </p:anim>
                                    <p:animEffect transition="in" filter="fade">
                                      <p:cBhvr>
                                        <p:cTn id="9" dur="500"/>
                                        <p:tgtEl>
                                          <p:spTgt spid="5"/>
                                        </p:tgtEl>
                                      </p:cBhvr>
                                    </p:animEffect>
                                  </p:childTnLst>
                                </p:cTn>
                              </p:par>
                              <p:par>
                                <p:cTn id="10" presetID="53" presetClass="entr" presetSubtype="16" fill="hold"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ppt_w</p:attrName>
                                        </p:attrNameLst>
                                      </p:cBhvr>
                                      <p:tavLst>
                                        <p:tav tm="0">
                                          <p:val>
                                            <p:strVal val="0"/>
                                          </p:val>
                                        </p:tav>
                                        <p:tav tm="100000">
                                          <p:val>
                                            <p:strVal val="#ppt_w"/>
                                          </p:val>
                                        </p:tav>
                                      </p:tavLst>
                                    </p:anim>
                                    <p:anim calcmode="lin" valueType="num">
                                      <p:cBhvr additive="base">
                                        <p:cTn id="13" dur="500" fill="hold"/>
                                        <p:tgtEl>
                                          <p:spTgt spid="6"/>
                                        </p:tgtEl>
                                        <p:attrNameLst>
                                          <p:attrName>ppt_h</p:attrName>
                                        </p:attrNameLst>
                                      </p:cBhvr>
                                      <p:tavLst>
                                        <p:tav tm="0">
                                          <p:val>
                                            <p:strVal val="0"/>
                                          </p:val>
                                        </p:tav>
                                        <p:tav tm="100000">
                                          <p:val>
                                            <p:strVal val="#ppt_h"/>
                                          </p:val>
                                        </p:tav>
                                      </p:tavLst>
                                    </p:anim>
                                    <p:animEffect transition="in" filter="fade">
                                      <p:cBhvr>
                                        <p:cTn id="14" dur="500"/>
                                        <p:tgtEl>
                                          <p:spTgt spid="6"/>
                                        </p:tgtEl>
                                      </p:cBhvr>
                                    </p:animEffect>
                                  </p:childTnLst>
                                </p:cTn>
                              </p:par>
                              <p:par>
                                <p:cTn id="15" presetID="10" presetClass="entr" presetSubtype="0" fill="hold" grpId="0" nodeType="withEffect">
                                  <p:stCondLst>
                                    <p:cond delay="22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42" presetClass="entr" presetSubtype="0" fill="hold" grpId="0" nodeType="withEffect">
                                  <p:stCondLst>
                                    <p:cond delay="44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anim calcmode="lin" valueType="num">
                                      <p:cBhvr additive="base">
                                        <p:cTn id="21" dur="500" fill="hold"/>
                                        <p:tgtEl>
                                          <p:spTgt spid="8"/>
                                        </p:tgtEl>
                                        <p:attrNameLst>
                                          <p:attrName>ppt_x</p:attrName>
                                        </p:attrNameLst>
                                      </p:cBhvr>
                                      <p:tavLst>
                                        <p:tav tm="0">
                                          <p:val>
                                            <p:strVal val="#ppt_x"/>
                                          </p:val>
                                        </p:tav>
                                        <p:tav tm="100000">
                                          <p:val>
                                            <p:strVal val="#ppt_x"/>
                                          </p:val>
                                        </p:tav>
                                      </p:tavLst>
                                    </p:anim>
                                    <p:anim calcmode="lin" valueType="num">
                                      <p:cBhvr additive="base">
                                        <p:cTn id="22" dur="500" fill="hold"/>
                                        <p:tgtEl>
                                          <p:spTgt spid="8"/>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44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anim calcmode="lin" valueType="num">
                                      <p:cBhvr additive="base">
                                        <p:cTn id="26" dur="500" fill="hold"/>
                                        <p:tgtEl>
                                          <p:spTgt spid="9"/>
                                        </p:tgtEl>
                                        <p:attrNameLst>
                                          <p:attrName>ppt_x</p:attrName>
                                        </p:attrNameLst>
                                      </p:cBhvr>
                                      <p:tavLst>
                                        <p:tav tm="0">
                                          <p:val>
                                            <p:strVal val="#ppt_x"/>
                                          </p:val>
                                        </p:tav>
                                        <p:tav tm="100000">
                                          <p:val>
                                            <p:strVal val="#ppt_x"/>
                                          </p:val>
                                        </p:tav>
                                      </p:tavLst>
                                    </p:anim>
                                    <p:anim calcmode="lin" valueType="num">
                                      <p:cBhvr additive="base">
                                        <p:cTn id="27" dur="500" fill="hold"/>
                                        <p:tgtEl>
                                          <p:spTgt spid="9"/>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66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ppt_y+.1"/>
                                          </p:val>
                                        </p:tav>
                                        <p:tav tm="100000">
                                          <p:val>
                                            <p:strVal val="#ppt_y"/>
                                          </p:val>
                                        </p:tav>
                                      </p:tavLst>
                                    </p:anim>
                                  </p:childTnLst>
                                </p:cTn>
                              </p:par>
                              <p:par>
                                <p:cTn id="33" presetID="42" presetClass="entr" presetSubtype="0" fill="hold" grpId="0" nodeType="withEffect">
                                  <p:stCondLst>
                                    <p:cond delay="66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anim calcmode="lin" valueType="num">
                                      <p:cBhvr additive="base">
                                        <p:cTn id="36" dur="500" fill="hold"/>
                                        <p:tgtEl>
                                          <p:spTgt spid="11"/>
                                        </p:tgtEl>
                                        <p:attrNameLst>
                                          <p:attrName>ppt_x</p:attrName>
                                        </p:attrNameLst>
                                      </p:cBhvr>
                                      <p:tavLst>
                                        <p:tav tm="0">
                                          <p:val>
                                            <p:strVal val="#ppt_x"/>
                                          </p:val>
                                        </p:tav>
                                        <p:tav tm="100000">
                                          <p:val>
                                            <p:strVal val="#ppt_x"/>
                                          </p:val>
                                        </p:tav>
                                      </p:tavLst>
                                    </p:anim>
                                    <p:anim calcmode="lin" valueType="num">
                                      <p:cBhvr additive="base">
                                        <p:cTn id="37" dur="500" fill="hold"/>
                                        <p:tgtEl>
                                          <p:spTgt spid="11"/>
                                        </p:tgtEl>
                                        <p:attrNameLst>
                                          <p:attrName>ppt_y</p:attrName>
                                        </p:attrNameLst>
                                      </p:cBhvr>
                                      <p:tavLst>
                                        <p:tav tm="0">
                                          <p:val>
                                            <p:strVal val="#ppt_y+.1"/>
                                          </p:val>
                                        </p:tav>
                                        <p:tav tm="100000">
                                          <p:val>
                                            <p:strVal val="#ppt_y"/>
                                          </p:val>
                                        </p:tav>
                                      </p:tavLst>
                                    </p:anim>
                                  </p:childTnLst>
                                </p:cTn>
                              </p:par>
                              <p:par>
                                <p:cTn id="38" presetID="10" presetClass="entr" presetSubtype="0" fill="hold" grpId="0" nodeType="withEffect">
                                  <p:stCondLst>
                                    <p:cond delay="88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500"/>
                                        <p:tgtEl>
                                          <p:spTgt spid="12"/>
                                        </p:tgtEl>
                                      </p:cBhvr>
                                    </p:animEffect>
                                  </p:childTnLst>
                                </p:cTn>
                              </p:par>
                              <p:par>
                                <p:cTn id="41" presetID="10" presetClass="entr" presetSubtype="0" fill="hold" grpId="0" nodeType="withEffect">
                                  <p:stCondLst>
                                    <p:cond delay="88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500"/>
                                        <p:tgtEl>
                                          <p:spTgt spid="13"/>
                                        </p:tgtEl>
                                      </p:cBhvr>
                                    </p:animEffect>
                                  </p:childTnLst>
                                </p:cTn>
                              </p:par>
                              <p:par>
                                <p:cTn id="44" presetID="10" presetClass="entr" presetSubtype="0" fill="hold" grpId="0" nodeType="withEffect">
                                  <p:stCondLst>
                                    <p:cond delay="88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500"/>
                                        <p:tgtEl>
                                          <p:spTgt spid="14"/>
                                        </p:tgtEl>
                                      </p:cBhvr>
                                    </p:animEffect>
                                  </p:childTnLst>
                                </p:cTn>
                              </p:par>
                              <p:par>
                                <p:cTn id="47" presetID="10" presetClass="entr" presetSubtype="0" fill="hold" grpId="0" nodeType="withEffect">
                                  <p:stCondLst>
                                    <p:cond delay="88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500"/>
                                        <p:tgtEl>
                                          <p:spTgt spid="15"/>
                                        </p:tgtEl>
                                      </p:cBhvr>
                                    </p:animEffect>
                                  </p:childTnLst>
                                </p:cTn>
                              </p:par>
                              <p:par>
                                <p:cTn id="50" presetID="10" presetClass="entr" presetSubtype="0" fill="hold" grpId="0" nodeType="withEffect">
                                  <p:stCondLst>
                                    <p:cond delay="88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00"/>
                                        <p:tgtEl>
                                          <p:spTgt spid="16"/>
                                        </p:tgtEl>
                                      </p:cBhvr>
                                    </p:animEffect>
                                  </p:childTnLst>
                                </p:cTn>
                              </p:par>
                              <p:par>
                                <p:cTn id="53" presetID="10" presetClass="entr" presetSubtype="0" fill="hold" grpId="0" nodeType="withEffect">
                                  <p:stCondLst>
                                    <p:cond delay="88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749808"/>
            <a:ext cx="11064240" cy="685800"/>
          </a:xfrm>
          <a:prstGeom prst="rect">
            <a:avLst/>
          </a:prstGeom>
          <a:noFill/>
          <a:ln/>
        </p:spPr>
        <p:txBody>
          <a:bodyPr wrap="square" lIns="0" tIns="0" rIns="0" bIns="0" rtlCol="0" anchor="ctr"/>
          <a:lstStyle/>
          <a:p>
            <a:pPr marL="0" indent="0" algn="l">
              <a:buNone/>
            </a:pPr>
            <a:r>
              <a:rPr lang="en-US" sz="3000" b="1" dirty="0">
                <a:solidFill>
                  <a:schemeClr val="tx2"/>
                </a:solidFill>
              </a:rPr>
              <a:t>Membres du groupe</a:t>
            </a:r>
            <a:endParaRPr lang="en-US" sz="3000" dirty="0"/>
          </a:p>
        </p:txBody>
      </p:sp>
      <p:sp>
        <p:nvSpPr>
          <p:cNvPr id="3" name="pill#7"/>
          <p:cNvSpPr/>
          <p:nvPr/>
        </p:nvSpPr>
        <p:spPr>
          <a:xfrm>
            <a:off x="548640" y="384048"/>
            <a:ext cx="822960" cy="292608"/>
          </a:xfrm>
          <a:prstGeom prst="roundRect">
            <a:avLst>
              <a:gd name="adj" fmla="val 50000"/>
            </a:avLst>
          </a:prstGeom>
          <a:solidFill>
            <a:schemeClr val="accent3"/>
          </a:solidFill>
          <a:ln/>
        </p:spPr>
      </p:sp>
      <p:sp>
        <p:nvSpPr>
          <p:cNvPr id="4" name="pill#7t"/>
          <p:cNvSpPr txBox="1"/>
          <p:nvPr/>
        </p:nvSpPr>
        <p:spPr>
          <a:xfrm>
            <a:off x="548640" y="384048"/>
            <a:ext cx="822960" cy="292608"/>
          </a:xfrm>
          <a:prstGeom prst="rect">
            <a:avLst/>
          </a:prstGeom>
          <a:noFill/>
          <a:ln/>
        </p:spPr>
        <p:txBody>
          <a:bodyPr wrap="square" lIns="0" tIns="0" rIns="0" bIns="0" rtlCol="0" anchor="ctr"/>
          <a:lstStyle/>
          <a:p>
            <a:pPr marL="0" indent="0" algn="ctr">
              <a:buNone/>
            </a:pPr>
            <a:r>
              <a:rPr lang="en-US" sz="1100" b="1" dirty="0">
                <a:solidFill>
                  <a:schemeClr val="bg1"/>
                </a:solidFill>
              </a:rPr>
              <a:t>Groupe 6</a:t>
            </a:r>
            <a:endParaRPr lang="en-US" sz="1100" dirty="0"/>
          </a:p>
        </p:txBody>
      </p:sp>
      <p:sp>
        <p:nvSpPr>
          <p:cNvPr id="5" name="mb#8"/>
          <p:cNvSpPr/>
          <p:nvPr/>
        </p:nvSpPr>
        <p:spPr>
          <a:xfrm>
            <a:off x="548640" y="1691640"/>
            <a:ext cx="2103120" cy="3611880"/>
          </a:xfrm>
          <a:prstGeom prst="roundRect">
            <a:avLst>
              <a:gd name="adj" fmla="val 6522"/>
            </a:avLst>
          </a:prstGeom>
          <a:solidFill>
            <a:schemeClr val="bg1"/>
          </a:solidFill>
          <a:ln w="9525">
            <a:solidFill>
              <a:srgbClr val="E3E8F0"/>
            </a:solidFill>
            <a:prstDash val="solid"/>
          </a:ln>
          <a:effectLst>
            <a:outerShdw blurRad="127000" dist="38100" dir="5400000" algn="bl" rotWithShape="0">
              <a:srgbClr val="0D2340">
                <a:alpha val="12000"/>
              </a:srgbClr>
            </a:outerShdw>
          </a:effectLst>
        </p:spPr>
      </p:sp>
      <p:sp>
        <p:nvSpPr>
          <p:cNvPr id="6" name="mb#8b"/>
          <p:cNvSpPr/>
          <p:nvPr/>
        </p:nvSpPr>
        <p:spPr>
          <a:xfrm>
            <a:off x="548640" y="1691640"/>
            <a:ext cx="2103120" cy="822960"/>
          </a:xfrm>
          <a:prstGeom prst="roundRect">
            <a:avLst>
              <a:gd name="adj" fmla="val 16667"/>
            </a:avLst>
          </a:prstGeom>
          <a:solidFill>
            <a:srgbClr val="F28C28">
              <a:alpha val="18000"/>
            </a:srgbClr>
          </a:solidFill>
          <a:ln/>
        </p:spPr>
      </p:sp>
      <p:sp>
        <p:nvSpPr>
          <p:cNvPr id="7" name="mb#8o"/>
          <p:cNvSpPr/>
          <p:nvPr/>
        </p:nvSpPr>
        <p:spPr>
          <a:xfrm>
            <a:off x="1097280" y="1965960"/>
            <a:ext cx="1005840" cy="1005840"/>
          </a:xfrm>
          <a:prstGeom prst="ellipse">
            <a:avLst/>
          </a:prstGeom>
          <a:solidFill>
            <a:srgbClr val="F28C28"/>
          </a:solidFill>
          <a:ln w="50800">
            <a:solidFill>
              <a:srgbClr val="FFFFFF"/>
            </a:solidFill>
            <a:prstDash val="solid"/>
          </a:ln>
        </p:spPr>
      </p:sp>
      <p:sp>
        <p:nvSpPr>
          <p:cNvPr id="8" name="mb#8i"/>
          <p:cNvSpPr txBox="1"/>
          <p:nvPr/>
        </p:nvSpPr>
        <p:spPr>
          <a:xfrm>
            <a:off x="1097280" y="1965960"/>
            <a:ext cx="1005840" cy="1005840"/>
          </a:xfrm>
          <a:prstGeom prst="rect">
            <a:avLst/>
          </a:prstGeom>
          <a:noFill/>
          <a:ln/>
        </p:spPr>
        <p:txBody>
          <a:bodyPr wrap="square" lIns="0" tIns="0" rIns="0" bIns="0" rtlCol="0" anchor="ctr"/>
          <a:lstStyle/>
          <a:p>
            <a:pPr marL="0" indent="0" algn="ctr">
              <a:buNone/>
            </a:pPr>
            <a:r>
              <a:rPr lang="en-US" sz="2600" b="1" dirty="0">
                <a:solidFill>
                  <a:schemeClr val="bg1"/>
                </a:solidFill>
              </a:rPr>
              <a:t>NA</a:t>
            </a:r>
            <a:endParaRPr lang="en-US" sz="2600" dirty="0"/>
          </a:p>
        </p:txBody>
      </p:sp>
      <p:sp>
        <p:nvSpPr>
          <p:cNvPr id="9" name="mb#8n"/>
          <p:cNvSpPr txBox="1"/>
          <p:nvPr/>
        </p:nvSpPr>
        <p:spPr>
          <a:xfrm>
            <a:off x="640080" y="3108960"/>
            <a:ext cx="1920240" cy="868680"/>
          </a:xfrm>
          <a:prstGeom prst="rect">
            <a:avLst/>
          </a:prstGeom>
          <a:noFill/>
          <a:ln/>
        </p:spPr>
        <p:txBody>
          <a:bodyPr wrap="square" lIns="0" tIns="0" rIns="0" bIns="0" rtlCol="0" anchor="t"/>
          <a:lstStyle/>
          <a:p>
            <a:pPr marL="0" indent="0" algn="ctr">
              <a:buNone/>
            </a:pPr>
            <a:r>
              <a:rPr lang="en-US" sz="1700" b="1" dirty="0">
                <a:solidFill>
                  <a:schemeClr val="tx2"/>
                </a:solidFill>
              </a:rPr>
              <a:t>NANA</a:t>
            </a:r>
            <a:endParaRPr lang="en-US" sz="1400" dirty="0"/>
          </a:p>
          <a:p>
            <a:pPr marL="0" indent="0" algn="ctr">
              <a:buNone/>
            </a:pPr>
            <a:r>
              <a:rPr lang="en-US" sz="1300" dirty="0">
                <a:solidFill>
                  <a:schemeClr val="tx1"/>
                </a:solidFill>
              </a:rPr>
              <a:t>Abdoul Faycal</a:t>
            </a:r>
            <a:endParaRPr lang="en-US" sz="1400" dirty="0"/>
          </a:p>
        </p:txBody>
      </p:sp>
      <p:sp>
        <p:nvSpPr>
          <p:cNvPr id="10" name="mb#8l"/>
          <p:cNvSpPr/>
          <p:nvPr/>
        </p:nvSpPr>
        <p:spPr>
          <a:xfrm>
            <a:off x="1325880" y="4069080"/>
            <a:ext cx="548640" cy="0"/>
          </a:xfrm>
          <a:prstGeom prst="line">
            <a:avLst/>
          </a:prstGeom>
          <a:noFill/>
          <a:ln w="25400">
            <a:solidFill>
              <a:srgbClr val="F28C28"/>
            </a:solidFill>
            <a:prstDash val="solid"/>
          </a:ln>
        </p:spPr>
      </p:sp>
      <p:sp>
        <p:nvSpPr>
          <p:cNvPr id="11" name="mb#8r"/>
          <p:cNvSpPr txBox="1"/>
          <p:nvPr/>
        </p:nvSpPr>
        <p:spPr>
          <a:xfrm>
            <a:off x="685800" y="4206240"/>
            <a:ext cx="1828800" cy="960120"/>
          </a:xfrm>
          <a:prstGeom prst="rect">
            <a:avLst/>
          </a:prstGeom>
          <a:noFill/>
          <a:ln/>
        </p:spPr>
        <p:txBody>
          <a:bodyPr wrap="square" lIns="0" tIns="0" rIns="0" bIns="0" rtlCol="0" anchor="t"/>
          <a:lstStyle/>
          <a:p>
            <a:pPr marL="0" indent="0" algn="ctr">
              <a:buNone/>
            </a:pPr>
            <a:r>
              <a:rPr lang="en-US" sz="1200" dirty="0">
                <a:solidFill>
                  <a:schemeClr val="tx1"/>
                </a:solidFill>
              </a:rPr>
              <a:t>Modèle de données, bases, Docker Compose</a:t>
            </a:r>
            <a:endParaRPr lang="en-US" sz="1200" dirty="0"/>
          </a:p>
        </p:txBody>
      </p:sp>
      <p:sp>
        <p:nvSpPr>
          <p:cNvPr id="12" name="mb#9"/>
          <p:cNvSpPr/>
          <p:nvPr/>
        </p:nvSpPr>
        <p:spPr>
          <a:xfrm>
            <a:off x="2788920" y="1691640"/>
            <a:ext cx="2103120" cy="3611880"/>
          </a:xfrm>
          <a:prstGeom prst="roundRect">
            <a:avLst>
              <a:gd name="adj" fmla="val 6522"/>
            </a:avLst>
          </a:prstGeom>
          <a:solidFill>
            <a:schemeClr val="bg1"/>
          </a:solidFill>
          <a:ln w="9525">
            <a:solidFill>
              <a:srgbClr val="E3E8F0"/>
            </a:solidFill>
            <a:prstDash val="solid"/>
          </a:ln>
          <a:effectLst>
            <a:outerShdw blurRad="127000" dist="38100" dir="5400000" algn="bl" rotWithShape="0">
              <a:srgbClr val="0D2340">
                <a:alpha val="12000"/>
              </a:srgbClr>
            </a:outerShdw>
          </a:effectLst>
        </p:spPr>
      </p:sp>
      <p:sp>
        <p:nvSpPr>
          <p:cNvPr id="13" name="mb#9b"/>
          <p:cNvSpPr/>
          <p:nvPr/>
        </p:nvSpPr>
        <p:spPr>
          <a:xfrm>
            <a:off x="2788920" y="1691640"/>
            <a:ext cx="2103120" cy="822960"/>
          </a:xfrm>
          <a:prstGeom prst="roundRect">
            <a:avLst>
              <a:gd name="adj" fmla="val 16667"/>
            </a:avLst>
          </a:prstGeom>
          <a:solidFill>
            <a:srgbClr val="1BA39C">
              <a:alpha val="18000"/>
            </a:srgbClr>
          </a:solidFill>
          <a:ln/>
        </p:spPr>
      </p:sp>
      <p:sp>
        <p:nvSpPr>
          <p:cNvPr id="14" name="mb#9o"/>
          <p:cNvSpPr/>
          <p:nvPr/>
        </p:nvSpPr>
        <p:spPr>
          <a:xfrm>
            <a:off x="3337560" y="1965960"/>
            <a:ext cx="1005840" cy="1005840"/>
          </a:xfrm>
          <a:prstGeom prst="ellipse">
            <a:avLst/>
          </a:prstGeom>
          <a:solidFill>
            <a:srgbClr val="1BA39C"/>
          </a:solidFill>
          <a:ln w="50800">
            <a:solidFill>
              <a:srgbClr val="FFFFFF"/>
            </a:solidFill>
            <a:prstDash val="solid"/>
          </a:ln>
        </p:spPr>
      </p:sp>
      <p:sp>
        <p:nvSpPr>
          <p:cNvPr id="15" name="mb#9i"/>
          <p:cNvSpPr txBox="1"/>
          <p:nvPr/>
        </p:nvSpPr>
        <p:spPr>
          <a:xfrm>
            <a:off x="3337560" y="1965960"/>
            <a:ext cx="1005840" cy="1005840"/>
          </a:xfrm>
          <a:prstGeom prst="rect">
            <a:avLst/>
          </a:prstGeom>
          <a:noFill/>
          <a:ln/>
        </p:spPr>
        <p:txBody>
          <a:bodyPr wrap="square" lIns="0" tIns="0" rIns="0" bIns="0" rtlCol="0" anchor="ctr"/>
          <a:lstStyle/>
          <a:p>
            <a:pPr marL="0" indent="0" algn="ctr">
              <a:buNone/>
            </a:pPr>
            <a:r>
              <a:rPr lang="en-US" sz="2600" b="1" dirty="0">
                <a:solidFill>
                  <a:schemeClr val="bg1"/>
                </a:solidFill>
              </a:rPr>
              <a:t>OI</a:t>
            </a:r>
            <a:endParaRPr lang="en-US" sz="2600" dirty="0"/>
          </a:p>
        </p:txBody>
      </p:sp>
      <p:sp>
        <p:nvSpPr>
          <p:cNvPr id="16" name="mb#9n"/>
          <p:cNvSpPr txBox="1"/>
          <p:nvPr/>
        </p:nvSpPr>
        <p:spPr>
          <a:xfrm>
            <a:off x="2880360" y="3108960"/>
            <a:ext cx="1920240" cy="868680"/>
          </a:xfrm>
          <a:prstGeom prst="rect">
            <a:avLst/>
          </a:prstGeom>
          <a:noFill/>
          <a:ln/>
        </p:spPr>
        <p:txBody>
          <a:bodyPr wrap="square" lIns="0" tIns="0" rIns="0" bIns="0" rtlCol="0" anchor="t"/>
          <a:lstStyle/>
          <a:p>
            <a:pPr marL="0" indent="0" algn="ctr">
              <a:buNone/>
            </a:pPr>
            <a:r>
              <a:rPr lang="en-US" sz="1700" b="1" dirty="0">
                <a:solidFill>
                  <a:schemeClr val="tx2"/>
                </a:solidFill>
              </a:rPr>
              <a:t>OUEDRAOGO</a:t>
            </a:r>
            <a:endParaRPr lang="en-US" sz="1400" dirty="0"/>
          </a:p>
          <a:p>
            <a:pPr marL="0" indent="0" algn="ctr">
              <a:buNone/>
            </a:pPr>
            <a:r>
              <a:rPr lang="en-US" sz="1300" dirty="0">
                <a:solidFill>
                  <a:schemeClr val="tx1"/>
                </a:solidFill>
              </a:rPr>
              <a:t>Y. Ibrahim</a:t>
            </a:r>
            <a:endParaRPr lang="en-US" sz="1400" dirty="0"/>
          </a:p>
        </p:txBody>
      </p:sp>
      <p:sp>
        <p:nvSpPr>
          <p:cNvPr id="17" name="mb#9l"/>
          <p:cNvSpPr/>
          <p:nvPr/>
        </p:nvSpPr>
        <p:spPr>
          <a:xfrm>
            <a:off x="3566160" y="4069080"/>
            <a:ext cx="548640" cy="0"/>
          </a:xfrm>
          <a:prstGeom prst="line">
            <a:avLst/>
          </a:prstGeom>
          <a:noFill/>
          <a:ln w="25400">
            <a:solidFill>
              <a:srgbClr val="1BA39C"/>
            </a:solidFill>
            <a:prstDash val="solid"/>
          </a:ln>
        </p:spPr>
      </p:sp>
      <p:sp>
        <p:nvSpPr>
          <p:cNvPr id="18" name="mb#9r"/>
          <p:cNvSpPr txBox="1"/>
          <p:nvPr/>
        </p:nvSpPr>
        <p:spPr>
          <a:xfrm>
            <a:off x="2926080" y="4206240"/>
            <a:ext cx="1828800" cy="960120"/>
          </a:xfrm>
          <a:prstGeom prst="rect">
            <a:avLst/>
          </a:prstGeom>
          <a:noFill/>
          <a:ln/>
        </p:spPr>
        <p:txBody>
          <a:bodyPr wrap="square" lIns="0" tIns="0" rIns="0" bIns="0" rtlCol="0" anchor="t"/>
          <a:lstStyle/>
          <a:p>
            <a:pPr marL="0" indent="0" algn="ctr">
              <a:buNone/>
            </a:pPr>
            <a:r>
              <a:rPr lang="en-US" sz="1200" dirty="0">
                <a:solidFill>
                  <a:schemeClr val="tx1"/>
                </a:solidFill>
              </a:rPr>
              <a:t>Jobs Pentaho aller et retour</a:t>
            </a:r>
            <a:endParaRPr lang="en-US" sz="1200" dirty="0"/>
          </a:p>
        </p:txBody>
      </p:sp>
      <p:sp>
        <p:nvSpPr>
          <p:cNvPr id="19" name="mb#10"/>
          <p:cNvSpPr/>
          <p:nvPr/>
        </p:nvSpPr>
        <p:spPr>
          <a:xfrm>
            <a:off x="5029200" y="1691640"/>
            <a:ext cx="2103120" cy="3611880"/>
          </a:xfrm>
          <a:prstGeom prst="roundRect">
            <a:avLst>
              <a:gd name="adj" fmla="val 6522"/>
            </a:avLst>
          </a:prstGeom>
          <a:solidFill>
            <a:schemeClr val="bg1"/>
          </a:solidFill>
          <a:ln w="9525">
            <a:solidFill>
              <a:srgbClr val="E3E8F0"/>
            </a:solidFill>
            <a:prstDash val="solid"/>
          </a:ln>
          <a:effectLst>
            <a:outerShdw blurRad="127000" dist="38100" dir="5400000" algn="bl" rotWithShape="0">
              <a:srgbClr val="0D2340">
                <a:alpha val="12000"/>
              </a:srgbClr>
            </a:outerShdw>
          </a:effectLst>
        </p:spPr>
      </p:sp>
      <p:sp>
        <p:nvSpPr>
          <p:cNvPr id="20" name="mb#10b"/>
          <p:cNvSpPr/>
          <p:nvPr/>
        </p:nvSpPr>
        <p:spPr>
          <a:xfrm>
            <a:off x="5029200" y="1691640"/>
            <a:ext cx="2103120" cy="822960"/>
          </a:xfrm>
          <a:prstGeom prst="roundRect">
            <a:avLst>
              <a:gd name="adj" fmla="val 16667"/>
            </a:avLst>
          </a:prstGeom>
          <a:solidFill>
            <a:srgbClr val="3D6FD8">
              <a:alpha val="18000"/>
            </a:srgbClr>
          </a:solidFill>
          <a:ln/>
        </p:spPr>
      </p:sp>
      <p:sp>
        <p:nvSpPr>
          <p:cNvPr id="21" name="mb#10o"/>
          <p:cNvSpPr/>
          <p:nvPr/>
        </p:nvSpPr>
        <p:spPr>
          <a:xfrm>
            <a:off x="5577840" y="1965960"/>
            <a:ext cx="1005840" cy="1005840"/>
          </a:xfrm>
          <a:prstGeom prst="ellipse">
            <a:avLst/>
          </a:prstGeom>
          <a:solidFill>
            <a:srgbClr val="3D6FD8"/>
          </a:solidFill>
          <a:ln w="50800">
            <a:solidFill>
              <a:srgbClr val="FFFFFF"/>
            </a:solidFill>
            <a:prstDash val="solid"/>
          </a:ln>
        </p:spPr>
      </p:sp>
      <p:sp>
        <p:nvSpPr>
          <p:cNvPr id="22" name="mb#10i"/>
          <p:cNvSpPr txBox="1"/>
          <p:nvPr/>
        </p:nvSpPr>
        <p:spPr>
          <a:xfrm>
            <a:off x="5577840" y="1965960"/>
            <a:ext cx="1005840" cy="1005840"/>
          </a:xfrm>
          <a:prstGeom prst="rect">
            <a:avLst/>
          </a:prstGeom>
          <a:noFill/>
          <a:ln/>
        </p:spPr>
        <p:txBody>
          <a:bodyPr wrap="square" lIns="0" tIns="0" rIns="0" bIns="0" rtlCol="0" anchor="ctr"/>
          <a:lstStyle/>
          <a:p>
            <a:pPr marL="0" indent="0" algn="ctr">
              <a:buNone/>
            </a:pPr>
            <a:r>
              <a:rPr lang="en-US" sz="2600" b="1" dirty="0">
                <a:solidFill>
                  <a:schemeClr val="bg1"/>
                </a:solidFill>
              </a:rPr>
              <a:t>KW</a:t>
            </a:r>
            <a:endParaRPr lang="en-US" sz="2600" dirty="0"/>
          </a:p>
        </p:txBody>
      </p:sp>
      <p:sp>
        <p:nvSpPr>
          <p:cNvPr id="23" name="mb#10n"/>
          <p:cNvSpPr txBox="1"/>
          <p:nvPr/>
        </p:nvSpPr>
        <p:spPr>
          <a:xfrm>
            <a:off x="5120640" y="3108960"/>
            <a:ext cx="1920240" cy="868680"/>
          </a:xfrm>
          <a:prstGeom prst="rect">
            <a:avLst/>
          </a:prstGeom>
          <a:noFill/>
          <a:ln/>
        </p:spPr>
        <p:txBody>
          <a:bodyPr wrap="square" lIns="0" tIns="0" rIns="0" bIns="0" rtlCol="0" anchor="t"/>
          <a:lstStyle/>
          <a:p>
            <a:pPr marL="0" indent="0" algn="ctr">
              <a:buNone/>
            </a:pPr>
            <a:r>
              <a:rPr lang="en-US" sz="1700" b="1" dirty="0">
                <a:solidFill>
                  <a:schemeClr val="tx2"/>
                </a:solidFill>
              </a:rPr>
              <a:t>KABORE</a:t>
            </a:r>
            <a:endParaRPr lang="en-US" sz="1400" dirty="0"/>
          </a:p>
          <a:p>
            <a:pPr marL="0" indent="0" algn="ctr">
              <a:buNone/>
            </a:pPr>
            <a:r>
              <a:rPr lang="en-US" sz="1300" dirty="0">
                <a:solidFill>
                  <a:schemeClr val="tx1"/>
                </a:solidFill>
              </a:rPr>
              <a:t>Wend-Barka Boukary</a:t>
            </a:r>
            <a:endParaRPr lang="en-US" sz="1400" dirty="0"/>
          </a:p>
        </p:txBody>
      </p:sp>
      <p:sp>
        <p:nvSpPr>
          <p:cNvPr id="24" name="mb#10l"/>
          <p:cNvSpPr/>
          <p:nvPr/>
        </p:nvSpPr>
        <p:spPr>
          <a:xfrm>
            <a:off x="5806440" y="4069080"/>
            <a:ext cx="548640" cy="0"/>
          </a:xfrm>
          <a:prstGeom prst="line">
            <a:avLst/>
          </a:prstGeom>
          <a:noFill/>
          <a:ln w="25400">
            <a:solidFill>
              <a:srgbClr val="3D6FD8"/>
            </a:solidFill>
            <a:prstDash val="solid"/>
          </a:ln>
        </p:spPr>
      </p:sp>
      <p:sp>
        <p:nvSpPr>
          <p:cNvPr id="25" name="mb#10r"/>
          <p:cNvSpPr txBox="1"/>
          <p:nvPr/>
        </p:nvSpPr>
        <p:spPr>
          <a:xfrm>
            <a:off x="5166360" y="4206240"/>
            <a:ext cx="1828800" cy="960120"/>
          </a:xfrm>
          <a:prstGeom prst="rect">
            <a:avLst/>
          </a:prstGeom>
          <a:noFill/>
          <a:ln/>
        </p:spPr>
        <p:txBody>
          <a:bodyPr wrap="square" lIns="0" tIns="0" rIns="0" bIns="0" rtlCol="0" anchor="t"/>
          <a:lstStyle/>
          <a:p>
            <a:pPr marL="0" indent="0" algn="ctr">
              <a:buNone/>
            </a:pPr>
            <a:r>
              <a:rPr lang="en-US" sz="1200" dirty="0">
                <a:solidFill>
                  <a:schemeClr val="tx1"/>
                </a:solidFill>
              </a:rPr>
              <a:t>Contrat WSDL, service CXF, erreurs SOAP</a:t>
            </a:r>
            <a:endParaRPr lang="en-US" sz="1200" dirty="0"/>
          </a:p>
        </p:txBody>
      </p:sp>
      <p:sp>
        <p:nvSpPr>
          <p:cNvPr id="26" name="mb#11"/>
          <p:cNvSpPr/>
          <p:nvPr/>
        </p:nvSpPr>
        <p:spPr>
          <a:xfrm>
            <a:off x="7269480" y="1691640"/>
            <a:ext cx="2103120" cy="3611880"/>
          </a:xfrm>
          <a:prstGeom prst="roundRect">
            <a:avLst>
              <a:gd name="adj" fmla="val 6522"/>
            </a:avLst>
          </a:prstGeom>
          <a:solidFill>
            <a:schemeClr val="bg1"/>
          </a:solidFill>
          <a:ln w="9525">
            <a:solidFill>
              <a:srgbClr val="E3E8F0"/>
            </a:solidFill>
            <a:prstDash val="solid"/>
          </a:ln>
          <a:effectLst>
            <a:outerShdw blurRad="127000" dist="38100" dir="5400000" algn="bl" rotWithShape="0">
              <a:srgbClr val="0D2340">
                <a:alpha val="12000"/>
              </a:srgbClr>
            </a:outerShdw>
          </a:effectLst>
        </p:spPr>
      </p:sp>
      <p:sp>
        <p:nvSpPr>
          <p:cNvPr id="27" name="mb#11b"/>
          <p:cNvSpPr/>
          <p:nvPr/>
        </p:nvSpPr>
        <p:spPr>
          <a:xfrm>
            <a:off x="7269480" y="1691640"/>
            <a:ext cx="2103120" cy="822960"/>
          </a:xfrm>
          <a:prstGeom prst="roundRect">
            <a:avLst>
              <a:gd name="adj" fmla="val 16667"/>
            </a:avLst>
          </a:prstGeom>
          <a:solidFill>
            <a:srgbClr val="E04F5F">
              <a:alpha val="18000"/>
            </a:srgbClr>
          </a:solidFill>
          <a:ln/>
        </p:spPr>
      </p:sp>
      <p:sp>
        <p:nvSpPr>
          <p:cNvPr id="28" name="mb#11o"/>
          <p:cNvSpPr/>
          <p:nvPr/>
        </p:nvSpPr>
        <p:spPr>
          <a:xfrm>
            <a:off x="7818120" y="1965960"/>
            <a:ext cx="1005840" cy="1005840"/>
          </a:xfrm>
          <a:prstGeom prst="ellipse">
            <a:avLst/>
          </a:prstGeom>
          <a:solidFill>
            <a:srgbClr val="E04F5F"/>
          </a:solidFill>
          <a:ln w="50800">
            <a:solidFill>
              <a:srgbClr val="FFFFFF"/>
            </a:solidFill>
            <a:prstDash val="solid"/>
          </a:ln>
        </p:spPr>
      </p:sp>
      <p:sp>
        <p:nvSpPr>
          <p:cNvPr id="29" name="mb#11i"/>
          <p:cNvSpPr txBox="1"/>
          <p:nvPr/>
        </p:nvSpPr>
        <p:spPr>
          <a:xfrm>
            <a:off x="7818120" y="1965960"/>
            <a:ext cx="1005840" cy="1005840"/>
          </a:xfrm>
          <a:prstGeom prst="rect">
            <a:avLst/>
          </a:prstGeom>
          <a:noFill/>
          <a:ln/>
        </p:spPr>
        <p:txBody>
          <a:bodyPr wrap="square" lIns="0" tIns="0" rIns="0" bIns="0" rtlCol="0" anchor="ctr"/>
          <a:lstStyle/>
          <a:p>
            <a:pPr marL="0" indent="0" algn="ctr">
              <a:buNone/>
            </a:pPr>
            <a:r>
              <a:rPr lang="en-US" sz="2600" b="1" dirty="0">
                <a:solidFill>
                  <a:schemeClr val="bg1"/>
                </a:solidFill>
              </a:rPr>
              <a:t>TF</a:t>
            </a:r>
            <a:endParaRPr lang="en-US" sz="2600" dirty="0"/>
          </a:p>
        </p:txBody>
      </p:sp>
      <p:sp>
        <p:nvSpPr>
          <p:cNvPr id="30" name="mb#11n"/>
          <p:cNvSpPr txBox="1"/>
          <p:nvPr/>
        </p:nvSpPr>
        <p:spPr>
          <a:xfrm>
            <a:off x="7360920" y="3108960"/>
            <a:ext cx="1920240" cy="868680"/>
          </a:xfrm>
          <a:prstGeom prst="rect">
            <a:avLst/>
          </a:prstGeom>
          <a:noFill/>
          <a:ln/>
        </p:spPr>
        <p:txBody>
          <a:bodyPr wrap="square" lIns="0" tIns="0" rIns="0" bIns="0" rtlCol="0" anchor="t"/>
          <a:lstStyle/>
          <a:p>
            <a:pPr marL="0" indent="0" algn="ctr">
              <a:buNone/>
            </a:pPr>
            <a:r>
              <a:rPr lang="en-US" sz="1700" b="1" dirty="0">
                <a:solidFill>
                  <a:schemeClr val="tx2"/>
                </a:solidFill>
              </a:rPr>
              <a:t>TINDANO</a:t>
            </a:r>
            <a:endParaRPr lang="en-US" sz="1400" dirty="0"/>
          </a:p>
          <a:p>
            <a:pPr marL="0" indent="0" algn="ctr">
              <a:buNone/>
            </a:pPr>
            <a:r>
              <a:rPr lang="en-US" sz="1300" dirty="0">
                <a:solidFill>
                  <a:schemeClr val="tx1"/>
                </a:solidFill>
              </a:rPr>
              <a:t>Fernand Amed</a:t>
            </a:r>
            <a:endParaRPr lang="en-US" sz="1400" dirty="0"/>
          </a:p>
        </p:txBody>
      </p:sp>
      <p:sp>
        <p:nvSpPr>
          <p:cNvPr id="31" name="mb#11l"/>
          <p:cNvSpPr/>
          <p:nvPr/>
        </p:nvSpPr>
        <p:spPr>
          <a:xfrm>
            <a:off x="8046720" y="4069080"/>
            <a:ext cx="548640" cy="0"/>
          </a:xfrm>
          <a:prstGeom prst="line">
            <a:avLst/>
          </a:prstGeom>
          <a:noFill/>
          <a:ln w="25400">
            <a:solidFill>
              <a:srgbClr val="E04F5F"/>
            </a:solidFill>
            <a:prstDash val="solid"/>
          </a:ln>
        </p:spPr>
      </p:sp>
      <p:sp>
        <p:nvSpPr>
          <p:cNvPr id="32" name="mb#11r"/>
          <p:cNvSpPr txBox="1"/>
          <p:nvPr/>
        </p:nvSpPr>
        <p:spPr>
          <a:xfrm>
            <a:off x="7406640" y="4206240"/>
            <a:ext cx="1828800" cy="960120"/>
          </a:xfrm>
          <a:prstGeom prst="rect">
            <a:avLst/>
          </a:prstGeom>
          <a:noFill/>
          <a:ln/>
        </p:spPr>
        <p:txBody>
          <a:bodyPr wrap="square" lIns="0" tIns="0" rIns="0" bIns="0" rtlCol="0" anchor="t"/>
          <a:lstStyle/>
          <a:p>
            <a:pPr marL="0" indent="0" algn="ctr">
              <a:buNone/>
            </a:pPr>
            <a:r>
              <a:rPr lang="en-US" sz="1200" dirty="0">
                <a:solidFill>
                  <a:schemeClr val="tx1"/>
                </a:solidFill>
              </a:rPr>
              <a:t>Règles métier, tests JUnit et SoapUI</a:t>
            </a:r>
            <a:endParaRPr lang="en-US" sz="1200" dirty="0"/>
          </a:p>
        </p:txBody>
      </p:sp>
      <p:sp>
        <p:nvSpPr>
          <p:cNvPr id="33" name="mb#12"/>
          <p:cNvSpPr/>
          <p:nvPr/>
        </p:nvSpPr>
        <p:spPr>
          <a:xfrm>
            <a:off x="9509760" y="1691640"/>
            <a:ext cx="2103120" cy="3611880"/>
          </a:xfrm>
          <a:prstGeom prst="roundRect">
            <a:avLst>
              <a:gd name="adj" fmla="val 6522"/>
            </a:avLst>
          </a:prstGeom>
          <a:solidFill>
            <a:schemeClr val="bg1"/>
          </a:solidFill>
          <a:ln w="9525">
            <a:solidFill>
              <a:srgbClr val="E3E8F0"/>
            </a:solidFill>
            <a:prstDash val="solid"/>
          </a:ln>
          <a:effectLst>
            <a:outerShdw blurRad="127000" dist="38100" dir="5400000" algn="bl" rotWithShape="0">
              <a:srgbClr val="0D2340">
                <a:alpha val="12000"/>
              </a:srgbClr>
            </a:outerShdw>
          </a:effectLst>
        </p:spPr>
      </p:sp>
      <p:sp>
        <p:nvSpPr>
          <p:cNvPr id="34" name="mb#12b"/>
          <p:cNvSpPr/>
          <p:nvPr/>
        </p:nvSpPr>
        <p:spPr>
          <a:xfrm>
            <a:off x="9509760" y="1691640"/>
            <a:ext cx="2103120" cy="822960"/>
          </a:xfrm>
          <a:prstGeom prst="roundRect">
            <a:avLst>
              <a:gd name="adj" fmla="val 16667"/>
            </a:avLst>
          </a:prstGeom>
          <a:solidFill>
            <a:srgbClr val="0D2340">
              <a:alpha val="18000"/>
            </a:srgbClr>
          </a:solidFill>
          <a:ln/>
        </p:spPr>
      </p:sp>
      <p:sp>
        <p:nvSpPr>
          <p:cNvPr id="35" name="mb#12o"/>
          <p:cNvSpPr/>
          <p:nvPr/>
        </p:nvSpPr>
        <p:spPr>
          <a:xfrm>
            <a:off x="10058400" y="1965960"/>
            <a:ext cx="1005840" cy="1005840"/>
          </a:xfrm>
          <a:prstGeom prst="ellipse">
            <a:avLst/>
          </a:prstGeom>
          <a:solidFill>
            <a:srgbClr val="0D2340"/>
          </a:solidFill>
          <a:ln w="50800">
            <a:solidFill>
              <a:srgbClr val="FFFFFF"/>
            </a:solidFill>
            <a:prstDash val="solid"/>
          </a:ln>
        </p:spPr>
      </p:sp>
      <p:sp>
        <p:nvSpPr>
          <p:cNvPr id="36" name="mb#12i"/>
          <p:cNvSpPr txBox="1"/>
          <p:nvPr/>
        </p:nvSpPr>
        <p:spPr>
          <a:xfrm>
            <a:off x="10058400" y="1965960"/>
            <a:ext cx="1005840" cy="1005840"/>
          </a:xfrm>
          <a:prstGeom prst="rect">
            <a:avLst/>
          </a:prstGeom>
          <a:noFill/>
          <a:ln/>
        </p:spPr>
        <p:txBody>
          <a:bodyPr wrap="square" lIns="0" tIns="0" rIns="0" bIns="0" rtlCol="0" anchor="ctr"/>
          <a:lstStyle/>
          <a:p>
            <a:pPr marL="0" indent="0" algn="ctr">
              <a:buNone/>
            </a:pPr>
            <a:r>
              <a:rPr lang="en-US" sz="2600" b="1" dirty="0">
                <a:solidFill>
                  <a:schemeClr val="bg1"/>
                </a:solidFill>
              </a:rPr>
              <a:t>KA</a:t>
            </a:r>
            <a:endParaRPr lang="en-US" sz="2600" dirty="0"/>
          </a:p>
        </p:txBody>
      </p:sp>
      <p:sp>
        <p:nvSpPr>
          <p:cNvPr id="37" name="mb#12n"/>
          <p:cNvSpPr txBox="1"/>
          <p:nvPr/>
        </p:nvSpPr>
        <p:spPr>
          <a:xfrm>
            <a:off x="9601200" y="3108960"/>
            <a:ext cx="1920240" cy="868680"/>
          </a:xfrm>
          <a:prstGeom prst="rect">
            <a:avLst/>
          </a:prstGeom>
          <a:noFill/>
          <a:ln/>
        </p:spPr>
        <p:txBody>
          <a:bodyPr wrap="square" lIns="0" tIns="0" rIns="0" bIns="0" rtlCol="0" anchor="t"/>
          <a:lstStyle/>
          <a:p>
            <a:pPr marL="0" indent="0" algn="ctr">
              <a:buNone/>
            </a:pPr>
            <a:r>
              <a:rPr lang="en-US" sz="1700" b="1" dirty="0">
                <a:solidFill>
                  <a:schemeClr val="tx2"/>
                </a:solidFill>
              </a:rPr>
              <a:t>KOMPAORE</a:t>
            </a:r>
            <a:endParaRPr lang="en-US" sz="1400" dirty="0"/>
          </a:p>
          <a:p>
            <a:pPr marL="0" indent="0" algn="ctr">
              <a:buNone/>
            </a:pPr>
            <a:r>
              <a:rPr lang="en-US" sz="1300" dirty="0">
                <a:solidFill>
                  <a:schemeClr val="tx1"/>
                </a:solidFill>
              </a:rPr>
              <a:t>Abdoul Malick</a:t>
            </a:r>
            <a:endParaRPr lang="en-US" sz="1400" dirty="0"/>
          </a:p>
        </p:txBody>
      </p:sp>
      <p:sp>
        <p:nvSpPr>
          <p:cNvPr id="38" name="mb#12l"/>
          <p:cNvSpPr/>
          <p:nvPr/>
        </p:nvSpPr>
        <p:spPr>
          <a:xfrm>
            <a:off x="10287000" y="4069080"/>
            <a:ext cx="548640" cy="0"/>
          </a:xfrm>
          <a:prstGeom prst="line">
            <a:avLst/>
          </a:prstGeom>
          <a:noFill/>
          <a:ln w="25400">
            <a:solidFill>
              <a:srgbClr val="0D2340"/>
            </a:solidFill>
            <a:prstDash val="solid"/>
          </a:ln>
        </p:spPr>
      </p:sp>
      <p:sp>
        <p:nvSpPr>
          <p:cNvPr id="39" name="mb#12r"/>
          <p:cNvSpPr txBox="1"/>
          <p:nvPr/>
        </p:nvSpPr>
        <p:spPr>
          <a:xfrm>
            <a:off x="9646920" y="4206240"/>
            <a:ext cx="1828800" cy="960120"/>
          </a:xfrm>
          <a:prstGeom prst="rect">
            <a:avLst/>
          </a:prstGeom>
          <a:noFill/>
          <a:ln/>
        </p:spPr>
        <p:txBody>
          <a:bodyPr wrap="square" lIns="0" tIns="0" rIns="0" bIns="0" rtlCol="0" anchor="t"/>
          <a:lstStyle/>
          <a:p>
            <a:pPr marL="0" indent="0" algn="ctr">
              <a:buNone/>
            </a:pPr>
            <a:r>
              <a:rPr lang="en-US" sz="1200" dirty="0">
                <a:solidFill>
                  <a:schemeClr val="tx1"/>
                </a:solidFill>
              </a:rPr>
              <a:t>Netdata, test de bout en bout, documentation</a:t>
            </a:r>
            <a:endParaRPr lang="en-US" sz="1200" dirty="0"/>
          </a:p>
        </p:txBody>
      </p:sp>
      <p:sp>
        <p:nvSpPr>
          <p:cNvPr id="40" name="modLine"/>
          <p:cNvSpPr txBox="1"/>
          <p:nvPr/>
        </p:nvSpPr>
        <p:spPr>
          <a:xfrm>
            <a:off x="548640" y="5623560"/>
            <a:ext cx="11064240" cy="365760"/>
          </a:xfrm>
          <a:prstGeom prst="rect">
            <a:avLst/>
          </a:prstGeom>
          <a:noFill/>
          <a:ln/>
        </p:spPr>
        <p:txBody>
          <a:bodyPr wrap="square" lIns="0" tIns="0" rIns="0" bIns="0" rtlCol="0" anchor="t"/>
          <a:lstStyle/>
          <a:p>
            <a:pPr marL="0" indent="0" algn="ctr">
              <a:buNone/>
            </a:pPr>
            <a:r>
              <a:rPr lang="en-US" sz="1300" b="1" dirty="0">
                <a:solidFill>
                  <a:schemeClr val="accent3"/>
                </a:solidFill>
              </a:rPr>
              <a:t>Filière SI · Module : </a:t>
            </a:r>
            <a:r>
              <a:rPr lang="en-US" sz="1300" dirty="0">
                <a:solidFill>
                  <a:schemeClr val="tx1"/>
                </a:solidFill>
              </a:rPr>
              <a:t>Développement à base de composants et services web</a:t>
            </a:r>
            <a:endParaRPr lang="en-US" sz="1300" dirty="0"/>
          </a:p>
        </p:txBody>
      </p:sp>
      <p:sp>
        <p:nvSpPr>
          <p:cNvPr id="41"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2</a:t>
            </a:fld>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anim calcmode="lin" valueType="num">
                                      <p:cBhvr additive="base">
                                        <p:cTn id="8" dur="500" fill="hold"/>
                                        <p:tgtEl>
                                          <p:spTgt spid="5"/>
                                        </p:tgtEl>
                                        <p:attrNameLst>
                                          <p:attrName>ppt_x</p:attrName>
                                        </p:attrNameLst>
                                      </p:cBhvr>
                                      <p:tavLst>
                                        <p:tav tm="0">
                                          <p:val>
                                            <p:strVal val="#ppt_x"/>
                                          </p:val>
                                        </p:tav>
                                        <p:tav tm="100000">
                                          <p:val>
                                            <p:strVal val="#ppt_x"/>
                                          </p:val>
                                        </p:tav>
                                      </p:tavLst>
                                    </p:anim>
                                    <p:anim calcmode="lin" valueType="num">
                                      <p:cBhvr additive="base">
                                        <p:cTn id="9" dur="5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anim calcmode="lin" valueType="num">
                                      <p:cBhvr additive="base">
                                        <p:cTn id="18" dur="500" fill="hold"/>
                                        <p:tgtEl>
                                          <p:spTgt spid="7"/>
                                        </p:tgtEl>
                                        <p:attrNameLst>
                                          <p:attrName>ppt_x</p:attrName>
                                        </p:attrNameLst>
                                      </p:cBhvr>
                                      <p:tavLst>
                                        <p:tav tm="0">
                                          <p:val>
                                            <p:strVal val="#ppt_x"/>
                                          </p:val>
                                        </p:tav>
                                        <p:tav tm="100000">
                                          <p:val>
                                            <p:strVal val="#ppt_x"/>
                                          </p:val>
                                        </p:tav>
                                      </p:tavLst>
                                    </p:anim>
                                    <p:anim calcmode="lin" valueType="num">
                                      <p:cBhvr additive="base">
                                        <p:cTn id="19" dur="500" fill="hold"/>
                                        <p:tgtEl>
                                          <p:spTgt spid="7"/>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anim calcmode="lin" valueType="num">
                                      <p:cBhvr additive="base">
                                        <p:cTn id="28" dur="500" fill="hold"/>
                                        <p:tgtEl>
                                          <p:spTgt spid="9"/>
                                        </p:tgtEl>
                                        <p:attrNameLst>
                                          <p:attrName>ppt_x</p:attrName>
                                        </p:attrNameLst>
                                      </p:cBhvr>
                                      <p:tavLst>
                                        <p:tav tm="0">
                                          <p:val>
                                            <p:strVal val="#ppt_x"/>
                                          </p:val>
                                        </p:tav>
                                        <p:tav tm="100000">
                                          <p:val>
                                            <p:strVal val="#ppt_x"/>
                                          </p:val>
                                        </p:tav>
                                      </p:tavLst>
                                    </p:anim>
                                    <p:anim calcmode="lin" valueType="num">
                                      <p:cBhvr additive="base">
                                        <p:cTn id="29" dur="500" fill="hold"/>
                                        <p:tgtEl>
                                          <p:spTgt spid="9"/>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anim calcmode="lin" valueType="num">
                                      <p:cBhvr additive="base">
                                        <p:cTn id="33" dur="500" fill="hold"/>
                                        <p:tgtEl>
                                          <p:spTgt spid="10"/>
                                        </p:tgtEl>
                                        <p:attrNameLst>
                                          <p:attrName>ppt_x</p:attrName>
                                        </p:attrNameLst>
                                      </p:cBhvr>
                                      <p:tavLst>
                                        <p:tav tm="0">
                                          <p:val>
                                            <p:strVal val="#ppt_x"/>
                                          </p:val>
                                        </p:tav>
                                        <p:tav tm="100000">
                                          <p:val>
                                            <p:strVal val="#ppt_x"/>
                                          </p:val>
                                        </p:tav>
                                      </p:tavLst>
                                    </p:anim>
                                    <p:anim calcmode="lin" valueType="num">
                                      <p:cBhvr additive="base">
                                        <p:cTn id="34" dur="500" fill="hold"/>
                                        <p:tgtEl>
                                          <p:spTgt spid="10"/>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anim calcmode="lin" valueType="num">
                                      <p:cBhvr additive="base">
                                        <p:cTn id="38" dur="500" fill="hold"/>
                                        <p:tgtEl>
                                          <p:spTgt spid="11"/>
                                        </p:tgtEl>
                                        <p:attrNameLst>
                                          <p:attrName>ppt_x</p:attrName>
                                        </p:attrNameLst>
                                      </p:cBhvr>
                                      <p:tavLst>
                                        <p:tav tm="0">
                                          <p:val>
                                            <p:strVal val="#ppt_x"/>
                                          </p:val>
                                        </p:tav>
                                        <p:tav tm="100000">
                                          <p:val>
                                            <p:strVal val="#ppt_x"/>
                                          </p:val>
                                        </p:tav>
                                      </p:tavLst>
                                    </p:anim>
                                    <p:anim calcmode="lin" valueType="num">
                                      <p:cBhvr additive="base">
                                        <p:cTn id="39" dur="500" fill="hold"/>
                                        <p:tgtEl>
                                          <p:spTgt spid="11"/>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22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00"/>
                                        <p:tgtEl>
                                          <p:spTgt spid="12"/>
                                        </p:tgtEl>
                                      </p:cBhvr>
                                    </p:animEffect>
                                    <p:anim calcmode="lin" valueType="num">
                                      <p:cBhvr additive="base">
                                        <p:cTn id="43" dur="500" fill="hold"/>
                                        <p:tgtEl>
                                          <p:spTgt spid="12"/>
                                        </p:tgtEl>
                                        <p:attrNameLst>
                                          <p:attrName>ppt_x</p:attrName>
                                        </p:attrNameLst>
                                      </p:cBhvr>
                                      <p:tavLst>
                                        <p:tav tm="0">
                                          <p:val>
                                            <p:strVal val="#ppt_x"/>
                                          </p:val>
                                        </p:tav>
                                        <p:tav tm="100000">
                                          <p:val>
                                            <p:strVal val="#ppt_x"/>
                                          </p:val>
                                        </p:tav>
                                      </p:tavLst>
                                    </p:anim>
                                    <p:anim calcmode="lin" valueType="num">
                                      <p:cBhvr additive="base">
                                        <p:cTn id="44" dur="500" fill="hold"/>
                                        <p:tgtEl>
                                          <p:spTgt spid="12"/>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22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anim calcmode="lin" valueType="num">
                                      <p:cBhvr additive="base">
                                        <p:cTn id="48" dur="500" fill="hold"/>
                                        <p:tgtEl>
                                          <p:spTgt spid="13"/>
                                        </p:tgtEl>
                                        <p:attrNameLst>
                                          <p:attrName>ppt_x</p:attrName>
                                        </p:attrNameLst>
                                      </p:cBhvr>
                                      <p:tavLst>
                                        <p:tav tm="0">
                                          <p:val>
                                            <p:strVal val="#ppt_x"/>
                                          </p:val>
                                        </p:tav>
                                        <p:tav tm="100000">
                                          <p:val>
                                            <p:strVal val="#ppt_x"/>
                                          </p:val>
                                        </p:tav>
                                      </p:tavLst>
                                    </p:anim>
                                    <p:anim calcmode="lin" valueType="num">
                                      <p:cBhvr additive="base">
                                        <p:cTn id="49" dur="500" fill="hold"/>
                                        <p:tgtEl>
                                          <p:spTgt spid="13"/>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22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500"/>
                                        <p:tgtEl>
                                          <p:spTgt spid="14"/>
                                        </p:tgtEl>
                                      </p:cBhvr>
                                    </p:animEffect>
                                    <p:anim calcmode="lin" valueType="num">
                                      <p:cBhvr additive="base">
                                        <p:cTn id="53" dur="500" fill="hold"/>
                                        <p:tgtEl>
                                          <p:spTgt spid="14"/>
                                        </p:tgtEl>
                                        <p:attrNameLst>
                                          <p:attrName>ppt_x</p:attrName>
                                        </p:attrNameLst>
                                      </p:cBhvr>
                                      <p:tavLst>
                                        <p:tav tm="0">
                                          <p:val>
                                            <p:strVal val="#ppt_x"/>
                                          </p:val>
                                        </p:tav>
                                        <p:tav tm="100000">
                                          <p:val>
                                            <p:strVal val="#ppt_x"/>
                                          </p:val>
                                        </p:tav>
                                      </p:tavLst>
                                    </p:anim>
                                    <p:anim calcmode="lin" valueType="num">
                                      <p:cBhvr additive="base">
                                        <p:cTn id="54" dur="500" fill="hold"/>
                                        <p:tgtEl>
                                          <p:spTgt spid="14"/>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22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500"/>
                                        <p:tgtEl>
                                          <p:spTgt spid="15"/>
                                        </p:tgtEl>
                                      </p:cBhvr>
                                    </p:animEffect>
                                    <p:anim calcmode="lin" valueType="num">
                                      <p:cBhvr additive="base">
                                        <p:cTn id="58" dur="500" fill="hold"/>
                                        <p:tgtEl>
                                          <p:spTgt spid="15"/>
                                        </p:tgtEl>
                                        <p:attrNameLst>
                                          <p:attrName>ppt_x</p:attrName>
                                        </p:attrNameLst>
                                      </p:cBhvr>
                                      <p:tavLst>
                                        <p:tav tm="0">
                                          <p:val>
                                            <p:strVal val="#ppt_x"/>
                                          </p:val>
                                        </p:tav>
                                        <p:tav tm="100000">
                                          <p:val>
                                            <p:strVal val="#ppt_x"/>
                                          </p:val>
                                        </p:tav>
                                      </p:tavLst>
                                    </p:anim>
                                    <p:anim calcmode="lin" valueType="num">
                                      <p:cBhvr additive="base">
                                        <p:cTn id="59" dur="500" fill="hold"/>
                                        <p:tgtEl>
                                          <p:spTgt spid="15"/>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22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500"/>
                                        <p:tgtEl>
                                          <p:spTgt spid="16"/>
                                        </p:tgtEl>
                                      </p:cBhvr>
                                    </p:animEffect>
                                    <p:anim calcmode="lin" valueType="num">
                                      <p:cBhvr additive="base">
                                        <p:cTn id="63" dur="500" fill="hold"/>
                                        <p:tgtEl>
                                          <p:spTgt spid="16"/>
                                        </p:tgtEl>
                                        <p:attrNameLst>
                                          <p:attrName>ppt_x</p:attrName>
                                        </p:attrNameLst>
                                      </p:cBhvr>
                                      <p:tavLst>
                                        <p:tav tm="0">
                                          <p:val>
                                            <p:strVal val="#ppt_x"/>
                                          </p:val>
                                        </p:tav>
                                        <p:tav tm="100000">
                                          <p:val>
                                            <p:strVal val="#ppt_x"/>
                                          </p:val>
                                        </p:tav>
                                      </p:tavLst>
                                    </p:anim>
                                    <p:anim calcmode="lin" valueType="num">
                                      <p:cBhvr additive="base">
                                        <p:cTn id="64" dur="500" fill="hold"/>
                                        <p:tgtEl>
                                          <p:spTgt spid="16"/>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22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500"/>
                                        <p:tgtEl>
                                          <p:spTgt spid="17"/>
                                        </p:tgtEl>
                                      </p:cBhvr>
                                    </p:animEffect>
                                    <p:anim calcmode="lin" valueType="num">
                                      <p:cBhvr additive="base">
                                        <p:cTn id="68" dur="500" fill="hold"/>
                                        <p:tgtEl>
                                          <p:spTgt spid="17"/>
                                        </p:tgtEl>
                                        <p:attrNameLst>
                                          <p:attrName>ppt_x</p:attrName>
                                        </p:attrNameLst>
                                      </p:cBhvr>
                                      <p:tavLst>
                                        <p:tav tm="0">
                                          <p:val>
                                            <p:strVal val="#ppt_x"/>
                                          </p:val>
                                        </p:tav>
                                        <p:tav tm="100000">
                                          <p:val>
                                            <p:strVal val="#ppt_x"/>
                                          </p:val>
                                        </p:tav>
                                      </p:tavLst>
                                    </p:anim>
                                    <p:anim calcmode="lin" valueType="num">
                                      <p:cBhvr additive="base">
                                        <p:cTn id="69" dur="500" fill="hold"/>
                                        <p:tgtEl>
                                          <p:spTgt spid="17"/>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220"/>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500"/>
                                        <p:tgtEl>
                                          <p:spTgt spid="18"/>
                                        </p:tgtEl>
                                      </p:cBhvr>
                                    </p:animEffect>
                                    <p:anim calcmode="lin" valueType="num">
                                      <p:cBhvr additive="base">
                                        <p:cTn id="73" dur="500" fill="hold"/>
                                        <p:tgtEl>
                                          <p:spTgt spid="18"/>
                                        </p:tgtEl>
                                        <p:attrNameLst>
                                          <p:attrName>ppt_x</p:attrName>
                                        </p:attrNameLst>
                                      </p:cBhvr>
                                      <p:tavLst>
                                        <p:tav tm="0">
                                          <p:val>
                                            <p:strVal val="#ppt_x"/>
                                          </p:val>
                                        </p:tav>
                                        <p:tav tm="100000">
                                          <p:val>
                                            <p:strVal val="#ppt_x"/>
                                          </p:val>
                                        </p:tav>
                                      </p:tavLst>
                                    </p:anim>
                                    <p:anim calcmode="lin" valueType="num">
                                      <p:cBhvr additive="base">
                                        <p:cTn id="74" dur="500" fill="hold"/>
                                        <p:tgtEl>
                                          <p:spTgt spid="18"/>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440"/>
                                  </p:stCondLst>
                                  <p:childTnLst>
                                    <p:set>
                                      <p:cBhvr>
                                        <p:cTn id="76" dur="1" fill="hold">
                                          <p:stCondLst>
                                            <p:cond delay="0"/>
                                          </p:stCondLst>
                                        </p:cTn>
                                        <p:tgtEl>
                                          <p:spTgt spid="19"/>
                                        </p:tgtEl>
                                        <p:attrNameLst>
                                          <p:attrName>style.visibility</p:attrName>
                                        </p:attrNameLst>
                                      </p:cBhvr>
                                      <p:to>
                                        <p:strVal val="visible"/>
                                      </p:to>
                                    </p:set>
                                    <p:animEffect transition="in" filter="fade">
                                      <p:cBhvr>
                                        <p:cTn id="77" dur="500"/>
                                        <p:tgtEl>
                                          <p:spTgt spid="19"/>
                                        </p:tgtEl>
                                      </p:cBhvr>
                                    </p:animEffect>
                                    <p:anim calcmode="lin" valueType="num">
                                      <p:cBhvr additive="base">
                                        <p:cTn id="78" dur="500" fill="hold"/>
                                        <p:tgtEl>
                                          <p:spTgt spid="19"/>
                                        </p:tgtEl>
                                        <p:attrNameLst>
                                          <p:attrName>ppt_x</p:attrName>
                                        </p:attrNameLst>
                                      </p:cBhvr>
                                      <p:tavLst>
                                        <p:tav tm="0">
                                          <p:val>
                                            <p:strVal val="#ppt_x"/>
                                          </p:val>
                                        </p:tav>
                                        <p:tav tm="100000">
                                          <p:val>
                                            <p:strVal val="#ppt_x"/>
                                          </p:val>
                                        </p:tav>
                                      </p:tavLst>
                                    </p:anim>
                                    <p:anim calcmode="lin" valueType="num">
                                      <p:cBhvr additive="base">
                                        <p:cTn id="79" dur="500" fill="hold"/>
                                        <p:tgtEl>
                                          <p:spTgt spid="19"/>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440"/>
                                  </p:stCondLst>
                                  <p:childTnLst>
                                    <p:set>
                                      <p:cBhvr>
                                        <p:cTn id="81" dur="1" fill="hold">
                                          <p:stCondLst>
                                            <p:cond delay="0"/>
                                          </p:stCondLst>
                                        </p:cTn>
                                        <p:tgtEl>
                                          <p:spTgt spid="20"/>
                                        </p:tgtEl>
                                        <p:attrNameLst>
                                          <p:attrName>style.visibility</p:attrName>
                                        </p:attrNameLst>
                                      </p:cBhvr>
                                      <p:to>
                                        <p:strVal val="visible"/>
                                      </p:to>
                                    </p:set>
                                    <p:animEffect transition="in" filter="fade">
                                      <p:cBhvr>
                                        <p:cTn id="82" dur="500"/>
                                        <p:tgtEl>
                                          <p:spTgt spid="20"/>
                                        </p:tgtEl>
                                      </p:cBhvr>
                                    </p:animEffect>
                                    <p:anim calcmode="lin" valueType="num">
                                      <p:cBhvr additive="base">
                                        <p:cTn id="83" dur="500" fill="hold"/>
                                        <p:tgtEl>
                                          <p:spTgt spid="20"/>
                                        </p:tgtEl>
                                        <p:attrNameLst>
                                          <p:attrName>ppt_x</p:attrName>
                                        </p:attrNameLst>
                                      </p:cBhvr>
                                      <p:tavLst>
                                        <p:tav tm="0">
                                          <p:val>
                                            <p:strVal val="#ppt_x"/>
                                          </p:val>
                                        </p:tav>
                                        <p:tav tm="100000">
                                          <p:val>
                                            <p:strVal val="#ppt_x"/>
                                          </p:val>
                                        </p:tav>
                                      </p:tavLst>
                                    </p:anim>
                                    <p:anim calcmode="lin" valueType="num">
                                      <p:cBhvr additive="base">
                                        <p:cTn id="84" dur="500" fill="hold"/>
                                        <p:tgtEl>
                                          <p:spTgt spid="20"/>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440"/>
                                  </p:stCondLst>
                                  <p:childTnLst>
                                    <p:set>
                                      <p:cBhvr>
                                        <p:cTn id="86" dur="1" fill="hold">
                                          <p:stCondLst>
                                            <p:cond delay="0"/>
                                          </p:stCondLst>
                                        </p:cTn>
                                        <p:tgtEl>
                                          <p:spTgt spid="21"/>
                                        </p:tgtEl>
                                        <p:attrNameLst>
                                          <p:attrName>style.visibility</p:attrName>
                                        </p:attrNameLst>
                                      </p:cBhvr>
                                      <p:to>
                                        <p:strVal val="visible"/>
                                      </p:to>
                                    </p:set>
                                    <p:animEffect transition="in" filter="fade">
                                      <p:cBhvr>
                                        <p:cTn id="87" dur="500"/>
                                        <p:tgtEl>
                                          <p:spTgt spid="21"/>
                                        </p:tgtEl>
                                      </p:cBhvr>
                                    </p:animEffect>
                                    <p:anim calcmode="lin" valueType="num">
                                      <p:cBhvr additive="base">
                                        <p:cTn id="88" dur="500" fill="hold"/>
                                        <p:tgtEl>
                                          <p:spTgt spid="21"/>
                                        </p:tgtEl>
                                        <p:attrNameLst>
                                          <p:attrName>ppt_x</p:attrName>
                                        </p:attrNameLst>
                                      </p:cBhvr>
                                      <p:tavLst>
                                        <p:tav tm="0">
                                          <p:val>
                                            <p:strVal val="#ppt_x"/>
                                          </p:val>
                                        </p:tav>
                                        <p:tav tm="100000">
                                          <p:val>
                                            <p:strVal val="#ppt_x"/>
                                          </p:val>
                                        </p:tav>
                                      </p:tavLst>
                                    </p:anim>
                                    <p:anim calcmode="lin" valueType="num">
                                      <p:cBhvr additive="base">
                                        <p:cTn id="89" dur="500" fill="hold"/>
                                        <p:tgtEl>
                                          <p:spTgt spid="21"/>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440"/>
                                  </p:stCondLst>
                                  <p:childTnLst>
                                    <p:set>
                                      <p:cBhvr>
                                        <p:cTn id="91" dur="1" fill="hold">
                                          <p:stCondLst>
                                            <p:cond delay="0"/>
                                          </p:stCondLst>
                                        </p:cTn>
                                        <p:tgtEl>
                                          <p:spTgt spid="22"/>
                                        </p:tgtEl>
                                        <p:attrNameLst>
                                          <p:attrName>style.visibility</p:attrName>
                                        </p:attrNameLst>
                                      </p:cBhvr>
                                      <p:to>
                                        <p:strVal val="visible"/>
                                      </p:to>
                                    </p:set>
                                    <p:animEffect transition="in" filter="fade">
                                      <p:cBhvr>
                                        <p:cTn id="92" dur="500"/>
                                        <p:tgtEl>
                                          <p:spTgt spid="22"/>
                                        </p:tgtEl>
                                      </p:cBhvr>
                                    </p:animEffect>
                                    <p:anim calcmode="lin" valueType="num">
                                      <p:cBhvr additive="base">
                                        <p:cTn id="93" dur="500" fill="hold"/>
                                        <p:tgtEl>
                                          <p:spTgt spid="22"/>
                                        </p:tgtEl>
                                        <p:attrNameLst>
                                          <p:attrName>ppt_x</p:attrName>
                                        </p:attrNameLst>
                                      </p:cBhvr>
                                      <p:tavLst>
                                        <p:tav tm="0">
                                          <p:val>
                                            <p:strVal val="#ppt_x"/>
                                          </p:val>
                                        </p:tav>
                                        <p:tav tm="100000">
                                          <p:val>
                                            <p:strVal val="#ppt_x"/>
                                          </p:val>
                                        </p:tav>
                                      </p:tavLst>
                                    </p:anim>
                                    <p:anim calcmode="lin" valueType="num">
                                      <p:cBhvr additive="base">
                                        <p:cTn id="94" dur="500" fill="hold"/>
                                        <p:tgtEl>
                                          <p:spTgt spid="22"/>
                                        </p:tgtEl>
                                        <p:attrNameLst>
                                          <p:attrName>ppt_y</p:attrName>
                                        </p:attrNameLst>
                                      </p:cBhvr>
                                      <p:tavLst>
                                        <p:tav tm="0">
                                          <p:val>
                                            <p:strVal val="#ppt_y+.1"/>
                                          </p:val>
                                        </p:tav>
                                        <p:tav tm="100000">
                                          <p:val>
                                            <p:strVal val="#ppt_y"/>
                                          </p:val>
                                        </p:tav>
                                      </p:tavLst>
                                    </p:anim>
                                  </p:childTnLst>
                                </p:cTn>
                              </p:par>
                              <p:par>
                                <p:cTn id="95" presetID="42" presetClass="entr" presetSubtype="0" fill="hold" grpId="0" nodeType="withEffect">
                                  <p:stCondLst>
                                    <p:cond delay="440"/>
                                  </p:stCondLst>
                                  <p:childTnLst>
                                    <p:set>
                                      <p:cBhvr>
                                        <p:cTn id="96" dur="1" fill="hold">
                                          <p:stCondLst>
                                            <p:cond delay="0"/>
                                          </p:stCondLst>
                                        </p:cTn>
                                        <p:tgtEl>
                                          <p:spTgt spid="23"/>
                                        </p:tgtEl>
                                        <p:attrNameLst>
                                          <p:attrName>style.visibility</p:attrName>
                                        </p:attrNameLst>
                                      </p:cBhvr>
                                      <p:to>
                                        <p:strVal val="visible"/>
                                      </p:to>
                                    </p:set>
                                    <p:animEffect transition="in" filter="fade">
                                      <p:cBhvr>
                                        <p:cTn id="97" dur="500"/>
                                        <p:tgtEl>
                                          <p:spTgt spid="23"/>
                                        </p:tgtEl>
                                      </p:cBhvr>
                                    </p:animEffect>
                                    <p:anim calcmode="lin" valueType="num">
                                      <p:cBhvr additive="base">
                                        <p:cTn id="98" dur="500" fill="hold"/>
                                        <p:tgtEl>
                                          <p:spTgt spid="23"/>
                                        </p:tgtEl>
                                        <p:attrNameLst>
                                          <p:attrName>ppt_x</p:attrName>
                                        </p:attrNameLst>
                                      </p:cBhvr>
                                      <p:tavLst>
                                        <p:tav tm="0">
                                          <p:val>
                                            <p:strVal val="#ppt_x"/>
                                          </p:val>
                                        </p:tav>
                                        <p:tav tm="100000">
                                          <p:val>
                                            <p:strVal val="#ppt_x"/>
                                          </p:val>
                                        </p:tav>
                                      </p:tavLst>
                                    </p:anim>
                                    <p:anim calcmode="lin" valueType="num">
                                      <p:cBhvr additive="base">
                                        <p:cTn id="99" dur="500" fill="hold"/>
                                        <p:tgtEl>
                                          <p:spTgt spid="23"/>
                                        </p:tgtEl>
                                        <p:attrNameLst>
                                          <p:attrName>ppt_y</p:attrName>
                                        </p:attrNameLst>
                                      </p:cBhvr>
                                      <p:tavLst>
                                        <p:tav tm="0">
                                          <p:val>
                                            <p:strVal val="#ppt_y+.1"/>
                                          </p:val>
                                        </p:tav>
                                        <p:tav tm="100000">
                                          <p:val>
                                            <p:strVal val="#ppt_y"/>
                                          </p:val>
                                        </p:tav>
                                      </p:tavLst>
                                    </p:anim>
                                  </p:childTnLst>
                                </p:cTn>
                              </p:par>
                              <p:par>
                                <p:cTn id="100" presetID="42" presetClass="entr" presetSubtype="0" fill="hold" grpId="0" nodeType="withEffect">
                                  <p:stCondLst>
                                    <p:cond delay="440"/>
                                  </p:stCondLst>
                                  <p:childTnLst>
                                    <p:set>
                                      <p:cBhvr>
                                        <p:cTn id="101" dur="1" fill="hold">
                                          <p:stCondLst>
                                            <p:cond delay="0"/>
                                          </p:stCondLst>
                                        </p:cTn>
                                        <p:tgtEl>
                                          <p:spTgt spid="24"/>
                                        </p:tgtEl>
                                        <p:attrNameLst>
                                          <p:attrName>style.visibility</p:attrName>
                                        </p:attrNameLst>
                                      </p:cBhvr>
                                      <p:to>
                                        <p:strVal val="visible"/>
                                      </p:to>
                                    </p:set>
                                    <p:animEffect transition="in" filter="fade">
                                      <p:cBhvr>
                                        <p:cTn id="102" dur="500"/>
                                        <p:tgtEl>
                                          <p:spTgt spid="24"/>
                                        </p:tgtEl>
                                      </p:cBhvr>
                                    </p:animEffect>
                                    <p:anim calcmode="lin" valueType="num">
                                      <p:cBhvr additive="base">
                                        <p:cTn id="103" dur="500" fill="hold"/>
                                        <p:tgtEl>
                                          <p:spTgt spid="24"/>
                                        </p:tgtEl>
                                        <p:attrNameLst>
                                          <p:attrName>ppt_x</p:attrName>
                                        </p:attrNameLst>
                                      </p:cBhvr>
                                      <p:tavLst>
                                        <p:tav tm="0">
                                          <p:val>
                                            <p:strVal val="#ppt_x"/>
                                          </p:val>
                                        </p:tav>
                                        <p:tav tm="100000">
                                          <p:val>
                                            <p:strVal val="#ppt_x"/>
                                          </p:val>
                                        </p:tav>
                                      </p:tavLst>
                                    </p:anim>
                                    <p:anim calcmode="lin" valueType="num">
                                      <p:cBhvr additive="base">
                                        <p:cTn id="104" dur="500" fill="hold"/>
                                        <p:tgtEl>
                                          <p:spTgt spid="24"/>
                                        </p:tgtEl>
                                        <p:attrNameLst>
                                          <p:attrName>ppt_y</p:attrName>
                                        </p:attrNameLst>
                                      </p:cBhvr>
                                      <p:tavLst>
                                        <p:tav tm="0">
                                          <p:val>
                                            <p:strVal val="#ppt_y+.1"/>
                                          </p:val>
                                        </p:tav>
                                        <p:tav tm="100000">
                                          <p:val>
                                            <p:strVal val="#ppt_y"/>
                                          </p:val>
                                        </p:tav>
                                      </p:tavLst>
                                    </p:anim>
                                  </p:childTnLst>
                                </p:cTn>
                              </p:par>
                              <p:par>
                                <p:cTn id="105" presetID="42" presetClass="entr" presetSubtype="0" fill="hold" grpId="0" nodeType="withEffect">
                                  <p:stCondLst>
                                    <p:cond delay="440"/>
                                  </p:stCondLst>
                                  <p:childTnLst>
                                    <p:set>
                                      <p:cBhvr>
                                        <p:cTn id="106" dur="1" fill="hold">
                                          <p:stCondLst>
                                            <p:cond delay="0"/>
                                          </p:stCondLst>
                                        </p:cTn>
                                        <p:tgtEl>
                                          <p:spTgt spid="25"/>
                                        </p:tgtEl>
                                        <p:attrNameLst>
                                          <p:attrName>style.visibility</p:attrName>
                                        </p:attrNameLst>
                                      </p:cBhvr>
                                      <p:to>
                                        <p:strVal val="visible"/>
                                      </p:to>
                                    </p:set>
                                    <p:animEffect transition="in" filter="fade">
                                      <p:cBhvr>
                                        <p:cTn id="107" dur="500"/>
                                        <p:tgtEl>
                                          <p:spTgt spid="25"/>
                                        </p:tgtEl>
                                      </p:cBhvr>
                                    </p:animEffect>
                                    <p:anim calcmode="lin" valueType="num">
                                      <p:cBhvr additive="base">
                                        <p:cTn id="108" dur="500" fill="hold"/>
                                        <p:tgtEl>
                                          <p:spTgt spid="25"/>
                                        </p:tgtEl>
                                        <p:attrNameLst>
                                          <p:attrName>ppt_x</p:attrName>
                                        </p:attrNameLst>
                                      </p:cBhvr>
                                      <p:tavLst>
                                        <p:tav tm="0">
                                          <p:val>
                                            <p:strVal val="#ppt_x"/>
                                          </p:val>
                                        </p:tav>
                                        <p:tav tm="100000">
                                          <p:val>
                                            <p:strVal val="#ppt_x"/>
                                          </p:val>
                                        </p:tav>
                                      </p:tavLst>
                                    </p:anim>
                                    <p:anim calcmode="lin" valueType="num">
                                      <p:cBhvr additive="base">
                                        <p:cTn id="109" dur="500" fill="hold"/>
                                        <p:tgtEl>
                                          <p:spTgt spid="25"/>
                                        </p:tgtEl>
                                        <p:attrNameLst>
                                          <p:attrName>ppt_y</p:attrName>
                                        </p:attrNameLst>
                                      </p:cBhvr>
                                      <p:tavLst>
                                        <p:tav tm="0">
                                          <p:val>
                                            <p:strVal val="#ppt_y+.1"/>
                                          </p:val>
                                        </p:tav>
                                        <p:tav tm="100000">
                                          <p:val>
                                            <p:strVal val="#ppt_y"/>
                                          </p:val>
                                        </p:tav>
                                      </p:tavLst>
                                    </p:anim>
                                  </p:childTnLst>
                                </p:cTn>
                              </p:par>
                              <p:par>
                                <p:cTn id="110" presetID="42" presetClass="entr" presetSubtype="0" fill="hold" grpId="0" nodeType="withEffect">
                                  <p:stCondLst>
                                    <p:cond delay="660"/>
                                  </p:stCondLst>
                                  <p:childTnLst>
                                    <p:set>
                                      <p:cBhvr>
                                        <p:cTn id="111" dur="1" fill="hold">
                                          <p:stCondLst>
                                            <p:cond delay="0"/>
                                          </p:stCondLst>
                                        </p:cTn>
                                        <p:tgtEl>
                                          <p:spTgt spid="26"/>
                                        </p:tgtEl>
                                        <p:attrNameLst>
                                          <p:attrName>style.visibility</p:attrName>
                                        </p:attrNameLst>
                                      </p:cBhvr>
                                      <p:to>
                                        <p:strVal val="visible"/>
                                      </p:to>
                                    </p:set>
                                    <p:animEffect transition="in" filter="fade">
                                      <p:cBhvr>
                                        <p:cTn id="112" dur="500"/>
                                        <p:tgtEl>
                                          <p:spTgt spid="26"/>
                                        </p:tgtEl>
                                      </p:cBhvr>
                                    </p:animEffect>
                                    <p:anim calcmode="lin" valueType="num">
                                      <p:cBhvr additive="base">
                                        <p:cTn id="113" dur="500" fill="hold"/>
                                        <p:tgtEl>
                                          <p:spTgt spid="26"/>
                                        </p:tgtEl>
                                        <p:attrNameLst>
                                          <p:attrName>ppt_x</p:attrName>
                                        </p:attrNameLst>
                                      </p:cBhvr>
                                      <p:tavLst>
                                        <p:tav tm="0">
                                          <p:val>
                                            <p:strVal val="#ppt_x"/>
                                          </p:val>
                                        </p:tav>
                                        <p:tav tm="100000">
                                          <p:val>
                                            <p:strVal val="#ppt_x"/>
                                          </p:val>
                                        </p:tav>
                                      </p:tavLst>
                                    </p:anim>
                                    <p:anim calcmode="lin" valueType="num">
                                      <p:cBhvr additive="base">
                                        <p:cTn id="114" dur="500" fill="hold"/>
                                        <p:tgtEl>
                                          <p:spTgt spid="26"/>
                                        </p:tgtEl>
                                        <p:attrNameLst>
                                          <p:attrName>ppt_y</p:attrName>
                                        </p:attrNameLst>
                                      </p:cBhvr>
                                      <p:tavLst>
                                        <p:tav tm="0">
                                          <p:val>
                                            <p:strVal val="#ppt_y+.1"/>
                                          </p:val>
                                        </p:tav>
                                        <p:tav tm="100000">
                                          <p:val>
                                            <p:strVal val="#ppt_y"/>
                                          </p:val>
                                        </p:tav>
                                      </p:tavLst>
                                    </p:anim>
                                  </p:childTnLst>
                                </p:cTn>
                              </p:par>
                              <p:par>
                                <p:cTn id="115" presetID="42" presetClass="entr" presetSubtype="0" fill="hold" grpId="0" nodeType="withEffect">
                                  <p:stCondLst>
                                    <p:cond delay="660"/>
                                  </p:stCondLst>
                                  <p:childTnLst>
                                    <p:set>
                                      <p:cBhvr>
                                        <p:cTn id="116" dur="1" fill="hold">
                                          <p:stCondLst>
                                            <p:cond delay="0"/>
                                          </p:stCondLst>
                                        </p:cTn>
                                        <p:tgtEl>
                                          <p:spTgt spid="27"/>
                                        </p:tgtEl>
                                        <p:attrNameLst>
                                          <p:attrName>style.visibility</p:attrName>
                                        </p:attrNameLst>
                                      </p:cBhvr>
                                      <p:to>
                                        <p:strVal val="visible"/>
                                      </p:to>
                                    </p:set>
                                    <p:animEffect transition="in" filter="fade">
                                      <p:cBhvr>
                                        <p:cTn id="117" dur="500"/>
                                        <p:tgtEl>
                                          <p:spTgt spid="27"/>
                                        </p:tgtEl>
                                      </p:cBhvr>
                                    </p:animEffect>
                                    <p:anim calcmode="lin" valueType="num">
                                      <p:cBhvr additive="base">
                                        <p:cTn id="118" dur="500" fill="hold"/>
                                        <p:tgtEl>
                                          <p:spTgt spid="27"/>
                                        </p:tgtEl>
                                        <p:attrNameLst>
                                          <p:attrName>ppt_x</p:attrName>
                                        </p:attrNameLst>
                                      </p:cBhvr>
                                      <p:tavLst>
                                        <p:tav tm="0">
                                          <p:val>
                                            <p:strVal val="#ppt_x"/>
                                          </p:val>
                                        </p:tav>
                                        <p:tav tm="100000">
                                          <p:val>
                                            <p:strVal val="#ppt_x"/>
                                          </p:val>
                                        </p:tav>
                                      </p:tavLst>
                                    </p:anim>
                                    <p:anim calcmode="lin" valueType="num">
                                      <p:cBhvr additive="base">
                                        <p:cTn id="119" dur="500" fill="hold"/>
                                        <p:tgtEl>
                                          <p:spTgt spid="27"/>
                                        </p:tgtEl>
                                        <p:attrNameLst>
                                          <p:attrName>ppt_y</p:attrName>
                                        </p:attrNameLst>
                                      </p:cBhvr>
                                      <p:tavLst>
                                        <p:tav tm="0">
                                          <p:val>
                                            <p:strVal val="#ppt_y+.1"/>
                                          </p:val>
                                        </p:tav>
                                        <p:tav tm="100000">
                                          <p:val>
                                            <p:strVal val="#ppt_y"/>
                                          </p:val>
                                        </p:tav>
                                      </p:tavLst>
                                    </p:anim>
                                  </p:childTnLst>
                                </p:cTn>
                              </p:par>
                              <p:par>
                                <p:cTn id="120" presetID="42" presetClass="entr" presetSubtype="0" fill="hold" grpId="0" nodeType="withEffect">
                                  <p:stCondLst>
                                    <p:cond delay="660"/>
                                  </p:stCondLst>
                                  <p:childTnLst>
                                    <p:set>
                                      <p:cBhvr>
                                        <p:cTn id="121" dur="1" fill="hold">
                                          <p:stCondLst>
                                            <p:cond delay="0"/>
                                          </p:stCondLst>
                                        </p:cTn>
                                        <p:tgtEl>
                                          <p:spTgt spid="28"/>
                                        </p:tgtEl>
                                        <p:attrNameLst>
                                          <p:attrName>style.visibility</p:attrName>
                                        </p:attrNameLst>
                                      </p:cBhvr>
                                      <p:to>
                                        <p:strVal val="visible"/>
                                      </p:to>
                                    </p:set>
                                    <p:animEffect transition="in" filter="fade">
                                      <p:cBhvr>
                                        <p:cTn id="122" dur="500"/>
                                        <p:tgtEl>
                                          <p:spTgt spid="28"/>
                                        </p:tgtEl>
                                      </p:cBhvr>
                                    </p:animEffect>
                                    <p:anim calcmode="lin" valueType="num">
                                      <p:cBhvr additive="base">
                                        <p:cTn id="123" dur="500" fill="hold"/>
                                        <p:tgtEl>
                                          <p:spTgt spid="28"/>
                                        </p:tgtEl>
                                        <p:attrNameLst>
                                          <p:attrName>ppt_x</p:attrName>
                                        </p:attrNameLst>
                                      </p:cBhvr>
                                      <p:tavLst>
                                        <p:tav tm="0">
                                          <p:val>
                                            <p:strVal val="#ppt_x"/>
                                          </p:val>
                                        </p:tav>
                                        <p:tav tm="100000">
                                          <p:val>
                                            <p:strVal val="#ppt_x"/>
                                          </p:val>
                                        </p:tav>
                                      </p:tavLst>
                                    </p:anim>
                                    <p:anim calcmode="lin" valueType="num">
                                      <p:cBhvr additive="base">
                                        <p:cTn id="124" dur="500" fill="hold"/>
                                        <p:tgtEl>
                                          <p:spTgt spid="28"/>
                                        </p:tgtEl>
                                        <p:attrNameLst>
                                          <p:attrName>ppt_y</p:attrName>
                                        </p:attrNameLst>
                                      </p:cBhvr>
                                      <p:tavLst>
                                        <p:tav tm="0">
                                          <p:val>
                                            <p:strVal val="#ppt_y+.1"/>
                                          </p:val>
                                        </p:tav>
                                        <p:tav tm="100000">
                                          <p:val>
                                            <p:strVal val="#ppt_y"/>
                                          </p:val>
                                        </p:tav>
                                      </p:tavLst>
                                    </p:anim>
                                  </p:childTnLst>
                                </p:cTn>
                              </p:par>
                              <p:par>
                                <p:cTn id="125" presetID="42" presetClass="entr" presetSubtype="0" fill="hold" grpId="0" nodeType="withEffect">
                                  <p:stCondLst>
                                    <p:cond delay="660"/>
                                  </p:stCondLst>
                                  <p:childTnLst>
                                    <p:set>
                                      <p:cBhvr>
                                        <p:cTn id="126" dur="1" fill="hold">
                                          <p:stCondLst>
                                            <p:cond delay="0"/>
                                          </p:stCondLst>
                                        </p:cTn>
                                        <p:tgtEl>
                                          <p:spTgt spid="29"/>
                                        </p:tgtEl>
                                        <p:attrNameLst>
                                          <p:attrName>style.visibility</p:attrName>
                                        </p:attrNameLst>
                                      </p:cBhvr>
                                      <p:to>
                                        <p:strVal val="visible"/>
                                      </p:to>
                                    </p:set>
                                    <p:animEffect transition="in" filter="fade">
                                      <p:cBhvr>
                                        <p:cTn id="127" dur="500"/>
                                        <p:tgtEl>
                                          <p:spTgt spid="29"/>
                                        </p:tgtEl>
                                      </p:cBhvr>
                                    </p:animEffect>
                                    <p:anim calcmode="lin" valueType="num">
                                      <p:cBhvr additive="base">
                                        <p:cTn id="128" dur="500" fill="hold"/>
                                        <p:tgtEl>
                                          <p:spTgt spid="29"/>
                                        </p:tgtEl>
                                        <p:attrNameLst>
                                          <p:attrName>ppt_x</p:attrName>
                                        </p:attrNameLst>
                                      </p:cBhvr>
                                      <p:tavLst>
                                        <p:tav tm="0">
                                          <p:val>
                                            <p:strVal val="#ppt_x"/>
                                          </p:val>
                                        </p:tav>
                                        <p:tav tm="100000">
                                          <p:val>
                                            <p:strVal val="#ppt_x"/>
                                          </p:val>
                                        </p:tav>
                                      </p:tavLst>
                                    </p:anim>
                                    <p:anim calcmode="lin" valueType="num">
                                      <p:cBhvr additive="base">
                                        <p:cTn id="129" dur="500" fill="hold"/>
                                        <p:tgtEl>
                                          <p:spTgt spid="29"/>
                                        </p:tgtEl>
                                        <p:attrNameLst>
                                          <p:attrName>ppt_y</p:attrName>
                                        </p:attrNameLst>
                                      </p:cBhvr>
                                      <p:tavLst>
                                        <p:tav tm="0">
                                          <p:val>
                                            <p:strVal val="#ppt_y+.1"/>
                                          </p:val>
                                        </p:tav>
                                        <p:tav tm="100000">
                                          <p:val>
                                            <p:strVal val="#ppt_y"/>
                                          </p:val>
                                        </p:tav>
                                      </p:tavLst>
                                    </p:anim>
                                  </p:childTnLst>
                                </p:cTn>
                              </p:par>
                              <p:par>
                                <p:cTn id="130" presetID="42" presetClass="entr" presetSubtype="0" fill="hold" grpId="0" nodeType="withEffect">
                                  <p:stCondLst>
                                    <p:cond delay="660"/>
                                  </p:stCondLst>
                                  <p:childTnLst>
                                    <p:set>
                                      <p:cBhvr>
                                        <p:cTn id="131" dur="1" fill="hold">
                                          <p:stCondLst>
                                            <p:cond delay="0"/>
                                          </p:stCondLst>
                                        </p:cTn>
                                        <p:tgtEl>
                                          <p:spTgt spid="30"/>
                                        </p:tgtEl>
                                        <p:attrNameLst>
                                          <p:attrName>style.visibility</p:attrName>
                                        </p:attrNameLst>
                                      </p:cBhvr>
                                      <p:to>
                                        <p:strVal val="visible"/>
                                      </p:to>
                                    </p:set>
                                    <p:animEffect transition="in" filter="fade">
                                      <p:cBhvr>
                                        <p:cTn id="132" dur="500"/>
                                        <p:tgtEl>
                                          <p:spTgt spid="30"/>
                                        </p:tgtEl>
                                      </p:cBhvr>
                                    </p:animEffect>
                                    <p:anim calcmode="lin" valueType="num">
                                      <p:cBhvr additive="base">
                                        <p:cTn id="133" dur="500" fill="hold"/>
                                        <p:tgtEl>
                                          <p:spTgt spid="30"/>
                                        </p:tgtEl>
                                        <p:attrNameLst>
                                          <p:attrName>ppt_x</p:attrName>
                                        </p:attrNameLst>
                                      </p:cBhvr>
                                      <p:tavLst>
                                        <p:tav tm="0">
                                          <p:val>
                                            <p:strVal val="#ppt_x"/>
                                          </p:val>
                                        </p:tav>
                                        <p:tav tm="100000">
                                          <p:val>
                                            <p:strVal val="#ppt_x"/>
                                          </p:val>
                                        </p:tav>
                                      </p:tavLst>
                                    </p:anim>
                                    <p:anim calcmode="lin" valueType="num">
                                      <p:cBhvr additive="base">
                                        <p:cTn id="134" dur="500" fill="hold"/>
                                        <p:tgtEl>
                                          <p:spTgt spid="30"/>
                                        </p:tgtEl>
                                        <p:attrNameLst>
                                          <p:attrName>ppt_y</p:attrName>
                                        </p:attrNameLst>
                                      </p:cBhvr>
                                      <p:tavLst>
                                        <p:tav tm="0">
                                          <p:val>
                                            <p:strVal val="#ppt_y+.1"/>
                                          </p:val>
                                        </p:tav>
                                        <p:tav tm="100000">
                                          <p:val>
                                            <p:strVal val="#ppt_y"/>
                                          </p:val>
                                        </p:tav>
                                      </p:tavLst>
                                    </p:anim>
                                  </p:childTnLst>
                                </p:cTn>
                              </p:par>
                              <p:par>
                                <p:cTn id="135" presetID="42" presetClass="entr" presetSubtype="0" fill="hold" grpId="0" nodeType="withEffect">
                                  <p:stCondLst>
                                    <p:cond delay="660"/>
                                  </p:stCondLst>
                                  <p:childTnLst>
                                    <p:set>
                                      <p:cBhvr>
                                        <p:cTn id="136" dur="1" fill="hold">
                                          <p:stCondLst>
                                            <p:cond delay="0"/>
                                          </p:stCondLst>
                                        </p:cTn>
                                        <p:tgtEl>
                                          <p:spTgt spid="31"/>
                                        </p:tgtEl>
                                        <p:attrNameLst>
                                          <p:attrName>style.visibility</p:attrName>
                                        </p:attrNameLst>
                                      </p:cBhvr>
                                      <p:to>
                                        <p:strVal val="visible"/>
                                      </p:to>
                                    </p:set>
                                    <p:animEffect transition="in" filter="fade">
                                      <p:cBhvr>
                                        <p:cTn id="137" dur="500"/>
                                        <p:tgtEl>
                                          <p:spTgt spid="31"/>
                                        </p:tgtEl>
                                      </p:cBhvr>
                                    </p:animEffect>
                                    <p:anim calcmode="lin" valueType="num">
                                      <p:cBhvr additive="base">
                                        <p:cTn id="138" dur="500" fill="hold"/>
                                        <p:tgtEl>
                                          <p:spTgt spid="31"/>
                                        </p:tgtEl>
                                        <p:attrNameLst>
                                          <p:attrName>ppt_x</p:attrName>
                                        </p:attrNameLst>
                                      </p:cBhvr>
                                      <p:tavLst>
                                        <p:tav tm="0">
                                          <p:val>
                                            <p:strVal val="#ppt_x"/>
                                          </p:val>
                                        </p:tav>
                                        <p:tav tm="100000">
                                          <p:val>
                                            <p:strVal val="#ppt_x"/>
                                          </p:val>
                                        </p:tav>
                                      </p:tavLst>
                                    </p:anim>
                                    <p:anim calcmode="lin" valueType="num">
                                      <p:cBhvr additive="base">
                                        <p:cTn id="139" dur="500" fill="hold"/>
                                        <p:tgtEl>
                                          <p:spTgt spid="31"/>
                                        </p:tgtEl>
                                        <p:attrNameLst>
                                          <p:attrName>ppt_y</p:attrName>
                                        </p:attrNameLst>
                                      </p:cBhvr>
                                      <p:tavLst>
                                        <p:tav tm="0">
                                          <p:val>
                                            <p:strVal val="#ppt_y+.1"/>
                                          </p:val>
                                        </p:tav>
                                        <p:tav tm="100000">
                                          <p:val>
                                            <p:strVal val="#ppt_y"/>
                                          </p:val>
                                        </p:tav>
                                      </p:tavLst>
                                    </p:anim>
                                  </p:childTnLst>
                                </p:cTn>
                              </p:par>
                              <p:par>
                                <p:cTn id="140" presetID="42" presetClass="entr" presetSubtype="0" fill="hold" grpId="0" nodeType="withEffect">
                                  <p:stCondLst>
                                    <p:cond delay="660"/>
                                  </p:stCondLst>
                                  <p:childTnLst>
                                    <p:set>
                                      <p:cBhvr>
                                        <p:cTn id="141" dur="1" fill="hold">
                                          <p:stCondLst>
                                            <p:cond delay="0"/>
                                          </p:stCondLst>
                                        </p:cTn>
                                        <p:tgtEl>
                                          <p:spTgt spid="32"/>
                                        </p:tgtEl>
                                        <p:attrNameLst>
                                          <p:attrName>style.visibility</p:attrName>
                                        </p:attrNameLst>
                                      </p:cBhvr>
                                      <p:to>
                                        <p:strVal val="visible"/>
                                      </p:to>
                                    </p:set>
                                    <p:animEffect transition="in" filter="fade">
                                      <p:cBhvr>
                                        <p:cTn id="142" dur="500"/>
                                        <p:tgtEl>
                                          <p:spTgt spid="32"/>
                                        </p:tgtEl>
                                      </p:cBhvr>
                                    </p:animEffect>
                                    <p:anim calcmode="lin" valueType="num">
                                      <p:cBhvr additive="base">
                                        <p:cTn id="143" dur="500" fill="hold"/>
                                        <p:tgtEl>
                                          <p:spTgt spid="32"/>
                                        </p:tgtEl>
                                        <p:attrNameLst>
                                          <p:attrName>ppt_x</p:attrName>
                                        </p:attrNameLst>
                                      </p:cBhvr>
                                      <p:tavLst>
                                        <p:tav tm="0">
                                          <p:val>
                                            <p:strVal val="#ppt_x"/>
                                          </p:val>
                                        </p:tav>
                                        <p:tav tm="100000">
                                          <p:val>
                                            <p:strVal val="#ppt_x"/>
                                          </p:val>
                                        </p:tav>
                                      </p:tavLst>
                                    </p:anim>
                                    <p:anim calcmode="lin" valueType="num">
                                      <p:cBhvr additive="base">
                                        <p:cTn id="144" dur="500" fill="hold"/>
                                        <p:tgtEl>
                                          <p:spTgt spid="32"/>
                                        </p:tgtEl>
                                        <p:attrNameLst>
                                          <p:attrName>ppt_y</p:attrName>
                                        </p:attrNameLst>
                                      </p:cBhvr>
                                      <p:tavLst>
                                        <p:tav tm="0">
                                          <p:val>
                                            <p:strVal val="#ppt_y+.1"/>
                                          </p:val>
                                        </p:tav>
                                        <p:tav tm="100000">
                                          <p:val>
                                            <p:strVal val="#ppt_y"/>
                                          </p:val>
                                        </p:tav>
                                      </p:tavLst>
                                    </p:anim>
                                  </p:childTnLst>
                                </p:cTn>
                              </p:par>
                              <p:par>
                                <p:cTn id="145" presetID="42" presetClass="entr" presetSubtype="0" fill="hold" grpId="0" nodeType="withEffect">
                                  <p:stCondLst>
                                    <p:cond delay="880"/>
                                  </p:stCondLst>
                                  <p:childTnLst>
                                    <p:set>
                                      <p:cBhvr>
                                        <p:cTn id="146" dur="1" fill="hold">
                                          <p:stCondLst>
                                            <p:cond delay="0"/>
                                          </p:stCondLst>
                                        </p:cTn>
                                        <p:tgtEl>
                                          <p:spTgt spid="33"/>
                                        </p:tgtEl>
                                        <p:attrNameLst>
                                          <p:attrName>style.visibility</p:attrName>
                                        </p:attrNameLst>
                                      </p:cBhvr>
                                      <p:to>
                                        <p:strVal val="visible"/>
                                      </p:to>
                                    </p:set>
                                    <p:animEffect transition="in" filter="fade">
                                      <p:cBhvr>
                                        <p:cTn id="147" dur="500"/>
                                        <p:tgtEl>
                                          <p:spTgt spid="33"/>
                                        </p:tgtEl>
                                      </p:cBhvr>
                                    </p:animEffect>
                                    <p:anim calcmode="lin" valueType="num">
                                      <p:cBhvr additive="base">
                                        <p:cTn id="148" dur="500" fill="hold"/>
                                        <p:tgtEl>
                                          <p:spTgt spid="33"/>
                                        </p:tgtEl>
                                        <p:attrNameLst>
                                          <p:attrName>ppt_x</p:attrName>
                                        </p:attrNameLst>
                                      </p:cBhvr>
                                      <p:tavLst>
                                        <p:tav tm="0">
                                          <p:val>
                                            <p:strVal val="#ppt_x"/>
                                          </p:val>
                                        </p:tav>
                                        <p:tav tm="100000">
                                          <p:val>
                                            <p:strVal val="#ppt_x"/>
                                          </p:val>
                                        </p:tav>
                                      </p:tavLst>
                                    </p:anim>
                                    <p:anim calcmode="lin" valueType="num">
                                      <p:cBhvr additive="base">
                                        <p:cTn id="149" dur="500" fill="hold"/>
                                        <p:tgtEl>
                                          <p:spTgt spid="33"/>
                                        </p:tgtEl>
                                        <p:attrNameLst>
                                          <p:attrName>ppt_y</p:attrName>
                                        </p:attrNameLst>
                                      </p:cBhvr>
                                      <p:tavLst>
                                        <p:tav tm="0">
                                          <p:val>
                                            <p:strVal val="#ppt_y+.1"/>
                                          </p:val>
                                        </p:tav>
                                        <p:tav tm="100000">
                                          <p:val>
                                            <p:strVal val="#ppt_y"/>
                                          </p:val>
                                        </p:tav>
                                      </p:tavLst>
                                    </p:anim>
                                  </p:childTnLst>
                                </p:cTn>
                              </p:par>
                              <p:par>
                                <p:cTn id="150" presetID="42" presetClass="entr" presetSubtype="0" fill="hold" grpId="0" nodeType="withEffect">
                                  <p:stCondLst>
                                    <p:cond delay="880"/>
                                  </p:stCondLst>
                                  <p:childTnLst>
                                    <p:set>
                                      <p:cBhvr>
                                        <p:cTn id="151" dur="1" fill="hold">
                                          <p:stCondLst>
                                            <p:cond delay="0"/>
                                          </p:stCondLst>
                                        </p:cTn>
                                        <p:tgtEl>
                                          <p:spTgt spid="34"/>
                                        </p:tgtEl>
                                        <p:attrNameLst>
                                          <p:attrName>style.visibility</p:attrName>
                                        </p:attrNameLst>
                                      </p:cBhvr>
                                      <p:to>
                                        <p:strVal val="visible"/>
                                      </p:to>
                                    </p:set>
                                    <p:animEffect transition="in" filter="fade">
                                      <p:cBhvr>
                                        <p:cTn id="152" dur="500"/>
                                        <p:tgtEl>
                                          <p:spTgt spid="34"/>
                                        </p:tgtEl>
                                      </p:cBhvr>
                                    </p:animEffect>
                                    <p:anim calcmode="lin" valueType="num">
                                      <p:cBhvr additive="base">
                                        <p:cTn id="153" dur="500" fill="hold"/>
                                        <p:tgtEl>
                                          <p:spTgt spid="34"/>
                                        </p:tgtEl>
                                        <p:attrNameLst>
                                          <p:attrName>ppt_x</p:attrName>
                                        </p:attrNameLst>
                                      </p:cBhvr>
                                      <p:tavLst>
                                        <p:tav tm="0">
                                          <p:val>
                                            <p:strVal val="#ppt_x"/>
                                          </p:val>
                                        </p:tav>
                                        <p:tav tm="100000">
                                          <p:val>
                                            <p:strVal val="#ppt_x"/>
                                          </p:val>
                                        </p:tav>
                                      </p:tavLst>
                                    </p:anim>
                                    <p:anim calcmode="lin" valueType="num">
                                      <p:cBhvr additive="base">
                                        <p:cTn id="154" dur="500" fill="hold"/>
                                        <p:tgtEl>
                                          <p:spTgt spid="34"/>
                                        </p:tgtEl>
                                        <p:attrNameLst>
                                          <p:attrName>ppt_y</p:attrName>
                                        </p:attrNameLst>
                                      </p:cBhvr>
                                      <p:tavLst>
                                        <p:tav tm="0">
                                          <p:val>
                                            <p:strVal val="#ppt_y+.1"/>
                                          </p:val>
                                        </p:tav>
                                        <p:tav tm="100000">
                                          <p:val>
                                            <p:strVal val="#ppt_y"/>
                                          </p:val>
                                        </p:tav>
                                      </p:tavLst>
                                    </p:anim>
                                  </p:childTnLst>
                                </p:cTn>
                              </p:par>
                              <p:par>
                                <p:cTn id="155" presetID="42" presetClass="entr" presetSubtype="0" fill="hold" grpId="0" nodeType="withEffect">
                                  <p:stCondLst>
                                    <p:cond delay="880"/>
                                  </p:stCondLst>
                                  <p:childTnLst>
                                    <p:set>
                                      <p:cBhvr>
                                        <p:cTn id="156" dur="1" fill="hold">
                                          <p:stCondLst>
                                            <p:cond delay="0"/>
                                          </p:stCondLst>
                                        </p:cTn>
                                        <p:tgtEl>
                                          <p:spTgt spid="35"/>
                                        </p:tgtEl>
                                        <p:attrNameLst>
                                          <p:attrName>style.visibility</p:attrName>
                                        </p:attrNameLst>
                                      </p:cBhvr>
                                      <p:to>
                                        <p:strVal val="visible"/>
                                      </p:to>
                                    </p:set>
                                    <p:animEffect transition="in" filter="fade">
                                      <p:cBhvr>
                                        <p:cTn id="157" dur="500"/>
                                        <p:tgtEl>
                                          <p:spTgt spid="35"/>
                                        </p:tgtEl>
                                      </p:cBhvr>
                                    </p:animEffect>
                                    <p:anim calcmode="lin" valueType="num">
                                      <p:cBhvr additive="base">
                                        <p:cTn id="158" dur="500" fill="hold"/>
                                        <p:tgtEl>
                                          <p:spTgt spid="35"/>
                                        </p:tgtEl>
                                        <p:attrNameLst>
                                          <p:attrName>ppt_x</p:attrName>
                                        </p:attrNameLst>
                                      </p:cBhvr>
                                      <p:tavLst>
                                        <p:tav tm="0">
                                          <p:val>
                                            <p:strVal val="#ppt_x"/>
                                          </p:val>
                                        </p:tav>
                                        <p:tav tm="100000">
                                          <p:val>
                                            <p:strVal val="#ppt_x"/>
                                          </p:val>
                                        </p:tav>
                                      </p:tavLst>
                                    </p:anim>
                                    <p:anim calcmode="lin" valueType="num">
                                      <p:cBhvr additive="base">
                                        <p:cTn id="159" dur="500" fill="hold"/>
                                        <p:tgtEl>
                                          <p:spTgt spid="35"/>
                                        </p:tgtEl>
                                        <p:attrNameLst>
                                          <p:attrName>ppt_y</p:attrName>
                                        </p:attrNameLst>
                                      </p:cBhvr>
                                      <p:tavLst>
                                        <p:tav tm="0">
                                          <p:val>
                                            <p:strVal val="#ppt_y+.1"/>
                                          </p:val>
                                        </p:tav>
                                        <p:tav tm="100000">
                                          <p:val>
                                            <p:strVal val="#ppt_y"/>
                                          </p:val>
                                        </p:tav>
                                      </p:tavLst>
                                    </p:anim>
                                  </p:childTnLst>
                                </p:cTn>
                              </p:par>
                              <p:par>
                                <p:cTn id="160" presetID="42" presetClass="entr" presetSubtype="0" fill="hold" grpId="0" nodeType="withEffect">
                                  <p:stCondLst>
                                    <p:cond delay="880"/>
                                  </p:stCondLst>
                                  <p:childTnLst>
                                    <p:set>
                                      <p:cBhvr>
                                        <p:cTn id="161" dur="1" fill="hold">
                                          <p:stCondLst>
                                            <p:cond delay="0"/>
                                          </p:stCondLst>
                                        </p:cTn>
                                        <p:tgtEl>
                                          <p:spTgt spid="36"/>
                                        </p:tgtEl>
                                        <p:attrNameLst>
                                          <p:attrName>style.visibility</p:attrName>
                                        </p:attrNameLst>
                                      </p:cBhvr>
                                      <p:to>
                                        <p:strVal val="visible"/>
                                      </p:to>
                                    </p:set>
                                    <p:animEffect transition="in" filter="fade">
                                      <p:cBhvr>
                                        <p:cTn id="162" dur="500"/>
                                        <p:tgtEl>
                                          <p:spTgt spid="36"/>
                                        </p:tgtEl>
                                      </p:cBhvr>
                                    </p:animEffect>
                                    <p:anim calcmode="lin" valueType="num">
                                      <p:cBhvr additive="base">
                                        <p:cTn id="163" dur="500" fill="hold"/>
                                        <p:tgtEl>
                                          <p:spTgt spid="36"/>
                                        </p:tgtEl>
                                        <p:attrNameLst>
                                          <p:attrName>ppt_x</p:attrName>
                                        </p:attrNameLst>
                                      </p:cBhvr>
                                      <p:tavLst>
                                        <p:tav tm="0">
                                          <p:val>
                                            <p:strVal val="#ppt_x"/>
                                          </p:val>
                                        </p:tav>
                                        <p:tav tm="100000">
                                          <p:val>
                                            <p:strVal val="#ppt_x"/>
                                          </p:val>
                                        </p:tav>
                                      </p:tavLst>
                                    </p:anim>
                                    <p:anim calcmode="lin" valueType="num">
                                      <p:cBhvr additive="base">
                                        <p:cTn id="164" dur="500" fill="hold"/>
                                        <p:tgtEl>
                                          <p:spTgt spid="36"/>
                                        </p:tgtEl>
                                        <p:attrNameLst>
                                          <p:attrName>ppt_y</p:attrName>
                                        </p:attrNameLst>
                                      </p:cBhvr>
                                      <p:tavLst>
                                        <p:tav tm="0">
                                          <p:val>
                                            <p:strVal val="#ppt_y+.1"/>
                                          </p:val>
                                        </p:tav>
                                        <p:tav tm="100000">
                                          <p:val>
                                            <p:strVal val="#ppt_y"/>
                                          </p:val>
                                        </p:tav>
                                      </p:tavLst>
                                    </p:anim>
                                  </p:childTnLst>
                                </p:cTn>
                              </p:par>
                              <p:par>
                                <p:cTn id="165" presetID="42" presetClass="entr" presetSubtype="0" fill="hold" grpId="0" nodeType="withEffect">
                                  <p:stCondLst>
                                    <p:cond delay="880"/>
                                  </p:stCondLst>
                                  <p:childTnLst>
                                    <p:set>
                                      <p:cBhvr>
                                        <p:cTn id="166" dur="1" fill="hold">
                                          <p:stCondLst>
                                            <p:cond delay="0"/>
                                          </p:stCondLst>
                                        </p:cTn>
                                        <p:tgtEl>
                                          <p:spTgt spid="37"/>
                                        </p:tgtEl>
                                        <p:attrNameLst>
                                          <p:attrName>style.visibility</p:attrName>
                                        </p:attrNameLst>
                                      </p:cBhvr>
                                      <p:to>
                                        <p:strVal val="visible"/>
                                      </p:to>
                                    </p:set>
                                    <p:animEffect transition="in" filter="fade">
                                      <p:cBhvr>
                                        <p:cTn id="167" dur="500"/>
                                        <p:tgtEl>
                                          <p:spTgt spid="37"/>
                                        </p:tgtEl>
                                      </p:cBhvr>
                                    </p:animEffect>
                                    <p:anim calcmode="lin" valueType="num">
                                      <p:cBhvr additive="base">
                                        <p:cTn id="168" dur="500" fill="hold"/>
                                        <p:tgtEl>
                                          <p:spTgt spid="37"/>
                                        </p:tgtEl>
                                        <p:attrNameLst>
                                          <p:attrName>ppt_x</p:attrName>
                                        </p:attrNameLst>
                                      </p:cBhvr>
                                      <p:tavLst>
                                        <p:tav tm="0">
                                          <p:val>
                                            <p:strVal val="#ppt_x"/>
                                          </p:val>
                                        </p:tav>
                                        <p:tav tm="100000">
                                          <p:val>
                                            <p:strVal val="#ppt_x"/>
                                          </p:val>
                                        </p:tav>
                                      </p:tavLst>
                                    </p:anim>
                                    <p:anim calcmode="lin" valueType="num">
                                      <p:cBhvr additive="base">
                                        <p:cTn id="169" dur="500" fill="hold"/>
                                        <p:tgtEl>
                                          <p:spTgt spid="37"/>
                                        </p:tgtEl>
                                        <p:attrNameLst>
                                          <p:attrName>ppt_y</p:attrName>
                                        </p:attrNameLst>
                                      </p:cBhvr>
                                      <p:tavLst>
                                        <p:tav tm="0">
                                          <p:val>
                                            <p:strVal val="#ppt_y+.1"/>
                                          </p:val>
                                        </p:tav>
                                        <p:tav tm="100000">
                                          <p:val>
                                            <p:strVal val="#ppt_y"/>
                                          </p:val>
                                        </p:tav>
                                      </p:tavLst>
                                    </p:anim>
                                  </p:childTnLst>
                                </p:cTn>
                              </p:par>
                              <p:par>
                                <p:cTn id="170" presetID="42" presetClass="entr" presetSubtype="0" fill="hold" grpId="0" nodeType="withEffect">
                                  <p:stCondLst>
                                    <p:cond delay="880"/>
                                  </p:stCondLst>
                                  <p:childTnLst>
                                    <p:set>
                                      <p:cBhvr>
                                        <p:cTn id="171" dur="1" fill="hold">
                                          <p:stCondLst>
                                            <p:cond delay="0"/>
                                          </p:stCondLst>
                                        </p:cTn>
                                        <p:tgtEl>
                                          <p:spTgt spid="38"/>
                                        </p:tgtEl>
                                        <p:attrNameLst>
                                          <p:attrName>style.visibility</p:attrName>
                                        </p:attrNameLst>
                                      </p:cBhvr>
                                      <p:to>
                                        <p:strVal val="visible"/>
                                      </p:to>
                                    </p:set>
                                    <p:animEffect transition="in" filter="fade">
                                      <p:cBhvr>
                                        <p:cTn id="172" dur="500"/>
                                        <p:tgtEl>
                                          <p:spTgt spid="38"/>
                                        </p:tgtEl>
                                      </p:cBhvr>
                                    </p:animEffect>
                                    <p:anim calcmode="lin" valueType="num">
                                      <p:cBhvr additive="base">
                                        <p:cTn id="173" dur="500" fill="hold"/>
                                        <p:tgtEl>
                                          <p:spTgt spid="38"/>
                                        </p:tgtEl>
                                        <p:attrNameLst>
                                          <p:attrName>ppt_x</p:attrName>
                                        </p:attrNameLst>
                                      </p:cBhvr>
                                      <p:tavLst>
                                        <p:tav tm="0">
                                          <p:val>
                                            <p:strVal val="#ppt_x"/>
                                          </p:val>
                                        </p:tav>
                                        <p:tav tm="100000">
                                          <p:val>
                                            <p:strVal val="#ppt_x"/>
                                          </p:val>
                                        </p:tav>
                                      </p:tavLst>
                                    </p:anim>
                                    <p:anim calcmode="lin" valueType="num">
                                      <p:cBhvr additive="base">
                                        <p:cTn id="174" dur="500" fill="hold"/>
                                        <p:tgtEl>
                                          <p:spTgt spid="38"/>
                                        </p:tgtEl>
                                        <p:attrNameLst>
                                          <p:attrName>ppt_y</p:attrName>
                                        </p:attrNameLst>
                                      </p:cBhvr>
                                      <p:tavLst>
                                        <p:tav tm="0">
                                          <p:val>
                                            <p:strVal val="#ppt_y+.1"/>
                                          </p:val>
                                        </p:tav>
                                        <p:tav tm="100000">
                                          <p:val>
                                            <p:strVal val="#ppt_y"/>
                                          </p:val>
                                        </p:tav>
                                      </p:tavLst>
                                    </p:anim>
                                  </p:childTnLst>
                                </p:cTn>
                              </p:par>
                              <p:par>
                                <p:cTn id="175" presetID="42" presetClass="entr" presetSubtype="0" fill="hold" grpId="0" nodeType="withEffect">
                                  <p:stCondLst>
                                    <p:cond delay="880"/>
                                  </p:stCondLst>
                                  <p:childTnLst>
                                    <p:set>
                                      <p:cBhvr>
                                        <p:cTn id="176" dur="1" fill="hold">
                                          <p:stCondLst>
                                            <p:cond delay="0"/>
                                          </p:stCondLst>
                                        </p:cTn>
                                        <p:tgtEl>
                                          <p:spTgt spid="39"/>
                                        </p:tgtEl>
                                        <p:attrNameLst>
                                          <p:attrName>style.visibility</p:attrName>
                                        </p:attrNameLst>
                                      </p:cBhvr>
                                      <p:to>
                                        <p:strVal val="visible"/>
                                      </p:to>
                                    </p:set>
                                    <p:animEffect transition="in" filter="fade">
                                      <p:cBhvr>
                                        <p:cTn id="177" dur="500"/>
                                        <p:tgtEl>
                                          <p:spTgt spid="39"/>
                                        </p:tgtEl>
                                      </p:cBhvr>
                                    </p:animEffect>
                                    <p:anim calcmode="lin" valueType="num">
                                      <p:cBhvr additive="base">
                                        <p:cTn id="178" dur="500" fill="hold"/>
                                        <p:tgtEl>
                                          <p:spTgt spid="39"/>
                                        </p:tgtEl>
                                        <p:attrNameLst>
                                          <p:attrName>ppt_x</p:attrName>
                                        </p:attrNameLst>
                                      </p:cBhvr>
                                      <p:tavLst>
                                        <p:tav tm="0">
                                          <p:val>
                                            <p:strVal val="#ppt_x"/>
                                          </p:val>
                                        </p:tav>
                                        <p:tav tm="100000">
                                          <p:val>
                                            <p:strVal val="#ppt_x"/>
                                          </p:val>
                                        </p:tav>
                                      </p:tavLst>
                                    </p:anim>
                                    <p:anim calcmode="lin" valueType="num">
                                      <p:cBhvr additive="base">
                                        <p:cTn id="179" dur="500" fill="hold"/>
                                        <p:tgtEl>
                                          <p:spTgt spid="39"/>
                                        </p:tgtEl>
                                        <p:attrNameLst>
                                          <p:attrName>ppt_y</p:attrName>
                                        </p:attrNameLst>
                                      </p:cBhvr>
                                      <p:tavLst>
                                        <p:tav tm="0">
                                          <p:val>
                                            <p:strVal val="#ppt_y+.1"/>
                                          </p:val>
                                        </p:tav>
                                        <p:tav tm="100000">
                                          <p:val>
                                            <p:strVal val="#ppt_y"/>
                                          </p:val>
                                        </p:tav>
                                      </p:tavLst>
                                    </p:anim>
                                  </p:childTnLst>
                                </p:cTn>
                              </p:par>
                              <p:par>
                                <p:cTn id="180" presetID="10" presetClass="entr" presetSubtype="0" fill="hold" grpId="0" nodeType="withEffect">
                                  <p:stCondLst>
                                    <p:cond delay="1100"/>
                                  </p:stCondLst>
                                  <p:childTnLst>
                                    <p:set>
                                      <p:cBhvr>
                                        <p:cTn id="181" dur="1" fill="hold">
                                          <p:stCondLst>
                                            <p:cond delay="0"/>
                                          </p:stCondLst>
                                        </p:cTn>
                                        <p:tgtEl>
                                          <p:spTgt spid="40"/>
                                        </p:tgtEl>
                                        <p:attrNameLst>
                                          <p:attrName>style.visibility</p:attrName>
                                        </p:attrNameLst>
                                      </p:cBhvr>
                                      <p:to>
                                        <p:strVal val="visible"/>
                                      </p:to>
                                    </p:set>
                                    <p:animEffect transition="in" filter="fade">
                                      <p:cBhvr>
                                        <p:cTn id="182"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749808"/>
            <a:ext cx="11064240" cy="685800"/>
          </a:xfrm>
          <a:prstGeom prst="rect">
            <a:avLst/>
          </a:prstGeom>
          <a:noFill/>
          <a:ln/>
        </p:spPr>
        <p:txBody>
          <a:bodyPr wrap="square" lIns="0" tIns="0" rIns="0" bIns="0" rtlCol="0" anchor="ctr"/>
          <a:lstStyle/>
          <a:p>
            <a:pPr marL="0" indent="0" algn="l">
              <a:buNone/>
            </a:pPr>
            <a:r>
              <a:rPr lang="en-US" sz="3000" b="1" dirty="0">
                <a:solidFill>
                  <a:schemeClr val="tx2"/>
                </a:solidFill>
              </a:rPr>
              <a:t>Plan de la présentation</a:t>
            </a:r>
            <a:endParaRPr lang="en-US" sz="3000" dirty="0"/>
          </a:p>
        </p:txBody>
      </p:sp>
      <p:sp>
        <p:nvSpPr>
          <p:cNvPr id="3" name="pill#13"/>
          <p:cNvSpPr/>
          <p:nvPr/>
        </p:nvSpPr>
        <p:spPr>
          <a:xfrm>
            <a:off x="548640" y="384048"/>
            <a:ext cx="822960" cy="292608"/>
          </a:xfrm>
          <a:prstGeom prst="roundRect">
            <a:avLst>
              <a:gd name="adj" fmla="val 50000"/>
            </a:avLst>
          </a:prstGeom>
          <a:solidFill>
            <a:schemeClr val="accent2"/>
          </a:solidFill>
          <a:ln/>
        </p:spPr>
      </p:sp>
      <p:sp>
        <p:nvSpPr>
          <p:cNvPr id="4" name="pill#13t"/>
          <p:cNvSpPr txBox="1"/>
          <p:nvPr/>
        </p:nvSpPr>
        <p:spPr>
          <a:xfrm>
            <a:off x="548640" y="384048"/>
            <a:ext cx="822960" cy="292608"/>
          </a:xfrm>
          <a:prstGeom prst="rect">
            <a:avLst/>
          </a:prstGeom>
          <a:noFill/>
          <a:ln/>
        </p:spPr>
        <p:txBody>
          <a:bodyPr wrap="square" lIns="0" tIns="0" rIns="0" bIns="0" rtlCol="0" anchor="ctr"/>
          <a:lstStyle/>
          <a:p>
            <a:pPr marL="0" indent="0" algn="ctr">
              <a:buNone/>
            </a:pPr>
            <a:r>
              <a:rPr lang="en-US" sz="1100" b="1" dirty="0">
                <a:solidFill>
                  <a:schemeClr val="bg1"/>
                </a:solidFill>
              </a:rPr>
              <a:t>Sommaire</a:t>
            </a:r>
            <a:endParaRPr lang="en-US" sz="1100" dirty="0"/>
          </a:p>
        </p:txBody>
      </p:sp>
      <p:sp>
        <p:nvSpPr>
          <p:cNvPr id="5" name="plan#14"/>
          <p:cNvSpPr/>
          <p:nvPr/>
        </p:nvSpPr>
        <p:spPr>
          <a:xfrm>
            <a:off x="548640" y="1828800"/>
            <a:ext cx="5303520" cy="914400"/>
          </a:xfrm>
          <a:prstGeom prst="roundRect">
            <a:avLst>
              <a:gd name="adj" fmla="val 50000"/>
            </a:avLst>
          </a:prstGeom>
          <a:solidFill>
            <a:schemeClr val="bg2"/>
          </a:solidFill>
          <a:ln/>
          <a:effectLst>
            <a:outerShdw blurRad="127000" dist="38100" dir="5400000" algn="bl" rotWithShape="0">
              <a:srgbClr val="0D2340">
                <a:alpha val="12000"/>
              </a:srgbClr>
            </a:outerShdw>
          </a:effectLst>
        </p:spPr>
      </p:sp>
      <p:sp>
        <p:nvSpPr>
          <p:cNvPr id="6" name="plan#14o"/>
          <p:cNvSpPr/>
          <p:nvPr/>
        </p:nvSpPr>
        <p:spPr>
          <a:xfrm>
            <a:off x="685800" y="1965960"/>
            <a:ext cx="640080" cy="640080"/>
          </a:xfrm>
          <a:prstGeom prst="ellipse">
            <a:avLst/>
          </a:prstGeom>
          <a:solidFill>
            <a:schemeClr val="accent3"/>
          </a:solidFill>
          <a:ln/>
        </p:spPr>
      </p:sp>
      <p:sp>
        <p:nvSpPr>
          <p:cNvPr id="7" name="plan#14n"/>
          <p:cNvSpPr txBox="1"/>
          <p:nvPr/>
        </p:nvSpPr>
        <p:spPr>
          <a:xfrm>
            <a:off x="685800" y="1965960"/>
            <a:ext cx="640080" cy="640080"/>
          </a:xfrm>
          <a:prstGeom prst="rect">
            <a:avLst/>
          </a:prstGeom>
          <a:noFill/>
          <a:ln/>
        </p:spPr>
        <p:txBody>
          <a:bodyPr wrap="square" lIns="0" tIns="0" rIns="0" bIns="0" rtlCol="0" anchor="ctr"/>
          <a:lstStyle/>
          <a:p>
            <a:pPr marL="0" indent="0" algn="ctr">
              <a:buNone/>
            </a:pPr>
            <a:r>
              <a:rPr lang="en-US" sz="1600" b="1" dirty="0">
                <a:solidFill>
                  <a:schemeClr val="bg1"/>
                </a:solidFill>
              </a:rPr>
              <a:t>01</a:t>
            </a:r>
            <a:endParaRPr lang="en-US" sz="1600" dirty="0"/>
          </a:p>
        </p:txBody>
      </p:sp>
      <p:sp>
        <p:nvSpPr>
          <p:cNvPr id="8" name="plan#14t"/>
          <p:cNvSpPr txBox="1"/>
          <p:nvPr/>
        </p:nvSpPr>
        <p:spPr>
          <a:xfrm>
            <a:off x="1554480" y="1828800"/>
            <a:ext cx="4114800" cy="914400"/>
          </a:xfrm>
          <a:prstGeom prst="rect">
            <a:avLst/>
          </a:prstGeom>
          <a:noFill/>
          <a:ln/>
        </p:spPr>
        <p:txBody>
          <a:bodyPr wrap="square" lIns="0" tIns="0" rIns="0" bIns="0" rtlCol="0" anchor="ctr"/>
          <a:lstStyle/>
          <a:p>
            <a:pPr marL="0" indent="0">
              <a:buNone/>
            </a:pPr>
            <a:r>
              <a:rPr lang="en-US" sz="1800" b="1" dirty="0">
                <a:solidFill>
                  <a:schemeClr val="tx2"/>
                </a:solidFill>
              </a:rPr>
              <a:t>Contexte et objectifs</a:t>
            </a:r>
            <a:endParaRPr lang="en-US" sz="1800" dirty="0"/>
          </a:p>
        </p:txBody>
      </p:sp>
      <p:sp>
        <p:nvSpPr>
          <p:cNvPr id="9" name="plan#15"/>
          <p:cNvSpPr/>
          <p:nvPr/>
        </p:nvSpPr>
        <p:spPr>
          <a:xfrm>
            <a:off x="548640" y="3063240"/>
            <a:ext cx="5303520" cy="914400"/>
          </a:xfrm>
          <a:prstGeom prst="roundRect">
            <a:avLst>
              <a:gd name="adj" fmla="val 50000"/>
            </a:avLst>
          </a:prstGeom>
          <a:solidFill>
            <a:schemeClr val="bg2"/>
          </a:solidFill>
          <a:ln/>
          <a:effectLst>
            <a:outerShdw blurRad="127000" dist="38100" dir="5400000" algn="bl" rotWithShape="0">
              <a:srgbClr val="0D2340">
                <a:alpha val="12000"/>
              </a:srgbClr>
            </a:outerShdw>
          </a:effectLst>
        </p:spPr>
      </p:sp>
      <p:sp>
        <p:nvSpPr>
          <p:cNvPr id="10" name="plan#15o"/>
          <p:cNvSpPr/>
          <p:nvPr/>
        </p:nvSpPr>
        <p:spPr>
          <a:xfrm>
            <a:off x="685800" y="3200400"/>
            <a:ext cx="640080" cy="640080"/>
          </a:xfrm>
          <a:prstGeom prst="ellipse">
            <a:avLst/>
          </a:prstGeom>
          <a:solidFill>
            <a:schemeClr val="accent2"/>
          </a:solidFill>
          <a:ln/>
        </p:spPr>
      </p:sp>
      <p:sp>
        <p:nvSpPr>
          <p:cNvPr id="11" name="plan#15n"/>
          <p:cNvSpPr txBox="1"/>
          <p:nvPr/>
        </p:nvSpPr>
        <p:spPr>
          <a:xfrm>
            <a:off x="685800" y="3200400"/>
            <a:ext cx="640080" cy="640080"/>
          </a:xfrm>
          <a:prstGeom prst="rect">
            <a:avLst/>
          </a:prstGeom>
          <a:noFill/>
          <a:ln/>
        </p:spPr>
        <p:txBody>
          <a:bodyPr wrap="square" lIns="0" tIns="0" rIns="0" bIns="0" rtlCol="0" anchor="ctr"/>
          <a:lstStyle/>
          <a:p>
            <a:pPr marL="0" indent="0" algn="ctr">
              <a:buNone/>
            </a:pPr>
            <a:r>
              <a:rPr lang="en-US" sz="1600" b="1" dirty="0">
                <a:solidFill>
                  <a:schemeClr val="bg1"/>
                </a:solidFill>
              </a:rPr>
              <a:t>02</a:t>
            </a:r>
            <a:endParaRPr lang="en-US" sz="1600" dirty="0"/>
          </a:p>
        </p:txBody>
      </p:sp>
      <p:sp>
        <p:nvSpPr>
          <p:cNvPr id="12" name="plan#15t"/>
          <p:cNvSpPr txBox="1"/>
          <p:nvPr/>
        </p:nvSpPr>
        <p:spPr>
          <a:xfrm>
            <a:off x="1554480" y="3063240"/>
            <a:ext cx="4114800" cy="914400"/>
          </a:xfrm>
          <a:prstGeom prst="rect">
            <a:avLst/>
          </a:prstGeom>
          <a:noFill/>
          <a:ln/>
        </p:spPr>
        <p:txBody>
          <a:bodyPr wrap="square" lIns="0" tIns="0" rIns="0" bIns="0" rtlCol="0" anchor="ctr"/>
          <a:lstStyle/>
          <a:p>
            <a:pPr marL="0" indent="0">
              <a:buNone/>
            </a:pPr>
            <a:r>
              <a:rPr lang="en-US" sz="1800" b="1" dirty="0">
                <a:solidFill>
                  <a:schemeClr val="tx2"/>
                </a:solidFill>
              </a:rPr>
              <a:t>Architecture et modèle de données</a:t>
            </a:r>
            <a:endParaRPr lang="en-US" sz="1800" dirty="0"/>
          </a:p>
        </p:txBody>
      </p:sp>
      <p:sp>
        <p:nvSpPr>
          <p:cNvPr id="13" name="plan#16"/>
          <p:cNvSpPr/>
          <p:nvPr/>
        </p:nvSpPr>
        <p:spPr>
          <a:xfrm>
            <a:off x="548640" y="4297680"/>
            <a:ext cx="5303520" cy="914400"/>
          </a:xfrm>
          <a:prstGeom prst="roundRect">
            <a:avLst>
              <a:gd name="adj" fmla="val 50000"/>
            </a:avLst>
          </a:prstGeom>
          <a:solidFill>
            <a:schemeClr val="bg2"/>
          </a:solidFill>
          <a:ln/>
          <a:effectLst>
            <a:outerShdw blurRad="127000" dist="38100" dir="5400000" algn="bl" rotWithShape="0">
              <a:srgbClr val="0D2340">
                <a:alpha val="12000"/>
              </a:srgbClr>
            </a:outerShdw>
          </a:effectLst>
        </p:spPr>
      </p:sp>
      <p:sp>
        <p:nvSpPr>
          <p:cNvPr id="14" name="plan#16o"/>
          <p:cNvSpPr/>
          <p:nvPr/>
        </p:nvSpPr>
        <p:spPr>
          <a:xfrm>
            <a:off x="685800" y="4434840"/>
            <a:ext cx="640080" cy="640080"/>
          </a:xfrm>
          <a:prstGeom prst="ellipse">
            <a:avLst/>
          </a:prstGeom>
          <a:solidFill>
            <a:schemeClr val="accent4"/>
          </a:solidFill>
          <a:ln/>
        </p:spPr>
      </p:sp>
      <p:sp>
        <p:nvSpPr>
          <p:cNvPr id="15" name="plan#16n"/>
          <p:cNvSpPr txBox="1"/>
          <p:nvPr/>
        </p:nvSpPr>
        <p:spPr>
          <a:xfrm>
            <a:off x="685800" y="4434840"/>
            <a:ext cx="640080" cy="640080"/>
          </a:xfrm>
          <a:prstGeom prst="rect">
            <a:avLst/>
          </a:prstGeom>
          <a:noFill/>
          <a:ln/>
        </p:spPr>
        <p:txBody>
          <a:bodyPr wrap="square" lIns="0" tIns="0" rIns="0" bIns="0" rtlCol="0" anchor="ctr"/>
          <a:lstStyle/>
          <a:p>
            <a:pPr marL="0" indent="0" algn="ctr">
              <a:buNone/>
            </a:pPr>
            <a:r>
              <a:rPr lang="en-US" sz="1600" b="1" dirty="0">
                <a:solidFill>
                  <a:schemeClr val="bg1"/>
                </a:solidFill>
              </a:rPr>
              <a:t>03</a:t>
            </a:r>
            <a:endParaRPr lang="en-US" sz="1600" dirty="0"/>
          </a:p>
        </p:txBody>
      </p:sp>
      <p:sp>
        <p:nvSpPr>
          <p:cNvPr id="16" name="plan#16t"/>
          <p:cNvSpPr txBox="1"/>
          <p:nvPr/>
        </p:nvSpPr>
        <p:spPr>
          <a:xfrm>
            <a:off x="1554480" y="4297680"/>
            <a:ext cx="4114800" cy="914400"/>
          </a:xfrm>
          <a:prstGeom prst="rect">
            <a:avLst/>
          </a:prstGeom>
          <a:noFill/>
          <a:ln/>
        </p:spPr>
        <p:txBody>
          <a:bodyPr wrap="square" lIns="0" tIns="0" rIns="0" bIns="0" rtlCol="0" anchor="ctr"/>
          <a:lstStyle/>
          <a:p>
            <a:pPr marL="0" indent="0">
              <a:buNone/>
            </a:pPr>
            <a:r>
              <a:rPr lang="en-US" sz="1800" b="1" dirty="0">
                <a:solidFill>
                  <a:schemeClr val="tx2"/>
                </a:solidFill>
              </a:rPr>
              <a:t>Synchronisation avec Pentaho</a:t>
            </a:r>
            <a:endParaRPr lang="en-US" sz="1800" dirty="0"/>
          </a:p>
        </p:txBody>
      </p:sp>
      <p:sp>
        <p:nvSpPr>
          <p:cNvPr id="17" name="plan#17"/>
          <p:cNvSpPr/>
          <p:nvPr/>
        </p:nvSpPr>
        <p:spPr>
          <a:xfrm>
            <a:off x="6217920" y="1828800"/>
            <a:ext cx="5303520" cy="914400"/>
          </a:xfrm>
          <a:prstGeom prst="roundRect">
            <a:avLst>
              <a:gd name="adj" fmla="val 50000"/>
            </a:avLst>
          </a:prstGeom>
          <a:solidFill>
            <a:schemeClr val="bg2"/>
          </a:solidFill>
          <a:ln/>
          <a:effectLst>
            <a:outerShdw blurRad="127000" dist="38100" dir="5400000" algn="bl" rotWithShape="0">
              <a:srgbClr val="0D2340">
                <a:alpha val="12000"/>
              </a:srgbClr>
            </a:outerShdw>
          </a:effectLst>
        </p:spPr>
      </p:sp>
      <p:sp>
        <p:nvSpPr>
          <p:cNvPr id="18" name="plan#17o"/>
          <p:cNvSpPr/>
          <p:nvPr/>
        </p:nvSpPr>
        <p:spPr>
          <a:xfrm>
            <a:off x="6355080" y="1965960"/>
            <a:ext cx="640080" cy="640080"/>
          </a:xfrm>
          <a:prstGeom prst="ellipse">
            <a:avLst/>
          </a:prstGeom>
          <a:solidFill>
            <a:schemeClr val="accent5"/>
          </a:solidFill>
          <a:ln/>
        </p:spPr>
      </p:sp>
      <p:sp>
        <p:nvSpPr>
          <p:cNvPr id="19" name="plan#17n"/>
          <p:cNvSpPr txBox="1"/>
          <p:nvPr/>
        </p:nvSpPr>
        <p:spPr>
          <a:xfrm>
            <a:off x="6355080" y="1965960"/>
            <a:ext cx="640080" cy="640080"/>
          </a:xfrm>
          <a:prstGeom prst="rect">
            <a:avLst/>
          </a:prstGeom>
          <a:noFill/>
          <a:ln/>
        </p:spPr>
        <p:txBody>
          <a:bodyPr wrap="square" lIns="0" tIns="0" rIns="0" bIns="0" rtlCol="0" anchor="ctr"/>
          <a:lstStyle/>
          <a:p>
            <a:pPr marL="0" indent="0" algn="ctr">
              <a:buNone/>
            </a:pPr>
            <a:r>
              <a:rPr lang="en-US" sz="1600" b="1" dirty="0">
                <a:solidFill>
                  <a:schemeClr val="bg1"/>
                </a:solidFill>
              </a:rPr>
              <a:t>04</a:t>
            </a:r>
            <a:endParaRPr lang="en-US" sz="1600" dirty="0"/>
          </a:p>
        </p:txBody>
      </p:sp>
      <p:sp>
        <p:nvSpPr>
          <p:cNvPr id="20" name="plan#17t"/>
          <p:cNvSpPr txBox="1"/>
          <p:nvPr/>
        </p:nvSpPr>
        <p:spPr>
          <a:xfrm>
            <a:off x="7223760" y="1828800"/>
            <a:ext cx="4114800" cy="914400"/>
          </a:xfrm>
          <a:prstGeom prst="rect">
            <a:avLst/>
          </a:prstGeom>
          <a:noFill/>
          <a:ln/>
        </p:spPr>
        <p:txBody>
          <a:bodyPr wrap="square" lIns="0" tIns="0" rIns="0" bIns="0" rtlCol="0" anchor="ctr"/>
          <a:lstStyle/>
          <a:p>
            <a:pPr marL="0" indent="0">
              <a:buNone/>
            </a:pPr>
            <a:r>
              <a:rPr lang="en-US" sz="1800" b="1" dirty="0">
                <a:solidFill>
                  <a:schemeClr val="tx2"/>
                </a:solidFill>
              </a:rPr>
              <a:t>Le service SOAP</a:t>
            </a:r>
            <a:endParaRPr lang="en-US" sz="1800" dirty="0"/>
          </a:p>
        </p:txBody>
      </p:sp>
      <p:sp>
        <p:nvSpPr>
          <p:cNvPr id="21" name="plan#18"/>
          <p:cNvSpPr/>
          <p:nvPr/>
        </p:nvSpPr>
        <p:spPr>
          <a:xfrm>
            <a:off x="6217920" y="3063240"/>
            <a:ext cx="5303520" cy="914400"/>
          </a:xfrm>
          <a:prstGeom prst="roundRect">
            <a:avLst>
              <a:gd name="adj" fmla="val 50000"/>
            </a:avLst>
          </a:prstGeom>
          <a:solidFill>
            <a:schemeClr val="bg2"/>
          </a:solidFill>
          <a:ln/>
          <a:effectLst>
            <a:outerShdw blurRad="127000" dist="38100" dir="5400000" algn="bl" rotWithShape="0">
              <a:srgbClr val="0D2340">
                <a:alpha val="12000"/>
              </a:srgbClr>
            </a:outerShdw>
          </a:effectLst>
        </p:spPr>
      </p:sp>
      <p:sp>
        <p:nvSpPr>
          <p:cNvPr id="22" name="plan#18o"/>
          <p:cNvSpPr/>
          <p:nvPr/>
        </p:nvSpPr>
        <p:spPr>
          <a:xfrm>
            <a:off x="6355080" y="3200400"/>
            <a:ext cx="640080" cy="640080"/>
          </a:xfrm>
          <a:prstGeom prst="ellipse">
            <a:avLst/>
          </a:prstGeom>
          <a:solidFill>
            <a:schemeClr val="accent3"/>
          </a:solidFill>
          <a:ln/>
        </p:spPr>
      </p:sp>
      <p:sp>
        <p:nvSpPr>
          <p:cNvPr id="23" name="plan#18n"/>
          <p:cNvSpPr txBox="1"/>
          <p:nvPr/>
        </p:nvSpPr>
        <p:spPr>
          <a:xfrm>
            <a:off x="6355080" y="3200400"/>
            <a:ext cx="640080" cy="640080"/>
          </a:xfrm>
          <a:prstGeom prst="rect">
            <a:avLst/>
          </a:prstGeom>
          <a:noFill/>
          <a:ln/>
        </p:spPr>
        <p:txBody>
          <a:bodyPr wrap="square" lIns="0" tIns="0" rIns="0" bIns="0" rtlCol="0" anchor="ctr"/>
          <a:lstStyle/>
          <a:p>
            <a:pPr marL="0" indent="0" algn="ctr">
              <a:buNone/>
            </a:pPr>
            <a:r>
              <a:rPr lang="en-US" sz="1600" b="1" dirty="0">
                <a:solidFill>
                  <a:schemeClr val="bg1"/>
                </a:solidFill>
              </a:rPr>
              <a:t>05</a:t>
            </a:r>
            <a:endParaRPr lang="en-US" sz="1600" dirty="0"/>
          </a:p>
        </p:txBody>
      </p:sp>
      <p:sp>
        <p:nvSpPr>
          <p:cNvPr id="24" name="plan#18t"/>
          <p:cNvSpPr txBox="1"/>
          <p:nvPr/>
        </p:nvSpPr>
        <p:spPr>
          <a:xfrm>
            <a:off x="7223760" y="3063240"/>
            <a:ext cx="4114800" cy="914400"/>
          </a:xfrm>
          <a:prstGeom prst="rect">
            <a:avLst/>
          </a:prstGeom>
          <a:noFill/>
          <a:ln/>
        </p:spPr>
        <p:txBody>
          <a:bodyPr wrap="square" lIns="0" tIns="0" rIns="0" bIns="0" rtlCol="0" anchor="ctr"/>
          <a:lstStyle/>
          <a:p>
            <a:pPr marL="0" indent="0">
              <a:buNone/>
            </a:pPr>
            <a:r>
              <a:rPr lang="en-US" sz="1800" b="1" dirty="0">
                <a:solidFill>
                  <a:schemeClr val="tx2"/>
                </a:solidFill>
              </a:rPr>
              <a:t>Supervision et tests</a:t>
            </a:r>
            <a:endParaRPr lang="en-US" sz="1800" dirty="0"/>
          </a:p>
        </p:txBody>
      </p:sp>
      <p:sp>
        <p:nvSpPr>
          <p:cNvPr id="25" name="plan#19"/>
          <p:cNvSpPr/>
          <p:nvPr/>
        </p:nvSpPr>
        <p:spPr>
          <a:xfrm>
            <a:off x="6217920" y="4297680"/>
            <a:ext cx="5303520" cy="914400"/>
          </a:xfrm>
          <a:prstGeom prst="roundRect">
            <a:avLst>
              <a:gd name="adj" fmla="val 50000"/>
            </a:avLst>
          </a:prstGeom>
          <a:solidFill>
            <a:schemeClr val="bg2"/>
          </a:solidFill>
          <a:ln/>
          <a:effectLst>
            <a:outerShdw blurRad="127000" dist="38100" dir="5400000" algn="bl" rotWithShape="0">
              <a:srgbClr val="0D2340">
                <a:alpha val="12000"/>
              </a:srgbClr>
            </a:outerShdw>
          </a:effectLst>
        </p:spPr>
      </p:sp>
      <p:sp>
        <p:nvSpPr>
          <p:cNvPr id="26" name="plan#19o"/>
          <p:cNvSpPr/>
          <p:nvPr/>
        </p:nvSpPr>
        <p:spPr>
          <a:xfrm>
            <a:off x="6355080" y="4434840"/>
            <a:ext cx="640080" cy="640080"/>
          </a:xfrm>
          <a:prstGeom prst="ellipse">
            <a:avLst/>
          </a:prstGeom>
          <a:solidFill>
            <a:schemeClr val="accent2"/>
          </a:solidFill>
          <a:ln/>
        </p:spPr>
      </p:sp>
      <p:sp>
        <p:nvSpPr>
          <p:cNvPr id="27" name="plan#19n"/>
          <p:cNvSpPr txBox="1"/>
          <p:nvPr/>
        </p:nvSpPr>
        <p:spPr>
          <a:xfrm>
            <a:off x="6355080" y="4434840"/>
            <a:ext cx="640080" cy="640080"/>
          </a:xfrm>
          <a:prstGeom prst="rect">
            <a:avLst/>
          </a:prstGeom>
          <a:noFill/>
          <a:ln/>
        </p:spPr>
        <p:txBody>
          <a:bodyPr wrap="square" lIns="0" tIns="0" rIns="0" bIns="0" rtlCol="0" anchor="ctr"/>
          <a:lstStyle/>
          <a:p>
            <a:pPr marL="0" indent="0" algn="ctr">
              <a:buNone/>
            </a:pPr>
            <a:r>
              <a:rPr lang="en-US" sz="1600" b="1" dirty="0">
                <a:solidFill>
                  <a:schemeClr val="bg1"/>
                </a:solidFill>
              </a:rPr>
              <a:t>06</a:t>
            </a:r>
            <a:endParaRPr lang="en-US" sz="1600" dirty="0"/>
          </a:p>
        </p:txBody>
      </p:sp>
      <p:sp>
        <p:nvSpPr>
          <p:cNvPr id="28" name="plan#19t"/>
          <p:cNvSpPr txBox="1"/>
          <p:nvPr/>
        </p:nvSpPr>
        <p:spPr>
          <a:xfrm>
            <a:off x="7223760" y="4297680"/>
            <a:ext cx="4114800" cy="914400"/>
          </a:xfrm>
          <a:prstGeom prst="rect">
            <a:avLst/>
          </a:prstGeom>
          <a:noFill/>
          <a:ln/>
        </p:spPr>
        <p:txBody>
          <a:bodyPr wrap="square" lIns="0" tIns="0" rIns="0" bIns="0" rtlCol="0" anchor="ctr"/>
          <a:lstStyle/>
          <a:p>
            <a:pPr marL="0" indent="0">
              <a:buNone/>
            </a:pPr>
            <a:r>
              <a:rPr lang="en-US" sz="1800" b="1" dirty="0">
                <a:solidFill>
                  <a:schemeClr val="tx2"/>
                </a:solidFill>
              </a:rPr>
              <a:t>Conclusion</a:t>
            </a:r>
            <a:endParaRPr lang="en-US" sz="1800" dirty="0"/>
          </a:p>
        </p:txBody>
      </p:sp>
      <p:sp>
        <p:nvSpPr>
          <p:cNvPr id="29"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3</a:t>
            </a:fld>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anim calcmode="lin" valueType="num">
                                      <p:cBhvr additive="base">
                                        <p:cTn id="8" dur="500" fill="hold"/>
                                        <p:tgtEl>
                                          <p:spTgt spid="5"/>
                                        </p:tgtEl>
                                        <p:attrNameLst>
                                          <p:attrName>ppt_x</p:attrName>
                                        </p:attrNameLst>
                                      </p:cBhvr>
                                      <p:tavLst>
                                        <p:tav tm="0">
                                          <p:val>
                                            <p:strVal val="#ppt_x"/>
                                          </p:val>
                                        </p:tav>
                                        <p:tav tm="100000">
                                          <p:val>
                                            <p:strVal val="#ppt_x"/>
                                          </p:val>
                                        </p:tav>
                                      </p:tavLst>
                                    </p:anim>
                                    <p:anim calcmode="lin" valueType="num">
                                      <p:cBhvr additive="base">
                                        <p:cTn id="9" dur="5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anim calcmode="lin" valueType="num">
                                      <p:cBhvr additive="base">
                                        <p:cTn id="18" dur="500" fill="hold"/>
                                        <p:tgtEl>
                                          <p:spTgt spid="7"/>
                                        </p:tgtEl>
                                        <p:attrNameLst>
                                          <p:attrName>ppt_x</p:attrName>
                                        </p:attrNameLst>
                                      </p:cBhvr>
                                      <p:tavLst>
                                        <p:tav tm="0">
                                          <p:val>
                                            <p:strVal val="#ppt_x"/>
                                          </p:val>
                                        </p:tav>
                                        <p:tav tm="100000">
                                          <p:val>
                                            <p:strVal val="#ppt_x"/>
                                          </p:val>
                                        </p:tav>
                                      </p:tavLst>
                                    </p:anim>
                                    <p:anim calcmode="lin" valueType="num">
                                      <p:cBhvr additive="base">
                                        <p:cTn id="19" dur="500" fill="hold"/>
                                        <p:tgtEl>
                                          <p:spTgt spid="7"/>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22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anim calcmode="lin" valueType="num">
                                      <p:cBhvr additive="base">
                                        <p:cTn id="28" dur="500" fill="hold"/>
                                        <p:tgtEl>
                                          <p:spTgt spid="9"/>
                                        </p:tgtEl>
                                        <p:attrNameLst>
                                          <p:attrName>ppt_x</p:attrName>
                                        </p:attrNameLst>
                                      </p:cBhvr>
                                      <p:tavLst>
                                        <p:tav tm="0">
                                          <p:val>
                                            <p:strVal val="#ppt_x"/>
                                          </p:val>
                                        </p:tav>
                                        <p:tav tm="100000">
                                          <p:val>
                                            <p:strVal val="#ppt_x"/>
                                          </p:val>
                                        </p:tav>
                                      </p:tavLst>
                                    </p:anim>
                                    <p:anim calcmode="lin" valueType="num">
                                      <p:cBhvr additive="base">
                                        <p:cTn id="29" dur="500" fill="hold"/>
                                        <p:tgtEl>
                                          <p:spTgt spid="9"/>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22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anim calcmode="lin" valueType="num">
                                      <p:cBhvr additive="base">
                                        <p:cTn id="33" dur="500" fill="hold"/>
                                        <p:tgtEl>
                                          <p:spTgt spid="10"/>
                                        </p:tgtEl>
                                        <p:attrNameLst>
                                          <p:attrName>ppt_x</p:attrName>
                                        </p:attrNameLst>
                                      </p:cBhvr>
                                      <p:tavLst>
                                        <p:tav tm="0">
                                          <p:val>
                                            <p:strVal val="#ppt_x"/>
                                          </p:val>
                                        </p:tav>
                                        <p:tav tm="100000">
                                          <p:val>
                                            <p:strVal val="#ppt_x"/>
                                          </p:val>
                                        </p:tav>
                                      </p:tavLst>
                                    </p:anim>
                                    <p:anim calcmode="lin" valueType="num">
                                      <p:cBhvr additive="base">
                                        <p:cTn id="34" dur="500" fill="hold"/>
                                        <p:tgtEl>
                                          <p:spTgt spid="10"/>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22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anim calcmode="lin" valueType="num">
                                      <p:cBhvr additive="base">
                                        <p:cTn id="38" dur="500" fill="hold"/>
                                        <p:tgtEl>
                                          <p:spTgt spid="11"/>
                                        </p:tgtEl>
                                        <p:attrNameLst>
                                          <p:attrName>ppt_x</p:attrName>
                                        </p:attrNameLst>
                                      </p:cBhvr>
                                      <p:tavLst>
                                        <p:tav tm="0">
                                          <p:val>
                                            <p:strVal val="#ppt_x"/>
                                          </p:val>
                                        </p:tav>
                                        <p:tav tm="100000">
                                          <p:val>
                                            <p:strVal val="#ppt_x"/>
                                          </p:val>
                                        </p:tav>
                                      </p:tavLst>
                                    </p:anim>
                                    <p:anim calcmode="lin" valueType="num">
                                      <p:cBhvr additive="base">
                                        <p:cTn id="39" dur="500" fill="hold"/>
                                        <p:tgtEl>
                                          <p:spTgt spid="11"/>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22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00"/>
                                        <p:tgtEl>
                                          <p:spTgt spid="12"/>
                                        </p:tgtEl>
                                      </p:cBhvr>
                                    </p:animEffect>
                                    <p:anim calcmode="lin" valueType="num">
                                      <p:cBhvr additive="base">
                                        <p:cTn id="43" dur="500" fill="hold"/>
                                        <p:tgtEl>
                                          <p:spTgt spid="12"/>
                                        </p:tgtEl>
                                        <p:attrNameLst>
                                          <p:attrName>ppt_x</p:attrName>
                                        </p:attrNameLst>
                                      </p:cBhvr>
                                      <p:tavLst>
                                        <p:tav tm="0">
                                          <p:val>
                                            <p:strVal val="#ppt_x"/>
                                          </p:val>
                                        </p:tav>
                                        <p:tav tm="100000">
                                          <p:val>
                                            <p:strVal val="#ppt_x"/>
                                          </p:val>
                                        </p:tav>
                                      </p:tavLst>
                                    </p:anim>
                                    <p:anim calcmode="lin" valueType="num">
                                      <p:cBhvr additive="base">
                                        <p:cTn id="44" dur="500" fill="hold"/>
                                        <p:tgtEl>
                                          <p:spTgt spid="12"/>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44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anim calcmode="lin" valueType="num">
                                      <p:cBhvr additive="base">
                                        <p:cTn id="48" dur="500" fill="hold"/>
                                        <p:tgtEl>
                                          <p:spTgt spid="13"/>
                                        </p:tgtEl>
                                        <p:attrNameLst>
                                          <p:attrName>ppt_x</p:attrName>
                                        </p:attrNameLst>
                                      </p:cBhvr>
                                      <p:tavLst>
                                        <p:tav tm="0">
                                          <p:val>
                                            <p:strVal val="#ppt_x"/>
                                          </p:val>
                                        </p:tav>
                                        <p:tav tm="100000">
                                          <p:val>
                                            <p:strVal val="#ppt_x"/>
                                          </p:val>
                                        </p:tav>
                                      </p:tavLst>
                                    </p:anim>
                                    <p:anim calcmode="lin" valueType="num">
                                      <p:cBhvr additive="base">
                                        <p:cTn id="49" dur="500" fill="hold"/>
                                        <p:tgtEl>
                                          <p:spTgt spid="13"/>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44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500"/>
                                        <p:tgtEl>
                                          <p:spTgt spid="14"/>
                                        </p:tgtEl>
                                      </p:cBhvr>
                                    </p:animEffect>
                                    <p:anim calcmode="lin" valueType="num">
                                      <p:cBhvr additive="base">
                                        <p:cTn id="53" dur="500" fill="hold"/>
                                        <p:tgtEl>
                                          <p:spTgt spid="14"/>
                                        </p:tgtEl>
                                        <p:attrNameLst>
                                          <p:attrName>ppt_x</p:attrName>
                                        </p:attrNameLst>
                                      </p:cBhvr>
                                      <p:tavLst>
                                        <p:tav tm="0">
                                          <p:val>
                                            <p:strVal val="#ppt_x"/>
                                          </p:val>
                                        </p:tav>
                                        <p:tav tm="100000">
                                          <p:val>
                                            <p:strVal val="#ppt_x"/>
                                          </p:val>
                                        </p:tav>
                                      </p:tavLst>
                                    </p:anim>
                                    <p:anim calcmode="lin" valueType="num">
                                      <p:cBhvr additive="base">
                                        <p:cTn id="54" dur="500" fill="hold"/>
                                        <p:tgtEl>
                                          <p:spTgt spid="14"/>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44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500"/>
                                        <p:tgtEl>
                                          <p:spTgt spid="15"/>
                                        </p:tgtEl>
                                      </p:cBhvr>
                                    </p:animEffect>
                                    <p:anim calcmode="lin" valueType="num">
                                      <p:cBhvr additive="base">
                                        <p:cTn id="58" dur="500" fill="hold"/>
                                        <p:tgtEl>
                                          <p:spTgt spid="15"/>
                                        </p:tgtEl>
                                        <p:attrNameLst>
                                          <p:attrName>ppt_x</p:attrName>
                                        </p:attrNameLst>
                                      </p:cBhvr>
                                      <p:tavLst>
                                        <p:tav tm="0">
                                          <p:val>
                                            <p:strVal val="#ppt_x"/>
                                          </p:val>
                                        </p:tav>
                                        <p:tav tm="100000">
                                          <p:val>
                                            <p:strVal val="#ppt_x"/>
                                          </p:val>
                                        </p:tav>
                                      </p:tavLst>
                                    </p:anim>
                                    <p:anim calcmode="lin" valueType="num">
                                      <p:cBhvr additive="base">
                                        <p:cTn id="59" dur="500" fill="hold"/>
                                        <p:tgtEl>
                                          <p:spTgt spid="15"/>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44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500"/>
                                        <p:tgtEl>
                                          <p:spTgt spid="16"/>
                                        </p:tgtEl>
                                      </p:cBhvr>
                                    </p:animEffect>
                                    <p:anim calcmode="lin" valueType="num">
                                      <p:cBhvr additive="base">
                                        <p:cTn id="63" dur="500" fill="hold"/>
                                        <p:tgtEl>
                                          <p:spTgt spid="16"/>
                                        </p:tgtEl>
                                        <p:attrNameLst>
                                          <p:attrName>ppt_x</p:attrName>
                                        </p:attrNameLst>
                                      </p:cBhvr>
                                      <p:tavLst>
                                        <p:tav tm="0">
                                          <p:val>
                                            <p:strVal val="#ppt_x"/>
                                          </p:val>
                                        </p:tav>
                                        <p:tav tm="100000">
                                          <p:val>
                                            <p:strVal val="#ppt_x"/>
                                          </p:val>
                                        </p:tav>
                                      </p:tavLst>
                                    </p:anim>
                                    <p:anim calcmode="lin" valueType="num">
                                      <p:cBhvr additive="base">
                                        <p:cTn id="64" dur="500" fill="hold"/>
                                        <p:tgtEl>
                                          <p:spTgt spid="16"/>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66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500"/>
                                        <p:tgtEl>
                                          <p:spTgt spid="17"/>
                                        </p:tgtEl>
                                      </p:cBhvr>
                                    </p:animEffect>
                                    <p:anim calcmode="lin" valueType="num">
                                      <p:cBhvr additive="base">
                                        <p:cTn id="68" dur="500" fill="hold"/>
                                        <p:tgtEl>
                                          <p:spTgt spid="17"/>
                                        </p:tgtEl>
                                        <p:attrNameLst>
                                          <p:attrName>ppt_x</p:attrName>
                                        </p:attrNameLst>
                                      </p:cBhvr>
                                      <p:tavLst>
                                        <p:tav tm="0">
                                          <p:val>
                                            <p:strVal val="#ppt_x"/>
                                          </p:val>
                                        </p:tav>
                                        <p:tav tm="100000">
                                          <p:val>
                                            <p:strVal val="#ppt_x"/>
                                          </p:val>
                                        </p:tav>
                                      </p:tavLst>
                                    </p:anim>
                                    <p:anim calcmode="lin" valueType="num">
                                      <p:cBhvr additive="base">
                                        <p:cTn id="69" dur="500" fill="hold"/>
                                        <p:tgtEl>
                                          <p:spTgt spid="17"/>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660"/>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500"/>
                                        <p:tgtEl>
                                          <p:spTgt spid="18"/>
                                        </p:tgtEl>
                                      </p:cBhvr>
                                    </p:animEffect>
                                    <p:anim calcmode="lin" valueType="num">
                                      <p:cBhvr additive="base">
                                        <p:cTn id="73" dur="500" fill="hold"/>
                                        <p:tgtEl>
                                          <p:spTgt spid="18"/>
                                        </p:tgtEl>
                                        <p:attrNameLst>
                                          <p:attrName>ppt_x</p:attrName>
                                        </p:attrNameLst>
                                      </p:cBhvr>
                                      <p:tavLst>
                                        <p:tav tm="0">
                                          <p:val>
                                            <p:strVal val="#ppt_x"/>
                                          </p:val>
                                        </p:tav>
                                        <p:tav tm="100000">
                                          <p:val>
                                            <p:strVal val="#ppt_x"/>
                                          </p:val>
                                        </p:tav>
                                      </p:tavLst>
                                    </p:anim>
                                    <p:anim calcmode="lin" valueType="num">
                                      <p:cBhvr additive="base">
                                        <p:cTn id="74" dur="500" fill="hold"/>
                                        <p:tgtEl>
                                          <p:spTgt spid="18"/>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660"/>
                                  </p:stCondLst>
                                  <p:childTnLst>
                                    <p:set>
                                      <p:cBhvr>
                                        <p:cTn id="76" dur="1" fill="hold">
                                          <p:stCondLst>
                                            <p:cond delay="0"/>
                                          </p:stCondLst>
                                        </p:cTn>
                                        <p:tgtEl>
                                          <p:spTgt spid="19"/>
                                        </p:tgtEl>
                                        <p:attrNameLst>
                                          <p:attrName>style.visibility</p:attrName>
                                        </p:attrNameLst>
                                      </p:cBhvr>
                                      <p:to>
                                        <p:strVal val="visible"/>
                                      </p:to>
                                    </p:set>
                                    <p:animEffect transition="in" filter="fade">
                                      <p:cBhvr>
                                        <p:cTn id="77" dur="500"/>
                                        <p:tgtEl>
                                          <p:spTgt spid="19"/>
                                        </p:tgtEl>
                                      </p:cBhvr>
                                    </p:animEffect>
                                    <p:anim calcmode="lin" valueType="num">
                                      <p:cBhvr additive="base">
                                        <p:cTn id="78" dur="500" fill="hold"/>
                                        <p:tgtEl>
                                          <p:spTgt spid="19"/>
                                        </p:tgtEl>
                                        <p:attrNameLst>
                                          <p:attrName>ppt_x</p:attrName>
                                        </p:attrNameLst>
                                      </p:cBhvr>
                                      <p:tavLst>
                                        <p:tav tm="0">
                                          <p:val>
                                            <p:strVal val="#ppt_x"/>
                                          </p:val>
                                        </p:tav>
                                        <p:tav tm="100000">
                                          <p:val>
                                            <p:strVal val="#ppt_x"/>
                                          </p:val>
                                        </p:tav>
                                      </p:tavLst>
                                    </p:anim>
                                    <p:anim calcmode="lin" valueType="num">
                                      <p:cBhvr additive="base">
                                        <p:cTn id="79" dur="500" fill="hold"/>
                                        <p:tgtEl>
                                          <p:spTgt spid="19"/>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660"/>
                                  </p:stCondLst>
                                  <p:childTnLst>
                                    <p:set>
                                      <p:cBhvr>
                                        <p:cTn id="81" dur="1" fill="hold">
                                          <p:stCondLst>
                                            <p:cond delay="0"/>
                                          </p:stCondLst>
                                        </p:cTn>
                                        <p:tgtEl>
                                          <p:spTgt spid="20"/>
                                        </p:tgtEl>
                                        <p:attrNameLst>
                                          <p:attrName>style.visibility</p:attrName>
                                        </p:attrNameLst>
                                      </p:cBhvr>
                                      <p:to>
                                        <p:strVal val="visible"/>
                                      </p:to>
                                    </p:set>
                                    <p:animEffect transition="in" filter="fade">
                                      <p:cBhvr>
                                        <p:cTn id="82" dur="500"/>
                                        <p:tgtEl>
                                          <p:spTgt spid="20"/>
                                        </p:tgtEl>
                                      </p:cBhvr>
                                    </p:animEffect>
                                    <p:anim calcmode="lin" valueType="num">
                                      <p:cBhvr additive="base">
                                        <p:cTn id="83" dur="500" fill="hold"/>
                                        <p:tgtEl>
                                          <p:spTgt spid="20"/>
                                        </p:tgtEl>
                                        <p:attrNameLst>
                                          <p:attrName>ppt_x</p:attrName>
                                        </p:attrNameLst>
                                      </p:cBhvr>
                                      <p:tavLst>
                                        <p:tav tm="0">
                                          <p:val>
                                            <p:strVal val="#ppt_x"/>
                                          </p:val>
                                        </p:tav>
                                        <p:tav tm="100000">
                                          <p:val>
                                            <p:strVal val="#ppt_x"/>
                                          </p:val>
                                        </p:tav>
                                      </p:tavLst>
                                    </p:anim>
                                    <p:anim calcmode="lin" valueType="num">
                                      <p:cBhvr additive="base">
                                        <p:cTn id="84" dur="500" fill="hold"/>
                                        <p:tgtEl>
                                          <p:spTgt spid="20"/>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880"/>
                                  </p:stCondLst>
                                  <p:childTnLst>
                                    <p:set>
                                      <p:cBhvr>
                                        <p:cTn id="86" dur="1" fill="hold">
                                          <p:stCondLst>
                                            <p:cond delay="0"/>
                                          </p:stCondLst>
                                        </p:cTn>
                                        <p:tgtEl>
                                          <p:spTgt spid="21"/>
                                        </p:tgtEl>
                                        <p:attrNameLst>
                                          <p:attrName>style.visibility</p:attrName>
                                        </p:attrNameLst>
                                      </p:cBhvr>
                                      <p:to>
                                        <p:strVal val="visible"/>
                                      </p:to>
                                    </p:set>
                                    <p:animEffect transition="in" filter="fade">
                                      <p:cBhvr>
                                        <p:cTn id="87" dur="500"/>
                                        <p:tgtEl>
                                          <p:spTgt spid="21"/>
                                        </p:tgtEl>
                                      </p:cBhvr>
                                    </p:animEffect>
                                    <p:anim calcmode="lin" valueType="num">
                                      <p:cBhvr additive="base">
                                        <p:cTn id="88" dur="500" fill="hold"/>
                                        <p:tgtEl>
                                          <p:spTgt spid="21"/>
                                        </p:tgtEl>
                                        <p:attrNameLst>
                                          <p:attrName>ppt_x</p:attrName>
                                        </p:attrNameLst>
                                      </p:cBhvr>
                                      <p:tavLst>
                                        <p:tav tm="0">
                                          <p:val>
                                            <p:strVal val="#ppt_x"/>
                                          </p:val>
                                        </p:tav>
                                        <p:tav tm="100000">
                                          <p:val>
                                            <p:strVal val="#ppt_x"/>
                                          </p:val>
                                        </p:tav>
                                      </p:tavLst>
                                    </p:anim>
                                    <p:anim calcmode="lin" valueType="num">
                                      <p:cBhvr additive="base">
                                        <p:cTn id="89" dur="500" fill="hold"/>
                                        <p:tgtEl>
                                          <p:spTgt spid="21"/>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880"/>
                                  </p:stCondLst>
                                  <p:childTnLst>
                                    <p:set>
                                      <p:cBhvr>
                                        <p:cTn id="91" dur="1" fill="hold">
                                          <p:stCondLst>
                                            <p:cond delay="0"/>
                                          </p:stCondLst>
                                        </p:cTn>
                                        <p:tgtEl>
                                          <p:spTgt spid="22"/>
                                        </p:tgtEl>
                                        <p:attrNameLst>
                                          <p:attrName>style.visibility</p:attrName>
                                        </p:attrNameLst>
                                      </p:cBhvr>
                                      <p:to>
                                        <p:strVal val="visible"/>
                                      </p:to>
                                    </p:set>
                                    <p:animEffect transition="in" filter="fade">
                                      <p:cBhvr>
                                        <p:cTn id="92" dur="500"/>
                                        <p:tgtEl>
                                          <p:spTgt spid="22"/>
                                        </p:tgtEl>
                                      </p:cBhvr>
                                    </p:animEffect>
                                    <p:anim calcmode="lin" valueType="num">
                                      <p:cBhvr additive="base">
                                        <p:cTn id="93" dur="500" fill="hold"/>
                                        <p:tgtEl>
                                          <p:spTgt spid="22"/>
                                        </p:tgtEl>
                                        <p:attrNameLst>
                                          <p:attrName>ppt_x</p:attrName>
                                        </p:attrNameLst>
                                      </p:cBhvr>
                                      <p:tavLst>
                                        <p:tav tm="0">
                                          <p:val>
                                            <p:strVal val="#ppt_x"/>
                                          </p:val>
                                        </p:tav>
                                        <p:tav tm="100000">
                                          <p:val>
                                            <p:strVal val="#ppt_x"/>
                                          </p:val>
                                        </p:tav>
                                      </p:tavLst>
                                    </p:anim>
                                    <p:anim calcmode="lin" valueType="num">
                                      <p:cBhvr additive="base">
                                        <p:cTn id="94" dur="500" fill="hold"/>
                                        <p:tgtEl>
                                          <p:spTgt spid="22"/>
                                        </p:tgtEl>
                                        <p:attrNameLst>
                                          <p:attrName>ppt_y</p:attrName>
                                        </p:attrNameLst>
                                      </p:cBhvr>
                                      <p:tavLst>
                                        <p:tav tm="0">
                                          <p:val>
                                            <p:strVal val="#ppt_y+.1"/>
                                          </p:val>
                                        </p:tav>
                                        <p:tav tm="100000">
                                          <p:val>
                                            <p:strVal val="#ppt_y"/>
                                          </p:val>
                                        </p:tav>
                                      </p:tavLst>
                                    </p:anim>
                                  </p:childTnLst>
                                </p:cTn>
                              </p:par>
                              <p:par>
                                <p:cTn id="95" presetID="42" presetClass="entr" presetSubtype="0" fill="hold" grpId="0" nodeType="withEffect">
                                  <p:stCondLst>
                                    <p:cond delay="880"/>
                                  </p:stCondLst>
                                  <p:childTnLst>
                                    <p:set>
                                      <p:cBhvr>
                                        <p:cTn id="96" dur="1" fill="hold">
                                          <p:stCondLst>
                                            <p:cond delay="0"/>
                                          </p:stCondLst>
                                        </p:cTn>
                                        <p:tgtEl>
                                          <p:spTgt spid="23"/>
                                        </p:tgtEl>
                                        <p:attrNameLst>
                                          <p:attrName>style.visibility</p:attrName>
                                        </p:attrNameLst>
                                      </p:cBhvr>
                                      <p:to>
                                        <p:strVal val="visible"/>
                                      </p:to>
                                    </p:set>
                                    <p:animEffect transition="in" filter="fade">
                                      <p:cBhvr>
                                        <p:cTn id="97" dur="500"/>
                                        <p:tgtEl>
                                          <p:spTgt spid="23"/>
                                        </p:tgtEl>
                                      </p:cBhvr>
                                    </p:animEffect>
                                    <p:anim calcmode="lin" valueType="num">
                                      <p:cBhvr additive="base">
                                        <p:cTn id="98" dur="500" fill="hold"/>
                                        <p:tgtEl>
                                          <p:spTgt spid="23"/>
                                        </p:tgtEl>
                                        <p:attrNameLst>
                                          <p:attrName>ppt_x</p:attrName>
                                        </p:attrNameLst>
                                      </p:cBhvr>
                                      <p:tavLst>
                                        <p:tav tm="0">
                                          <p:val>
                                            <p:strVal val="#ppt_x"/>
                                          </p:val>
                                        </p:tav>
                                        <p:tav tm="100000">
                                          <p:val>
                                            <p:strVal val="#ppt_x"/>
                                          </p:val>
                                        </p:tav>
                                      </p:tavLst>
                                    </p:anim>
                                    <p:anim calcmode="lin" valueType="num">
                                      <p:cBhvr additive="base">
                                        <p:cTn id="99" dur="500" fill="hold"/>
                                        <p:tgtEl>
                                          <p:spTgt spid="23"/>
                                        </p:tgtEl>
                                        <p:attrNameLst>
                                          <p:attrName>ppt_y</p:attrName>
                                        </p:attrNameLst>
                                      </p:cBhvr>
                                      <p:tavLst>
                                        <p:tav tm="0">
                                          <p:val>
                                            <p:strVal val="#ppt_y+.1"/>
                                          </p:val>
                                        </p:tav>
                                        <p:tav tm="100000">
                                          <p:val>
                                            <p:strVal val="#ppt_y"/>
                                          </p:val>
                                        </p:tav>
                                      </p:tavLst>
                                    </p:anim>
                                  </p:childTnLst>
                                </p:cTn>
                              </p:par>
                              <p:par>
                                <p:cTn id="100" presetID="42" presetClass="entr" presetSubtype="0" fill="hold" grpId="0" nodeType="withEffect">
                                  <p:stCondLst>
                                    <p:cond delay="880"/>
                                  </p:stCondLst>
                                  <p:childTnLst>
                                    <p:set>
                                      <p:cBhvr>
                                        <p:cTn id="101" dur="1" fill="hold">
                                          <p:stCondLst>
                                            <p:cond delay="0"/>
                                          </p:stCondLst>
                                        </p:cTn>
                                        <p:tgtEl>
                                          <p:spTgt spid="24"/>
                                        </p:tgtEl>
                                        <p:attrNameLst>
                                          <p:attrName>style.visibility</p:attrName>
                                        </p:attrNameLst>
                                      </p:cBhvr>
                                      <p:to>
                                        <p:strVal val="visible"/>
                                      </p:to>
                                    </p:set>
                                    <p:animEffect transition="in" filter="fade">
                                      <p:cBhvr>
                                        <p:cTn id="102" dur="500"/>
                                        <p:tgtEl>
                                          <p:spTgt spid="24"/>
                                        </p:tgtEl>
                                      </p:cBhvr>
                                    </p:animEffect>
                                    <p:anim calcmode="lin" valueType="num">
                                      <p:cBhvr additive="base">
                                        <p:cTn id="103" dur="500" fill="hold"/>
                                        <p:tgtEl>
                                          <p:spTgt spid="24"/>
                                        </p:tgtEl>
                                        <p:attrNameLst>
                                          <p:attrName>ppt_x</p:attrName>
                                        </p:attrNameLst>
                                      </p:cBhvr>
                                      <p:tavLst>
                                        <p:tav tm="0">
                                          <p:val>
                                            <p:strVal val="#ppt_x"/>
                                          </p:val>
                                        </p:tav>
                                        <p:tav tm="100000">
                                          <p:val>
                                            <p:strVal val="#ppt_x"/>
                                          </p:val>
                                        </p:tav>
                                      </p:tavLst>
                                    </p:anim>
                                    <p:anim calcmode="lin" valueType="num">
                                      <p:cBhvr additive="base">
                                        <p:cTn id="104" dur="500" fill="hold"/>
                                        <p:tgtEl>
                                          <p:spTgt spid="24"/>
                                        </p:tgtEl>
                                        <p:attrNameLst>
                                          <p:attrName>ppt_y</p:attrName>
                                        </p:attrNameLst>
                                      </p:cBhvr>
                                      <p:tavLst>
                                        <p:tav tm="0">
                                          <p:val>
                                            <p:strVal val="#ppt_y+.1"/>
                                          </p:val>
                                        </p:tav>
                                        <p:tav tm="100000">
                                          <p:val>
                                            <p:strVal val="#ppt_y"/>
                                          </p:val>
                                        </p:tav>
                                      </p:tavLst>
                                    </p:anim>
                                  </p:childTnLst>
                                </p:cTn>
                              </p:par>
                              <p:par>
                                <p:cTn id="105" presetID="42" presetClass="entr" presetSubtype="0" fill="hold" grpId="0" nodeType="withEffect">
                                  <p:stCondLst>
                                    <p:cond delay="1100"/>
                                  </p:stCondLst>
                                  <p:childTnLst>
                                    <p:set>
                                      <p:cBhvr>
                                        <p:cTn id="106" dur="1" fill="hold">
                                          <p:stCondLst>
                                            <p:cond delay="0"/>
                                          </p:stCondLst>
                                        </p:cTn>
                                        <p:tgtEl>
                                          <p:spTgt spid="25"/>
                                        </p:tgtEl>
                                        <p:attrNameLst>
                                          <p:attrName>style.visibility</p:attrName>
                                        </p:attrNameLst>
                                      </p:cBhvr>
                                      <p:to>
                                        <p:strVal val="visible"/>
                                      </p:to>
                                    </p:set>
                                    <p:animEffect transition="in" filter="fade">
                                      <p:cBhvr>
                                        <p:cTn id="107" dur="500"/>
                                        <p:tgtEl>
                                          <p:spTgt spid="25"/>
                                        </p:tgtEl>
                                      </p:cBhvr>
                                    </p:animEffect>
                                    <p:anim calcmode="lin" valueType="num">
                                      <p:cBhvr additive="base">
                                        <p:cTn id="108" dur="500" fill="hold"/>
                                        <p:tgtEl>
                                          <p:spTgt spid="25"/>
                                        </p:tgtEl>
                                        <p:attrNameLst>
                                          <p:attrName>ppt_x</p:attrName>
                                        </p:attrNameLst>
                                      </p:cBhvr>
                                      <p:tavLst>
                                        <p:tav tm="0">
                                          <p:val>
                                            <p:strVal val="#ppt_x"/>
                                          </p:val>
                                        </p:tav>
                                        <p:tav tm="100000">
                                          <p:val>
                                            <p:strVal val="#ppt_x"/>
                                          </p:val>
                                        </p:tav>
                                      </p:tavLst>
                                    </p:anim>
                                    <p:anim calcmode="lin" valueType="num">
                                      <p:cBhvr additive="base">
                                        <p:cTn id="109" dur="500" fill="hold"/>
                                        <p:tgtEl>
                                          <p:spTgt spid="25"/>
                                        </p:tgtEl>
                                        <p:attrNameLst>
                                          <p:attrName>ppt_y</p:attrName>
                                        </p:attrNameLst>
                                      </p:cBhvr>
                                      <p:tavLst>
                                        <p:tav tm="0">
                                          <p:val>
                                            <p:strVal val="#ppt_y+.1"/>
                                          </p:val>
                                        </p:tav>
                                        <p:tav tm="100000">
                                          <p:val>
                                            <p:strVal val="#ppt_y"/>
                                          </p:val>
                                        </p:tav>
                                      </p:tavLst>
                                    </p:anim>
                                  </p:childTnLst>
                                </p:cTn>
                              </p:par>
                              <p:par>
                                <p:cTn id="110" presetID="42" presetClass="entr" presetSubtype="0" fill="hold" grpId="0" nodeType="withEffect">
                                  <p:stCondLst>
                                    <p:cond delay="1100"/>
                                  </p:stCondLst>
                                  <p:childTnLst>
                                    <p:set>
                                      <p:cBhvr>
                                        <p:cTn id="111" dur="1" fill="hold">
                                          <p:stCondLst>
                                            <p:cond delay="0"/>
                                          </p:stCondLst>
                                        </p:cTn>
                                        <p:tgtEl>
                                          <p:spTgt spid="26"/>
                                        </p:tgtEl>
                                        <p:attrNameLst>
                                          <p:attrName>style.visibility</p:attrName>
                                        </p:attrNameLst>
                                      </p:cBhvr>
                                      <p:to>
                                        <p:strVal val="visible"/>
                                      </p:to>
                                    </p:set>
                                    <p:animEffect transition="in" filter="fade">
                                      <p:cBhvr>
                                        <p:cTn id="112" dur="500"/>
                                        <p:tgtEl>
                                          <p:spTgt spid="26"/>
                                        </p:tgtEl>
                                      </p:cBhvr>
                                    </p:animEffect>
                                    <p:anim calcmode="lin" valueType="num">
                                      <p:cBhvr additive="base">
                                        <p:cTn id="113" dur="500" fill="hold"/>
                                        <p:tgtEl>
                                          <p:spTgt spid="26"/>
                                        </p:tgtEl>
                                        <p:attrNameLst>
                                          <p:attrName>ppt_x</p:attrName>
                                        </p:attrNameLst>
                                      </p:cBhvr>
                                      <p:tavLst>
                                        <p:tav tm="0">
                                          <p:val>
                                            <p:strVal val="#ppt_x"/>
                                          </p:val>
                                        </p:tav>
                                        <p:tav tm="100000">
                                          <p:val>
                                            <p:strVal val="#ppt_x"/>
                                          </p:val>
                                        </p:tav>
                                      </p:tavLst>
                                    </p:anim>
                                    <p:anim calcmode="lin" valueType="num">
                                      <p:cBhvr additive="base">
                                        <p:cTn id="114" dur="500" fill="hold"/>
                                        <p:tgtEl>
                                          <p:spTgt spid="26"/>
                                        </p:tgtEl>
                                        <p:attrNameLst>
                                          <p:attrName>ppt_y</p:attrName>
                                        </p:attrNameLst>
                                      </p:cBhvr>
                                      <p:tavLst>
                                        <p:tav tm="0">
                                          <p:val>
                                            <p:strVal val="#ppt_y+.1"/>
                                          </p:val>
                                        </p:tav>
                                        <p:tav tm="100000">
                                          <p:val>
                                            <p:strVal val="#ppt_y"/>
                                          </p:val>
                                        </p:tav>
                                      </p:tavLst>
                                    </p:anim>
                                  </p:childTnLst>
                                </p:cTn>
                              </p:par>
                              <p:par>
                                <p:cTn id="115" presetID="42" presetClass="entr" presetSubtype="0" fill="hold" grpId="0" nodeType="withEffect">
                                  <p:stCondLst>
                                    <p:cond delay="1100"/>
                                  </p:stCondLst>
                                  <p:childTnLst>
                                    <p:set>
                                      <p:cBhvr>
                                        <p:cTn id="116" dur="1" fill="hold">
                                          <p:stCondLst>
                                            <p:cond delay="0"/>
                                          </p:stCondLst>
                                        </p:cTn>
                                        <p:tgtEl>
                                          <p:spTgt spid="27"/>
                                        </p:tgtEl>
                                        <p:attrNameLst>
                                          <p:attrName>style.visibility</p:attrName>
                                        </p:attrNameLst>
                                      </p:cBhvr>
                                      <p:to>
                                        <p:strVal val="visible"/>
                                      </p:to>
                                    </p:set>
                                    <p:animEffect transition="in" filter="fade">
                                      <p:cBhvr>
                                        <p:cTn id="117" dur="500"/>
                                        <p:tgtEl>
                                          <p:spTgt spid="27"/>
                                        </p:tgtEl>
                                      </p:cBhvr>
                                    </p:animEffect>
                                    <p:anim calcmode="lin" valueType="num">
                                      <p:cBhvr additive="base">
                                        <p:cTn id="118" dur="500" fill="hold"/>
                                        <p:tgtEl>
                                          <p:spTgt spid="27"/>
                                        </p:tgtEl>
                                        <p:attrNameLst>
                                          <p:attrName>ppt_x</p:attrName>
                                        </p:attrNameLst>
                                      </p:cBhvr>
                                      <p:tavLst>
                                        <p:tav tm="0">
                                          <p:val>
                                            <p:strVal val="#ppt_x"/>
                                          </p:val>
                                        </p:tav>
                                        <p:tav tm="100000">
                                          <p:val>
                                            <p:strVal val="#ppt_x"/>
                                          </p:val>
                                        </p:tav>
                                      </p:tavLst>
                                    </p:anim>
                                    <p:anim calcmode="lin" valueType="num">
                                      <p:cBhvr additive="base">
                                        <p:cTn id="119" dur="500" fill="hold"/>
                                        <p:tgtEl>
                                          <p:spTgt spid="27"/>
                                        </p:tgtEl>
                                        <p:attrNameLst>
                                          <p:attrName>ppt_y</p:attrName>
                                        </p:attrNameLst>
                                      </p:cBhvr>
                                      <p:tavLst>
                                        <p:tav tm="0">
                                          <p:val>
                                            <p:strVal val="#ppt_y+.1"/>
                                          </p:val>
                                        </p:tav>
                                        <p:tav tm="100000">
                                          <p:val>
                                            <p:strVal val="#ppt_y"/>
                                          </p:val>
                                        </p:tav>
                                      </p:tavLst>
                                    </p:anim>
                                  </p:childTnLst>
                                </p:cTn>
                              </p:par>
                              <p:par>
                                <p:cTn id="120" presetID="42" presetClass="entr" presetSubtype="0" fill="hold" grpId="0" nodeType="withEffect">
                                  <p:stCondLst>
                                    <p:cond delay="1100"/>
                                  </p:stCondLst>
                                  <p:childTnLst>
                                    <p:set>
                                      <p:cBhvr>
                                        <p:cTn id="121" dur="1" fill="hold">
                                          <p:stCondLst>
                                            <p:cond delay="0"/>
                                          </p:stCondLst>
                                        </p:cTn>
                                        <p:tgtEl>
                                          <p:spTgt spid="28"/>
                                        </p:tgtEl>
                                        <p:attrNameLst>
                                          <p:attrName>style.visibility</p:attrName>
                                        </p:attrNameLst>
                                      </p:cBhvr>
                                      <p:to>
                                        <p:strVal val="visible"/>
                                      </p:to>
                                    </p:set>
                                    <p:animEffect transition="in" filter="fade">
                                      <p:cBhvr>
                                        <p:cTn id="122" dur="500"/>
                                        <p:tgtEl>
                                          <p:spTgt spid="28"/>
                                        </p:tgtEl>
                                      </p:cBhvr>
                                    </p:animEffect>
                                    <p:anim calcmode="lin" valueType="num">
                                      <p:cBhvr additive="base">
                                        <p:cTn id="123" dur="500" fill="hold"/>
                                        <p:tgtEl>
                                          <p:spTgt spid="28"/>
                                        </p:tgtEl>
                                        <p:attrNameLst>
                                          <p:attrName>ppt_x</p:attrName>
                                        </p:attrNameLst>
                                      </p:cBhvr>
                                      <p:tavLst>
                                        <p:tav tm="0">
                                          <p:val>
                                            <p:strVal val="#ppt_x"/>
                                          </p:val>
                                        </p:tav>
                                        <p:tav tm="100000">
                                          <p:val>
                                            <p:strVal val="#ppt_x"/>
                                          </p:val>
                                        </p:tav>
                                      </p:tavLst>
                                    </p:anim>
                                    <p:anim calcmode="lin" valueType="num">
                                      <p:cBhvr additive="base">
                                        <p:cTn id="124" dur="5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ring#20"/>
          <p:cNvSpPr/>
          <p:nvPr/>
        </p:nvSpPr>
        <p:spPr>
          <a:xfrm>
            <a:off x="7223760" y="1234440"/>
            <a:ext cx="4389120" cy="4389120"/>
          </a:xfrm>
          <a:prstGeom prst="ellipse">
            <a:avLst/>
          </a:prstGeom>
          <a:solidFill>
            <a:srgbClr val="1BA39C">
              <a:alpha val="20000"/>
            </a:srgbClr>
          </a:solidFill>
          <a:ln/>
        </p:spPr>
      </p:sp>
      <p:sp>
        <p:nvSpPr>
          <p:cNvPr id="3" name="ring#21"/>
          <p:cNvSpPr/>
          <p:nvPr/>
        </p:nvSpPr>
        <p:spPr>
          <a:xfrm>
            <a:off x="7818120" y="1828800"/>
            <a:ext cx="3200400" cy="3200400"/>
          </a:xfrm>
          <a:prstGeom prst="ellipse">
            <a:avLst/>
          </a:prstGeom>
          <a:solidFill>
            <a:srgbClr val="1BA39C">
              <a:alpha val="8000"/>
            </a:srgbClr>
          </a:solidFill>
          <a:ln/>
        </p:spPr>
      </p:sp>
      <p:sp>
        <p:nvSpPr>
          <p:cNvPr id="4" name="divDot"/>
          <p:cNvSpPr/>
          <p:nvPr/>
        </p:nvSpPr>
        <p:spPr>
          <a:xfrm>
            <a:off x="8503920" y="2514600"/>
            <a:ext cx="1828800" cy="1828800"/>
          </a:xfrm>
          <a:prstGeom prst="ellipse">
            <a:avLst/>
          </a:prstGeom>
          <a:solidFill>
            <a:schemeClr val="accent3"/>
          </a:solidFill>
          <a:ln/>
        </p:spPr>
      </p:sp>
      <p:pic>
        <p:nvPicPr>
          <p:cNvPr id="5" name="divDoti" descr="preencoded.png"/>
          <p:cNvPicPr>
            <a:picLocks noChangeAspect="1"/>
          </p:cNvPicPr>
          <p:nvPr/>
        </p:nvPicPr>
        <p:blipFill>
          <a:blip r:embed="rId3"/>
          <a:stretch>
            <a:fillRect/>
          </a:stretch>
        </p:blipFill>
        <p:spPr>
          <a:xfrm>
            <a:off x="8997696" y="3008376"/>
            <a:ext cx="841248" cy="841248"/>
          </a:xfrm>
          <a:prstGeom prst="rect">
            <a:avLst/>
          </a:prstGeom>
        </p:spPr>
      </p:pic>
      <p:sp>
        <p:nvSpPr>
          <p:cNvPr id="6" name="divNum"/>
          <p:cNvSpPr txBox="1"/>
          <p:nvPr/>
        </p:nvSpPr>
        <p:spPr>
          <a:xfrm>
            <a:off x="548640" y="1463040"/>
            <a:ext cx="3657600" cy="1737360"/>
          </a:xfrm>
          <a:prstGeom prst="rect">
            <a:avLst/>
          </a:prstGeom>
          <a:noFill/>
          <a:ln/>
        </p:spPr>
        <p:txBody>
          <a:bodyPr wrap="square" lIns="0" tIns="0" rIns="0" bIns="0" rtlCol="0" anchor="t"/>
          <a:lstStyle/>
          <a:p>
            <a:pPr marL="0" indent="0">
              <a:buNone/>
            </a:pPr>
            <a:r>
              <a:rPr lang="en-US" sz="12000" b="1" dirty="0">
                <a:solidFill>
                  <a:schemeClr val="accent2"/>
                </a:solidFill>
              </a:rPr>
              <a:t>01</a:t>
            </a:r>
            <a:endParaRPr lang="en-US" sz="12000" dirty="0"/>
          </a:p>
        </p:txBody>
      </p:sp>
      <p:sp>
        <p:nvSpPr>
          <p:cNvPr id="7" name="divPart"/>
          <p:cNvSpPr txBox="1"/>
          <p:nvPr/>
        </p:nvSpPr>
        <p:spPr>
          <a:xfrm>
            <a:off x="548640" y="3383280"/>
            <a:ext cx="5486400" cy="320040"/>
          </a:xfrm>
          <a:prstGeom prst="rect">
            <a:avLst/>
          </a:prstGeom>
          <a:noFill/>
          <a:ln/>
        </p:spPr>
        <p:txBody>
          <a:bodyPr wrap="square" lIns="0" tIns="0" rIns="0" bIns="0" rtlCol="0" anchor="t"/>
          <a:lstStyle/>
          <a:p>
            <a:pPr marL="0" indent="0">
              <a:buNone/>
            </a:pPr>
            <a:r>
              <a:rPr lang="en-US" sz="1300" b="1" kern="0" spc="300" dirty="0">
                <a:solidFill>
                  <a:schemeClr val="accent3"/>
                </a:solidFill>
              </a:rPr>
              <a:t>PARTIE 1</a:t>
            </a:r>
            <a:endParaRPr lang="en-US" sz="1300" dirty="0"/>
          </a:p>
        </p:txBody>
      </p:sp>
      <p:sp>
        <p:nvSpPr>
          <p:cNvPr id="8" name="divTtl"/>
          <p:cNvSpPr txBox="1"/>
          <p:nvPr/>
        </p:nvSpPr>
        <p:spPr>
          <a:xfrm>
            <a:off x="548640" y="3749040"/>
            <a:ext cx="6949440" cy="914400"/>
          </a:xfrm>
          <a:prstGeom prst="rect">
            <a:avLst/>
          </a:prstGeom>
          <a:noFill/>
          <a:ln/>
        </p:spPr>
        <p:txBody>
          <a:bodyPr wrap="square" lIns="0" tIns="0" rIns="0" bIns="0" rtlCol="0" anchor="t"/>
          <a:lstStyle/>
          <a:p>
            <a:pPr marL="0" indent="0">
              <a:buNone/>
            </a:pPr>
            <a:r>
              <a:rPr lang="en-US" sz="3400" b="1" dirty="0">
                <a:solidFill>
                  <a:schemeClr val="bg1"/>
                </a:solidFill>
              </a:rPr>
              <a:t>Contexte et objectifs</a:t>
            </a:r>
            <a:endParaRPr lang="en-US" sz="3400" dirty="0"/>
          </a:p>
        </p:txBody>
      </p:sp>
      <p:sp>
        <p:nvSpPr>
          <p:cNvPr id="9" name="divSub"/>
          <p:cNvSpPr txBox="1"/>
          <p:nvPr/>
        </p:nvSpPr>
        <p:spPr>
          <a:xfrm>
            <a:off x="548640" y="4709160"/>
            <a:ext cx="6949440" cy="548640"/>
          </a:xfrm>
          <a:prstGeom prst="rect">
            <a:avLst/>
          </a:prstGeom>
          <a:noFill/>
          <a:ln/>
        </p:spPr>
        <p:txBody>
          <a:bodyPr wrap="square" lIns="0" tIns="0" rIns="0" bIns="0" rtlCol="0" anchor="t"/>
          <a:lstStyle/>
          <a:p>
            <a:pPr marL="0" indent="0">
              <a:buNone/>
            </a:pPr>
            <a:r>
              <a:rPr lang="en-US" sz="1600" dirty="0">
                <a:solidFill>
                  <a:srgbClr val="C9D3E3"/>
                </a:solidFill>
              </a:rPr>
              <a:t>Ce que demande le thème 4</a:t>
            </a:r>
            <a:endParaRPr lang="en-US" sz="16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ppt_w</p:attrName>
                                        </p:attrNameLst>
                                      </p:cBhvr>
                                      <p:tavLst>
                                        <p:tav tm="0">
                                          <p:val>
                                            <p:strVal val="0"/>
                                          </p:val>
                                        </p:tav>
                                        <p:tav tm="100000">
                                          <p:val>
                                            <p:strVal val="#ppt_w"/>
                                          </p:val>
                                        </p:tav>
                                      </p:tavLst>
                                    </p:anim>
                                    <p:anim calcmode="lin" valueType="num">
                                      <p:cBhvr additive="base">
                                        <p:cTn id="8" dur="500" fill="hold"/>
                                        <p:tgtEl>
                                          <p:spTgt spid="4"/>
                                        </p:tgtEl>
                                        <p:attrNameLst>
                                          <p:attrName>ppt_h</p:attrName>
                                        </p:attrNameLst>
                                      </p:cBhvr>
                                      <p:tavLst>
                                        <p:tav tm="0">
                                          <p:val>
                                            <p:strVal val="0"/>
                                          </p:val>
                                        </p:tav>
                                        <p:tav tm="100000">
                                          <p:val>
                                            <p:strVal val="#ppt_h"/>
                                          </p:val>
                                        </p:tav>
                                      </p:tavLst>
                                    </p:anim>
                                    <p:animEffect transition="in" filter="fade">
                                      <p:cBhvr>
                                        <p:cTn id="9" dur="500"/>
                                        <p:tgtEl>
                                          <p:spTgt spid="4"/>
                                        </p:tgtEl>
                                      </p:cBhvr>
                                    </p:animEffect>
                                  </p:childTnLst>
                                </p:cTn>
                              </p:par>
                              <p:par>
                                <p:cTn id="10" presetID="53" presetClass="entr" presetSubtype="16"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ppt_w</p:attrName>
                                        </p:attrNameLst>
                                      </p:cBhvr>
                                      <p:tavLst>
                                        <p:tav tm="0">
                                          <p:val>
                                            <p:strVal val="0"/>
                                          </p:val>
                                        </p:tav>
                                        <p:tav tm="100000">
                                          <p:val>
                                            <p:strVal val="#ppt_w"/>
                                          </p:val>
                                        </p:tav>
                                      </p:tavLst>
                                    </p:anim>
                                    <p:anim calcmode="lin" valueType="num">
                                      <p:cBhvr additive="base">
                                        <p:cTn id="13" dur="500" fill="hold"/>
                                        <p:tgtEl>
                                          <p:spTgt spid="5"/>
                                        </p:tgtEl>
                                        <p:attrNameLst>
                                          <p:attrName>ppt_h</p:attrName>
                                        </p:attrNameLst>
                                      </p:cBhvr>
                                      <p:tavLst>
                                        <p:tav tm="0">
                                          <p:val>
                                            <p:strVal val="0"/>
                                          </p:val>
                                        </p:tav>
                                        <p:tav tm="100000">
                                          <p:val>
                                            <p:strVal val="#ppt_h"/>
                                          </p:val>
                                        </p:tav>
                                      </p:tavLst>
                                    </p:anim>
                                    <p:animEffect transition="in" filter="fade">
                                      <p:cBhvr>
                                        <p:cTn id="14" dur="500"/>
                                        <p:tgtEl>
                                          <p:spTgt spid="5"/>
                                        </p:tgtEl>
                                      </p:cBhvr>
                                    </p:animEffect>
                                  </p:childTnLst>
                                </p:cTn>
                              </p:par>
                              <p:par>
                                <p:cTn id="15" presetID="42" presetClass="entr" presetSubtype="0" fill="hold" grpId="0" nodeType="withEffect">
                                  <p:stCondLst>
                                    <p:cond delay="22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anim calcmode="lin" valueType="num">
                                      <p:cBhvr additive="base">
                                        <p:cTn id="18" dur="500" fill="hold"/>
                                        <p:tgtEl>
                                          <p:spTgt spid="6"/>
                                        </p:tgtEl>
                                        <p:attrNameLst>
                                          <p:attrName>ppt_x</p:attrName>
                                        </p:attrNameLst>
                                      </p:cBhvr>
                                      <p:tavLst>
                                        <p:tav tm="0">
                                          <p:val>
                                            <p:strVal val="#ppt_x"/>
                                          </p:val>
                                        </p:tav>
                                        <p:tav tm="100000">
                                          <p:val>
                                            <p:strVal val="#ppt_x"/>
                                          </p:val>
                                        </p:tav>
                                      </p:tavLst>
                                    </p:anim>
                                    <p:anim calcmode="lin" valueType="num">
                                      <p:cBhvr additive="base">
                                        <p:cTn id="19" dur="50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44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anim calcmode="lin" valueType="num">
                                      <p:cBhvr additive="base">
                                        <p:cTn id="23" dur="500" fill="hold"/>
                                        <p:tgtEl>
                                          <p:spTgt spid="7"/>
                                        </p:tgtEl>
                                        <p:attrNameLst>
                                          <p:attrName>ppt_x</p:attrName>
                                        </p:attrNameLst>
                                      </p:cBhvr>
                                      <p:tavLst>
                                        <p:tav tm="0">
                                          <p:val>
                                            <p:strVal val="#ppt_x"/>
                                          </p:val>
                                        </p:tav>
                                        <p:tav tm="100000">
                                          <p:val>
                                            <p:strVal val="#ppt_x"/>
                                          </p:val>
                                        </p:tav>
                                      </p:tavLst>
                                    </p:anim>
                                    <p:anim calcmode="lin" valueType="num">
                                      <p:cBhvr additive="base">
                                        <p:cTn id="24" dur="500" fill="hold"/>
                                        <p:tgtEl>
                                          <p:spTgt spid="7"/>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44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anim calcmode="lin" valueType="num">
                                      <p:cBhvr additive="base">
                                        <p:cTn id="28" dur="500" fill="hold"/>
                                        <p:tgtEl>
                                          <p:spTgt spid="8"/>
                                        </p:tgtEl>
                                        <p:attrNameLst>
                                          <p:attrName>ppt_x</p:attrName>
                                        </p:attrNameLst>
                                      </p:cBhvr>
                                      <p:tavLst>
                                        <p:tav tm="0">
                                          <p:val>
                                            <p:strVal val="#ppt_x"/>
                                          </p:val>
                                        </p:tav>
                                        <p:tav tm="100000">
                                          <p:val>
                                            <p:strVal val="#ppt_x"/>
                                          </p:val>
                                        </p:tav>
                                      </p:tavLst>
                                    </p:anim>
                                    <p:anim calcmode="lin" valueType="num">
                                      <p:cBhvr additive="base">
                                        <p:cTn id="29" dur="500" fill="hold"/>
                                        <p:tgtEl>
                                          <p:spTgt spid="8"/>
                                        </p:tgtEl>
                                        <p:attrNameLst>
                                          <p:attrName>ppt_y</p:attrName>
                                        </p:attrNameLst>
                                      </p:cBhvr>
                                      <p:tavLst>
                                        <p:tav tm="0">
                                          <p:val>
                                            <p:strVal val="#ppt_y+.1"/>
                                          </p:val>
                                        </p:tav>
                                        <p:tav tm="100000">
                                          <p:val>
                                            <p:strVal val="#ppt_y"/>
                                          </p:val>
                                        </p:tav>
                                      </p:tavLst>
                                    </p:anim>
                                  </p:childTnLst>
                                </p:cTn>
                              </p:par>
                              <p:par>
                                <p:cTn id="30" presetID="10" presetClass="entr" presetSubtype="0" fill="hold" grpId="0" nodeType="withEffect">
                                  <p:stCondLst>
                                    <p:cond delay="66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749808"/>
            <a:ext cx="11064240" cy="685800"/>
          </a:xfrm>
          <a:prstGeom prst="rect">
            <a:avLst/>
          </a:prstGeom>
          <a:noFill/>
          <a:ln/>
        </p:spPr>
        <p:txBody>
          <a:bodyPr wrap="square" lIns="0" tIns="0" rIns="0" bIns="0" rtlCol="0" anchor="ctr"/>
          <a:lstStyle/>
          <a:p>
            <a:pPr marL="0" indent="0" algn="l">
              <a:buNone/>
            </a:pPr>
            <a:r>
              <a:rPr lang="en-US" sz="3000" b="1" dirty="0">
                <a:solidFill>
                  <a:schemeClr val="tx2"/>
                </a:solidFill>
              </a:rPr>
              <a:t>Six exigences à couvrir</a:t>
            </a:r>
            <a:endParaRPr lang="en-US" sz="3000" dirty="0"/>
          </a:p>
        </p:txBody>
      </p:sp>
      <p:sp>
        <p:nvSpPr>
          <p:cNvPr id="3" name="pill#22"/>
          <p:cNvSpPr/>
          <p:nvPr/>
        </p:nvSpPr>
        <p:spPr>
          <a:xfrm>
            <a:off x="548640" y="384048"/>
            <a:ext cx="1833372" cy="292608"/>
          </a:xfrm>
          <a:prstGeom prst="roundRect">
            <a:avLst>
              <a:gd name="adj" fmla="val 50000"/>
            </a:avLst>
          </a:prstGeom>
          <a:solidFill>
            <a:schemeClr val="accent3"/>
          </a:solidFill>
          <a:ln/>
        </p:spPr>
      </p:sp>
      <p:sp>
        <p:nvSpPr>
          <p:cNvPr id="4" name="pill#22t"/>
          <p:cNvSpPr txBox="1"/>
          <p:nvPr/>
        </p:nvSpPr>
        <p:spPr>
          <a:xfrm>
            <a:off x="548640" y="384048"/>
            <a:ext cx="1833372" cy="292608"/>
          </a:xfrm>
          <a:prstGeom prst="rect">
            <a:avLst/>
          </a:prstGeom>
          <a:noFill/>
          <a:ln/>
        </p:spPr>
        <p:txBody>
          <a:bodyPr wrap="square" lIns="0" tIns="0" rIns="0" bIns="0" rtlCol="0" anchor="ctr"/>
          <a:lstStyle/>
          <a:p>
            <a:pPr marL="0" indent="0" algn="ctr">
              <a:buNone/>
            </a:pPr>
            <a:r>
              <a:rPr lang="en-US" sz="1100" b="1" dirty="0">
                <a:solidFill>
                  <a:schemeClr val="bg1"/>
                </a:solidFill>
              </a:rPr>
              <a:t>Contexte et objectifs</a:t>
            </a:r>
            <a:endParaRPr lang="en-US" sz="1100" dirty="0"/>
          </a:p>
        </p:txBody>
      </p:sp>
      <p:sp>
        <p:nvSpPr>
          <p:cNvPr id="5" name="req#23"/>
          <p:cNvSpPr/>
          <p:nvPr/>
        </p:nvSpPr>
        <p:spPr>
          <a:xfrm>
            <a:off x="548640" y="1783080"/>
            <a:ext cx="3520440" cy="1920240"/>
          </a:xfrm>
          <a:prstGeom prst="roundRect">
            <a:avLst>
              <a:gd name="adj" fmla="val 4762"/>
            </a:avLst>
          </a:prstGeom>
          <a:solidFill>
            <a:schemeClr val="bg1"/>
          </a:solidFill>
          <a:ln w="9525">
            <a:solidFill>
              <a:srgbClr val="E3E8F0"/>
            </a:solidFill>
            <a:prstDash val="solid"/>
          </a:ln>
          <a:effectLst>
            <a:outerShdw blurRad="127000" dist="38100" dir="5400000" algn="bl" rotWithShape="0">
              <a:srgbClr val="0D2340">
                <a:alpha val="12000"/>
              </a:srgbClr>
            </a:outerShdw>
          </a:effectLst>
        </p:spPr>
      </p:sp>
      <p:sp>
        <p:nvSpPr>
          <p:cNvPr id="6" name="req#23d"/>
          <p:cNvSpPr/>
          <p:nvPr/>
        </p:nvSpPr>
        <p:spPr>
          <a:xfrm>
            <a:off x="822960" y="2057400"/>
            <a:ext cx="685800" cy="685800"/>
          </a:xfrm>
          <a:prstGeom prst="ellipse">
            <a:avLst/>
          </a:prstGeom>
          <a:solidFill>
            <a:schemeClr val="accent3"/>
          </a:solidFill>
          <a:ln/>
        </p:spPr>
      </p:sp>
      <p:pic>
        <p:nvPicPr>
          <p:cNvPr id="7" name="req#23di" descr="preencoded.png"/>
          <p:cNvPicPr>
            <a:picLocks noChangeAspect="1"/>
          </p:cNvPicPr>
          <p:nvPr/>
        </p:nvPicPr>
        <p:blipFill>
          <a:blip r:embed="rId3"/>
          <a:stretch>
            <a:fillRect/>
          </a:stretch>
        </p:blipFill>
        <p:spPr>
          <a:xfrm>
            <a:off x="1008126" y="2242566"/>
            <a:ext cx="315468" cy="315468"/>
          </a:xfrm>
          <a:prstGeom prst="rect">
            <a:avLst/>
          </a:prstGeom>
        </p:spPr>
      </p:pic>
      <p:sp>
        <p:nvSpPr>
          <p:cNvPr id="8" name="req#23h"/>
          <p:cNvSpPr txBox="1"/>
          <p:nvPr/>
        </p:nvSpPr>
        <p:spPr>
          <a:xfrm>
            <a:off x="1691640" y="2057400"/>
            <a:ext cx="2240280" cy="685800"/>
          </a:xfrm>
          <a:prstGeom prst="rect">
            <a:avLst/>
          </a:prstGeom>
          <a:noFill/>
          <a:ln/>
        </p:spPr>
        <p:txBody>
          <a:bodyPr wrap="square" lIns="0" tIns="0" rIns="0" bIns="0" rtlCol="0" anchor="ctr"/>
          <a:lstStyle/>
          <a:p>
            <a:pPr marL="0" indent="0">
              <a:buNone/>
            </a:pPr>
            <a:r>
              <a:rPr lang="en-US" sz="1800" b="1" dirty="0">
                <a:solidFill>
                  <a:schemeClr val="tx2"/>
                </a:solidFill>
              </a:rPr>
              <a:t>Modèle commun</a:t>
            </a:r>
            <a:endParaRPr lang="en-US" sz="1800" dirty="0"/>
          </a:p>
        </p:txBody>
      </p:sp>
      <p:sp>
        <p:nvSpPr>
          <p:cNvPr id="9" name="req#23b"/>
          <p:cNvSpPr txBox="1"/>
          <p:nvPr/>
        </p:nvSpPr>
        <p:spPr>
          <a:xfrm>
            <a:off x="822960" y="2880360"/>
            <a:ext cx="3017520" cy="731520"/>
          </a:xfrm>
          <a:prstGeom prst="rect">
            <a:avLst/>
          </a:prstGeom>
          <a:noFill/>
          <a:ln/>
        </p:spPr>
        <p:txBody>
          <a:bodyPr wrap="square" lIns="0" tIns="0" rIns="0" bIns="0" rtlCol="0" anchor="t"/>
          <a:lstStyle/>
          <a:p>
            <a:pPr marL="0" indent="0">
              <a:buNone/>
            </a:pPr>
            <a:r>
              <a:rPr lang="en-US" sz="1400" dirty="0">
                <a:solidFill>
                  <a:schemeClr val="tx1"/>
                </a:solidFill>
              </a:rPr>
              <a:t>Un même modèle d'employé et une base de référence.</a:t>
            </a:r>
            <a:endParaRPr lang="en-US" sz="1400" dirty="0"/>
          </a:p>
        </p:txBody>
      </p:sp>
      <p:sp>
        <p:nvSpPr>
          <p:cNvPr id="10" name="req#24"/>
          <p:cNvSpPr/>
          <p:nvPr/>
        </p:nvSpPr>
        <p:spPr>
          <a:xfrm>
            <a:off x="4315968" y="1783080"/>
            <a:ext cx="3520440" cy="1920240"/>
          </a:xfrm>
          <a:prstGeom prst="roundRect">
            <a:avLst>
              <a:gd name="adj" fmla="val 4762"/>
            </a:avLst>
          </a:prstGeom>
          <a:solidFill>
            <a:schemeClr val="bg1"/>
          </a:solidFill>
          <a:ln w="9525">
            <a:solidFill>
              <a:srgbClr val="E3E8F0"/>
            </a:solidFill>
            <a:prstDash val="solid"/>
          </a:ln>
          <a:effectLst>
            <a:outerShdw blurRad="127000" dist="38100" dir="5400000" algn="bl" rotWithShape="0">
              <a:srgbClr val="0D2340">
                <a:alpha val="12000"/>
              </a:srgbClr>
            </a:outerShdw>
          </a:effectLst>
        </p:spPr>
      </p:sp>
      <p:sp>
        <p:nvSpPr>
          <p:cNvPr id="11" name="req#24d"/>
          <p:cNvSpPr/>
          <p:nvPr/>
        </p:nvSpPr>
        <p:spPr>
          <a:xfrm>
            <a:off x="4590288" y="2057400"/>
            <a:ext cx="685800" cy="685800"/>
          </a:xfrm>
          <a:prstGeom prst="ellipse">
            <a:avLst/>
          </a:prstGeom>
          <a:solidFill>
            <a:schemeClr val="accent2"/>
          </a:solidFill>
          <a:ln/>
        </p:spPr>
      </p:sp>
      <p:pic>
        <p:nvPicPr>
          <p:cNvPr id="12" name="req#24di" descr="preencoded.png"/>
          <p:cNvPicPr>
            <a:picLocks noChangeAspect="1"/>
          </p:cNvPicPr>
          <p:nvPr/>
        </p:nvPicPr>
        <p:blipFill>
          <a:blip r:embed="rId4"/>
          <a:stretch>
            <a:fillRect/>
          </a:stretch>
        </p:blipFill>
        <p:spPr>
          <a:xfrm>
            <a:off x="4775454" y="2242566"/>
            <a:ext cx="315468" cy="315468"/>
          </a:xfrm>
          <a:prstGeom prst="rect">
            <a:avLst/>
          </a:prstGeom>
        </p:spPr>
      </p:pic>
      <p:sp>
        <p:nvSpPr>
          <p:cNvPr id="13" name="req#24h"/>
          <p:cNvSpPr txBox="1"/>
          <p:nvPr/>
        </p:nvSpPr>
        <p:spPr>
          <a:xfrm>
            <a:off x="5458968" y="2057400"/>
            <a:ext cx="2240280" cy="685800"/>
          </a:xfrm>
          <a:prstGeom prst="rect">
            <a:avLst/>
          </a:prstGeom>
          <a:noFill/>
          <a:ln/>
        </p:spPr>
        <p:txBody>
          <a:bodyPr wrap="square" lIns="0" tIns="0" rIns="0" bIns="0" rtlCol="0" anchor="ctr"/>
          <a:lstStyle/>
          <a:p>
            <a:pPr marL="0" indent="0">
              <a:buNone/>
            </a:pPr>
            <a:r>
              <a:rPr lang="en-US" sz="1800" b="1" dirty="0">
                <a:solidFill>
                  <a:schemeClr val="tx2"/>
                </a:solidFill>
              </a:rPr>
              <a:t>Synchronisation</a:t>
            </a:r>
            <a:endParaRPr lang="en-US" sz="1800" dirty="0"/>
          </a:p>
        </p:txBody>
      </p:sp>
      <p:sp>
        <p:nvSpPr>
          <p:cNvPr id="14" name="req#24b"/>
          <p:cNvSpPr txBox="1"/>
          <p:nvPr/>
        </p:nvSpPr>
        <p:spPr>
          <a:xfrm>
            <a:off x="4590288" y="2880360"/>
            <a:ext cx="3017520" cy="731520"/>
          </a:xfrm>
          <a:prstGeom prst="rect">
            <a:avLst/>
          </a:prstGeom>
          <a:noFill/>
          <a:ln/>
        </p:spPr>
        <p:txBody>
          <a:bodyPr wrap="square" lIns="0" tIns="0" rIns="0" bIns="0" rtlCol="0" anchor="t"/>
          <a:lstStyle/>
          <a:p>
            <a:pPr marL="0" indent="0">
              <a:buNone/>
            </a:pPr>
            <a:r>
              <a:rPr lang="en-US" sz="1400" dirty="0">
                <a:solidFill>
                  <a:schemeClr val="tx1"/>
                </a:solidFill>
              </a:rPr>
              <a:t>Copier MySQL vers PostgreSQL avec Pentaho.</a:t>
            </a:r>
            <a:endParaRPr lang="en-US" sz="1400" dirty="0"/>
          </a:p>
        </p:txBody>
      </p:sp>
      <p:sp>
        <p:nvSpPr>
          <p:cNvPr id="15" name="req#25"/>
          <p:cNvSpPr/>
          <p:nvPr/>
        </p:nvSpPr>
        <p:spPr>
          <a:xfrm>
            <a:off x="8083296" y="1783080"/>
            <a:ext cx="3520440" cy="1920240"/>
          </a:xfrm>
          <a:prstGeom prst="roundRect">
            <a:avLst>
              <a:gd name="adj" fmla="val 4762"/>
            </a:avLst>
          </a:prstGeom>
          <a:solidFill>
            <a:schemeClr val="bg1"/>
          </a:solidFill>
          <a:ln w="9525">
            <a:solidFill>
              <a:srgbClr val="E3E8F0"/>
            </a:solidFill>
            <a:prstDash val="solid"/>
          </a:ln>
          <a:effectLst>
            <a:outerShdw blurRad="127000" dist="38100" dir="5400000" algn="bl" rotWithShape="0">
              <a:srgbClr val="0D2340">
                <a:alpha val="12000"/>
              </a:srgbClr>
            </a:outerShdw>
          </a:effectLst>
        </p:spPr>
      </p:sp>
      <p:sp>
        <p:nvSpPr>
          <p:cNvPr id="16" name="req#25d"/>
          <p:cNvSpPr/>
          <p:nvPr/>
        </p:nvSpPr>
        <p:spPr>
          <a:xfrm>
            <a:off x="8357616" y="2057400"/>
            <a:ext cx="685800" cy="685800"/>
          </a:xfrm>
          <a:prstGeom prst="ellipse">
            <a:avLst/>
          </a:prstGeom>
          <a:solidFill>
            <a:schemeClr val="accent4"/>
          </a:solidFill>
          <a:ln/>
        </p:spPr>
      </p:sp>
      <p:pic>
        <p:nvPicPr>
          <p:cNvPr id="17" name="req#25di" descr="preencoded.png"/>
          <p:cNvPicPr>
            <a:picLocks noChangeAspect="1"/>
          </p:cNvPicPr>
          <p:nvPr/>
        </p:nvPicPr>
        <p:blipFill>
          <a:blip r:embed="rId5"/>
          <a:stretch>
            <a:fillRect/>
          </a:stretch>
        </p:blipFill>
        <p:spPr>
          <a:xfrm>
            <a:off x="8542782" y="2242566"/>
            <a:ext cx="315468" cy="315468"/>
          </a:xfrm>
          <a:prstGeom prst="rect">
            <a:avLst/>
          </a:prstGeom>
        </p:spPr>
      </p:pic>
      <p:sp>
        <p:nvSpPr>
          <p:cNvPr id="18" name="req#25h"/>
          <p:cNvSpPr txBox="1"/>
          <p:nvPr/>
        </p:nvSpPr>
        <p:spPr>
          <a:xfrm>
            <a:off x="9226296" y="2057400"/>
            <a:ext cx="2240280" cy="685800"/>
          </a:xfrm>
          <a:prstGeom prst="rect">
            <a:avLst/>
          </a:prstGeom>
          <a:noFill/>
          <a:ln/>
        </p:spPr>
        <p:txBody>
          <a:bodyPr wrap="square" lIns="0" tIns="0" rIns="0" bIns="0" rtlCol="0" anchor="ctr"/>
          <a:lstStyle/>
          <a:p>
            <a:pPr marL="0" indent="0">
              <a:buNone/>
            </a:pPr>
            <a:r>
              <a:rPr lang="en-US" sz="1800" b="1" dirty="0">
                <a:solidFill>
                  <a:schemeClr val="tx2"/>
                </a:solidFill>
              </a:rPr>
              <a:t>Trois opérations</a:t>
            </a:r>
            <a:endParaRPr lang="en-US" sz="1800" dirty="0"/>
          </a:p>
        </p:txBody>
      </p:sp>
      <p:sp>
        <p:nvSpPr>
          <p:cNvPr id="19" name="req#25b"/>
          <p:cNvSpPr txBox="1"/>
          <p:nvPr/>
        </p:nvSpPr>
        <p:spPr>
          <a:xfrm>
            <a:off x="8357616" y="2880360"/>
            <a:ext cx="3017520" cy="731520"/>
          </a:xfrm>
          <a:prstGeom prst="rect">
            <a:avLst/>
          </a:prstGeom>
          <a:noFill/>
          <a:ln/>
        </p:spPr>
        <p:txBody>
          <a:bodyPr wrap="square" lIns="0" tIns="0" rIns="0" bIns="0" rtlCol="0" anchor="t"/>
          <a:lstStyle/>
          <a:p>
            <a:pPr marL="0" indent="0">
              <a:buNone/>
            </a:pPr>
            <a:r>
              <a:rPr lang="en-US" sz="1400" dirty="0">
                <a:solidFill>
                  <a:schemeClr val="tx1"/>
                </a:solidFill>
              </a:rPr>
              <a:t>getEmployeeDetails, createEmployee, updateEmployee.</a:t>
            </a:r>
            <a:endParaRPr lang="en-US" sz="1400" dirty="0"/>
          </a:p>
        </p:txBody>
      </p:sp>
      <p:sp>
        <p:nvSpPr>
          <p:cNvPr id="20" name="req#26"/>
          <p:cNvSpPr/>
          <p:nvPr/>
        </p:nvSpPr>
        <p:spPr>
          <a:xfrm>
            <a:off x="548640" y="3977640"/>
            <a:ext cx="3520440" cy="1920240"/>
          </a:xfrm>
          <a:prstGeom prst="roundRect">
            <a:avLst>
              <a:gd name="adj" fmla="val 4762"/>
            </a:avLst>
          </a:prstGeom>
          <a:solidFill>
            <a:schemeClr val="bg1"/>
          </a:solidFill>
          <a:ln w="9525">
            <a:solidFill>
              <a:srgbClr val="E3E8F0"/>
            </a:solidFill>
            <a:prstDash val="solid"/>
          </a:ln>
          <a:effectLst>
            <a:outerShdw blurRad="127000" dist="38100" dir="5400000" algn="bl" rotWithShape="0">
              <a:srgbClr val="0D2340">
                <a:alpha val="12000"/>
              </a:srgbClr>
            </a:outerShdw>
          </a:effectLst>
        </p:spPr>
      </p:sp>
      <p:sp>
        <p:nvSpPr>
          <p:cNvPr id="21" name="req#26d"/>
          <p:cNvSpPr/>
          <p:nvPr/>
        </p:nvSpPr>
        <p:spPr>
          <a:xfrm>
            <a:off x="822960" y="4251960"/>
            <a:ext cx="685800" cy="685800"/>
          </a:xfrm>
          <a:prstGeom prst="ellipse">
            <a:avLst/>
          </a:prstGeom>
          <a:solidFill>
            <a:schemeClr val="accent5"/>
          </a:solidFill>
          <a:ln/>
        </p:spPr>
      </p:sp>
      <p:pic>
        <p:nvPicPr>
          <p:cNvPr id="22" name="req#26di" descr="preencoded.png"/>
          <p:cNvPicPr>
            <a:picLocks noChangeAspect="1"/>
          </p:cNvPicPr>
          <p:nvPr/>
        </p:nvPicPr>
        <p:blipFill>
          <a:blip r:embed="rId6"/>
          <a:stretch>
            <a:fillRect/>
          </a:stretch>
        </p:blipFill>
        <p:spPr>
          <a:xfrm>
            <a:off x="1008126" y="4437126"/>
            <a:ext cx="315468" cy="315468"/>
          </a:xfrm>
          <a:prstGeom prst="rect">
            <a:avLst/>
          </a:prstGeom>
        </p:spPr>
      </p:pic>
      <p:sp>
        <p:nvSpPr>
          <p:cNvPr id="23" name="req#26h"/>
          <p:cNvSpPr txBox="1"/>
          <p:nvPr/>
        </p:nvSpPr>
        <p:spPr>
          <a:xfrm>
            <a:off x="1691640" y="4251960"/>
            <a:ext cx="2240280" cy="685800"/>
          </a:xfrm>
          <a:prstGeom prst="rect">
            <a:avLst/>
          </a:prstGeom>
          <a:noFill/>
          <a:ln/>
        </p:spPr>
        <p:txBody>
          <a:bodyPr wrap="square" lIns="0" tIns="0" rIns="0" bIns="0" rtlCol="0" anchor="ctr"/>
          <a:lstStyle/>
          <a:p>
            <a:pPr marL="0" indent="0">
              <a:buNone/>
            </a:pPr>
            <a:r>
              <a:rPr lang="en-US" sz="1800" b="1" dirty="0">
                <a:solidFill>
                  <a:schemeClr val="tx2"/>
                </a:solidFill>
              </a:rPr>
              <a:t>WSDL et erreurs</a:t>
            </a:r>
            <a:endParaRPr lang="en-US" sz="1800" dirty="0"/>
          </a:p>
        </p:txBody>
      </p:sp>
      <p:sp>
        <p:nvSpPr>
          <p:cNvPr id="24" name="req#26b"/>
          <p:cNvSpPr txBox="1"/>
          <p:nvPr/>
        </p:nvSpPr>
        <p:spPr>
          <a:xfrm>
            <a:off x="822960" y="5074920"/>
            <a:ext cx="3017520" cy="731520"/>
          </a:xfrm>
          <a:prstGeom prst="rect">
            <a:avLst/>
          </a:prstGeom>
          <a:noFill/>
          <a:ln/>
        </p:spPr>
        <p:txBody>
          <a:bodyPr wrap="square" lIns="0" tIns="0" rIns="0" bIns="0" rtlCol="0" anchor="t"/>
          <a:lstStyle/>
          <a:p>
            <a:pPr marL="0" indent="0">
              <a:buNone/>
            </a:pPr>
            <a:r>
              <a:rPr lang="en-US" sz="1400" dirty="0">
                <a:solidFill>
                  <a:schemeClr val="tx1"/>
                </a:solidFill>
              </a:rPr>
              <a:t>Publier le contrat et documenter les SOAP Faults.</a:t>
            </a:r>
            <a:endParaRPr lang="en-US" sz="1400" dirty="0"/>
          </a:p>
        </p:txBody>
      </p:sp>
      <p:sp>
        <p:nvSpPr>
          <p:cNvPr id="25" name="req#27"/>
          <p:cNvSpPr/>
          <p:nvPr/>
        </p:nvSpPr>
        <p:spPr>
          <a:xfrm>
            <a:off x="4315968" y="3977640"/>
            <a:ext cx="3520440" cy="1920240"/>
          </a:xfrm>
          <a:prstGeom prst="roundRect">
            <a:avLst>
              <a:gd name="adj" fmla="val 4762"/>
            </a:avLst>
          </a:prstGeom>
          <a:solidFill>
            <a:schemeClr val="bg1"/>
          </a:solidFill>
          <a:ln w="9525">
            <a:solidFill>
              <a:srgbClr val="E3E8F0"/>
            </a:solidFill>
            <a:prstDash val="solid"/>
          </a:ln>
          <a:effectLst>
            <a:outerShdw blurRad="127000" dist="38100" dir="5400000" algn="bl" rotWithShape="0">
              <a:srgbClr val="0D2340">
                <a:alpha val="12000"/>
              </a:srgbClr>
            </a:outerShdw>
          </a:effectLst>
        </p:spPr>
      </p:sp>
      <p:sp>
        <p:nvSpPr>
          <p:cNvPr id="26" name="req#27d"/>
          <p:cNvSpPr/>
          <p:nvPr/>
        </p:nvSpPr>
        <p:spPr>
          <a:xfrm>
            <a:off x="4590288" y="4251960"/>
            <a:ext cx="685800" cy="685800"/>
          </a:xfrm>
          <a:prstGeom prst="ellipse">
            <a:avLst/>
          </a:prstGeom>
          <a:solidFill>
            <a:schemeClr val="accent3"/>
          </a:solidFill>
          <a:ln/>
        </p:spPr>
      </p:sp>
      <p:pic>
        <p:nvPicPr>
          <p:cNvPr id="27" name="req#27di" descr="preencoded.png"/>
          <p:cNvPicPr>
            <a:picLocks noChangeAspect="1"/>
          </p:cNvPicPr>
          <p:nvPr/>
        </p:nvPicPr>
        <p:blipFill>
          <a:blip r:embed="rId7"/>
          <a:stretch>
            <a:fillRect/>
          </a:stretch>
        </p:blipFill>
        <p:spPr>
          <a:xfrm>
            <a:off x="4775454" y="4437126"/>
            <a:ext cx="315468" cy="315468"/>
          </a:xfrm>
          <a:prstGeom prst="rect">
            <a:avLst/>
          </a:prstGeom>
        </p:spPr>
      </p:pic>
      <p:sp>
        <p:nvSpPr>
          <p:cNvPr id="28" name="req#27h"/>
          <p:cNvSpPr txBox="1"/>
          <p:nvPr/>
        </p:nvSpPr>
        <p:spPr>
          <a:xfrm>
            <a:off x="5458968" y="4251960"/>
            <a:ext cx="2240280" cy="685800"/>
          </a:xfrm>
          <a:prstGeom prst="rect">
            <a:avLst/>
          </a:prstGeom>
          <a:noFill/>
          <a:ln/>
        </p:spPr>
        <p:txBody>
          <a:bodyPr wrap="square" lIns="0" tIns="0" rIns="0" bIns="0" rtlCol="0" anchor="ctr"/>
          <a:lstStyle/>
          <a:p>
            <a:pPr marL="0" indent="0">
              <a:buNone/>
            </a:pPr>
            <a:r>
              <a:rPr lang="en-US" sz="1800" b="1" dirty="0">
                <a:solidFill>
                  <a:schemeClr val="tx2"/>
                </a:solidFill>
              </a:rPr>
              <a:t>Retour vers MySQL</a:t>
            </a:r>
            <a:endParaRPr lang="en-US" sz="1800" dirty="0"/>
          </a:p>
        </p:txBody>
      </p:sp>
      <p:sp>
        <p:nvSpPr>
          <p:cNvPr id="29" name="req#27b"/>
          <p:cNvSpPr txBox="1"/>
          <p:nvPr/>
        </p:nvSpPr>
        <p:spPr>
          <a:xfrm>
            <a:off x="4590288" y="5074920"/>
            <a:ext cx="3017520" cy="731520"/>
          </a:xfrm>
          <a:prstGeom prst="rect">
            <a:avLst/>
          </a:prstGeom>
          <a:noFill/>
          <a:ln/>
        </p:spPr>
        <p:txBody>
          <a:bodyPr wrap="square" lIns="0" tIns="0" rIns="0" bIns="0" rtlCol="0" anchor="t"/>
          <a:lstStyle/>
          <a:p>
            <a:pPr marL="0" indent="0">
              <a:buNone/>
            </a:pPr>
            <a:r>
              <a:rPr lang="en-US" sz="1400" dirty="0">
                <a:solidFill>
                  <a:schemeClr val="tx1"/>
                </a:solidFill>
              </a:rPr>
              <a:t>Répercuter les modifications faites par le service.</a:t>
            </a:r>
            <a:endParaRPr lang="en-US" sz="1400" dirty="0"/>
          </a:p>
        </p:txBody>
      </p:sp>
      <p:sp>
        <p:nvSpPr>
          <p:cNvPr id="30" name="req#28"/>
          <p:cNvSpPr/>
          <p:nvPr/>
        </p:nvSpPr>
        <p:spPr>
          <a:xfrm>
            <a:off x="8083296" y="3977640"/>
            <a:ext cx="3520440" cy="1920240"/>
          </a:xfrm>
          <a:prstGeom prst="roundRect">
            <a:avLst>
              <a:gd name="adj" fmla="val 4762"/>
            </a:avLst>
          </a:prstGeom>
          <a:solidFill>
            <a:schemeClr val="bg1"/>
          </a:solidFill>
          <a:ln w="9525">
            <a:solidFill>
              <a:srgbClr val="E3E8F0"/>
            </a:solidFill>
            <a:prstDash val="solid"/>
          </a:ln>
          <a:effectLst>
            <a:outerShdw blurRad="127000" dist="38100" dir="5400000" algn="bl" rotWithShape="0">
              <a:srgbClr val="0D2340">
                <a:alpha val="12000"/>
              </a:srgbClr>
            </a:outerShdw>
          </a:effectLst>
        </p:spPr>
      </p:sp>
      <p:sp>
        <p:nvSpPr>
          <p:cNvPr id="31" name="req#28d"/>
          <p:cNvSpPr/>
          <p:nvPr/>
        </p:nvSpPr>
        <p:spPr>
          <a:xfrm>
            <a:off x="8357616" y="4251960"/>
            <a:ext cx="685800" cy="685800"/>
          </a:xfrm>
          <a:prstGeom prst="ellipse">
            <a:avLst/>
          </a:prstGeom>
          <a:solidFill>
            <a:schemeClr val="accent2"/>
          </a:solidFill>
          <a:ln/>
        </p:spPr>
      </p:sp>
      <p:pic>
        <p:nvPicPr>
          <p:cNvPr id="32" name="req#28di" descr="preencoded.png"/>
          <p:cNvPicPr>
            <a:picLocks noChangeAspect="1"/>
          </p:cNvPicPr>
          <p:nvPr/>
        </p:nvPicPr>
        <p:blipFill>
          <a:blip r:embed="rId8"/>
          <a:stretch>
            <a:fillRect/>
          </a:stretch>
        </p:blipFill>
        <p:spPr>
          <a:xfrm>
            <a:off x="8542782" y="4437126"/>
            <a:ext cx="315468" cy="315468"/>
          </a:xfrm>
          <a:prstGeom prst="rect">
            <a:avLst/>
          </a:prstGeom>
        </p:spPr>
      </p:pic>
      <p:sp>
        <p:nvSpPr>
          <p:cNvPr id="33" name="req#28h"/>
          <p:cNvSpPr txBox="1"/>
          <p:nvPr/>
        </p:nvSpPr>
        <p:spPr>
          <a:xfrm>
            <a:off x="9226296" y="4251960"/>
            <a:ext cx="2240280" cy="685800"/>
          </a:xfrm>
          <a:prstGeom prst="rect">
            <a:avLst/>
          </a:prstGeom>
          <a:noFill/>
          <a:ln/>
        </p:spPr>
        <p:txBody>
          <a:bodyPr wrap="square" lIns="0" tIns="0" rIns="0" bIns="0" rtlCol="0" anchor="ctr"/>
          <a:lstStyle/>
          <a:p>
            <a:pPr marL="0" indent="0">
              <a:buNone/>
            </a:pPr>
            <a:r>
              <a:rPr lang="en-US" sz="1800" b="1" dirty="0">
                <a:solidFill>
                  <a:schemeClr val="tx2"/>
                </a:solidFill>
              </a:rPr>
              <a:t>Netdata et tests</a:t>
            </a:r>
            <a:endParaRPr lang="en-US" sz="1800" dirty="0"/>
          </a:p>
        </p:txBody>
      </p:sp>
      <p:sp>
        <p:nvSpPr>
          <p:cNvPr id="34" name="req#28b"/>
          <p:cNvSpPr txBox="1"/>
          <p:nvPr/>
        </p:nvSpPr>
        <p:spPr>
          <a:xfrm>
            <a:off x="8357616" y="5074920"/>
            <a:ext cx="3017520" cy="731520"/>
          </a:xfrm>
          <a:prstGeom prst="rect">
            <a:avLst/>
          </a:prstGeom>
          <a:noFill/>
          <a:ln/>
        </p:spPr>
        <p:txBody>
          <a:bodyPr wrap="square" lIns="0" tIns="0" rIns="0" bIns="0" rtlCol="0" anchor="t"/>
          <a:lstStyle/>
          <a:p>
            <a:pPr marL="0" indent="0">
              <a:buNone/>
            </a:pPr>
            <a:r>
              <a:rPr lang="en-US" sz="1400" dirty="0">
                <a:solidFill>
                  <a:schemeClr val="tx1"/>
                </a:solidFill>
              </a:rPr>
              <a:t>Superviser et tester toute la chaîne.</a:t>
            </a:r>
            <a:endParaRPr lang="en-US" sz="1400" dirty="0"/>
          </a:p>
        </p:txBody>
      </p:sp>
      <p:sp>
        <p:nvSpPr>
          <p:cNvPr id="3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5</a:t>
            </a:fld>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anim calcmode="lin" valueType="num">
                                      <p:cBhvr additive="base">
                                        <p:cTn id="8" dur="500" fill="hold"/>
                                        <p:tgtEl>
                                          <p:spTgt spid="5"/>
                                        </p:tgtEl>
                                        <p:attrNameLst>
                                          <p:attrName>ppt_x</p:attrName>
                                        </p:attrNameLst>
                                      </p:cBhvr>
                                      <p:tavLst>
                                        <p:tav tm="0">
                                          <p:val>
                                            <p:strVal val="#ppt_x"/>
                                          </p:val>
                                        </p:tav>
                                        <p:tav tm="100000">
                                          <p:val>
                                            <p:strVal val="#ppt_x"/>
                                          </p:val>
                                        </p:tav>
                                      </p:tavLst>
                                    </p:anim>
                                    <p:anim calcmode="lin" valueType="num">
                                      <p:cBhvr additive="base">
                                        <p:cTn id="9" dur="5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anim calcmode="lin" valueType="num">
                                      <p:cBhvr additive="base">
                                        <p:cTn id="18" dur="500" fill="hold"/>
                                        <p:tgtEl>
                                          <p:spTgt spid="7"/>
                                        </p:tgtEl>
                                        <p:attrNameLst>
                                          <p:attrName>ppt_x</p:attrName>
                                        </p:attrNameLst>
                                      </p:cBhvr>
                                      <p:tavLst>
                                        <p:tav tm="0">
                                          <p:val>
                                            <p:strVal val="#ppt_x"/>
                                          </p:val>
                                        </p:tav>
                                        <p:tav tm="100000">
                                          <p:val>
                                            <p:strVal val="#ppt_x"/>
                                          </p:val>
                                        </p:tav>
                                      </p:tavLst>
                                    </p:anim>
                                    <p:anim calcmode="lin" valueType="num">
                                      <p:cBhvr additive="base">
                                        <p:cTn id="19" dur="500" fill="hold"/>
                                        <p:tgtEl>
                                          <p:spTgt spid="7"/>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anim calcmode="lin" valueType="num">
                                      <p:cBhvr additive="base">
                                        <p:cTn id="28" dur="500" fill="hold"/>
                                        <p:tgtEl>
                                          <p:spTgt spid="9"/>
                                        </p:tgtEl>
                                        <p:attrNameLst>
                                          <p:attrName>ppt_x</p:attrName>
                                        </p:attrNameLst>
                                      </p:cBhvr>
                                      <p:tavLst>
                                        <p:tav tm="0">
                                          <p:val>
                                            <p:strVal val="#ppt_x"/>
                                          </p:val>
                                        </p:tav>
                                        <p:tav tm="100000">
                                          <p:val>
                                            <p:strVal val="#ppt_x"/>
                                          </p:val>
                                        </p:tav>
                                      </p:tavLst>
                                    </p:anim>
                                    <p:anim calcmode="lin" valueType="num">
                                      <p:cBhvr additive="base">
                                        <p:cTn id="29" dur="500" fill="hold"/>
                                        <p:tgtEl>
                                          <p:spTgt spid="9"/>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22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anim calcmode="lin" valueType="num">
                                      <p:cBhvr additive="base">
                                        <p:cTn id="33" dur="500" fill="hold"/>
                                        <p:tgtEl>
                                          <p:spTgt spid="10"/>
                                        </p:tgtEl>
                                        <p:attrNameLst>
                                          <p:attrName>ppt_x</p:attrName>
                                        </p:attrNameLst>
                                      </p:cBhvr>
                                      <p:tavLst>
                                        <p:tav tm="0">
                                          <p:val>
                                            <p:strVal val="#ppt_x"/>
                                          </p:val>
                                        </p:tav>
                                        <p:tav tm="100000">
                                          <p:val>
                                            <p:strVal val="#ppt_x"/>
                                          </p:val>
                                        </p:tav>
                                      </p:tavLst>
                                    </p:anim>
                                    <p:anim calcmode="lin" valueType="num">
                                      <p:cBhvr additive="base">
                                        <p:cTn id="34" dur="500" fill="hold"/>
                                        <p:tgtEl>
                                          <p:spTgt spid="10"/>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22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anim calcmode="lin" valueType="num">
                                      <p:cBhvr additive="base">
                                        <p:cTn id="38" dur="500" fill="hold"/>
                                        <p:tgtEl>
                                          <p:spTgt spid="11"/>
                                        </p:tgtEl>
                                        <p:attrNameLst>
                                          <p:attrName>ppt_x</p:attrName>
                                        </p:attrNameLst>
                                      </p:cBhvr>
                                      <p:tavLst>
                                        <p:tav tm="0">
                                          <p:val>
                                            <p:strVal val="#ppt_x"/>
                                          </p:val>
                                        </p:tav>
                                        <p:tav tm="100000">
                                          <p:val>
                                            <p:strVal val="#ppt_x"/>
                                          </p:val>
                                        </p:tav>
                                      </p:tavLst>
                                    </p:anim>
                                    <p:anim calcmode="lin" valueType="num">
                                      <p:cBhvr additive="base">
                                        <p:cTn id="39" dur="500" fill="hold"/>
                                        <p:tgtEl>
                                          <p:spTgt spid="11"/>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22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00"/>
                                        <p:tgtEl>
                                          <p:spTgt spid="12"/>
                                        </p:tgtEl>
                                      </p:cBhvr>
                                    </p:animEffect>
                                    <p:anim calcmode="lin" valueType="num">
                                      <p:cBhvr additive="base">
                                        <p:cTn id="43" dur="500" fill="hold"/>
                                        <p:tgtEl>
                                          <p:spTgt spid="12"/>
                                        </p:tgtEl>
                                        <p:attrNameLst>
                                          <p:attrName>ppt_x</p:attrName>
                                        </p:attrNameLst>
                                      </p:cBhvr>
                                      <p:tavLst>
                                        <p:tav tm="0">
                                          <p:val>
                                            <p:strVal val="#ppt_x"/>
                                          </p:val>
                                        </p:tav>
                                        <p:tav tm="100000">
                                          <p:val>
                                            <p:strVal val="#ppt_x"/>
                                          </p:val>
                                        </p:tav>
                                      </p:tavLst>
                                    </p:anim>
                                    <p:anim calcmode="lin" valueType="num">
                                      <p:cBhvr additive="base">
                                        <p:cTn id="44" dur="500" fill="hold"/>
                                        <p:tgtEl>
                                          <p:spTgt spid="12"/>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22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anim calcmode="lin" valueType="num">
                                      <p:cBhvr additive="base">
                                        <p:cTn id="48" dur="500" fill="hold"/>
                                        <p:tgtEl>
                                          <p:spTgt spid="13"/>
                                        </p:tgtEl>
                                        <p:attrNameLst>
                                          <p:attrName>ppt_x</p:attrName>
                                        </p:attrNameLst>
                                      </p:cBhvr>
                                      <p:tavLst>
                                        <p:tav tm="0">
                                          <p:val>
                                            <p:strVal val="#ppt_x"/>
                                          </p:val>
                                        </p:tav>
                                        <p:tav tm="100000">
                                          <p:val>
                                            <p:strVal val="#ppt_x"/>
                                          </p:val>
                                        </p:tav>
                                      </p:tavLst>
                                    </p:anim>
                                    <p:anim calcmode="lin" valueType="num">
                                      <p:cBhvr additive="base">
                                        <p:cTn id="49" dur="500" fill="hold"/>
                                        <p:tgtEl>
                                          <p:spTgt spid="13"/>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22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500"/>
                                        <p:tgtEl>
                                          <p:spTgt spid="14"/>
                                        </p:tgtEl>
                                      </p:cBhvr>
                                    </p:animEffect>
                                    <p:anim calcmode="lin" valueType="num">
                                      <p:cBhvr additive="base">
                                        <p:cTn id="53" dur="500" fill="hold"/>
                                        <p:tgtEl>
                                          <p:spTgt spid="14"/>
                                        </p:tgtEl>
                                        <p:attrNameLst>
                                          <p:attrName>ppt_x</p:attrName>
                                        </p:attrNameLst>
                                      </p:cBhvr>
                                      <p:tavLst>
                                        <p:tav tm="0">
                                          <p:val>
                                            <p:strVal val="#ppt_x"/>
                                          </p:val>
                                        </p:tav>
                                        <p:tav tm="100000">
                                          <p:val>
                                            <p:strVal val="#ppt_x"/>
                                          </p:val>
                                        </p:tav>
                                      </p:tavLst>
                                    </p:anim>
                                    <p:anim calcmode="lin" valueType="num">
                                      <p:cBhvr additive="base">
                                        <p:cTn id="54" dur="500" fill="hold"/>
                                        <p:tgtEl>
                                          <p:spTgt spid="14"/>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44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500"/>
                                        <p:tgtEl>
                                          <p:spTgt spid="15"/>
                                        </p:tgtEl>
                                      </p:cBhvr>
                                    </p:animEffect>
                                    <p:anim calcmode="lin" valueType="num">
                                      <p:cBhvr additive="base">
                                        <p:cTn id="58" dur="500" fill="hold"/>
                                        <p:tgtEl>
                                          <p:spTgt spid="15"/>
                                        </p:tgtEl>
                                        <p:attrNameLst>
                                          <p:attrName>ppt_x</p:attrName>
                                        </p:attrNameLst>
                                      </p:cBhvr>
                                      <p:tavLst>
                                        <p:tav tm="0">
                                          <p:val>
                                            <p:strVal val="#ppt_x"/>
                                          </p:val>
                                        </p:tav>
                                        <p:tav tm="100000">
                                          <p:val>
                                            <p:strVal val="#ppt_x"/>
                                          </p:val>
                                        </p:tav>
                                      </p:tavLst>
                                    </p:anim>
                                    <p:anim calcmode="lin" valueType="num">
                                      <p:cBhvr additive="base">
                                        <p:cTn id="59" dur="500" fill="hold"/>
                                        <p:tgtEl>
                                          <p:spTgt spid="15"/>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44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500"/>
                                        <p:tgtEl>
                                          <p:spTgt spid="16"/>
                                        </p:tgtEl>
                                      </p:cBhvr>
                                    </p:animEffect>
                                    <p:anim calcmode="lin" valueType="num">
                                      <p:cBhvr additive="base">
                                        <p:cTn id="63" dur="500" fill="hold"/>
                                        <p:tgtEl>
                                          <p:spTgt spid="16"/>
                                        </p:tgtEl>
                                        <p:attrNameLst>
                                          <p:attrName>ppt_x</p:attrName>
                                        </p:attrNameLst>
                                      </p:cBhvr>
                                      <p:tavLst>
                                        <p:tav tm="0">
                                          <p:val>
                                            <p:strVal val="#ppt_x"/>
                                          </p:val>
                                        </p:tav>
                                        <p:tav tm="100000">
                                          <p:val>
                                            <p:strVal val="#ppt_x"/>
                                          </p:val>
                                        </p:tav>
                                      </p:tavLst>
                                    </p:anim>
                                    <p:anim calcmode="lin" valueType="num">
                                      <p:cBhvr additive="base">
                                        <p:cTn id="64" dur="500" fill="hold"/>
                                        <p:tgtEl>
                                          <p:spTgt spid="16"/>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44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500"/>
                                        <p:tgtEl>
                                          <p:spTgt spid="17"/>
                                        </p:tgtEl>
                                      </p:cBhvr>
                                    </p:animEffect>
                                    <p:anim calcmode="lin" valueType="num">
                                      <p:cBhvr additive="base">
                                        <p:cTn id="68" dur="500" fill="hold"/>
                                        <p:tgtEl>
                                          <p:spTgt spid="17"/>
                                        </p:tgtEl>
                                        <p:attrNameLst>
                                          <p:attrName>ppt_x</p:attrName>
                                        </p:attrNameLst>
                                      </p:cBhvr>
                                      <p:tavLst>
                                        <p:tav tm="0">
                                          <p:val>
                                            <p:strVal val="#ppt_x"/>
                                          </p:val>
                                        </p:tav>
                                        <p:tav tm="100000">
                                          <p:val>
                                            <p:strVal val="#ppt_x"/>
                                          </p:val>
                                        </p:tav>
                                      </p:tavLst>
                                    </p:anim>
                                    <p:anim calcmode="lin" valueType="num">
                                      <p:cBhvr additive="base">
                                        <p:cTn id="69" dur="500" fill="hold"/>
                                        <p:tgtEl>
                                          <p:spTgt spid="17"/>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440"/>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500"/>
                                        <p:tgtEl>
                                          <p:spTgt spid="18"/>
                                        </p:tgtEl>
                                      </p:cBhvr>
                                    </p:animEffect>
                                    <p:anim calcmode="lin" valueType="num">
                                      <p:cBhvr additive="base">
                                        <p:cTn id="73" dur="500" fill="hold"/>
                                        <p:tgtEl>
                                          <p:spTgt spid="18"/>
                                        </p:tgtEl>
                                        <p:attrNameLst>
                                          <p:attrName>ppt_x</p:attrName>
                                        </p:attrNameLst>
                                      </p:cBhvr>
                                      <p:tavLst>
                                        <p:tav tm="0">
                                          <p:val>
                                            <p:strVal val="#ppt_x"/>
                                          </p:val>
                                        </p:tav>
                                        <p:tav tm="100000">
                                          <p:val>
                                            <p:strVal val="#ppt_x"/>
                                          </p:val>
                                        </p:tav>
                                      </p:tavLst>
                                    </p:anim>
                                    <p:anim calcmode="lin" valueType="num">
                                      <p:cBhvr additive="base">
                                        <p:cTn id="74" dur="500" fill="hold"/>
                                        <p:tgtEl>
                                          <p:spTgt spid="18"/>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440"/>
                                  </p:stCondLst>
                                  <p:childTnLst>
                                    <p:set>
                                      <p:cBhvr>
                                        <p:cTn id="76" dur="1" fill="hold">
                                          <p:stCondLst>
                                            <p:cond delay="0"/>
                                          </p:stCondLst>
                                        </p:cTn>
                                        <p:tgtEl>
                                          <p:spTgt spid="19"/>
                                        </p:tgtEl>
                                        <p:attrNameLst>
                                          <p:attrName>style.visibility</p:attrName>
                                        </p:attrNameLst>
                                      </p:cBhvr>
                                      <p:to>
                                        <p:strVal val="visible"/>
                                      </p:to>
                                    </p:set>
                                    <p:animEffect transition="in" filter="fade">
                                      <p:cBhvr>
                                        <p:cTn id="77" dur="500"/>
                                        <p:tgtEl>
                                          <p:spTgt spid="19"/>
                                        </p:tgtEl>
                                      </p:cBhvr>
                                    </p:animEffect>
                                    <p:anim calcmode="lin" valueType="num">
                                      <p:cBhvr additive="base">
                                        <p:cTn id="78" dur="500" fill="hold"/>
                                        <p:tgtEl>
                                          <p:spTgt spid="19"/>
                                        </p:tgtEl>
                                        <p:attrNameLst>
                                          <p:attrName>ppt_x</p:attrName>
                                        </p:attrNameLst>
                                      </p:cBhvr>
                                      <p:tavLst>
                                        <p:tav tm="0">
                                          <p:val>
                                            <p:strVal val="#ppt_x"/>
                                          </p:val>
                                        </p:tav>
                                        <p:tav tm="100000">
                                          <p:val>
                                            <p:strVal val="#ppt_x"/>
                                          </p:val>
                                        </p:tav>
                                      </p:tavLst>
                                    </p:anim>
                                    <p:anim calcmode="lin" valueType="num">
                                      <p:cBhvr additive="base">
                                        <p:cTn id="79" dur="500" fill="hold"/>
                                        <p:tgtEl>
                                          <p:spTgt spid="19"/>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660"/>
                                  </p:stCondLst>
                                  <p:childTnLst>
                                    <p:set>
                                      <p:cBhvr>
                                        <p:cTn id="81" dur="1" fill="hold">
                                          <p:stCondLst>
                                            <p:cond delay="0"/>
                                          </p:stCondLst>
                                        </p:cTn>
                                        <p:tgtEl>
                                          <p:spTgt spid="20"/>
                                        </p:tgtEl>
                                        <p:attrNameLst>
                                          <p:attrName>style.visibility</p:attrName>
                                        </p:attrNameLst>
                                      </p:cBhvr>
                                      <p:to>
                                        <p:strVal val="visible"/>
                                      </p:to>
                                    </p:set>
                                    <p:animEffect transition="in" filter="fade">
                                      <p:cBhvr>
                                        <p:cTn id="82" dur="500"/>
                                        <p:tgtEl>
                                          <p:spTgt spid="20"/>
                                        </p:tgtEl>
                                      </p:cBhvr>
                                    </p:animEffect>
                                    <p:anim calcmode="lin" valueType="num">
                                      <p:cBhvr additive="base">
                                        <p:cTn id="83" dur="500" fill="hold"/>
                                        <p:tgtEl>
                                          <p:spTgt spid="20"/>
                                        </p:tgtEl>
                                        <p:attrNameLst>
                                          <p:attrName>ppt_x</p:attrName>
                                        </p:attrNameLst>
                                      </p:cBhvr>
                                      <p:tavLst>
                                        <p:tav tm="0">
                                          <p:val>
                                            <p:strVal val="#ppt_x"/>
                                          </p:val>
                                        </p:tav>
                                        <p:tav tm="100000">
                                          <p:val>
                                            <p:strVal val="#ppt_x"/>
                                          </p:val>
                                        </p:tav>
                                      </p:tavLst>
                                    </p:anim>
                                    <p:anim calcmode="lin" valueType="num">
                                      <p:cBhvr additive="base">
                                        <p:cTn id="84" dur="500" fill="hold"/>
                                        <p:tgtEl>
                                          <p:spTgt spid="20"/>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660"/>
                                  </p:stCondLst>
                                  <p:childTnLst>
                                    <p:set>
                                      <p:cBhvr>
                                        <p:cTn id="86" dur="1" fill="hold">
                                          <p:stCondLst>
                                            <p:cond delay="0"/>
                                          </p:stCondLst>
                                        </p:cTn>
                                        <p:tgtEl>
                                          <p:spTgt spid="21"/>
                                        </p:tgtEl>
                                        <p:attrNameLst>
                                          <p:attrName>style.visibility</p:attrName>
                                        </p:attrNameLst>
                                      </p:cBhvr>
                                      <p:to>
                                        <p:strVal val="visible"/>
                                      </p:to>
                                    </p:set>
                                    <p:animEffect transition="in" filter="fade">
                                      <p:cBhvr>
                                        <p:cTn id="87" dur="500"/>
                                        <p:tgtEl>
                                          <p:spTgt spid="21"/>
                                        </p:tgtEl>
                                      </p:cBhvr>
                                    </p:animEffect>
                                    <p:anim calcmode="lin" valueType="num">
                                      <p:cBhvr additive="base">
                                        <p:cTn id="88" dur="500" fill="hold"/>
                                        <p:tgtEl>
                                          <p:spTgt spid="21"/>
                                        </p:tgtEl>
                                        <p:attrNameLst>
                                          <p:attrName>ppt_x</p:attrName>
                                        </p:attrNameLst>
                                      </p:cBhvr>
                                      <p:tavLst>
                                        <p:tav tm="0">
                                          <p:val>
                                            <p:strVal val="#ppt_x"/>
                                          </p:val>
                                        </p:tav>
                                        <p:tav tm="100000">
                                          <p:val>
                                            <p:strVal val="#ppt_x"/>
                                          </p:val>
                                        </p:tav>
                                      </p:tavLst>
                                    </p:anim>
                                    <p:anim calcmode="lin" valueType="num">
                                      <p:cBhvr additive="base">
                                        <p:cTn id="89" dur="500" fill="hold"/>
                                        <p:tgtEl>
                                          <p:spTgt spid="21"/>
                                        </p:tgtEl>
                                        <p:attrNameLst>
                                          <p:attrName>ppt_y</p:attrName>
                                        </p:attrNameLst>
                                      </p:cBhvr>
                                      <p:tavLst>
                                        <p:tav tm="0">
                                          <p:val>
                                            <p:strVal val="#ppt_y+.1"/>
                                          </p:val>
                                        </p:tav>
                                        <p:tav tm="100000">
                                          <p:val>
                                            <p:strVal val="#ppt_y"/>
                                          </p:val>
                                        </p:tav>
                                      </p:tavLst>
                                    </p:anim>
                                  </p:childTnLst>
                                </p:cTn>
                              </p:par>
                              <p:par>
                                <p:cTn id="90" presetID="42" presetClass="entr" presetSubtype="0" fill="hold" nodeType="withEffect">
                                  <p:stCondLst>
                                    <p:cond delay="660"/>
                                  </p:stCondLst>
                                  <p:childTnLst>
                                    <p:set>
                                      <p:cBhvr>
                                        <p:cTn id="91" dur="1" fill="hold">
                                          <p:stCondLst>
                                            <p:cond delay="0"/>
                                          </p:stCondLst>
                                        </p:cTn>
                                        <p:tgtEl>
                                          <p:spTgt spid="22"/>
                                        </p:tgtEl>
                                        <p:attrNameLst>
                                          <p:attrName>style.visibility</p:attrName>
                                        </p:attrNameLst>
                                      </p:cBhvr>
                                      <p:to>
                                        <p:strVal val="visible"/>
                                      </p:to>
                                    </p:set>
                                    <p:animEffect transition="in" filter="fade">
                                      <p:cBhvr>
                                        <p:cTn id="92" dur="500"/>
                                        <p:tgtEl>
                                          <p:spTgt spid="22"/>
                                        </p:tgtEl>
                                      </p:cBhvr>
                                    </p:animEffect>
                                    <p:anim calcmode="lin" valueType="num">
                                      <p:cBhvr additive="base">
                                        <p:cTn id="93" dur="500" fill="hold"/>
                                        <p:tgtEl>
                                          <p:spTgt spid="22"/>
                                        </p:tgtEl>
                                        <p:attrNameLst>
                                          <p:attrName>ppt_x</p:attrName>
                                        </p:attrNameLst>
                                      </p:cBhvr>
                                      <p:tavLst>
                                        <p:tav tm="0">
                                          <p:val>
                                            <p:strVal val="#ppt_x"/>
                                          </p:val>
                                        </p:tav>
                                        <p:tav tm="100000">
                                          <p:val>
                                            <p:strVal val="#ppt_x"/>
                                          </p:val>
                                        </p:tav>
                                      </p:tavLst>
                                    </p:anim>
                                    <p:anim calcmode="lin" valueType="num">
                                      <p:cBhvr additive="base">
                                        <p:cTn id="94" dur="500" fill="hold"/>
                                        <p:tgtEl>
                                          <p:spTgt spid="22"/>
                                        </p:tgtEl>
                                        <p:attrNameLst>
                                          <p:attrName>ppt_y</p:attrName>
                                        </p:attrNameLst>
                                      </p:cBhvr>
                                      <p:tavLst>
                                        <p:tav tm="0">
                                          <p:val>
                                            <p:strVal val="#ppt_y+.1"/>
                                          </p:val>
                                        </p:tav>
                                        <p:tav tm="100000">
                                          <p:val>
                                            <p:strVal val="#ppt_y"/>
                                          </p:val>
                                        </p:tav>
                                      </p:tavLst>
                                    </p:anim>
                                  </p:childTnLst>
                                </p:cTn>
                              </p:par>
                              <p:par>
                                <p:cTn id="95" presetID="42" presetClass="entr" presetSubtype="0" fill="hold" grpId="0" nodeType="withEffect">
                                  <p:stCondLst>
                                    <p:cond delay="660"/>
                                  </p:stCondLst>
                                  <p:childTnLst>
                                    <p:set>
                                      <p:cBhvr>
                                        <p:cTn id="96" dur="1" fill="hold">
                                          <p:stCondLst>
                                            <p:cond delay="0"/>
                                          </p:stCondLst>
                                        </p:cTn>
                                        <p:tgtEl>
                                          <p:spTgt spid="23"/>
                                        </p:tgtEl>
                                        <p:attrNameLst>
                                          <p:attrName>style.visibility</p:attrName>
                                        </p:attrNameLst>
                                      </p:cBhvr>
                                      <p:to>
                                        <p:strVal val="visible"/>
                                      </p:to>
                                    </p:set>
                                    <p:animEffect transition="in" filter="fade">
                                      <p:cBhvr>
                                        <p:cTn id="97" dur="500"/>
                                        <p:tgtEl>
                                          <p:spTgt spid="23"/>
                                        </p:tgtEl>
                                      </p:cBhvr>
                                    </p:animEffect>
                                    <p:anim calcmode="lin" valueType="num">
                                      <p:cBhvr additive="base">
                                        <p:cTn id="98" dur="500" fill="hold"/>
                                        <p:tgtEl>
                                          <p:spTgt spid="23"/>
                                        </p:tgtEl>
                                        <p:attrNameLst>
                                          <p:attrName>ppt_x</p:attrName>
                                        </p:attrNameLst>
                                      </p:cBhvr>
                                      <p:tavLst>
                                        <p:tav tm="0">
                                          <p:val>
                                            <p:strVal val="#ppt_x"/>
                                          </p:val>
                                        </p:tav>
                                        <p:tav tm="100000">
                                          <p:val>
                                            <p:strVal val="#ppt_x"/>
                                          </p:val>
                                        </p:tav>
                                      </p:tavLst>
                                    </p:anim>
                                    <p:anim calcmode="lin" valueType="num">
                                      <p:cBhvr additive="base">
                                        <p:cTn id="99" dur="500" fill="hold"/>
                                        <p:tgtEl>
                                          <p:spTgt spid="23"/>
                                        </p:tgtEl>
                                        <p:attrNameLst>
                                          <p:attrName>ppt_y</p:attrName>
                                        </p:attrNameLst>
                                      </p:cBhvr>
                                      <p:tavLst>
                                        <p:tav tm="0">
                                          <p:val>
                                            <p:strVal val="#ppt_y+.1"/>
                                          </p:val>
                                        </p:tav>
                                        <p:tav tm="100000">
                                          <p:val>
                                            <p:strVal val="#ppt_y"/>
                                          </p:val>
                                        </p:tav>
                                      </p:tavLst>
                                    </p:anim>
                                  </p:childTnLst>
                                </p:cTn>
                              </p:par>
                              <p:par>
                                <p:cTn id="100" presetID="42" presetClass="entr" presetSubtype="0" fill="hold" grpId="0" nodeType="withEffect">
                                  <p:stCondLst>
                                    <p:cond delay="660"/>
                                  </p:stCondLst>
                                  <p:childTnLst>
                                    <p:set>
                                      <p:cBhvr>
                                        <p:cTn id="101" dur="1" fill="hold">
                                          <p:stCondLst>
                                            <p:cond delay="0"/>
                                          </p:stCondLst>
                                        </p:cTn>
                                        <p:tgtEl>
                                          <p:spTgt spid="24"/>
                                        </p:tgtEl>
                                        <p:attrNameLst>
                                          <p:attrName>style.visibility</p:attrName>
                                        </p:attrNameLst>
                                      </p:cBhvr>
                                      <p:to>
                                        <p:strVal val="visible"/>
                                      </p:to>
                                    </p:set>
                                    <p:animEffect transition="in" filter="fade">
                                      <p:cBhvr>
                                        <p:cTn id="102" dur="500"/>
                                        <p:tgtEl>
                                          <p:spTgt spid="24"/>
                                        </p:tgtEl>
                                      </p:cBhvr>
                                    </p:animEffect>
                                    <p:anim calcmode="lin" valueType="num">
                                      <p:cBhvr additive="base">
                                        <p:cTn id="103" dur="500" fill="hold"/>
                                        <p:tgtEl>
                                          <p:spTgt spid="24"/>
                                        </p:tgtEl>
                                        <p:attrNameLst>
                                          <p:attrName>ppt_x</p:attrName>
                                        </p:attrNameLst>
                                      </p:cBhvr>
                                      <p:tavLst>
                                        <p:tav tm="0">
                                          <p:val>
                                            <p:strVal val="#ppt_x"/>
                                          </p:val>
                                        </p:tav>
                                        <p:tav tm="100000">
                                          <p:val>
                                            <p:strVal val="#ppt_x"/>
                                          </p:val>
                                        </p:tav>
                                      </p:tavLst>
                                    </p:anim>
                                    <p:anim calcmode="lin" valueType="num">
                                      <p:cBhvr additive="base">
                                        <p:cTn id="104" dur="500" fill="hold"/>
                                        <p:tgtEl>
                                          <p:spTgt spid="24"/>
                                        </p:tgtEl>
                                        <p:attrNameLst>
                                          <p:attrName>ppt_y</p:attrName>
                                        </p:attrNameLst>
                                      </p:cBhvr>
                                      <p:tavLst>
                                        <p:tav tm="0">
                                          <p:val>
                                            <p:strVal val="#ppt_y+.1"/>
                                          </p:val>
                                        </p:tav>
                                        <p:tav tm="100000">
                                          <p:val>
                                            <p:strVal val="#ppt_y"/>
                                          </p:val>
                                        </p:tav>
                                      </p:tavLst>
                                    </p:anim>
                                  </p:childTnLst>
                                </p:cTn>
                              </p:par>
                              <p:par>
                                <p:cTn id="105" presetID="42" presetClass="entr" presetSubtype="0" fill="hold" grpId="0" nodeType="withEffect">
                                  <p:stCondLst>
                                    <p:cond delay="880"/>
                                  </p:stCondLst>
                                  <p:childTnLst>
                                    <p:set>
                                      <p:cBhvr>
                                        <p:cTn id="106" dur="1" fill="hold">
                                          <p:stCondLst>
                                            <p:cond delay="0"/>
                                          </p:stCondLst>
                                        </p:cTn>
                                        <p:tgtEl>
                                          <p:spTgt spid="25"/>
                                        </p:tgtEl>
                                        <p:attrNameLst>
                                          <p:attrName>style.visibility</p:attrName>
                                        </p:attrNameLst>
                                      </p:cBhvr>
                                      <p:to>
                                        <p:strVal val="visible"/>
                                      </p:to>
                                    </p:set>
                                    <p:animEffect transition="in" filter="fade">
                                      <p:cBhvr>
                                        <p:cTn id="107" dur="500"/>
                                        <p:tgtEl>
                                          <p:spTgt spid="25"/>
                                        </p:tgtEl>
                                      </p:cBhvr>
                                    </p:animEffect>
                                    <p:anim calcmode="lin" valueType="num">
                                      <p:cBhvr additive="base">
                                        <p:cTn id="108" dur="500" fill="hold"/>
                                        <p:tgtEl>
                                          <p:spTgt spid="25"/>
                                        </p:tgtEl>
                                        <p:attrNameLst>
                                          <p:attrName>ppt_x</p:attrName>
                                        </p:attrNameLst>
                                      </p:cBhvr>
                                      <p:tavLst>
                                        <p:tav tm="0">
                                          <p:val>
                                            <p:strVal val="#ppt_x"/>
                                          </p:val>
                                        </p:tav>
                                        <p:tav tm="100000">
                                          <p:val>
                                            <p:strVal val="#ppt_x"/>
                                          </p:val>
                                        </p:tav>
                                      </p:tavLst>
                                    </p:anim>
                                    <p:anim calcmode="lin" valueType="num">
                                      <p:cBhvr additive="base">
                                        <p:cTn id="109" dur="500" fill="hold"/>
                                        <p:tgtEl>
                                          <p:spTgt spid="25"/>
                                        </p:tgtEl>
                                        <p:attrNameLst>
                                          <p:attrName>ppt_y</p:attrName>
                                        </p:attrNameLst>
                                      </p:cBhvr>
                                      <p:tavLst>
                                        <p:tav tm="0">
                                          <p:val>
                                            <p:strVal val="#ppt_y+.1"/>
                                          </p:val>
                                        </p:tav>
                                        <p:tav tm="100000">
                                          <p:val>
                                            <p:strVal val="#ppt_y"/>
                                          </p:val>
                                        </p:tav>
                                      </p:tavLst>
                                    </p:anim>
                                  </p:childTnLst>
                                </p:cTn>
                              </p:par>
                              <p:par>
                                <p:cTn id="110" presetID="42" presetClass="entr" presetSubtype="0" fill="hold" grpId="0" nodeType="withEffect">
                                  <p:stCondLst>
                                    <p:cond delay="880"/>
                                  </p:stCondLst>
                                  <p:childTnLst>
                                    <p:set>
                                      <p:cBhvr>
                                        <p:cTn id="111" dur="1" fill="hold">
                                          <p:stCondLst>
                                            <p:cond delay="0"/>
                                          </p:stCondLst>
                                        </p:cTn>
                                        <p:tgtEl>
                                          <p:spTgt spid="26"/>
                                        </p:tgtEl>
                                        <p:attrNameLst>
                                          <p:attrName>style.visibility</p:attrName>
                                        </p:attrNameLst>
                                      </p:cBhvr>
                                      <p:to>
                                        <p:strVal val="visible"/>
                                      </p:to>
                                    </p:set>
                                    <p:animEffect transition="in" filter="fade">
                                      <p:cBhvr>
                                        <p:cTn id="112" dur="500"/>
                                        <p:tgtEl>
                                          <p:spTgt spid="26"/>
                                        </p:tgtEl>
                                      </p:cBhvr>
                                    </p:animEffect>
                                    <p:anim calcmode="lin" valueType="num">
                                      <p:cBhvr additive="base">
                                        <p:cTn id="113" dur="500" fill="hold"/>
                                        <p:tgtEl>
                                          <p:spTgt spid="26"/>
                                        </p:tgtEl>
                                        <p:attrNameLst>
                                          <p:attrName>ppt_x</p:attrName>
                                        </p:attrNameLst>
                                      </p:cBhvr>
                                      <p:tavLst>
                                        <p:tav tm="0">
                                          <p:val>
                                            <p:strVal val="#ppt_x"/>
                                          </p:val>
                                        </p:tav>
                                        <p:tav tm="100000">
                                          <p:val>
                                            <p:strVal val="#ppt_x"/>
                                          </p:val>
                                        </p:tav>
                                      </p:tavLst>
                                    </p:anim>
                                    <p:anim calcmode="lin" valueType="num">
                                      <p:cBhvr additive="base">
                                        <p:cTn id="114" dur="500" fill="hold"/>
                                        <p:tgtEl>
                                          <p:spTgt spid="26"/>
                                        </p:tgtEl>
                                        <p:attrNameLst>
                                          <p:attrName>ppt_y</p:attrName>
                                        </p:attrNameLst>
                                      </p:cBhvr>
                                      <p:tavLst>
                                        <p:tav tm="0">
                                          <p:val>
                                            <p:strVal val="#ppt_y+.1"/>
                                          </p:val>
                                        </p:tav>
                                        <p:tav tm="100000">
                                          <p:val>
                                            <p:strVal val="#ppt_y"/>
                                          </p:val>
                                        </p:tav>
                                      </p:tavLst>
                                    </p:anim>
                                  </p:childTnLst>
                                </p:cTn>
                              </p:par>
                              <p:par>
                                <p:cTn id="115" presetID="42" presetClass="entr" presetSubtype="0" fill="hold" nodeType="withEffect">
                                  <p:stCondLst>
                                    <p:cond delay="880"/>
                                  </p:stCondLst>
                                  <p:childTnLst>
                                    <p:set>
                                      <p:cBhvr>
                                        <p:cTn id="116" dur="1" fill="hold">
                                          <p:stCondLst>
                                            <p:cond delay="0"/>
                                          </p:stCondLst>
                                        </p:cTn>
                                        <p:tgtEl>
                                          <p:spTgt spid="27"/>
                                        </p:tgtEl>
                                        <p:attrNameLst>
                                          <p:attrName>style.visibility</p:attrName>
                                        </p:attrNameLst>
                                      </p:cBhvr>
                                      <p:to>
                                        <p:strVal val="visible"/>
                                      </p:to>
                                    </p:set>
                                    <p:animEffect transition="in" filter="fade">
                                      <p:cBhvr>
                                        <p:cTn id="117" dur="500"/>
                                        <p:tgtEl>
                                          <p:spTgt spid="27"/>
                                        </p:tgtEl>
                                      </p:cBhvr>
                                    </p:animEffect>
                                    <p:anim calcmode="lin" valueType="num">
                                      <p:cBhvr additive="base">
                                        <p:cTn id="118" dur="500" fill="hold"/>
                                        <p:tgtEl>
                                          <p:spTgt spid="27"/>
                                        </p:tgtEl>
                                        <p:attrNameLst>
                                          <p:attrName>ppt_x</p:attrName>
                                        </p:attrNameLst>
                                      </p:cBhvr>
                                      <p:tavLst>
                                        <p:tav tm="0">
                                          <p:val>
                                            <p:strVal val="#ppt_x"/>
                                          </p:val>
                                        </p:tav>
                                        <p:tav tm="100000">
                                          <p:val>
                                            <p:strVal val="#ppt_x"/>
                                          </p:val>
                                        </p:tav>
                                      </p:tavLst>
                                    </p:anim>
                                    <p:anim calcmode="lin" valueType="num">
                                      <p:cBhvr additive="base">
                                        <p:cTn id="119" dur="500" fill="hold"/>
                                        <p:tgtEl>
                                          <p:spTgt spid="27"/>
                                        </p:tgtEl>
                                        <p:attrNameLst>
                                          <p:attrName>ppt_y</p:attrName>
                                        </p:attrNameLst>
                                      </p:cBhvr>
                                      <p:tavLst>
                                        <p:tav tm="0">
                                          <p:val>
                                            <p:strVal val="#ppt_y+.1"/>
                                          </p:val>
                                        </p:tav>
                                        <p:tav tm="100000">
                                          <p:val>
                                            <p:strVal val="#ppt_y"/>
                                          </p:val>
                                        </p:tav>
                                      </p:tavLst>
                                    </p:anim>
                                  </p:childTnLst>
                                </p:cTn>
                              </p:par>
                              <p:par>
                                <p:cTn id="120" presetID="42" presetClass="entr" presetSubtype="0" fill="hold" grpId="0" nodeType="withEffect">
                                  <p:stCondLst>
                                    <p:cond delay="880"/>
                                  </p:stCondLst>
                                  <p:childTnLst>
                                    <p:set>
                                      <p:cBhvr>
                                        <p:cTn id="121" dur="1" fill="hold">
                                          <p:stCondLst>
                                            <p:cond delay="0"/>
                                          </p:stCondLst>
                                        </p:cTn>
                                        <p:tgtEl>
                                          <p:spTgt spid="28"/>
                                        </p:tgtEl>
                                        <p:attrNameLst>
                                          <p:attrName>style.visibility</p:attrName>
                                        </p:attrNameLst>
                                      </p:cBhvr>
                                      <p:to>
                                        <p:strVal val="visible"/>
                                      </p:to>
                                    </p:set>
                                    <p:animEffect transition="in" filter="fade">
                                      <p:cBhvr>
                                        <p:cTn id="122" dur="500"/>
                                        <p:tgtEl>
                                          <p:spTgt spid="28"/>
                                        </p:tgtEl>
                                      </p:cBhvr>
                                    </p:animEffect>
                                    <p:anim calcmode="lin" valueType="num">
                                      <p:cBhvr additive="base">
                                        <p:cTn id="123" dur="500" fill="hold"/>
                                        <p:tgtEl>
                                          <p:spTgt spid="28"/>
                                        </p:tgtEl>
                                        <p:attrNameLst>
                                          <p:attrName>ppt_x</p:attrName>
                                        </p:attrNameLst>
                                      </p:cBhvr>
                                      <p:tavLst>
                                        <p:tav tm="0">
                                          <p:val>
                                            <p:strVal val="#ppt_x"/>
                                          </p:val>
                                        </p:tav>
                                        <p:tav tm="100000">
                                          <p:val>
                                            <p:strVal val="#ppt_x"/>
                                          </p:val>
                                        </p:tav>
                                      </p:tavLst>
                                    </p:anim>
                                    <p:anim calcmode="lin" valueType="num">
                                      <p:cBhvr additive="base">
                                        <p:cTn id="124" dur="500" fill="hold"/>
                                        <p:tgtEl>
                                          <p:spTgt spid="28"/>
                                        </p:tgtEl>
                                        <p:attrNameLst>
                                          <p:attrName>ppt_y</p:attrName>
                                        </p:attrNameLst>
                                      </p:cBhvr>
                                      <p:tavLst>
                                        <p:tav tm="0">
                                          <p:val>
                                            <p:strVal val="#ppt_y+.1"/>
                                          </p:val>
                                        </p:tav>
                                        <p:tav tm="100000">
                                          <p:val>
                                            <p:strVal val="#ppt_y"/>
                                          </p:val>
                                        </p:tav>
                                      </p:tavLst>
                                    </p:anim>
                                  </p:childTnLst>
                                </p:cTn>
                              </p:par>
                              <p:par>
                                <p:cTn id="125" presetID="42" presetClass="entr" presetSubtype="0" fill="hold" grpId="0" nodeType="withEffect">
                                  <p:stCondLst>
                                    <p:cond delay="880"/>
                                  </p:stCondLst>
                                  <p:childTnLst>
                                    <p:set>
                                      <p:cBhvr>
                                        <p:cTn id="126" dur="1" fill="hold">
                                          <p:stCondLst>
                                            <p:cond delay="0"/>
                                          </p:stCondLst>
                                        </p:cTn>
                                        <p:tgtEl>
                                          <p:spTgt spid="29"/>
                                        </p:tgtEl>
                                        <p:attrNameLst>
                                          <p:attrName>style.visibility</p:attrName>
                                        </p:attrNameLst>
                                      </p:cBhvr>
                                      <p:to>
                                        <p:strVal val="visible"/>
                                      </p:to>
                                    </p:set>
                                    <p:animEffect transition="in" filter="fade">
                                      <p:cBhvr>
                                        <p:cTn id="127" dur="500"/>
                                        <p:tgtEl>
                                          <p:spTgt spid="29"/>
                                        </p:tgtEl>
                                      </p:cBhvr>
                                    </p:animEffect>
                                    <p:anim calcmode="lin" valueType="num">
                                      <p:cBhvr additive="base">
                                        <p:cTn id="128" dur="500" fill="hold"/>
                                        <p:tgtEl>
                                          <p:spTgt spid="29"/>
                                        </p:tgtEl>
                                        <p:attrNameLst>
                                          <p:attrName>ppt_x</p:attrName>
                                        </p:attrNameLst>
                                      </p:cBhvr>
                                      <p:tavLst>
                                        <p:tav tm="0">
                                          <p:val>
                                            <p:strVal val="#ppt_x"/>
                                          </p:val>
                                        </p:tav>
                                        <p:tav tm="100000">
                                          <p:val>
                                            <p:strVal val="#ppt_x"/>
                                          </p:val>
                                        </p:tav>
                                      </p:tavLst>
                                    </p:anim>
                                    <p:anim calcmode="lin" valueType="num">
                                      <p:cBhvr additive="base">
                                        <p:cTn id="129" dur="500" fill="hold"/>
                                        <p:tgtEl>
                                          <p:spTgt spid="29"/>
                                        </p:tgtEl>
                                        <p:attrNameLst>
                                          <p:attrName>ppt_y</p:attrName>
                                        </p:attrNameLst>
                                      </p:cBhvr>
                                      <p:tavLst>
                                        <p:tav tm="0">
                                          <p:val>
                                            <p:strVal val="#ppt_y+.1"/>
                                          </p:val>
                                        </p:tav>
                                        <p:tav tm="100000">
                                          <p:val>
                                            <p:strVal val="#ppt_y"/>
                                          </p:val>
                                        </p:tav>
                                      </p:tavLst>
                                    </p:anim>
                                  </p:childTnLst>
                                </p:cTn>
                              </p:par>
                              <p:par>
                                <p:cTn id="130" presetID="42" presetClass="entr" presetSubtype="0" fill="hold" grpId="0" nodeType="withEffect">
                                  <p:stCondLst>
                                    <p:cond delay="1100"/>
                                  </p:stCondLst>
                                  <p:childTnLst>
                                    <p:set>
                                      <p:cBhvr>
                                        <p:cTn id="131" dur="1" fill="hold">
                                          <p:stCondLst>
                                            <p:cond delay="0"/>
                                          </p:stCondLst>
                                        </p:cTn>
                                        <p:tgtEl>
                                          <p:spTgt spid="30"/>
                                        </p:tgtEl>
                                        <p:attrNameLst>
                                          <p:attrName>style.visibility</p:attrName>
                                        </p:attrNameLst>
                                      </p:cBhvr>
                                      <p:to>
                                        <p:strVal val="visible"/>
                                      </p:to>
                                    </p:set>
                                    <p:animEffect transition="in" filter="fade">
                                      <p:cBhvr>
                                        <p:cTn id="132" dur="500"/>
                                        <p:tgtEl>
                                          <p:spTgt spid="30"/>
                                        </p:tgtEl>
                                      </p:cBhvr>
                                    </p:animEffect>
                                    <p:anim calcmode="lin" valueType="num">
                                      <p:cBhvr additive="base">
                                        <p:cTn id="133" dur="500" fill="hold"/>
                                        <p:tgtEl>
                                          <p:spTgt spid="30"/>
                                        </p:tgtEl>
                                        <p:attrNameLst>
                                          <p:attrName>ppt_x</p:attrName>
                                        </p:attrNameLst>
                                      </p:cBhvr>
                                      <p:tavLst>
                                        <p:tav tm="0">
                                          <p:val>
                                            <p:strVal val="#ppt_x"/>
                                          </p:val>
                                        </p:tav>
                                        <p:tav tm="100000">
                                          <p:val>
                                            <p:strVal val="#ppt_x"/>
                                          </p:val>
                                        </p:tav>
                                      </p:tavLst>
                                    </p:anim>
                                    <p:anim calcmode="lin" valueType="num">
                                      <p:cBhvr additive="base">
                                        <p:cTn id="134" dur="500" fill="hold"/>
                                        <p:tgtEl>
                                          <p:spTgt spid="30"/>
                                        </p:tgtEl>
                                        <p:attrNameLst>
                                          <p:attrName>ppt_y</p:attrName>
                                        </p:attrNameLst>
                                      </p:cBhvr>
                                      <p:tavLst>
                                        <p:tav tm="0">
                                          <p:val>
                                            <p:strVal val="#ppt_y+.1"/>
                                          </p:val>
                                        </p:tav>
                                        <p:tav tm="100000">
                                          <p:val>
                                            <p:strVal val="#ppt_y"/>
                                          </p:val>
                                        </p:tav>
                                      </p:tavLst>
                                    </p:anim>
                                  </p:childTnLst>
                                </p:cTn>
                              </p:par>
                              <p:par>
                                <p:cTn id="135" presetID="42" presetClass="entr" presetSubtype="0" fill="hold" grpId="0" nodeType="withEffect">
                                  <p:stCondLst>
                                    <p:cond delay="1100"/>
                                  </p:stCondLst>
                                  <p:childTnLst>
                                    <p:set>
                                      <p:cBhvr>
                                        <p:cTn id="136" dur="1" fill="hold">
                                          <p:stCondLst>
                                            <p:cond delay="0"/>
                                          </p:stCondLst>
                                        </p:cTn>
                                        <p:tgtEl>
                                          <p:spTgt spid="31"/>
                                        </p:tgtEl>
                                        <p:attrNameLst>
                                          <p:attrName>style.visibility</p:attrName>
                                        </p:attrNameLst>
                                      </p:cBhvr>
                                      <p:to>
                                        <p:strVal val="visible"/>
                                      </p:to>
                                    </p:set>
                                    <p:animEffect transition="in" filter="fade">
                                      <p:cBhvr>
                                        <p:cTn id="137" dur="500"/>
                                        <p:tgtEl>
                                          <p:spTgt spid="31"/>
                                        </p:tgtEl>
                                      </p:cBhvr>
                                    </p:animEffect>
                                    <p:anim calcmode="lin" valueType="num">
                                      <p:cBhvr additive="base">
                                        <p:cTn id="138" dur="500" fill="hold"/>
                                        <p:tgtEl>
                                          <p:spTgt spid="31"/>
                                        </p:tgtEl>
                                        <p:attrNameLst>
                                          <p:attrName>ppt_x</p:attrName>
                                        </p:attrNameLst>
                                      </p:cBhvr>
                                      <p:tavLst>
                                        <p:tav tm="0">
                                          <p:val>
                                            <p:strVal val="#ppt_x"/>
                                          </p:val>
                                        </p:tav>
                                        <p:tav tm="100000">
                                          <p:val>
                                            <p:strVal val="#ppt_x"/>
                                          </p:val>
                                        </p:tav>
                                      </p:tavLst>
                                    </p:anim>
                                    <p:anim calcmode="lin" valueType="num">
                                      <p:cBhvr additive="base">
                                        <p:cTn id="139" dur="500" fill="hold"/>
                                        <p:tgtEl>
                                          <p:spTgt spid="31"/>
                                        </p:tgtEl>
                                        <p:attrNameLst>
                                          <p:attrName>ppt_y</p:attrName>
                                        </p:attrNameLst>
                                      </p:cBhvr>
                                      <p:tavLst>
                                        <p:tav tm="0">
                                          <p:val>
                                            <p:strVal val="#ppt_y+.1"/>
                                          </p:val>
                                        </p:tav>
                                        <p:tav tm="100000">
                                          <p:val>
                                            <p:strVal val="#ppt_y"/>
                                          </p:val>
                                        </p:tav>
                                      </p:tavLst>
                                    </p:anim>
                                  </p:childTnLst>
                                </p:cTn>
                              </p:par>
                              <p:par>
                                <p:cTn id="140" presetID="42" presetClass="entr" presetSubtype="0" fill="hold" nodeType="withEffect">
                                  <p:stCondLst>
                                    <p:cond delay="1100"/>
                                  </p:stCondLst>
                                  <p:childTnLst>
                                    <p:set>
                                      <p:cBhvr>
                                        <p:cTn id="141" dur="1" fill="hold">
                                          <p:stCondLst>
                                            <p:cond delay="0"/>
                                          </p:stCondLst>
                                        </p:cTn>
                                        <p:tgtEl>
                                          <p:spTgt spid="32"/>
                                        </p:tgtEl>
                                        <p:attrNameLst>
                                          <p:attrName>style.visibility</p:attrName>
                                        </p:attrNameLst>
                                      </p:cBhvr>
                                      <p:to>
                                        <p:strVal val="visible"/>
                                      </p:to>
                                    </p:set>
                                    <p:animEffect transition="in" filter="fade">
                                      <p:cBhvr>
                                        <p:cTn id="142" dur="500"/>
                                        <p:tgtEl>
                                          <p:spTgt spid="32"/>
                                        </p:tgtEl>
                                      </p:cBhvr>
                                    </p:animEffect>
                                    <p:anim calcmode="lin" valueType="num">
                                      <p:cBhvr additive="base">
                                        <p:cTn id="143" dur="500" fill="hold"/>
                                        <p:tgtEl>
                                          <p:spTgt spid="32"/>
                                        </p:tgtEl>
                                        <p:attrNameLst>
                                          <p:attrName>ppt_x</p:attrName>
                                        </p:attrNameLst>
                                      </p:cBhvr>
                                      <p:tavLst>
                                        <p:tav tm="0">
                                          <p:val>
                                            <p:strVal val="#ppt_x"/>
                                          </p:val>
                                        </p:tav>
                                        <p:tav tm="100000">
                                          <p:val>
                                            <p:strVal val="#ppt_x"/>
                                          </p:val>
                                        </p:tav>
                                      </p:tavLst>
                                    </p:anim>
                                    <p:anim calcmode="lin" valueType="num">
                                      <p:cBhvr additive="base">
                                        <p:cTn id="144" dur="500" fill="hold"/>
                                        <p:tgtEl>
                                          <p:spTgt spid="32"/>
                                        </p:tgtEl>
                                        <p:attrNameLst>
                                          <p:attrName>ppt_y</p:attrName>
                                        </p:attrNameLst>
                                      </p:cBhvr>
                                      <p:tavLst>
                                        <p:tav tm="0">
                                          <p:val>
                                            <p:strVal val="#ppt_y+.1"/>
                                          </p:val>
                                        </p:tav>
                                        <p:tav tm="100000">
                                          <p:val>
                                            <p:strVal val="#ppt_y"/>
                                          </p:val>
                                        </p:tav>
                                      </p:tavLst>
                                    </p:anim>
                                  </p:childTnLst>
                                </p:cTn>
                              </p:par>
                              <p:par>
                                <p:cTn id="145" presetID="42" presetClass="entr" presetSubtype="0" fill="hold" grpId="0" nodeType="withEffect">
                                  <p:stCondLst>
                                    <p:cond delay="1100"/>
                                  </p:stCondLst>
                                  <p:childTnLst>
                                    <p:set>
                                      <p:cBhvr>
                                        <p:cTn id="146" dur="1" fill="hold">
                                          <p:stCondLst>
                                            <p:cond delay="0"/>
                                          </p:stCondLst>
                                        </p:cTn>
                                        <p:tgtEl>
                                          <p:spTgt spid="33"/>
                                        </p:tgtEl>
                                        <p:attrNameLst>
                                          <p:attrName>style.visibility</p:attrName>
                                        </p:attrNameLst>
                                      </p:cBhvr>
                                      <p:to>
                                        <p:strVal val="visible"/>
                                      </p:to>
                                    </p:set>
                                    <p:animEffect transition="in" filter="fade">
                                      <p:cBhvr>
                                        <p:cTn id="147" dur="500"/>
                                        <p:tgtEl>
                                          <p:spTgt spid="33"/>
                                        </p:tgtEl>
                                      </p:cBhvr>
                                    </p:animEffect>
                                    <p:anim calcmode="lin" valueType="num">
                                      <p:cBhvr additive="base">
                                        <p:cTn id="148" dur="500" fill="hold"/>
                                        <p:tgtEl>
                                          <p:spTgt spid="33"/>
                                        </p:tgtEl>
                                        <p:attrNameLst>
                                          <p:attrName>ppt_x</p:attrName>
                                        </p:attrNameLst>
                                      </p:cBhvr>
                                      <p:tavLst>
                                        <p:tav tm="0">
                                          <p:val>
                                            <p:strVal val="#ppt_x"/>
                                          </p:val>
                                        </p:tav>
                                        <p:tav tm="100000">
                                          <p:val>
                                            <p:strVal val="#ppt_x"/>
                                          </p:val>
                                        </p:tav>
                                      </p:tavLst>
                                    </p:anim>
                                    <p:anim calcmode="lin" valueType="num">
                                      <p:cBhvr additive="base">
                                        <p:cTn id="149" dur="500" fill="hold"/>
                                        <p:tgtEl>
                                          <p:spTgt spid="33"/>
                                        </p:tgtEl>
                                        <p:attrNameLst>
                                          <p:attrName>ppt_y</p:attrName>
                                        </p:attrNameLst>
                                      </p:cBhvr>
                                      <p:tavLst>
                                        <p:tav tm="0">
                                          <p:val>
                                            <p:strVal val="#ppt_y+.1"/>
                                          </p:val>
                                        </p:tav>
                                        <p:tav tm="100000">
                                          <p:val>
                                            <p:strVal val="#ppt_y"/>
                                          </p:val>
                                        </p:tav>
                                      </p:tavLst>
                                    </p:anim>
                                  </p:childTnLst>
                                </p:cTn>
                              </p:par>
                              <p:par>
                                <p:cTn id="150" presetID="42" presetClass="entr" presetSubtype="0" fill="hold" grpId="0" nodeType="withEffect">
                                  <p:stCondLst>
                                    <p:cond delay="1100"/>
                                  </p:stCondLst>
                                  <p:childTnLst>
                                    <p:set>
                                      <p:cBhvr>
                                        <p:cTn id="151" dur="1" fill="hold">
                                          <p:stCondLst>
                                            <p:cond delay="0"/>
                                          </p:stCondLst>
                                        </p:cTn>
                                        <p:tgtEl>
                                          <p:spTgt spid="34"/>
                                        </p:tgtEl>
                                        <p:attrNameLst>
                                          <p:attrName>style.visibility</p:attrName>
                                        </p:attrNameLst>
                                      </p:cBhvr>
                                      <p:to>
                                        <p:strVal val="visible"/>
                                      </p:to>
                                    </p:set>
                                    <p:animEffect transition="in" filter="fade">
                                      <p:cBhvr>
                                        <p:cTn id="152" dur="500"/>
                                        <p:tgtEl>
                                          <p:spTgt spid="34"/>
                                        </p:tgtEl>
                                      </p:cBhvr>
                                    </p:animEffect>
                                    <p:anim calcmode="lin" valueType="num">
                                      <p:cBhvr additive="base">
                                        <p:cTn id="153" dur="500" fill="hold"/>
                                        <p:tgtEl>
                                          <p:spTgt spid="34"/>
                                        </p:tgtEl>
                                        <p:attrNameLst>
                                          <p:attrName>ppt_x</p:attrName>
                                        </p:attrNameLst>
                                      </p:cBhvr>
                                      <p:tavLst>
                                        <p:tav tm="0">
                                          <p:val>
                                            <p:strVal val="#ppt_x"/>
                                          </p:val>
                                        </p:tav>
                                        <p:tav tm="100000">
                                          <p:val>
                                            <p:strVal val="#ppt_x"/>
                                          </p:val>
                                        </p:tav>
                                      </p:tavLst>
                                    </p:anim>
                                    <p:anim calcmode="lin" valueType="num">
                                      <p:cBhvr additive="base">
                                        <p:cTn id="154" dur="500" fill="hold"/>
                                        <p:tgtEl>
                                          <p:spTgt spid="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0" grpId="0" animBg="1"/>
      <p:bldP spid="11" grpId="0" animBg="1"/>
      <p:bldP spid="13" grpId="0" animBg="1"/>
      <p:bldP spid="14" grpId="0" animBg="1"/>
      <p:bldP spid="15" grpId="0" animBg="1"/>
      <p:bldP spid="16" grpId="0" animBg="1"/>
      <p:bldP spid="18" grpId="0" animBg="1"/>
      <p:bldP spid="19" grpId="0" animBg="1"/>
      <p:bldP spid="20" grpId="0" animBg="1"/>
      <p:bldP spid="21" grpId="0" animBg="1"/>
      <p:bldP spid="23" grpId="0" animBg="1"/>
      <p:bldP spid="24" grpId="0" animBg="1"/>
      <p:bldP spid="25" grpId="0" animBg="1"/>
      <p:bldP spid="26" grpId="0" animBg="1"/>
      <p:bldP spid="28" grpId="0" animBg="1"/>
      <p:bldP spid="29" grpId="0" animBg="1"/>
      <p:bldP spid="30" grpId="0" animBg="1"/>
      <p:bldP spid="31" grpId="0" animBg="1"/>
      <p:bldP spid="33" grpId="0" animBg="1"/>
      <p:bldP spid="3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qDot"/>
          <p:cNvSpPr/>
          <p:nvPr/>
        </p:nvSpPr>
        <p:spPr>
          <a:xfrm>
            <a:off x="5641848" y="914400"/>
            <a:ext cx="914400" cy="914400"/>
          </a:xfrm>
          <a:prstGeom prst="ellipse">
            <a:avLst/>
          </a:prstGeom>
          <a:solidFill>
            <a:schemeClr val="accent2"/>
          </a:solidFill>
          <a:ln/>
        </p:spPr>
      </p:sp>
      <p:pic>
        <p:nvPicPr>
          <p:cNvPr id="3" name="qDoti" descr="preencoded.png"/>
          <p:cNvPicPr>
            <a:picLocks noChangeAspect="1"/>
          </p:cNvPicPr>
          <p:nvPr/>
        </p:nvPicPr>
        <p:blipFill>
          <a:blip r:embed="rId3"/>
          <a:stretch>
            <a:fillRect/>
          </a:stretch>
        </p:blipFill>
        <p:spPr>
          <a:xfrm>
            <a:off x="5888736" y="1161288"/>
            <a:ext cx="420624" cy="420624"/>
          </a:xfrm>
          <a:prstGeom prst="rect">
            <a:avLst/>
          </a:prstGeom>
        </p:spPr>
      </p:pic>
      <p:sp>
        <p:nvSpPr>
          <p:cNvPr id="4" name="qLbl"/>
          <p:cNvSpPr txBox="1"/>
          <p:nvPr/>
        </p:nvSpPr>
        <p:spPr>
          <a:xfrm>
            <a:off x="548640" y="2011680"/>
            <a:ext cx="11064240" cy="365760"/>
          </a:xfrm>
          <a:prstGeom prst="rect">
            <a:avLst/>
          </a:prstGeom>
          <a:noFill/>
          <a:ln/>
        </p:spPr>
        <p:txBody>
          <a:bodyPr wrap="square" lIns="0" tIns="0" rIns="0" bIns="0" rtlCol="0" anchor="t"/>
          <a:lstStyle/>
          <a:p>
            <a:pPr marL="0" indent="0" algn="ctr">
              <a:buNone/>
            </a:pPr>
            <a:r>
              <a:rPr lang="en-US" sz="1400" b="1" kern="0" spc="400" dirty="0">
                <a:solidFill>
                  <a:schemeClr val="accent2"/>
                </a:solidFill>
              </a:rPr>
              <a:t>PROBLÉMATIQUE</a:t>
            </a:r>
            <a:endParaRPr lang="en-US" sz="1400" dirty="0"/>
          </a:p>
        </p:txBody>
      </p:sp>
      <p:sp>
        <p:nvSpPr>
          <p:cNvPr id="5" name="qTxt"/>
          <p:cNvSpPr txBox="1"/>
          <p:nvPr/>
        </p:nvSpPr>
        <p:spPr>
          <a:xfrm>
            <a:off x="1280160" y="2560320"/>
            <a:ext cx="9601200" cy="2194560"/>
          </a:xfrm>
          <a:prstGeom prst="rect">
            <a:avLst/>
          </a:prstGeom>
          <a:noFill/>
          <a:ln/>
        </p:spPr>
        <p:txBody>
          <a:bodyPr wrap="square" lIns="0" tIns="0" rIns="0" bIns="0" rtlCol="0" anchor="ctr"/>
          <a:lstStyle/>
          <a:p>
            <a:pPr marL="0" indent="0" algn="ctr">
              <a:buNone/>
            </a:pPr>
            <a:r>
              <a:rPr lang="en-US" sz="2800" b="1" dirty="0">
                <a:solidFill>
                  <a:schemeClr val="bg1"/>
                </a:solidFill>
              </a:rPr>
              <a:t>Comment exposer les données des employés par un service SOAP fiable, en gardant MySQL et PostgreSQL cohérents, et en surveillant l'ensemble en continu ?</a:t>
            </a:r>
            <a:endParaRPr lang="en-US" sz="28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ppt_w</p:attrName>
                                        </p:attrNameLst>
                                      </p:cBhvr>
                                      <p:tavLst>
                                        <p:tav tm="0">
                                          <p:val>
                                            <p:strVal val="0"/>
                                          </p:val>
                                        </p:tav>
                                        <p:tav tm="100000">
                                          <p:val>
                                            <p:strVal val="#ppt_w"/>
                                          </p:val>
                                        </p:tav>
                                      </p:tavLst>
                                    </p:anim>
                                    <p:anim calcmode="lin" valueType="num">
                                      <p:cBhvr additive="base">
                                        <p:cTn id="8" dur="500" fill="hold"/>
                                        <p:tgtEl>
                                          <p:spTgt spid="2"/>
                                        </p:tgtEl>
                                        <p:attrNameLst>
                                          <p:attrName>ppt_h</p:attrName>
                                        </p:attrNameLst>
                                      </p:cBhvr>
                                      <p:tavLst>
                                        <p:tav tm="0">
                                          <p:val>
                                            <p:strVal val="0"/>
                                          </p:val>
                                        </p:tav>
                                        <p:tav tm="100000">
                                          <p:val>
                                            <p:strVal val="#ppt_h"/>
                                          </p:val>
                                        </p:tav>
                                      </p:tavLst>
                                    </p:anim>
                                    <p:animEffect transition="in" filter="fade">
                                      <p:cBhvr>
                                        <p:cTn id="9" dur="500"/>
                                        <p:tgtEl>
                                          <p:spTgt spid="2"/>
                                        </p:tgtEl>
                                      </p:cBhvr>
                                    </p:animEffect>
                                  </p:childTnLst>
                                </p:cTn>
                              </p:par>
                              <p:par>
                                <p:cTn id="10" presetID="53" presetClass="entr" presetSubtype="16"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ppt_w</p:attrName>
                                        </p:attrNameLst>
                                      </p:cBhvr>
                                      <p:tavLst>
                                        <p:tav tm="0">
                                          <p:val>
                                            <p:strVal val="0"/>
                                          </p:val>
                                        </p:tav>
                                        <p:tav tm="100000">
                                          <p:val>
                                            <p:strVal val="#ppt_w"/>
                                          </p:val>
                                        </p:tav>
                                      </p:tavLst>
                                    </p:anim>
                                    <p:anim calcmode="lin" valueType="num">
                                      <p:cBhvr additive="base">
                                        <p:cTn id="13" dur="500" fill="hold"/>
                                        <p:tgtEl>
                                          <p:spTgt spid="3"/>
                                        </p:tgtEl>
                                        <p:attrNameLst>
                                          <p:attrName>ppt_h</p:attrName>
                                        </p:attrNameLst>
                                      </p:cBhvr>
                                      <p:tavLst>
                                        <p:tav tm="0">
                                          <p:val>
                                            <p:strVal val="0"/>
                                          </p:val>
                                        </p:tav>
                                        <p:tav tm="100000">
                                          <p:val>
                                            <p:strVal val="#ppt_h"/>
                                          </p:val>
                                        </p:tav>
                                      </p:tavLst>
                                    </p:anim>
                                    <p:animEffect transition="in" filter="fade">
                                      <p:cBhvr>
                                        <p:cTn id="14" dur="500"/>
                                        <p:tgtEl>
                                          <p:spTgt spid="3"/>
                                        </p:tgtEl>
                                      </p:cBhvr>
                                    </p:animEffect>
                                  </p:childTnLst>
                                </p:cTn>
                              </p:par>
                              <p:par>
                                <p:cTn id="15" presetID="10" presetClass="entr" presetSubtype="0" fill="hold" grpId="0" nodeType="withEffect">
                                  <p:stCondLst>
                                    <p:cond delay="22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par>
                                <p:cTn id="18" presetID="42" presetClass="entr" presetSubtype="0" fill="hold" grpId="0" nodeType="withEffect">
                                  <p:stCondLst>
                                    <p:cond delay="44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ring#29"/>
          <p:cNvSpPr/>
          <p:nvPr/>
        </p:nvSpPr>
        <p:spPr>
          <a:xfrm>
            <a:off x="7223760" y="1234440"/>
            <a:ext cx="4389120" cy="4389120"/>
          </a:xfrm>
          <a:prstGeom prst="ellipse">
            <a:avLst/>
          </a:prstGeom>
          <a:solidFill>
            <a:srgbClr val="1BA39C">
              <a:alpha val="20000"/>
            </a:srgbClr>
          </a:solidFill>
          <a:ln/>
        </p:spPr>
      </p:sp>
      <p:sp>
        <p:nvSpPr>
          <p:cNvPr id="3" name="ring#30"/>
          <p:cNvSpPr/>
          <p:nvPr/>
        </p:nvSpPr>
        <p:spPr>
          <a:xfrm>
            <a:off x="7818120" y="1828800"/>
            <a:ext cx="3200400" cy="3200400"/>
          </a:xfrm>
          <a:prstGeom prst="ellipse">
            <a:avLst/>
          </a:prstGeom>
          <a:solidFill>
            <a:srgbClr val="1BA39C">
              <a:alpha val="8000"/>
            </a:srgbClr>
          </a:solidFill>
          <a:ln/>
        </p:spPr>
      </p:sp>
      <p:sp>
        <p:nvSpPr>
          <p:cNvPr id="4" name="divDot"/>
          <p:cNvSpPr/>
          <p:nvPr/>
        </p:nvSpPr>
        <p:spPr>
          <a:xfrm>
            <a:off x="8503920" y="2514600"/>
            <a:ext cx="1828800" cy="1828800"/>
          </a:xfrm>
          <a:prstGeom prst="ellipse">
            <a:avLst/>
          </a:prstGeom>
          <a:solidFill>
            <a:schemeClr val="accent3"/>
          </a:solidFill>
          <a:ln/>
        </p:spPr>
      </p:sp>
      <p:pic>
        <p:nvPicPr>
          <p:cNvPr id="5" name="divDoti" descr="preencoded.png"/>
          <p:cNvPicPr>
            <a:picLocks noChangeAspect="1"/>
          </p:cNvPicPr>
          <p:nvPr/>
        </p:nvPicPr>
        <p:blipFill>
          <a:blip r:embed="rId3"/>
          <a:stretch>
            <a:fillRect/>
          </a:stretch>
        </p:blipFill>
        <p:spPr>
          <a:xfrm>
            <a:off x="8997696" y="3008376"/>
            <a:ext cx="841248" cy="841248"/>
          </a:xfrm>
          <a:prstGeom prst="rect">
            <a:avLst/>
          </a:prstGeom>
        </p:spPr>
      </p:pic>
      <p:sp>
        <p:nvSpPr>
          <p:cNvPr id="6" name="divNum"/>
          <p:cNvSpPr txBox="1"/>
          <p:nvPr/>
        </p:nvSpPr>
        <p:spPr>
          <a:xfrm>
            <a:off x="548640" y="1463040"/>
            <a:ext cx="3657600" cy="1737360"/>
          </a:xfrm>
          <a:prstGeom prst="rect">
            <a:avLst/>
          </a:prstGeom>
          <a:noFill/>
          <a:ln/>
        </p:spPr>
        <p:txBody>
          <a:bodyPr wrap="square" lIns="0" tIns="0" rIns="0" bIns="0" rtlCol="0" anchor="t"/>
          <a:lstStyle/>
          <a:p>
            <a:pPr marL="0" indent="0">
              <a:buNone/>
            </a:pPr>
            <a:r>
              <a:rPr lang="en-US" sz="12000" b="1" dirty="0">
                <a:solidFill>
                  <a:schemeClr val="accent2"/>
                </a:solidFill>
              </a:rPr>
              <a:t>02</a:t>
            </a:r>
            <a:endParaRPr lang="en-US" sz="12000" dirty="0"/>
          </a:p>
        </p:txBody>
      </p:sp>
      <p:sp>
        <p:nvSpPr>
          <p:cNvPr id="7" name="divPart"/>
          <p:cNvSpPr txBox="1"/>
          <p:nvPr/>
        </p:nvSpPr>
        <p:spPr>
          <a:xfrm>
            <a:off x="548640" y="3383280"/>
            <a:ext cx="5486400" cy="320040"/>
          </a:xfrm>
          <a:prstGeom prst="rect">
            <a:avLst/>
          </a:prstGeom>
          <a:noFill/>
          <a:ln/>
        </p:spPr>
        <p:txBody>
          <a:bodyPr wrap="square" lIns="0" tIns="0" rIns="0" bIns="0" rtlCol="0" anchor="t"/>
          <a:lstStyle/>
          <a:p>
            <a:pPr marL="0" indent="0">
              <a:buNone/>
            </a:pPr>
            <a:r>
              <a:rPr lang="en-US" sz="1300" b="1" kern="0" spc="300" dirty="0">
                <a:solidFill>
                  <a:schemeClr val="accent3"/>
                </a:solidFill>
              </a:rPr>
              <a:t>PARTIE 2</a:t>
            </a:r>
            <a:endParaRPr lang="en-US" sz="1300" dirty="0"/>
          </a:p>
        </p:txBody>
      </p:sp>
      <p:sp>
        <p:nvSpPr>
          <p:cNvPr id="8" name="divTtl"/>
          <p:cNvSpPr txBox="1"/>
          <p:nvPr/>
        </p:nvSpPr>
        <p:spPr>
          <a:xfrm>
            <a:off x="548640" y="3749040"/>
            <a:ext cx="6949440" cy="914400"/>
          </a:xfrm>
          <a:prstGeom prst="rect">
            <a:avLst/>
          </a:prstGeom>
          <a:noFill/>
          <a:ln/>
        </p:spPr>
        <p:txBody>
          <a:bodyPr wrap="square" lIns="0" tIns="0" rIns="0" bIns="0" rtlCol="0" anchor="t"/>
          <a:lstStyle/>
          <a:p>
            <a:pPr marL="0" indent="0">
              <a:buNone/>
            </a:pPr>
            <a:r>
              <a:rPr lang="en-US" sz="3400" b="1" dirty="0">
                <a:solidFill>
                  <a:schemeClr val="bg1"/>
                </a:solidFill>
              </a:rPr>
              <a:t>Architecture et modèle de données</a:t>
            </a:r>
            <a:endParaRPr lang="en-US" sz="3400" dirty="0"/>
          </a:p>
        </p:txBody>
      </p:sp>
      <p:sp>
        <p:nvSpPr>
          <p:cNvPr id="9" name="divSub"/>
          <p:cNvSpPr txBox="1"/>
          <p:nvPr/>
        </p:nvSpPr>
        <p:spPr>
          <a:xfrm>
            <a:off x="548640" y="4709160"/>
            <a:ext cx="6949440" cy="548640"/>
          </a:xfrm>
          <a:prstGeom prst="rect">
            <a:avLst/>
          </a:prstGeom>
          <a:noFill/>
          <a:ln/>
        </p:spPr>
        <p:txBody>
          <a:bodyPr wrap="square" lIns="0" tIns="0" rIns="0" bIns="0" rtlCol="0" anchor="t"/>
          <a:lstStyle/>
          <a:p>
            <a:pPr marL="0" indent="0">
              <a:buNone/>
            </a:pPr>
            <a:r>
              <a:rPr lang="en-US" sz="1600" dirty="0">
                <a:solidFill>
                  <a:srgbClr val="C9D3E3"/>
                </a:solidFill>
              </a:rPr>
              <a:t>Les composants et la base de référence</a:t>
            </a:r>
            <a:endParaRPr lang="en-US" sz="16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ppt_w</p:attrName>
                                        </p:attrNameLst>
                                      </p:cBhvr>
                                      <p:tavLst>
                                        <p:tav tm="0">
                                          <p:val>
                                            <p:strVal val="0"/>
                                          </p:val>
                                        </p:tav>
                                        <p:tav tm="100000">
                                          <p:val>
                                            <p:strVal val="#ppt_w"/>
                                          </p:val>
                                        </p:tav>
                                      </p:tavLst>
                                    </p:anim>
                                    <p:anim calcmode="lin" valueType="num">
                                      <p:cBhvr additive="base">
                                        <p:cTn id="8" dur="500" fill="hold"/>
                                        <p:tgtEl>
                                          <p:spTgt spid="4"/>
                                        </p:tgtEl>
                                        <p:attrNameLst>
                                          <p:attrName>ppt_h</p:attrName>
                                        </p:attrNameLst>
                                      </p:cBhvr>
                                      <p:tavLst>
                                        <p:tav tm="0">
                                          <p:val>
                                            <p:strVal val="0"/>
                                          </p:val>
                                        </p:tav>
                                        <p:tav tm="100000">
                                          <p:val>
                                            <p:strVal val="#ppt_h"/>
                                          </p:val>
                                        </p:tav>
                                      </p:tavLst>
                                    </p:anim>
                                    <p:animEffect transition="in" filter="fade">
                                      <p:cBhvr>
                                        <p:cTn id="9" dur="500"/>
                                        <p:tgtEl>
                                          <p:spTgt spid="4"/>
                                        </p:tgtEl>
                                      </p:cBhvr>
                                    </p:animEffect>
                                  </p:childTnLst>
                                </p:cTn>
                              </p:par>
                              <p:par>
                                <p:cTn id="10" presetID="53" presetClass="entr" presetSubtype="16"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ppt_w</p:attrName>
                                        </p:attrNameLst>
                                      </p:cBhvr>
                                      <p:tavLst>
                                        <p:tav tm="0">
                                          <p:val>
                                            <p:strVal val="0"/>
                                          </p:val>
                                        </p:tav>
                                        <p:tav tm="100000">
                                          <p:val>
                                            <p:strVal val="#ppt_w"/>
                                          </p:val>
                                        </p:tav>
                                      </p:tavLst>
                                    </p:anim>
                                    <p:anim calcmode="lin" valueType="num">
                                      <p:cBhvr additive="base">
                                        <p:cTn id="13" dur="500" fill="hold"/>
                                        <p:tgtEl>
                                          <p:spTgt spid="5"/>
                                        </p:tgtEl>
                                        <p:attrNameLst>
                                          <p:attrName>ppt_h</p:attrName>
                                        </p:attrNameLst>
                                      </p:cBhvr>
                                      <p:tavLst>
                                        <p:tav tm="0">
                                          <p:val>
                                            <p:strVal val="0"/>
                                          </p:val>
                                        </p:tav>
                                        <p:tav tm="100000">
                                          <p:val>
                                            <p:strVal val="#ppt_h"/>
                                          </p:val>
                                        </p:tav>
                                      </p:tavLst>
                                    </p:anim>
                                    <p:animEffect transition="in" filter="fade">
                                      <p:cBhvr>
                                        <p:cTn id="14" dur="500"/>
                                        <p:tgtEl>
                                          <p:spTgt spid="5"/>
                                        </p:tgtEl>
                                      </p:cBhvr>
                                    </p:animEffect>
                                  </p:childTnLst>
                                </p:cTn>
                              </p:par>
                              <p:par>
                                <p:cTn id="15" presetID="42" presetClass="entr" presetSubtype="0" fill="hold" grpId="0" nodeType="withEffect">
                                  <p:stCondLst>
                                    <p:cond delay="22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anim calcmode="lin" valueType="num">
                                      <p:cBhvr additive="base">
                                        <p:cTn id="18" dur="500" fill="hold"/>
                                        <p:tgtEl>
                                          <p:spTgt spid="6"/>
                                        </p:tgtEl>
                                        <p:attrNameLst>
                                          <p:attrName>ppt_x</p:attrName>
                                        </p:attrNameLst>
                                      </p:cBhvr>
                                      <p:tavLst>
                                        <p:tav tm="0">
                                          <p:val>
                                            <p:strVal val="#ppt_x"/>
                                          </p:val>
                                        </p:tav>
                                        <p:tav tm="100000">
                                          <p:val>
                                            <p:strVal val="#ppt_x"/>
                                          </p:val>
                                        </p:tav>
                                      </p:tavLst>
                                    </p:anim>
                                    <p:anim calcmode="lin" valueType="num">
                                      <p:cBhvr additive="base">
                                        <p:cTn id="19" dur="50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44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anim calcmode="lin" valueType="num">
                                      <p:cBhvr additive="base">
                                        <p:cTn id="23" dur="500" fill="hold"/>
                                        <p:tgtEl>
                                          <p:spTgt spid="7"/>
                                        </p:tgtEl>
                                        <p:attrNameLst>
                                          <p:attrName>ppt_x</p:attrName>
                                        </p:attrNameLst>
                                      </p:cBhvr>
                                      <p:tavLst>
                                        <p:tav tm="0">
                                          <p:val>
                                            <p:strVal val="#ppt_x"/>
                                          </p:val>
                                        </p:tav>
                                        <p:tav tm="100000">
                                          <p:val>
                                            <p:strVal val="#ppt_x"/>
                                          </p:val>
                                        </p:tav>
                                      </p:tavLst>
                                    </p:anim>
                                    <p:anim calcmode="lin" valueType="num">
                                      <p:cBhvr additive="base">
                                        <p:cTn id="24" dur="500" fill="hold"/>
                                        <p:tgtEl>
                                          <p:spTgt spid="7"/>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44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anim calcmode="lin" valueType="num">
                                      <p:cBhvr additive="base">
                                        <p:cTn id="28" dur="500" fill="hold"/>
                                        <p:tgtEl>
                                          <p:spTgt spid="8"/>
                                        </p:tgtEl>
                                        <p:attrNameLst>
                                          <p:attrName>ppt_x</p:attrName>
                                        </p:attrNameLst>
                                      </p:cBhvr>
                                      <p:tavLst>
                                        <p:tav tm="0">
                                          <p:val>
                                            <p:strVal val="#ppt_x"/>
                                          </p:val>
                                        </p:tav>
                                        <p:tav tm="100000">
                                          <p:val>
                                            <p:strVal val="#ppt_x"/>
                                          </p:val>
                                        </p:tav>
                                      </p:tavLst>
                                    </p:anim>
                                    <p:anim calcmode="lin" valueType="num">
                                      <p:cBhvr additive="base">
                                        <p:cTn id="29" dur="500" fill="hold"/>
                                        <p:tgtEl>
                                          <p:spTgt spid="8"/>
                                        </p:tgtEl>
                                        <p:attrNameLst>
                                          <p:attrName>ppt_y</p:attrName>
                                        </p:attrNameLst>
                                      </p:cBhvr>
                                      <p:tavLst>
                                        <p:tav tm="0">
                                          <p:val>
                                            <p:strVal val="#ppt_y+.1"/>
                                          </p:val>
                                        </p:tav>
                                        <p:tav tm="100000">
                                          <p:val>
                                            <p:strVal val="#ppt_y"/>
                                          </p:val>
                                        </p:tav>
                                      </p:tavLst>
                                    </p:anim>
                                  </p:childTnLst>
                                </p:cTn>
                              </p:par>
                              <p:par>
                                <p:cTn id="30" presetID="10" presetClass="entr" presetSubtype="0" fill="hold" grpId="0" nodeType="withEffect">
                                  <p:stCondLst>
                                    <p:cond delay="66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749808"/>
            <a:ext cx="11064240" cy="685800"/>
          </a:xfrm>
          <a:prstGeom prst="rect">
            <a:avLst/>
          </a:prstGeom>
          <a:noFill/>
          <a:ln/>
        </p:spPr>
        <p:txBody>
          <a:bodyPr wrap="square" lIns="0" tIns="0" rIns="0" bIns="0" rtlCol="0" anchor="ctr"/>
          <a:lstStyle/>
          <a:p>
            <a:pPr marL="0" indent="0" algn="l">
              <a:buNone/>
            </a:pPr>
            <a:r>
              <a:rPr lang="en-US" sz="3000" b="1" dirty="0">
                <a:solidFill>
                  <a:schemeClr val="tx2"/>
                </a:solidFill>
              </a:rPr>
              <a:t>Architecture de la solution</a:t>
            </a:r>
            <a:endParaRPr lang="en-US" sz="3000" dirty="0"/>
          </a:p>
        </p:txBody>
      </p:sp>
      <p:sp>
        <p:nvSpPr>
          <p:cNvPr id="3" name="pill#31"/>
          <p:cNvSpPr/>
          <p:nvPr/>
        </p:nvSpPr>
        <p:spPr>
          <a:xfrm>
            <a:off x="548640" y="384048"/>
            <a:ext cx="1133856" cy="292608"/>
          </a:xfrm>
          <a:prstGeom prst="roundRect">
            <a:avLst>
              <a:gd name="adj" fmla="val 50000"/>
            </a:avLst>
          </a:prstGeom>
          <a:solidFill>
            <a:schemeClr val="accent2"/>
          </a:solidFill>
          <a:ln/>
        </p:spPr>
      </p:sp>
      <p:sp>
        <p:nvSpPr>
          <p:cNvPr id="4" name="pill#31t"/>
          <p:cNvSpPr txBox="1"/>
          <p:nvPr/>
        </p:nvSpPr>
        <p:spPr>
          <a:xfrm>
            <a:off x="548640" y="384048"/>
            <a:ext cx="1133856" cy="292608"/>
          </a:xfrm>
          <a:prstGeom prst="rect">
            <a:avLst/>
          </a:prstGeom>
          <a:noFill/>
          <a:ln/>
        </p:spPr>
        <p:txBody>
          <a:bodyPr wrap="square" lIns="0" tIns="0" rIns="0" bIns="0" rtlCol="0" anchor="ctr"/>
          <a:lstStyle/>
          <a:p>
            <a:pPr marL="0" indent="0" algn="ctr">
              <a:buNone/>
            </a:pPr>
            <a:r>
              <a:rPr lang="en-US" sz="1100" b="1" dirty="0">
                <a:solidFill>
                  <a:schemeClr val="bg1"/>
                </a:solidFill>
              </a:rPr>
              <a:t>Architecture</a:t>
            </a:r>
            <a:endParaRPr lang="en-US" sz="1100" dirty="0"/>
          </a:p>
        </p:txBody>
      </p:sp>
      <p:sp>
        <p:nvSpPr>
          <p:cNvPr id="5" name="bMy"/>
          <p:cNvSpPr/>
          <p:nvPr/>
        </p:nvSpPr>
        <p:spPr>
          <a:xfrm>
            <a:off x="548640" y="1828800"/>
            <a:ext cx="2468880" cy="1280160"/>
          </a:xfrm>
          <a:prstGeom prst="roundRect">
            <a:avLst>
              <a:gd name="adj" fmla="val 7143"/>
            </a:avLst>
          </a:prstGeom>
          <a:solidFill>
            <a:schemeClr val="accent4"/>
          </a:solidFill>
          <a:ln/>
          <a:effectLst>
            <a:outerShdw blurRad="127000" dist="38100" dir="5400000" algn="bl" rotWithShape="0">
              <a:srgbClr val="0D2340">
                <a:alpha val="12000"/>
              </a:srgbClr>
            </a:outerShdw>
          </a:effectLst>
        </p:spPr>
      </p:sp>
      <p:sp>
        <p:nvSpPr>
          <p:cNvPr id="6" name="bMyt"/>
          <p:cNvSpPr txBox="1"/>
          <p:nvPr/>
        </p:nvSpPr>
        <p:spPr>
          <a:xfrm>
            <a:off x="548640" y="1828800"/>
            <a:ext cx="2468880" cy="1280160"/>
          </a:xfrm>
          <a:prstGeom prst="rect">
            <a:avLst/>
          </a:prstGeom>
          <a:noFill/>
          <a:ln/>
        </p:spPr>
        <p:txBody>
          <a:bodyPr wrap="square" lIns="0" tIns="0" rIns="0" bIns="0" rtlCol="0" anchor="ctr"/>
          <a:lstStyle/>
          <a:p>
            <a:pPr marL="0" indent="0" algn="ctr">
              <a:buNone/>
            </a:pPr>
            <a:r>
              <a:rPr lang="en-US" sz="1800" b="1" dirty="0">
                <a:solidFill>
                  <a:schemeClr val="bg1"/>
                </a:solidFill>
              </a:rPr>
              <a:t>MySQL 8</a:t>
            </a:r>
            <a:endParaRPr lang="en-US" sz="1400" dirty="0"/>
          </a:p>
          <a:p>
            <a:pPr marL="0" indent="0" algn="ctr">
              <a:buNone/>
            </a:pPr>
            <a:r>
              <a:rPr lang="en-US" sz="1200" dirty="0">
                <a:solidFill>
                  <a:schemeClr val="bg1"/>
                </a:solidFill>
              </a:rPr>
              <a:t>base source RH</a:t>
            </a:r>
            <a:endParaRPr lang="en-US" sz="1400" dirty="0"/>
          </a:p>
        </p:txBody>
      </p:sp>
      <p:sp>
        <p:nvSpPr>
          <p:cNvPr id="7" name="bPdi"/>
          <p:cNvSpPr/>
          <p:nvPr/>
        </p:nvSpPr>
        <p:spPr>
          <a:xfrm>
            <a:off x="3840480" y="1828800"/>
            <a:ext cx="2468880" cy="1280160"/>
          </a:xfrm>
          <a:prstGeom prst="roundRect">
            <a:avLst>
              <a:gd name="adj" fmla="val 7143"/>
            </a:avLst>
          </a:prstGeom>
          <a:solidFill>
            <a:schemeClr val="accent2"/>
          </a:solidFill>
          <a:ln/>
          <a:effectLst>
            <a:outerShdw blurRad="127000" dist="38100" dir="5400000" algn="bl" rotWithShape="0">
              <a:srgbClr val="0D2340">
                <a:alpha val="12000"/>
              </a:srgbClr>
            </a:outerShdw>
          </a:effectLst>
        </p:spPr>
      </p:sp>
      <p:sp>
        <p:nvSpPr>
          <p:cNvPr id="8" name="bPdit"/>
          <p:cNvSpPr txBox="1"/>
          <p:nvPr/>
        </p:nvSpPr>
        <p:spPr>
          <a:xfrm>
            <a:off x="3840480" y="1828800"/>
            <a:ext cx="2468880" cy="1280160"/>
          </a:xfrm>
          <a:prstGeom prst="rect">
            <a:avLst/>
          </a:prstGeom>
          <a:noFill/>
          <a:ln/>
        </p:spPr>
        <p:txBody>
          <a:bodyPr wrap="square" lIns="0" tIns="0" rIns="0" bIns="0" rtlCol="0" anchor="ctr"/>
          <a:lstStyle/>
          <a:p>
            <a:pPr marL="0" indent="0" algn="ctr">
              <a:buNone/>
            </a:pPr>
            <a:r>
              <a:rPr lang="en-US" sz="1800" b="1" dirty="0">
                <a:solidFill>
                  <a:schemeClr val="bg1"/>
                </a:solidFill>
              </a:rPr>
              <a:t>Pentaho PDI</a:t>
            </a:r>
            <a:endParaRPr lang="en-US" sz="1400" dirty="0"/>
          </a:p>
          <a:p>
            <a:pPr marL="0" indent="0" algn="ctr">
              <a:buNone/>
            </a:pPr>
            <a:r>
              <a:rPr lang="en-US" sz="1200" dirty="0">
                <a:solidFill>
                  <a:schemeClr val="bg1"/>
                </a:solidFill>
              </a:rPr>
              <a:t>jobs aller et retour</a:t>
            </a:r>
            <a:endParaRPr lang="en-US" sz="1400" dirty="0"/>
          </a:p>
        </p:txBody>
      </p:sp>
      <p:sp>
        <p:nvSpPr>
          <p:cNvPr id="9" name="l1"/>
          <p:cNvSpPr/>
          <p:nvPr/>
        </p:nvSpPr>
        <p:spPr>
          <a:xfrm>
            <a:off x="3017520" y="2240280"/>
            <a:ext cx="822960" cy="0"/>
          </a:xfrm>
          <a:prstGeom prst="line">
            <a:avLst/>
          </a:prstGeom>
          <a:noFill/>
          <a:ln w="25400">
            <a:solidFill>
              <a:srgbClr val="8B97AD"/>
            </a:solidFill>
            <a:prstDash val="solid"/>
            <a:tailEnd type="triangle"/>
          </a:ln>
        </p:spPr>
      </p:sp>
      <p:sp>
        <p:nvSpPr>
          <p:cNvPr id="10" name="l4"/>
          <p:cNvSpPr/>
          <p:nvPr/>
        </p:nvSpPr>
        <p:spPr>
          <a:xfrm flipH="1">
            <a:off x="3017520" y="2697480"/>
            <a:ext cx="822960" cy="0"/>
          </a:xfrm>
          <a:prstGeom prst="line">
            <a:avLst/>
          </a:prstGeom>
          <a:noFill/>
          <a:ln w="25400">
            <a:solidFill>
              <a:srgbClr val="8B97AD"/>
            </a:solidFill>
            <a:prstDash val="solid"/>
            <a:tailEnd type="triangle"/>
          </a:ln>
        </p:spPr>
      </p:sp>
      <p:sp>
        <p:nvSpPr>
          <p:cNvPr id="11" name="bPg"/>
          <p:cNvSpPr/>
          <p:nvPr/>
        </p:nvSpPr>
        <p:spPr>
          <a:xfrm>
            <a:off x="7132320" y="1828800"/>
            <a:ext cx="2468880" cy="1280160"/>
          </a:xfrm>
          <a:prstGeom prst="roundRect">
            <a:avLst>
              <a:gd name="adj" fmla="val 7143"/>
            </a:avLst>
          </a:prstGeom>
          <a:solidFill>
            <a:schemeClr val="tx2"/>
          </a:solidFill>
          <a:ln/>
          <a:effectLst>
            <a:outerShdw blurRad="127000" dist="38100" dir="5400000" algn="bl" rotWithShape="0">
              <a:srgbClr val="0D2340">
                <a:alpha val="12000"/>
              </a:srgbClr>
            </a:outerShdw>
          </a:effectLst>
        </p:spPr>
      </p:sp>
      <p:sp>
        <p:nvSpPr>
          <p:cNvPr id="12" name="bPgt"/>
          <p:cNvSpPr txBox="1"/>
          <p:nvPr/>
        </p:nvSpPr>
        <p:spPr>
          <a:xfrm>
            <a:off x="7132320" y="1828800"/>
            <a:ext cx="2468880" cy="1280160"/>
          </a:xfrm>
          <a:prstGeom prst="rect">
            <a:avLst/>
          </a:prstGeom>
          <a:noFill/>
          <a:ln/>
        </p:spPr>
        <p:txBody>
          <a:bodyPr wrap="square" lIns="0" tIns="0" rIns="0" bIns="0" rtlCol="0" anchor="ctr"/>
          <a:lstStyle/>
          <a:p>
            <a:pPr marL="0" indent="0" algn="ctr">
              <a:buNone/>
            </a:pPr>
            <a:r>
              <a:rPr lang="en-US" sz="1800" b="1" dirty="0">
                <a:solidFill>
                  <a:schemeClr val="bg1"/>
                </a:solidFill>
              </a:rPr>
              <a:t>PostgreSQL 16</a:t>
            </a:r>
            <a:endParaRPr lang="en-US" sz="1400" dirty="0"/>
          </a:p>
          <a:p>
            <a:pPr marL="0" indent="0" algn="ctr">
              <a:buNone/>
            </a:pPr>
            <a:r>
              <a:rPr lang="en-US" sz="1200" dirty="0">
                <a:solidFill>
                  <a:schemeClr val="bg1"/>
                </a:solidFill>
              </a:rPr>
              <a:t>base de référence</a:t>
            </a:r>
            <a:endParaRPr lang="en-US" sz="1400" dirty="0"/>
          </a:p>
        </p:txBody>
      </p:sp>
      <p:sp>
        <p:nvSpPr>
          <p:cNvPr id="13" name="l2"/>
          <p:cNvSpPr/>
          <p:nvPr/>
        </p:nvSpPr>
        <p:spPr>
          <a:xfrm>
            <a:off x="6309360" y="2240280"/>
            <a:ext cx="822960" cy="0"/>
          </a:xfrm>
          <a:prstGeom prst="line">
            <a:avLst/>
          </a:prstGeom>
          <a:noFill/>
          <a:ln w="25400">
            <a:solidFill>
              <a:srgbClr val="8B97AD"/>
            </a:solidFill>
            <a:prstDash val="solid"/>
            <a:tailEnd type="triangle"/>
          </a:ln>
        </p:spPr>
      </p:sp>
      <p:sp>
        <p:nvSpPr>
          <p:cNvPr id="14" name="l3"/>
          <p:cNvSpPr/>
          <p:nvPr/>
        </p:nvSpPr>
        <p:spPr>
          <a:xfrm flipH="1">
            <a:off x="6309360" y="2697480"/>
            <a:ext cx="822960" cy="0"/>
          </a:xfrm>
          <a:prstGeom prst="line">
            <a:avLst/>
          </a:prstGeom>
          <a:noFill/>
          <a:ln w="25400">
            <a:solidFill>
              <a:srgbClr val="8B97AD"/>
            </a:solidFill>
            <a:prstDash val="solid"/>
            <a:tailEnd type="triangle"/>
          </a:ln>
        </p:spPr>
      </p:sp>
      <p:sp>
        <p:nvSpPr>
          <p:cNvPr id="15" name="lb1"/>
          <p:cNvSpPr txBox="1"/>
          <p:nvPr/>
        </p:nvSpPr>
        <p:spPr>
          <a:xfrm>
            <a:off x="3017520" y="1901952"/>
            <a:ext cx="822960" cy="274320"/>
          </a:xfrm>
          <a:prstGeom prst="rect">
            <a:avLst/>
          </a:prstGeom>
          <a:noFill/>
          <a:ln/>
        </p:spPr>
        <p:txBody>
          <a:bodyPr wrap="square" lIns="0" tIns="0" rIns="0" bIns="0" rtlCol="0" anchor="t"/>
          <a:lstStyle/>
          <a:p>
            <a:pPr marL="0" indent="0" algn="ctr">
              <a:buNone/>
            </a:pPr>
            <a:r>
              <a:rPr lang="en-US" sz="1100" dirty="0">
                <a:solidFill>
                  <a:schemeClr val="accent6"/>
                </a:solidFill>
              </a:rPr>
              <a:t>extraction</a:t>
            </a:r>
            <a:endParaRPr lang="en-US" sz="1100" dirty="0"/>
          </a:p>
        </p:txBody>
      </p:sp>
      <p:sp>
        <p:nvSpPr>
          <p:cNvPr id="16" name="lb2"/>
          <p:cNvSpPr txBox="1"/>
          <p:nvPr/>
        </p:nvSpPr>
        <p:spPr>
          <a:xfrm>
            <a:off x="6309360" y="1901952"/>
            <a:ext cx="822960" cy="274320"/>
          </a:xfrm>
          <a:prstGeom prst="rect">
            <a:avLst/>
          </a:prstGeom>
          <a:noFill/>
          <a:ln/>
        </p:spPr>
        <p:txBody>
          <a:bodyPr wrap="square" lIns="0" tIns="0" rIns="0" bIns="0" rtlCol="0" anchor="t"/>
          <a:lstStyle/>
          <a:p>
            <a:pPr marL="0" indent="0" algn="ctr">
              <a:buNone/>
            </a:pPr>
            <a:r>
              <a:rPr lang="en-US" sz="1100" dirty="0">
                <a:solidFill>
                  <a:schemeClr val="accent6"/>
                </a:solidFill>
              </a:rPr>
              <a:t>chargement</a:t>
            </a:r>
            <a:endParaRPr lang="en-US" sz="1100" dirty="0"/>
          </a:p>
        </p:txBody>
      </p:sp>
      <p:sp>
        <p:nvSpPr>
          <p:cNvPr id="17" name="lb3"/>
          <p:cNvSpPr txBox="1"/>
          <p:nvPr/>
        </p:nvSpPr>
        <p:spPr>
          <a:xfrm>
            <a:off x="6309360" y="2761488"/>
            <a:ext cx="822960" cy="274320"/>
          </a:xfrm>
          <a:prstGeom prst="rect">
            <a:avLst/>
          </a:prstGeom>
          <a:noFill/>
          <a:ln/>
        </p:spPr>
        <p:txBody>
          <a:bodyPr wrap="square" lIns="0" tIns="0" rIns="0" bIns="0" rtlCol="0" anchor="t"/>
          <a:lstStyle/>
          <a:p>
            <a:pPr marL="0" indent="0" algn="ctr">
              <a:buNone/>
            </a:pPr>
            <a:r>
              <a:rPr lang="en-US" sz="1100" dirty="0">
                <a:solidFill>
                  <a:schemeClr val="accent6"/>
                </a:solidFill>
              </a:rPr>
              <a:t>outbox</a:t>
            </a:r>
            <a:endParaRPr lang="en-US" sz="1100" dirty="0"/>
          </a:p>
        </p:txBody>
      </p:sp>
      <p:sp>
        <p:nvSpPr>
          <p:cNvPr id="18" name="lb4"/>
          <p:cNvSpPr txBox="1"/>
          <p:nvPr/>
        </p:nvSpPr>
        <p:spPr>
          <a:xfrm>
            <a:off x="3017520" y="2761488"/>
            <a:ext cx="822960" cy="274320"/>
          </a:xfrm>
          <a:prstGeom prst="rect">
            <a:avLst/>
          </a:prstGeom>
          <a:noFill/>
          <a:ln/>
        </p:spPr>
        <p:txBody>
          <a:bodyPr wrap="square" lIns="0" tIns="0" rIns="0" bIns="0" rtlCol="0" anchor="t"/>
          <a:lstStyle/>
          <a:p>
            <a:pPr marL="0" indent="0" algn="ctr">
              <a:buNone/>
            </a:pPr>
            <a:r>
              <a:rPr lang="en-US" sz="1100" dirty="0">
                <a:solidFill>
                  <a:schemeClr val="accent6"/>
                </a:solidFill>
              </a:rPr>
              <a:t>retour</a:t>
            </a:r>
            <a:endParaRPr lang="en-US" sz="1100" dirty="0"/>
          </a:p>
        </p:txBody>
      </p:sp>
      <p:sp>
        <p:nvSpPr>
          <p:cNvPr id="19" name="bWs"/>
          <p:cNvSpPr/>
          <p:nvPr/>
        </p:nvSpPr>
        <p:spPr>
          <a:xfrm>
            <a:off x="7132320" y="4297680"/>
            <a:ext cx="2468880" cy="1280160"/>
          </a:xfrm>
          <a:prstGeom prst="roundRect">
            <a:avLst>
              <a:gd name="adj" fmla="val 7143"/>
            </a:avLst>
          </a:prstGeom>
          <a:solidFill>
            <a:schemeClr val="accent3"/>
          </a:solidFill>
          <a:ln/>
          <a:effectLst>
            <a:outerShdw blurRad="127000" dist="38100" dir="5400000" algn="bl" rotWithShape="0">
              <a:srgbClr val="0D2340">
                <a:alpha val="12000"/>
              </a:srgbClr>
            </a:outerShdw>
          </a:effectLst>
        </p:spPr>
      </p:sp>
      <p:sp>
        <p:nvSpPr>
          <p:cNvPr id="20" name="bWst"/>
          <p:cNvSpPr txBox="1"/>
          <p:nvPr/>
        </p:nvSpPr>
        <p:spPr>
          <a:xfrm>
            <a:off x="7132320" y="4297680"/>
            <a:ext cx="2468880" cy="1280160"/>
          </a:xfrm>
          <a:prstGeom prst="rect">
            <a:avLst/>
          </a:prstGeom>
          <a:noFill/>
          <a:ln/>
        </p:spPr>
        <p:txBody>
          <a:bodyPr wrap="square" lIns="0" tIns="0" rIns="0" bIns="0" rtlCol="0" anchor="ctr"/>
          <a:lstStyle/>
          <a:p>
            <a:pPr marL="0" indent="0" algn="ctr">
              <a:buNone/>
            </a:pPr>
            <a:r>
              <a:rPr lang="en-US" sz="1800" b="1" dirty="0">
                <a:solidFill>
                  <a:schemeClr val="bg1"/>
                </a:solidFill>
              </a:rPr>
              <a:t>Service SOAP</a:t>
            </a:r>
            <a:endParaRPr lang="en-US" sz="1400" dirty="0"/>
          </a:p>
          <a:p>
            <a:pPr marL="0" indent="0" algn="ctr">
              <a:buNone/>
            </a:pPr>
            <a:r>
              <a:rPr lang="en-US" sz="1200" dirty="0">
                <a:solidFill>
                  <a:schemeClr val="bg1"/>
                </a:solidFill>
              </a:rPr>
              <a:t>Spring Boot 3 · Apache CXF 4</a:t>
            </a:r>
            <a:endParaRPr lang="en-US" sz="1400" dirty="0"/>
          </a:p>
        </p:txBody>
      </p:sp>
      <p:sp>
        <p:nvSpPr>
          <p:cNvPr id="21" name="l5"/>
          <p:cNvSpPr/>
          <p:nvPr/>
        </p:nvSpPr>
        <p:spPr>
          <a:xfrm>
            <a:off x="8366760" y="3108960"/>
            <a:ext cx="0" cy="1188720"/>
          </a:xfrm>
          <a:prstGeom prst="line">
            <a:avLst/>
          </a:prstGeom>
          <a:noFill/>
          <a:ln w="25400">
            <a:solidFill>
              <a:srgbClr val="8B97AD"/>
            </a:solidFill>
            <a:prstDash val="solid"/>
            <a:tailEnd type="triangle"/>
          </a:ln>
        </p:spPr>
      </p:sp>
      <p:sp>
        <p:nvSpPr>
          <p:cNvPr id="22" name="lb5"/>
          <p:cNvSpPr txBox="1"/>
          <p:nvPr/>
        </p:nvSpPr>
        <p:spPr>
          <a:xfrm>
            <a:off x="8503920" y="3520440"/>
            <a:ext cx="731520" cy="274320"/>
          </a:xfrm>
          <a:prstGeom prst="rect">
            <a:avLst/>
          </a:prstGeom>
          <a:noFill/>
          <a:ln/>
        </p:spPr>
        <p:txBody>
          <a:bodyPr wrap="square" lIns="0" tIns="0" rIns="0" bIns="0" rtlCol="0" anchor="t"/>
          <a:lstStyle/>
          <a:p>
            <a:pPr marL="0" indent="0">
              <a:buNone/>
            </a:pPr>
            <a:r>
              <a:rPr lang="en-US" sz="1100" dirty="0">
                <a:solidFill>
                  <a:schemeClr val="accent6"/>
                </a:solidFill>
              </a:rPr>
              <a:t>JDBC</a:t>
            </a:r>
            <a:endParaRPr lang="en-US" sz="1100" dirty="0"/>
          </a:p>
        </p:txBody>
      </p:sp>
      <p:sp>
        <p:nvSpPr>
          <p:cNvPr id="23" name="bUi"/>
          <p:cNvSpPr/>
          <p:nvPr/>
        </p:nvSpPr>
        <p:spPr>
          <a:xfrm>
            <a:off x="10058400" y="4297680"/>
            <a:ext cx="1600200" cy="1280160"/>
          </a:xfrm>
          <a:prstGeom prst="roundRect">
            <a:avLst>
              <a:gd name="adj" fmla="val 7143"/>
            </a:avLst>
          </a:prstGeom>
          <a:solidFill>
            <a:schemeClr val="accent6"/>
          </a:solidFill>
          <a:ln/>
          <a:effectLst>
            <a:outerShdw blurRad="127000" dist="38100" dir="5400000" algn="bl" rotWithShape="0">
              <a:srgbClr val="0D2340">
                <a:alpha val="12000"/>
              </a:srgbClr>
            </a:outerShdw>
          </a:effectLst>
        </p:spPr>
      </p:sp>
      <p:sp>
        <p:nvSpPr>
          <p:cNvPr id="24" name="bUit"/>
          <p:cNvSpPr txBox="1"/>
          <p:nvPr/>
        </p:nvSpPr>
        <p:spPr>
          <a:xfrm>
            <a:off x="10058400" y="4297680"/>
            <a:ext cx="1600200" cy="1280160"/>
          </a:xfrm>
          <a:prstGeom prst="rect">
            <a:avLst/>
          </a:prstGeom>
          <a:noFill/>
          <a:ln/>
        </p:spPr>
        <p:txBody>
          <a:bodyPr wrap="square" lIns="0" tIns="0" rIns="0" bIns="0" rtlCol="0" anchor="ctr"/>
          <a:lstStyle/>
          <a:p>
            <a:pPr marL="0" indent="0" algn="ctr">
              <a:buNone/>
            </a:pPr>
            <a:r>
              <a:rPr lang="en-US" sz="1800" b="1" dirty="0">
                <a:solidFill>
                  <a:schemeClr val="bg1"/>
                </a:solidFill>
              </a:rPr>
              <a:t>SoapUI</a:t>
            </a:r>
            <a:endParaRPr lang="en-US" sz="1400" dirty="0"/>
          </a:p>
          <a:p>
            <a:pPr marL="0" indent="0" algn="ctr">
              <a:buNone/>
            </a:pPr>
            <a:r>
              <a:rPr lang="en-US" sz="1200" dirty="0">
                <a:solidFill>
                  <a:schemeClr val="bg1"/>
                </a:solidFill>
              </a:rPr>
              <a:t>client de test</a:t>
            </a:r>
            <a:endParaRPr lang="en-US" sz="1400" dirty="0"/>
          </a:p>
        </p:txBody>
      </p:sp>
      <p:sp>
        <p:nvSpPr>
          <p:cNvPr id="25" name="l6"/>
          <p:cNvSpPr/>
          <p:nvPr/>
        </p:nvSpPr>
        <p:spPr>
          <a:xfrm flipH="1">
            <a:off x="9601200" y="4937760"/>
            <a:ext cx="457200" cy="0"/>
          </a:xfrm>
          <a:prstGeom prst="line">
            <a:avLst/>
          </a:prstGeom>
          <a:noFill/>
          <a:ln w="25400">
            <a:solidFill>
              <a:srgbClr val="8B97AD"/>
            </a:solidFill>
            <a:prstDash val="solid"/>
            <a:tailEnd type="triangle"/>
          </a:ln>
        </p:spPr>
      </p:sp>
      <p:sp>
        <p:nvSpPr>
          <p:cNvPr id="26" name="bNd"/>
          <p:cNvSpPr/>
          <p:nvPr/>
        </p:nvSpPr>
        <p:spPr>
          <a:xfrm>
            <a:off x="548640" y="4297680"/>
            <a:ext cx="2468880" cy="1280160"/>
          </a:xfrm>
          <a:prstGeom prst="roundRect">
            <a:avLst>
              <a:gd name="adj" fmla="val 7143"/>
            </a:avLst>
          </a:prstGeom>
          <a:solidFill>
            <a:schemeClr val="accent5"/>
          </a:solidFill>
          <a:ln/>
          <a:effectLst>
            <a:outerShdw blurRad="127000" dist="38100" dir="5400000" algn="bl" rotWithShape="0">
              <a:srgbClr val="0D2340">
                <a:alpha val="12000"/>
              </a:srgbClr>
            </a:outerShdw>
          </a:effectLst>
        </p:spPr>
      </p:sp>
      <p:sp>
        <p:nvSpPr>
          <p:cNvPr id="27" name="bNdt"/>
          <p:cNvSpPr txBox="1"/>
          <p:nvPr/>
        </p:nvSpPr>
        <p:spPr>
          <a:xfrm>
            <a:off x="548640" y="4297680"/>
            <a:ext cx="2468880" cy="1280160"/>
          </a:xfrm>
          <a:prstGeom prst="rect">
            <a:avLst/>
          </a:prstGeom>
          <a:noFill/>
          <a:ln/>
        </p:spPr>
        <p:txBody>
          <a:bodyPr wrap="square" lIns="0" tIns="0" rIns="0" bIns="0" rtlCol="0" anchor="ctr"/>
          <a:lstStyle/>
          <a:p>
            <a:pPr marL="0" indent="0" algn="ctr">
              <a:buNone/>
            </a:pPr>
            <a:r>
              <a:rPr lang="en-US" sz="1800" b="1" dirty="0">
                <a:solidFill>
                  <a:schemeClr val="bg1"/>
                </a:solidFill>
              </a:rPr>
              <a:t>Netdata</a:t>
            </a:r>
            <a:endParaRPr lang="en-US" sz="1400" dirty="0"/>
          </a:p>
          <a:p>
            <a:pPr marL="0" indent="0" algn="ctr">
              <a:buNone/>
            </a:pPr>
            <a:r>
              <a:rPr lang="en-US" sz="1200" dirty="0">
                <a:solidFill>
                  <a:schemeClr val="bg1"/>
                </a:solidFill>
              </a:rPr>
              <a:t>supervision · port 19999</a:t>
            </a:r>
            <a:endParaRPr lang="en-US" sz="1400" dirty="0"/>
          </a:p>
        </p:txBody>
      </p:sp>
      <p:sp>
        <p:nvSpPr>
          <p:cNvPr id="28" name="archTxt"/>
          <p:cNvSpPr txBox="1"/>
          <p:nvPr/>
        </p:nvSpPr>
        <p:spPr>
          <a:xfrm>
            <a:off x="3337560" y="4434840"/>
            <a:ext cx="3474720" cy="1097280"/>
          </a:xfrm>
          <a:prstGeom prst="rect">
            <a:avLst/>
          </a:prstGeom>
          <a:noFill/>
          <a:ln/>
        </p:spPr>
        <p:txBody>
          <a:bodyPr wrap="square" lIns="0" tIns="0" rIns="0" bIns="0" rtlCol="0" anchor="t"/>
          <a:lstStyle/>
          <a:p>
            <a:pPr marL="0" indent="0">
              <a:buNone/>
            </a:pPr>
            <a:r>
              <a:rPr lang="en-US" sz="1300" dirty="0">
                <a:solidFill>
                  <a:schemeClr val="tx1"/>
                </a:solidFill>
              </a:rPr>
              <a:t>Netdata surveille MySQL, PostgreSQL et le service. Tout démarre avec Docker Compose ; Pentaho s'installe à part.</a:t>
            </a:r>
            <a:endParaRPr lang="en-US" sz="1300" dirty="0"/>
          </a:p>
        </p:txBody>
      </p:sp>
      <p:sp>
        <p:nvSpPr>
          <p:cNvPr id="29"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8</a:t>
            </a:fld>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ppt_w</p:attrName>
                                        </p:attrNameLst>
                                      </p:cBhvr>
                                      <p:tavLst>
                                        <p:tav tm="0">
                                          <p:val>
                                            <p:strVal val="0"/>
                                          </p:val>
                                        </p:tav>
                                        <p:tav tm="100000">
                                          <p:val>
                                            <p:strVal val="#ppt_w"/>
                                          </p:val>
                                        </p:tav>
                                      </p:tavLst>
                                    </p:anim>
                                    <p:anim calcmode="lin" valueType="num">
                                      <p:cBhvr additive="base">
                                        <p:cTn id="8" dur="500" fill="hold"/>
                                        <p:tgtEl>
                                          <p:spTgt spid="5"/>
                                        </p:tgtEl>
                                        <p:attrNameLst>
                                          <p:attrName>ppt_h</p:attrName>
                                        </p:attrNameLst>
                                      </p:cBhvr>
                                      <p:tavLst>
                                        <p:tav tm="0">
                                          <p:val>
                                            <p:strVal val="0"/>
                                          </p:val>
                                        </p:tav>
                                        <p:tav tm="100000">
                                          <p:val>
                                            <p:strVal val="#ppt_h"/>
                                          </p:val>
                                        </p:tav>
                                      </p:tavLst>
                                    </p:anim>
                                    <p:animEffect transition="in" filter="fade">
                                      <p:cBhvr>
                                        <p:cTn id="9" dur="500"/>
                                        <p:tgtEl>
                                          <p:spTgt spid="5"/>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ppt_w</p:attrName>
                                        </p:attrNameLst>
                                      </p:cBhvr>
                                      <p:tavLst>
                                        <p:tav tm="0">
                                          <p:val>
                                            <p:strVal val="0"/>
                                          </p:val>
                                        </p:tav>
                                        <p:tav tm="100000">
                                          <p:val>
                                            <p:strVal val="#ppt_w"/>
                                          </p:val>
                                        </p:tav>
                                      </p:tavLst>
                                    </p:anim>
                                    <p:anim calcmode="lin" valueType="num">
                                      <p:cBhvr additive="base">
                                        <p:cTn id="13" dur="500" fill="hold"/>
                                        <p:tgtEl>
                                          <p:spTgt spid="6"/>
                                        </p:tgtEl>
                                        <p:attrNameLst>
                                          <p:attrName>ppt_h</p:attrName>
                                        </p:attrNameLst>
                                      </p:cBhvr>
                                      <p:tavLst>
                                        <p:tav tm="0">
                                          <p:val>
                                            <p:strVal val="0"/>
                                          </p:val>
                                        </p:tav>
                                        <p:tav tm="100000">
                                          <p:val>
                                            <p:strVal val="#ppt_h"/>
                                          </p:val>
                                        </p:tav>
                                      </p:tavLst>
                                    </p:anim>
                                    <p:animEffect transition="in" filter="fade">
                                      <p:cBhvr>
                                        <p:cTn id="14" dur="500"/>
                                        <p:tgtEl>
                                          <p:spTgt spid="6"/>
                                        </p:tgtEl>
                                      </p:cBhvr>
                                    </p:animEffect>
                                  </p:childTnLst>
                                </p:cTn>
                              </p:par>
                              <p:par>
                                <p:cTn id="15" presetID="53" presetClass="entr" presetSubtype="16" fill="hold" grpId="0" nodeType="withEffect">
                                  <p:stCondLst>
                                    <p:cond delay="22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ppt_w</p:attrName>
                                        </p:attrNameLst>
                                      </p:cBhvr>
                                      <p:tavLst>
                                        <p:tav tm="0">
                                          <p:val>
                                            <p:strVal val="0"/>
                                          </p:val>
                                        </p:tav>
                                        <p:tav tm="100000">
                                          <p:val>
                                            <p:strVal val="#ppt_w"/>
                                          </p:val>
                                        </p:tav>
                                      </p:tavLst>
                                    </p:anim>
                                    <p:anim calcmode="lin" valueType="num">
                                      <p:cBhvr additive="base">
                                        <p:cTn id="18" dur="500" fill="hold"/>
                                        <p:tgtEl>
                                          <p:spTgt spid="7"/>
                                        </p:tgtEl>
                                        <p:attrNameLst>
                                          <p:attrName>ppt_h</p:attrName>
                                        </p:attrNameLst>
                                      </p:cBhvr>
                                      <p:tavLst>
                                        <p:tav tm="0">
                                          <p:val>
                                            <p:strVal val="0"/>
                                          </p:val>
                                        </p:tav>
                                        <p:tav tm="100000">
                                          <p:val>
                                            <p:strVal val="#ppt_h"/>
                                          </p:val>
                                        </p:tav>
                                      </p:tavLst>
                                    </p:anim>
                                    <p:animEffect transition="in" filter="fade">
                                      <p:cBhvr>
                                        <p:cTn id="19" dur="500"/>
                                        <p:tgtEl>
                                          <p:spTgt spid="7"/>
                                        </p:tgtEl>
                                      </p:cBhvr>
                                    </p:animEffect>
                                  </p:childTnLst>
                                </p:cTn>
                              </p:par>
                              <p:par>
                                <p:cTn id="20" presetID="53" presetClass="entr" presetSubtype="16" fill="hold" grpId="0" nodeType="withEffect">
                                  <p:stCondLst>
                                    <p:cond delay="220"/>
                                  </p:stCondLst>
                                  <p:childTnLst>
                                    <p:set>
                                      <p:cBhvr>
                                        <p:cTn id="21" dur="1" fill="hold">
                                          <p:stCondLst>
                                            <p:cond delay="0"/>
                                          </p:stCondLst>
                                        </p:cTn>
                                        <p:tgtEl>
                                          <p:spTgt spid="8"/>
                                        </p:tgtEl>
                                        <p:attrNameLst>
                                          <p:attrName>style.visibility</p:attrName>
                                        </p:attrNameLst>
                                      </p:cBhvr>
                                      <p:to>
                                        <p:strVal val="visible"/>
                                      </p:to>
                                    </p:set>
                                    <p:anim calcmode="lin" valueType="num">
                                      <p:cBhvr additive="base">
                                        <p:cTn id="22" dur="500" fill="hold"/>
                                        <p:tgtEl>
                                          <p:spTgt spid="8"/>
                                        </p:tgtEl>
                                        <p:attrNameLst>
                                          <p:attrName>ppt_w</p:attrName>
                                        </p:attrNameLst>
                                      </p:cBhvr>
                                      <p:tavLst>
                                        <p:tav tm="0">
                                          <p:val>
                                            <p:strVal val="0"/>
                                          </p:val>
                                        </p:tav>
                                        <p:tav tm="100000">
                                          <p:val>
                                            <p:strVal val="#ppt_w"/>
                                          </p:val>
                                        </p:tav>
                                      </p:tavLst>
                                    </p:anim>
                                    <p:anim calcmode="lin" valueType="num">
                                      <p:cBhvr additive="base">
                                        <p:cTn id="23" dur="500" fill="hold"/>
                                        <p:tgtEl>
                                          <p:spTgt spid="8"/>
                                        </p:tgtEl>
                                        <p:attrNameLst>
                                          <p:attrName>ppt_h</p:attrName>
                                        </p:attrNameLst>
                                      </p:cBhvr>
                                      <p:tavLst>
                                        <p:tav tm="0">
                                          <p:val>
                                            <p:strVal val="0"/>
                                          </p:val>
                                        </p:tav>
                                        <p:tav tm="100000">
                                          <p:val>
                                            <p:strVal val="#ppt_h"/>
                                          </p:val>
                                        </p:tav>
                                      </p:tavLst>
                                    </p:anim>
                                    <p:animEffect transition="in" filter="fade">
                                      <p:cBhvr>
                                        <p:cTn id="24" dur="500"/>
                                        <p:tgtEl>
                                          <p:spTgt spid="8"/>
                                        </p:tgtEl>
                                      </p:cBhvr>
                                    </p:animEffect>
                                  </p:childTnLst>
                                </p:cTn>
                              </p:par>
                              <p:par>
                                <p:cTn id="25" presetID="53" presetClass="entr" presetSubtype="16" fill="hold" grpId="0" nodeType="withEffect">
                                  <p:stCondLst>
                                    <p:cond delay="22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ppt_w</p:attrName>
                                        </p:attrNameLst>
                                      </p:cBhvr>
                                      <p:tavLst>
                                        <p:tav tm="0">
                                          <p:val>
                                            <p:strVal val="0"/>
                                          </p:val>
                                        </p:tav>
                                        <p:tav tm="100000">
                                          <p:val>
                                            <p:strVal val="#ppt_w"/>
                                          </p:val>
                                        </p:tav>
                                      </p:tavLst>
                                    </p:anim>
                                    <p:anim calcmode="lin" valueType="num">
                                      <p:cBhvr additive="base">
                                        <p:cTn id="28" dur="500" fill="hold"/>
                                        <p:tgtEl>
                                          <p:spTgt spid="9"/>
                                        </p:tgtEl>
                                        <p:attrNameLst>
                                          <p:attrName>ppt_h</p:attrName>
                                        </p:attrNameLst>
                                      </p:cBhvr>
                                      <p:tavLst>
                                        <p:tav tm="0">
                                          <p:val>
                                            <p:strVal val="0"/>
                                          </p:val>
                                        </p:tav>
                                        <p:tav tm="100000">
                                          <p:val>
                                            <p:strVal val="#ppt_h"/>
                                          </p:val>
                                        </p:tav>
                                      </p:tavLst>
                                    </p:anim>
                                    <p:animEffect transition="in" filter="fade">
                                      <p:cBhvr>
                                        <p:cTn id="29" dur="500"/>
                                        <p:tgtEl>
                                          <p:spTgt spid="9"/>
                                        </p:tgtEl>
                                      </p:cBhvr>
                                    </p:animEffect>
                                  </p:childTnLst>
                                </p:cTn>
                              </p:par>
                              <p:par>
                                <p:cTn id="30" presetID="53" presetClass="entr" presetSubtype="16" fill="hold" grpId="0" nodeType="withEffect">
                                  <p:stCondLst>
                                    <p:cond delay="220"/>
                                  </p:stCondLst>
                                  <p:childTnLst>
                                    <p:set>
                                      <p:cBhvr>
                                        <p:cTn id="31" dur="1" fill="hold">
                                          <p:stCondLst>
                                            <p:cond delay="0"/>
                                          </p:stCondLst>
                                        </p:cTn>
                                        <p:tgtEl>
                                          <p:spTgt spid="10"/>
                                        </p:tgtEl>
                                        <p:attrNameLst>
                                          <p:attrName>style.visibility</p:attrName>
                                        </p:attrNameLst>
                                      </p:cBhvr>
                                      <p:to>
                                        <p:strVal val="visible"/>
                                      </p:to>
                                    </p:set>
                                    <p:anim calcmode="lin" valueType="num">
                                      <p:cBhvr additive="base">
                                        <p:cTn id="32" dur="500" fill="hold"/>
                                        <p:tgtEl>
                                          <p:spTgt spid="10"/>
                                        </p:tgtEl>
                                        <p:attrNameLst>
                                          <p:attrName>ppt_w</p:attrName>
                                        </p:attrNameLst>
                                      </p:cBhvr>
                                      <p:tavLst>
                                        <p:tav tm="0">
                                          <p:val>
                                            <p:strVal val="0"/>
                                          </p:val>
                                        </p:tav>
                                        <p:tav tm="100000">
                                          <p:val>
                                            <p:strVal val="#ppt_w"/>
                                          </p:val>
                                        </p:tav>
                                      </p:tavLst>
                                    </p:anim>
                                    <p:anim calcmode="lin" valueType="num">
                                      <p:cBhvr additive="base">
                                        <p:cTn id="33" dur="500" fill="hold"/>
                                        <p:tgtEl>
                                          <p:spTgt spid="10"/>
                                        </p:tgtEl>
                                        <p:attrNameLst>
                                          <p:attrName>ppt_h</p:attrName>
                                        </p:attrNameLst>
                                      </p:cBhvr>
                                      <p:tavLst>
                                        <p:tav tm="0">
                                          <p:val>
                                            <p:strVal val="0"/>
                                          </p:val>
                                        </p:tav>
                                        <p:tav tm="100000">
                                          <p:val>
                                            <p:strVal val="#ppt_h"/>
                                          </p:val>
                                        </p:tav>
                                      </p:tavLst>
                                    </p:anim>
                                    <p:animEffect transition="in" filter="fade">
                                      <p:cBhvr>
                                        <p:cTn id="34" dur="500"/>
                                        <p:tgtEl>
                                          <p:spTgt spid="10"/>
                                        </p:tgtEl>
                                      </p:cBhvr>
                                    </p:animEffect>
                                  </p:childTnLst>
                                </p:cTn>
                              </p:par>
                              <p:par>
                                <p:cTn id="35" presetID="53" presetClass="entr" presetSubtype="16" fill="hold" grpId="0" nodeType="withEffect">
                                  <p:stCondLst>
                                    <p:cond delay="440"/>
                                  </p:stCondLst>
                                  <p:childTnLst>
                                    <p:set>
                                      <p:cBhvr>
                                        <p:cTn id="36" dur="1" fill="hold">
                                          <p:stCondLst>
                                            <p:cond delay="0"/>
                                          </p:stCondLst>
                                        </p:cTn>
                                        <p:tgtEl>
                                          <p:spTgt spid="11"/>
                                        </p:tgtEl>
                                        <p:attrNameLst>
                                          <p:attrName>style.visibility</p:attrName>
                                        </p:attrNameLst>
                                      </p:cBhvr>
                                      <p:to>
                                        <p:strVal val="visible"/>
                                      </p:to>
                                    </p:set>
                                    <p:anim calcmode="lin" valueType="num">
                                      <p:cBhvr additive="base">
                                        <p:cTn id="37" dur="500" fill="hold"/>
                                        <p:tgtEl>
                                          <p:spTgt spid="11"/>
                                        </p:tgtEl>
                                        <p:attrNameLst>
                                          <p:attrName>ppt_w</p:attrName>
                                        </p:attrNameLst>
                                      </p:cBhvr>
                                      <p:tavLst>
                                        <p:tav tm="0">
                                          <p:val>
                                            <p:strVal val="0"/>
                                          </p:val>
                                        </p:tav>
                                        <p:tav tm="100000">
                                          <p:val>
                                            <p:strVal val="#ppt_w"/>
                                          </p:val>
                                        </p:tav>
                                      </p:tavLst>
                                    </p:anim>
                                    <p:anim calcmode="lin" valueType="num">
                                      <p:cBhvr additive="base">
                                        <p:cTn id="38" dur="500" fill="hold"/>
                                        <p:tgtEl>
                                          <p:spTgt spid="11"/>
                                        </p:tgtEl>
                                        <p:attrNameLst>
                                          <p:attrName>ppt_h</p:attrName>
                                        </p:attrNameLst>
                                      </p:cBhvr>
                                      <p:tavLst>
                                        <p:tav tm="0">
                                          <p:val>
                                            <p:strVal val="0"/>
                                          </p:val>
                                        </p:tav>
                                        <p:tav tm="100000">
                                          <p:val>
                                            <p:strVal val="#ppt_h"/>
                                          </p:val>
                                        </p:tav>
                                      </p:tavLst>
                                    </p:anim>
                                    <p:animEffect transition="in" filter="fade">
                                      <p:cBhvr>
                                        <p:cTn id="39" dur="500"/>
                                        <p:tgtEl>
                                          <p:spTgt spid="11"/>
                                        </p:tgtEl>
                                      </p:cBhvr>
                                    </p:animEffect>
                                  </p:childTnLst>
                                </p:cTn>
                              </p:par>
                              <p:par>
                                <p:cTn id="40" presetID="53" presetClass="entr" presetSubtype="16" fill="hold" grpId="0" nodeType="withEffect">
                                  <p:stCondLst>
                                    <p:cond delay="440"/>
                                  </p:stCondLst>
                                  <p:childTnLst>
                                    <p:set>
                                      <p:cBhvr>
                                        <p:cTn id="41" dur="1" fill="hold">
                                          <p:stCondLst>
                                            <p:cond delay="0"/>
                                          </p:stCondLst>
                                        </p:cTn>
                                        <p:tgtEl>
                                          <p:spTgt spid="12"/>
                                        </p:tgtEl>
                                        <p:attrNameLst>
                                          <p:attrName>style.visibility</p:attrName>
                                        </p:attrNameLst>
                                      </p:cBhvr>
                                      <p:to>
                                        <p:strVal val="visible"/>
                                      </p:to>
                                    </p:set>
                                    <p:anim calcmode="lin" valueType="num">
                                      <p:cBhvr additive="base">
                                        <p:cTn id="42" dur="500" fill="hold"/>
                                        <p:tgtEl>
                                          <p:spTgt spid="12"/>
                                        </p:tgtEl>
                                        <p:attrNameLst>
                                          <p:attrName>ppt_w</p:attrName>
                                        </p:attrNameLst>
                                      </p:cBhvr>
                                      <p:tavLst>
                                        <p:tav tm="0">
                                          <p:val>
                                            <p:strVal val="0"/>
                                          </p:val>
                                        </p:tav>
                                        <p:tav tm="100000">
                                          <p:val>
                                            <p:strVal val="#ppt_w"/>
                                          </p:val>
                                        </p:tav>
                                      </p:tavLst>
                                    </p:anim>
                                    <p:anim calcmode="lin" valueType="num">
                                      <p:cBhvr additive="base">
                                        <p:cTn id="43" dur="500" fill="hold"/>
                                        <p:tgtEl>
                                          <p:spTgt spid="12"/>
                                        </p:tgtEl>
                                        <p:attrNameLst>
                                          <p:attrName>ppt_h</p:attrName>
                                        </p:attrNameLst>
                                      </p:cBhvr>
                                      <p:tavLst>
                                        <p:tav tm="0">
                                          <p:val>
                                            <p:strVal val="0"/>
                                          </p:val>
                                        </p:tav>
                                        <p:tav tm="100000">
                                          <p:val>
                                            <p:strVal val="#ppt_h"/>
                                          </p:val>
                                        </p:tav>
                                      </p:tavLst>
                                    </p:anim>
                                    <p:animEffect transition="in" filter="fade">
                                      <p:cBhvr>
                                        <p:cTn id="44" dur="500"/>
                                        <p:tgtEl>
                                          <p:spTgt spid="12"/>
                                        </p:tgtEl>
                                      </p:cBhvr>
                                    </p:animEffect>
                                  </p:childTnLst>
                                </p:cTn>
                              </p:par>
                              <p:par>
                                <p:cTn id="45" presetID="53" presetClass="entr" presetSubtype="16" fill="hold" grpId="0" nodeType="withEffect">
                                  <p:stCondLst>
                                    <p:cond delay="440"/>
                                  </p:stCondLst>
                                  <p:childTnLst>
                                    <p:set>
                                      <p:cBhvr>
                                        <p:cTn id="46" dur="1" fill="hold">
                                          <p:stCondLst>
                                            <p:cond delay="0"/>
                                          </p:stCondLst>
                                        </p:cTn>
                                        <p:tgtEl>
                                          <p:spTgt spid="13"/>
                                        </p:tgtEl>
                                        <p:attrNameLst>
                                          <p:attrName>style.visibility</p:attrName>
                                        </p:attrNameLst>
                                      </p:cBhvr>
                                      <p:to>
                                        <p:strVal val="visible"/>
                                      </p:to>
                                    </p:set>
                                    <p:anim calcmode="lin" valueType="num">
                                      <p:cBhvr additive="base">
                                        <p:cTn id="47" dur="500" fill="hold"/>
                                        <p:tgtEl>
                                          <p:spTgt spid="13"/>
                                        </p:tgtEl>
                                        <p:attrNameLst>
                                          <p:attrName>ppt_w</p:attrName>
                                        </p:attrNameLst>
                                      </p:cBhvr>
                                      <p:tavLst>
                                        <p:tav tm="0">
                                          <p:val>
                                            <p:strVal val="0"/>
                                          </p:val>
                                        </p:tav>
                                        <p:tav tm="100000">
                                          <p:val>
                                            <p:strVal val="#ppt_w"/>
                                          </p:val>
                                        </p:tav>
                                      </p:tavLst>
                                    </p:anim>
                                    <p:anim calcmode="lin" valueType="num">
                                      <p:cBhvr additive="base">
                                        <p:cTn id="48" dur="500" fill="hold"/>
                                        <p:tgtEl>
                                          <p:spTgt spid="13"/>
                                        </p:tgtEl>
                                        <p:attrNameLst>
                                          <p:attrName>ppt_h</p:attrName>
                                        </p:attrNameLst>
                                      </p:cBhvr>
                                      <p:tavLst>
                                        <p:tav tm="0">
                                          <p:val>
                                            <p:strVal val="0"/>
                                          </p:val>
                                        </p:tav>
                                        <p:tav tm="100000">
                                          <p:val>
                                            <p:strVal val="#ppt_h"/>
                                          </p:val>
                                        </p:tav>
                                      </p:tavLst>
                                    </p:anim>
                                    <p:animEffect transition="in" filter="fade">
                                      <p:cBhvr>
                                        <p:cTn id="49" dur="500"/>
                                        <p:tgtEl>
                                          <p:spTgt spid="13"/>
                                        </p:tgtEl>
                                      </p:cBhvr>
                                    </p:animEffect>
                                  </p:childTnLst>
                                </p:cTn>
                              </p:par>
                              <p:par>
                                <p:cTn id="50" presetID="53" presetClass="entr" presetSubtype="16" fill="hold" grpId="0" nodeType="withEffect">
                                  <p:stCondLst>
                                    <p:cond delay="440"/>
                                  </p:stCondLst>
                                  <p:childTnLst>
                                    <p:set>
                                      <p:cBhvr>
                                        <p:cTn id="51" dur="1" fill="hold">
                                          <p:stCondLst>
                                            <p:cond delay="0"/>
                                          </p:stCondLst>
                                        </p:cTn>
                                        <p:tgtEl>
                                          <p:spTgt spid="14"/>
                                        </p:tgtEl>
                                        <p:attrNameLst>
                                          <p:attrName>style.visibility</p:attrName>
                                        </p:attrNameLst>
                                      </p:cBhvr>
                                      <p:to>
                                        <p:strVal val="visible"/>
                                      </p:to>
                                    </p:set>
                                    <p:anim calcmode="lin" valueType="num">
                                      <p:cBhvr additive="base">
                                        <p:cTn id="52" dur="500" fill="hold"/>
                                        <p:tgtEl>
                                          <p:spTgt spid="14"/>
                                        </p:tgtEl>
                                        <p:attrNameLst>
                                          <p:attrName>ppt_w</p:attrName>
                                        </p:attrNameLst>
                                      </p:cBhvr>
                                      <p:tavLst>
                                        <p:tav tm="0">
                                          <p:val>
                                            <p:strVal val="0"/>
                                          </p:val>
                                        </p:tav>
                                        <p:tav tm="100000">
                                          <p:val>
                                            <p:strVal val="#ppt_w"/>
                                          </p:val>
                                        </p:tav>
                                      </p:tavLst>
                                    </p:anim>
                                    <p:anim calcmode="lin" valueType="num">
                                      <p:cBhvr additive="base">
                                        <p:cTn id="53" dur="500" fill="hold"/>
                                        <p:tgtEl>
                                          <p:spTgt spid="14"/>
                                        </p:tgtEl>
                                        <p:attrNameLst>
                                          <p:attrName>ppt_h</p:attrName>
                                        </p:attrNameLst>
                                      </p:cBhvr>
                                      <p:tavLst>
                                        <p:tav tm="0">
                                          <p:val>
                                            <p:strVal val="0"/>
                                          </p:val>
                                        </p:tav>
                                        <p:tav tm="100000">
                                          <p:val>
                                            <p:strVal val="#ppt_h"/>
                                          </p:val>
                                        </p:tav>
                                      </p:tavLst>
                                    </p:anim>
                                    <p:animEffect transition="in" filter="fade">
                                      <p:cBhvr>
                                        <p:cTn id="54" dur="500"/>
                                        <p:tgtEl>
                                          <p:spTgt spid="14"/>
                                        </p:tgtEl>
                                      </p:cBhvr>
                                    </p:animEffect>
                                  </p:childTnLst>
                                </p:cTn>
                              </p:par>
                              <p:par>
                                <p:cTn id="55" presetID="10" presetClass="entr" presetSubtype="0" fill="hold" grpId="0" nodeType="withEffect">
                                  <p:stCondLst>
                                    <p:cond delay="66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500"/>
                                        <p:tgtEl>
                                          <p:spTgt spid="15"/>
                                        </p:tgtEl>
                                      </p:cBhvr>
                                    </p:animEffect>
                                  </p:childTnLst>
                                </p:cTn>
                              </p:par>
                              <p:par>
                                <p:cTn id="58" presetID="10" presetClass="entr" presetSubtype="0" fill="hold" grpId="0" nodeType="withEffect">
                                  <p:stCondLst>
                                    <p:cond delay="660"/>
                                  </p:stCondLst>
                                  <p:childTnLst>
                                    <p:set>
                                      <p:cBhvr>
                                        <p:cTn id="59" dur="1" fill="hold">
                                          <p:stCondLst>
                                            <p:cond delay="0"/>
                                          </p:stCondLst>
                                        </p:cTn>
                                        <p:tgtEl>
                                          <p:spTgt spid="16"/>
                                        </p:tgtEl>
                                        <p:attrNameLst>
                                          <p:attrName>style.visibility</p:attrName>
                                        </p:attrNameLst>
                                      </p:cBhvr>
                                      <p:to>
                                        <p:strVal val="visible"/>
                                      </p:to>
                                    </p:set>
                                    <p:animEffect transition="in" filter="fade">
                                      <p:cBhvr>
                                        <p:cTn id="60" dur="500"/>
                                        <p:tgtEl>
                                          <p:spTgt spid="16"/>
                                        </p:tgtEl>
                                      </p:cBhvr>
                                    </p:animEffect>
                                  </p:childTnLst>
                                </p:cTn>
                              </p:par>
                              <p:par>
                                <p:cTn id="61" presetID="10" presetClass="entr" presetSubtype="0" fill="hold" grpId="0" nodeType="withEffect">
                                  <p:stCondLst>
                                    <p:cond delay="660"/>
                                  </p:stCondLst>
                                  <p:childTnLst>
                                    <p:set>
                                      <p:cBhvr>
                                        <p:cTn id="62" dur="1" fill="hold">
                                          <p:stCondLst>
                                            <p:cond delay="0"/>
                                          </p:stCondLst>
                                        </p:cTn>
                                        <p:tgtEl>
                                          <p:spTgt spid="17"/>
                                        </p:tgtEl>
                                        <p:attrNameLst>
                                          <p:attrName>style.visibility</p:attrName>
                                        </p:attrNameLst>
                                      </p:cBhvr>
                                      <p:to>
                                        <p:strVal val="visible"/>
                                      </p:to>
                                    </p:set>
                                    <p:animEffect transition="in" filter="fade">
                                      <p:cBhvr>
                                        <p:cTn id="63" dur="500"/>
                                        <p:tgtEl>
                                          <p:spTgt spid="17"/>
                                        </p:tgtEl>
                                      </p:cBhvr>
                                    </p:animEffect>
                                  </p:childTnLst>
                                </p:cTn>
                              </p:par>
                              <p:par>
                                <p:cTn id="64" presetID="10" presetClass="entr" presetSubtype="0" fill="hold" grpId="0" nodeType="withEffect">
                                  <p:stCondLst>
                                    <p:cond delay="66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00"/>
                                        <p:tgtEl>
                                          <p:spTgt spid="18"/>
                                        </p:tgtEl>
                                      </p:cBhvr>
                                    </p:animEffect>
                                  </p:childTnLst>
                                </p:cTn>
                              </p:par>
                              <p:par>
                                <p:cTn id="67" presetID="53" presetClass="entr" presetSubtype="16" fill="hold" grpId="0" nodeType="withEffect">
                                  <p:stCondLst>
                                    <p:cond delay="880"/>
                                  </p:stCondLst>
                                  <p:childTnLst>
                                    <p:set>
                                      <p:cBhvr>
                                        <p:cTn id="68" dur="1" fill="hold">
                                          <p:stCondLst>
                                            <p:cond delay="0"/>
                                          </p:stCondLst>
                                        </p:cTn>
                                        <p:tgtEl>
                                          <p:spTgt spid="19"/>
                                        </p:tgtEl>
                                        <p:attrNameLst>
                                          <p:attrName>style.visibility</p:attrName>
                                        </p:attrNameLst>
                                      </p:cBhvr>
                                      <p:to>
                                        <p:strVal val="visible"/>
                                      </p:to>
                                    </p:set>
                                    <p:anim calcmode="lin" valueType="num">
                                      <p:cBhvr additive="base">
                                        <p:cTn id="69" dur="500" fill="hold"/>
                                        <p:tgtEl>
                                          <p:spTgt spid="19"/>
                                        </p:tgtEl>
                                        <p:attrNameLst>
                                          <p:attrName>ppt_w</p:attrName>
                                        </p:attrNameLst>
                                      </p:cBhvr>
                                      <p:tavLst>
                                        <p:tav tm="0">
                                          <p:val>
                                            <p:strVal val="0"/>
                                          </p:val>
                                        </p:tav>
                                        <p:tav tm="100000">
                                          <p:val>
                                            <p:strVal val="#ppt_w"/>
                                          </p:val>
                                        </p:tav>
                                      </p:tavLst>
                                    </p:anim>
                                    <p:anim calcmode="lin" valueType="num">
                                      <p:cBhvr additive="base">
                                        <p:cTn id="70" dur="500" fill="hold"/>
                                        <p:tgtEl>
                                          <p:spTgt spid="19"/>
                                        </p:tgtEl>
                                        <p:attrNameLst>
                                          <p:attrName>ppt_h</p:attrName>
                                        </p:attrNameLst>
                                      </p:cBhvr>
                                      <p:tavLst>
                                        <p:tav tm="0">
                                          <p:val>
                                            <p:strVal val="0"/>
                                          </p:val>
                                        </p:tav>
                                        <p:tav tm="100000">
                                          <p:val>
                                            <p:strVal val="#ppt_h"/>
                                          </p:val>
                                        </p:tav>
                                      </p:tavLst>
                                    </p:anim>
                                    <p:animEffect transition="in" filter="fade">
                                      <p:cBhvr>
                                        <p:cTn id="71" dur="500"/>
                                        <p:tgtEl>
                                          <p:spTgt spid="19"/>
                                        </p:tgtEl>
                                      </p:cBhvr>
                                    </p:animEffect>
                                  </p:childTnLst>
                                </p:cTn>
                              </p:par>
                              <p:par>
                                <p:cTn id="72" presetID="53" presetClass="entr" presetSubtype="16" fill="hold" grpId="0" nodeType="withEffect">
                                  <p:stCondLst>
                                    <p:cond delay="880"/>
                                  </p:stCondLst>
                                  <p:childTnLst>
                                    <p:set>
                                      <p:cBhvr>
                                        <p:cTn id="73" dur="1" fill="hold">
                                          <p:stCondLst>
                                            <p:cond delay="0"/>
                                          </p:stCondLst>
                                        </p:cTn>
                                        <p:tgtEl>
                                          <p:spTgt spid="20"/>
                                        </p:tgtEl>
                                        <p:attrNameLst>
                                          <p:attrName>style.visibility</p:attrName>
                                        </p:attrNameLst>
                                      </p:cBhvr>
                                      <p:to>
                                        <p:strVal val="visible"/>
                                      </p:to>
                                    </p:set>
                                    <p:anim calcmode="lin" valueType="num">
                                      <p:cBhvr additive="base">
                                        <p:cTn id="74" dur="500" fill="hold"/>
                                        <p:tgtEl>
                                          <p:spTgt spid="20"/>
                                        </p:tgtEl>
                                        <p:attrNameLst>
                                          <p:attrName>ppt_w</p:attrName>
                                        </p:attrNameLst>
                                      </p:cBhvr>
                                      <p:tavLst>
                                        <p:tav tm="0">
                                          <p:val>
                                            <p:strVal val="0"/>
                                          </p:val>
                                        </p:tav>
                                        <p:tav tm="100000">
                                          <p:val>
                                            <p:strVal val="#ppt_w"/>
                                          </p:val>
                                        </p:tav>
                                      </p:tavLst>
                                    </p:anim>
                                    <p:anim calcmode="lin" valueType="num">
                                      <p:cBhvr additive="base">
                                        <p:cTn id="75" dur="500" fill="hold"/>
                                        <p:tgtEl>
                                          <p:spTgt spid="20"/>
                                        </p:tgtEl>
                                        <p:attrNameLst>
                                          <p:attrName>ppt_h</p:attrName>
                                        </p:attrNameLst>
                                      </p:cBhvr>
                                      <p:tavLst>
                                        <p:tav tm="0">
                                          <p:val>
                                            <p:strVal val="0"/>
                                          </p:val>
                                        </p:tav>
                                        <p:tav tm="100000">
                                          <p:val>
                                            <p:strVal val="#ppt_h"/>
                                          </p:val>
                                        </p:tav>
                                      </p:tavLst>
                                    </p:anim>
                                    <p:animEffect transition="in" filter="fade">
                                      <p:cBhvr>
                                        <p:cTn id="76" dur="500"/>
                                        <p:tgtEl>
                                          <p:spTgt spid="20"/>
                                        </p:tgtEl>
                                      </p:cBhvr>
                                    </p:animEffect>
                                  </p:childTnLst>
                                </p:cTn>
                              </p:par>
                              <p:par>
                                <p:cTn id="77" presetID="53" presetClass="entr" presetSubtype="16" fill="hold" grpId="0" nodeType="withEffect">
                                  <p:stCondLst>
                                    <p:cond delay="880"/>
                                  </p:stCondLst>
                                  <p:childTnLst>
                                    <p:set>
                                      <p:cBhvr>
                                        <p:cTn id="78" dur="1" fill="hold">
                                          <p:stCondLst>
                                            <p:cond delay="0"/>
                                          </p:stCondLst>
                                        </p:cTn>
                                        <p:tgtEl>
                                          <p:spTgt spid="21"/>
                                        </p:tgtEl>
                                        <p:attrNameLst>
                                          <p:attrName>style.visibility</p:attrName>
                                        </p:attrNameLst>
                                      </p:cBhvr>
                                      <p:to>
                                        <p:strVal val="visible"/>
                                      </p:to>
                                    </p:set>
                                    <p:anim calcmode="lin" valueType="num">
                                      <p:cBhvr additive="base">
                                        <p:cTn id="79" dur="500" fill="hold"/>
                                        <p:tgtEl>
                                          <p:spTgt spid="21"/>
                                        </p:tgtEl>
                                        <p:attrNameLst>
                                          <p:attrName>ppt_w</p:attrName>
                                        </p:attrNameLst>
                                      </p:cBhvr>
                                      <p:tavLst>
                                        <p:tav tm="0">
                                          <p:val>
                                            <p:strVal val="0"/>
                                          </p:val>
                                        </p:tav>
                                        <p:tav tm="100000">
                                          <p:val>
                                            <p:strVal val="#ppt_w"/>
                                          </p:val>
                                        </p:tav>
                                      </p:tavLst>
                                    </p:anim>
                                    <p:anim calcmode="lin" valueType="num">
                                      <p:cBhvr additive="base">
                                        <p:cTn id="80" dur="500" fill="hold"/>
                                        <p:tgtEl>
                                          <p:spTgt spid="21"/>
                                        </p:tgtEl>
                                        <p:attrNameLst>
                                          <p:attrName>ppt_h</p:attrName>
                                        </p:attrNameLst>
                                      </p:cBhvr>
                                      <p:tavLst>
                                        <p:tav tm="0">
                                          <p:val>
                                            <p:strVal val="0"/>
                                          </p:val>
                                        </p:tav>
                                        <p:tav tm="100000">
                                          <p:val>
                                            <p:strVal val="#ppt_h"/>
                                          </p:val>
                                        </p:tav>
                                      </p:tavLst>
                                    </p:anim>
                                    <p:animEffect transition="in" filter="fade">
                                      <p:cBhvr>
                                        <p:cTn id="81" dur="500"/>
                                        <p:tgtEl>
                                          <p:spTgt spid="21"/>
                                        </p:tgtEl>
                                      </p:cBhvr>
                                    </p:animEffect>
                                  </p:childTnLst>
                                </p:cTn>
                              </p:par>
                              <p:par>
                                <p:cTn id="82" presetID="53" presetClass="entr" presetSubtype="16" fill="hold" grpId="0" nodeType="withEffect">
                                  <p:stCondLst>
                                    <p:cond delay="880"/>
                                  </p:stCondLst>
                                  <p:childTnLst>
                                    <p:set>
                                      <p:cBhvr>
                                        <p:cTn id="83" dur="1" fill="hold">
                                          <p:stCondLst>
                                            <p:cond delay="0"/>
                                          </p:stCondLst>
                                        </p:cTn>
                                        <p:tgtEl>
                                          <p:spTgt spid="22"/>
                                        </p:tgtEl>
                                        <p:attrNameLst>
                                          <p:attrName>style.visibility</p:attrName>
                                        </p:attrNameLst>
                                      </p:cBhvr>
                                      <p:to>
                                        <p:strVal val="visible"/>
                                      </p:to>
                                    </p:set>
                                    <p:anim calcmode="lin" valueType="num">
                                      <p:cBhvr additive="base">
                                        <p:cTn id="84" dur="500" fill="hold"/>
                                        <p:tgtEl>
                                          <p:spTgt spid="22"/>
                                        </p:tgtEl>
                                        <p:attrNameLst>
                                          <p:attrName>ppt_w</p:attrName>
                                        </p:attrNameLst>
                                      </p:cBhvr>
                                      <p:tavLst>
                                        <p:tav tm="0">
                                          <p:val>
                                            <p:strVal val="0"/>
                                          </p:val>
                                        </p:tav>
                                        <p:tav tm="100000">
                                          <p:val>
                                            <p:strVal val="#ppt_w"/>
                                          </p:val>
                                        </p:tav>
                                      </p:tavLst>
                                    </p:anim>
                                    <p:anim calcmode="lin" valueType="num">
                                      <p:cBhvr additive="base">
                                        <p:cTn id="85" dur="500" fill="hold"/>
                                        <p:tgtEl>
                                          <p:spTgt spid="22"/>
                                        </p:tgtEl>
                                        <p:attrNameLst>
                                          <p:attrName>ppt_h</p:attrName>
                                        </p:attrNameLst>
                                      </p:cBhvr>
                                      <p:tavLst>
                                        <p:tav tm="0">
                                          <p:val>
                                            <p:strVal val="0"/>
                                          </p:val>
                                        </p:tav>
                                        <p:tav tm="100000">
                                          <p:val>
                                            <p:strVal val="#ppt_h"/>
                                          </p:val>
                                        </p:tav>
                                      </p:tavLst>
                                    </p:anim>
                                    <p:animEffect transition="in" filter="fade">
                                      <p:cBhvr>
                                        <p:cTn id="86" dur="500"/>
                                        <p:tgtEl>
                                          <p:spTgt spid="22"/>
                                        </p:tgtEl>
                                      </p:cBhvr>
                                    </p:animEffect>
                                  </p:childTnLst>
                                </p:cTn>
                              </p:par>
                              <p:par>
                                <p:cTn id="87" presetID="53" presetClass="entr" presetSubtype="16" fill="hold" grpId="0" nodeType="withEffect">
                                  <p:stCondLst>
                                    <p:cond delay="1100"/>
                                  </p:stCondLst>
                                  <p:childTnLst>
                                    <p:set>
                                      <p:cBhvr>
                                        <p:cTn id="88" dur="1" fill="hold">
                                          <p:stCondLst>
                                            <p:cond delay="0"/>
                                          </p:stCondLst>
                                        </p:cTn>
                                        <p:tgtEl>
                                          <p:spTgt spid="23"/>
                                        </p:tgtEl>
                                        <p:attrNameLst>
                                          <p:attrName>style.visibility</p:attrName>
                                        </p:attrNameLst>
                                      </p:cBhvr>
                                      <p:to>
                                        <p:strVal val="visible"/>
                                      </p:to>
                                    </p:set>
                                    <p:anim calcmode="lin" valueType="num">
                                      <p:cBhvr additive="base">
                                        <p:cTn id="89" dur="500" fill="hold"/>
                                        <p:tgtEl>
                                          <p:spTgt spid="23"/>
                                        </p:tgtEl>
                                        <p:attrNameLst>
                                          <p:attrName>ppt_w</p:attrName>
                                        </p:attrNameLst>
                                      </p:cBhvr>
                                      <p:tavLst>
                                        <p:tav tm="0">
                                          <p:val>
                                            <p:strVal val="0"/>
                                          </p:val>
                                        </p:tav>
                                        <p:tav tm="100000">
                                          <p:val>
                                            <p:strVal val="#ppt_w"/>
                                          </p:val>
                                        </p:tav>
                                      </p:tavLst>
                                    </p:anim>
                                    <p:anim calcmode="lin" valueType="num">
                                      <p:cBhvr additive="base">
                                        <p:cTn id="90" dur="500" fill="hold"/>
                                        <p:tgtEl>
                                          <p:spTgt spid="23"/>
                                        </p:tgtEl>
                                        <p:attrNameLst>
                                          <p:attrName>ppt_h</p:attrName>
                                        </p:attrNameLst>
                                      </p:cBhvr>
                                      <p:tavLst>
                                        <p:tav tm="0">
                                          <p:val>
                                            <p:strVal val="0"/>
                                          </p:val>
                                        </p:tav>
                                        <p:tav tm="100000">
                                          <p:val>
                                            <p:strVal val="#ppt_h"/>
                                          </p:val>
                                        </p:tav>
                                      </p:tavLst>
                                    </p:anim>
                                    <p:animEffect transition="in" filter="fade">
                                      <p:cBhvr>
                                        <p:cTn id="91" dur="500"/>
                                        <p:tgtEl>
                                          <p:spTgt spid="23"/>
                                        </p:tgtEl>
                                      </p:cBhvr>
                                    </p:animEffect>
                                  </p:childTnLst>
                                </p:cTn>
                              </p:par>
                              <p:par>
                                <p:cTn id="92" presetID="53" presetClass="entr" presetSubtype="16" fill="hold" grpId="0" nodeType="withEffect">
                                  <p:stCondLst>
                                    <p:cond delay="1100"/>
                                  </p:stCondLst>
                                  <p:childTnLst>
                                    <p:set>
                                      <p:cBhvr>
                                        <p:cTn id="93" dur="1" fill="hold">
                                          <p:stCondLst>
                                            <p:cond delay="0"/>
                                          </p:stCondLst>
                                        </p:cTn>
                                        <p:tgtEl>
                                          <p:spTgt spid="24"/>
                                        </p:tgtEl>
                                        <p:attrNameLst>
                                          <p:attrName>style.visibility</p:attrName>
                                        </p:attrNameLst>
                                      </p:cBhvr>
                                      <p:to>
                                        <p:strVal val="visible"/>
                                      </p:to>
                                    </p:set>
                                    <p:anim calcmode="lin" valueType="num">
                                      <p:cBhvr additive="base">
                                        <p:cTn id="94" dur="500" fill="hold"/>
                                        <p:tgtEl>
                                          <p:spTgt spid="24"/>
                                        </p:tgtEl>
                                        <p:attrNameLst>
                                          <p:attrName>ppt_w</p:attrName>
                                        </p:attrNameLst>
                                      </p:cBhvr>
                                      <p:tavLst>
                                        <p:tav tm="0">
                                          <p:val>
                                            <p:strVal val="0"/>
                                          </p:val>
                                        </p:tav>
                                        <p:tav tm="100000">
                                          <p:val>
                                            <p:strVal val="#ppt_w"/>
                                          </p:val>
                                        </p:tav>
                                      </p:tavLst>
                                    </p:anim>
                                    <p:anim calcmode="lin" valueType="num">
                                      <p:cBhvr additive="base">
                                        <p:cTn id="95" dur="500" fill="hold"/>
                                        <p:tgtEl>
                                          <p:spTgt spid="24"/>
                                        </p:tgtEl>
                                        <p:attrNameLst>
                                          <p:attrName>ppt_h</p:attrName>
                                        </p:attrNameLst>
                                      </p:cBhvr>
                                      <p:tavLst>
                                        <p:tav tm="0">
                                          <p:val>
                                            <p:strVal val="0"/>
                                          </p:val>
                                        </p:tav>
                                        <p:tav tm="100000">
                                          <p:val>
                                            <p:strVal val="#ppt_h"/>
                                          </p:val>
                                        </p:tav>
                                      </p:tavLst>
                                    </p:anim>
                                    <p:animEffect transition="in" filter="fade">
                                      <p:cBhvr>
                                        <p:cTn id="96" dur="500"/>
                                        <p:tgtEl>
                                          <p:spTgt spid="24"/>
                                        </p:tgtEl>
                                      </p:cBhvr>
                                    </p:animEffect>
                                  </p:childTnLst>
                                </p:cTn>
                              </p:par>
                              <p:par>
                                <p:cTn id="97" presetID="53" presetClass="entr" presetSubtype="16" fill="hold" grpId="0" nodeType="withEffect">
                                  <p:stCondLst>
                                    <p:cond delay="1100"/>
                                  </p:stCondLst>
                                  <p:childTnLst>
                                    <p:set>
                                      <p:cBhvr>
                                        <p:cTn id="98" dur="1" fill="hold">
                                          <p:stCondLst>
                                            <p:cond delay="0"/>
                                          </p:stCondLst>
                                        </p:cTn>
                                        <p:tgtEl>
                                          <p:spTgt spid="25"/>
                                        </p:tgtEl>
                                        <p:attrNameLst>
                                          <p:attrName>style.visibility</p:attrName>
                                        </p:attrNameLst>
                                      </p:cBhvr>
                                      <p:to>
                                        <p:strVal val="visible"/>
                                      </p:to>
                                    </p:set>
                                    <p:anim calcmode="lin" valueType="num">
                                      <p:cBhvr additive="base">
                                        <p:cTn id="99" dur="500" fill="hold"/>
                                        <p:tgtEl>
                                          <p:spTgt spid="25"/>
                                        </p:tgtEl>
                                        <p:attrNameLst>
                                          <p:attrName>ppt_w</p:attrName>
                                        </p:attrNameLst>
                                      </p:cBhvr>
                                      <p:tavLst>
                                        <p:tav tm="0">
                                          <p:val>
                                            <p:strVal val="0"/>
                                          </p:val>
                                        </p:tav>
                                        <p:tav tm="100000">
                                          <p:val>
                                            <p:strVal val="#ppt_w"/>
                                          </p:val>
                                        </p:tav>
                                      </p:tavLst>
                                    </p:anim>
                                    <p:anim calcmode="lin" valueType="num">
                                      <p:cBhvr additive="base">
                                        <p:cTn id="100" dur="500" fill="hold"/>
                                        <p:tgtEl>
                                          <p:spTgt spid="25"/>
                                        </p:tgtEl>
                                        <p:attrNameLst>
                                          <p:attrName>ppt_h</p:attrName>
                                        </p:attrNameLst>
                                      </p:cBhvr>
                                      <p:tavLst>
                                        <p:tav tm="0">
                                          <p:val>
                                            <p:strVal val="0"/>
                                          </p:val>
                                        </p:tav>
                                        <p:tav tm="100000">
                                          <p:val>
                                            <p:strVal val="#ppt_h"/>
                                          </p:val>
                                        </p:tav>
                                      </p:tavLst>
                                    </p:anim>
                                    <p:animEffect transition="in" filter="fade">
                                      <p:cBhvr>
                                        <p:cTn id="101" dur="500"/>
                                        <p:tgtEl>
                                          <p:spTgt spid="25"/>
                                        </p:tgtEl>
                                      </p:cBhvr>
                                    </p:animEffect>
                                  </p:childTnLst>
                                </p:cTn>
                              </p:par>
                              <p:par>
                                <p:cTn id="102" presetID="53" presetClass="entr" presetSubtype="16" fill="hold" grpId="0" nodeType="withEffect">
                                  <p:stCondLst>
                                    <p:cond delay="1320"/>
                                  </p:stCondLst>
                                  <p:childTnLst>
                                    <p:set>
                                      <p:cBhvr>
                                        <p:cTn id="103" dur="1" fill="hold">
                                          <p:stCondLst>
                                            <p:cond delay="0"/>
                                          </p:stCondLst>
                                        </p:cTn>
                                        <p:tgtEl>
                                          <p:spTgt spid="26"/>
                                        </p:tgtEl>
                                        <p:attrNameLst>
                                          <p:attrName>style.visibility</p:attrName>
                                        </p:attrNameLst>
                                      </p:cBhvr>
                                      <p:to>
                                        <p:strVal val="visible"/>
                                      </p:to>
                                    </p:set>
                                    <p:anim calcmode="lin" valueType="num">
                                      <p:cBhvr additive="base">
                                        <p:cTn id="104" dur="500" fill="hold"/>
                                        <p:tgtEl>
                                          <p:spTgt spid="26"/>
                                        </p:tgtEl>
                                        <p:attrNameLst>
                                          <p:attrName>ppt_w</p:attrName>
                                        </p:attrNameLst>
                                      </p:cBhvr>
                                      <p:tavLst>
                                        <p:tav tm="0">
                                          <p:val>
                                            <p:strVal val="0"/>
                                          </p:val>
                                        </p:tav>
                                        <p:tav tm="100000">
                                          <p:val>
                                            <p:strVal val="#ppt_w"/>
                                          </p:val>
                                        </p:tav>
                                      </p:tavLst>
                                    </p:anim>
                                    <p:anim calcmode="lin" valueType="num">
                                      <p:cBhvr additive="base">
                                        <p:cTn id="105" dur="500" fill="hold"/>
                                        <p:tgtEl>
                                          <p:spTgt spid="26"/>
                                        </p:tgtEl>
                                        <p:attrNameLst>
                                          <p:attrName>ppt_h</p:attrName>
                                        </p:attrNameLst>
                                      </p:cBhvr>
                                      <p:tavLst>
                                        <p:tav tm="0">
                                          <p:val>
                                            <p:strVal val="0"/>
                                          </p:val>
                                        </p:tav>
                                        <p:tav tm="100000">
                                          <p:val>
                                            <p:strVal val="#ppt_h"/>
                                          </p:val>
                                        </p:tav>
                                      </p:tavLst>
                                    </p:anim>
                                    <p:animEffect transition="in" filter="fade">
                                      <p:cBhvr>
                                        <p:cTn id="106" dur="500"/>
                                        <p:tgtEl>
                                          <p:spTgt spid="26"/>
                                        </p:tgtEl>
                                      </p:cBhvr>
                                    </p:animEffect>
                                  </p:childTnLst>
                                </p:cTn>
                              </p:par>
                              <p:par>
                                <p:cTn id="107" presetID="53" presetClass="entr" presetSubtype="16" fill="hold" grpId="0" nodeType="withEffect">
                                  <p:stCondLst>
                                    <p:cond delay="1320"/>
                                  </p:stCondLst>
                                  <p:childTnLst>
                                    <p:set>
                                      <p:cBhvr>
                                        <p:cTn id="108" dur="1" fill="hold">
                                          <p:stCondLst>
                                            <p:cond delay="0"/>
                                          </p:stCondLst>
                                        </p:cTn>
                                        <p:tgtEl>
                                          <p:spTgt spid="27"/>
                                        </p:tgtEl>
                                        <p:attrNameLst>
                                          <p:attrName>style.visibility</p:attrName>
                                        </p:attrNameLst>
                                      </p:cBhvr>
                                      <p:to>
                                        <p:strVal val="visible"/>
                                      </p:to>
                                    </p:set>
                                    <p:anim calcmode="lin" valueType="num">
                                      <p:cBhvr additive="base">
                                        <p:cTn id="109" dur="500" fill="hold"/>
                                        <p:tgtEl>
                                          <p:spTgt spid="27"/>
                                        </p:tgtEl>
                                        <p:attrNameLst>
                                          <p:attrName>ppt_w</p:attrName>
                                        </p:attrNameLst>
                                      </p:cBhvr>
                                      <p:tavLst>
                                        <p:tav tm="0">
                                          <p:val>
                                            <p:strVal val="0"/>
                                          </p:val>
                                        </p:tav>
                                        <p:tav tm="100000">
                                          <p:val>
                                            <p:strVal val="#ppt_w"/>
                                          </p:val>
                                        </p:tav>
                                      </p:tavLst>
                                    </p:anim>
                                    <p:anim calcmode="lin" valueType="num">
                                      <p:cBhvr additive="base">
                                        <p:cTn id="110" dur="500" fill="hold"/>
                                        <p:tgtEl>
                                          <p:spTgt spid="27"/>
                                        </p:tgtEl>
                                        <p:attrNameLst>
                                          <p:attrName>ppt_h</p:attrName>
                                        </p:attrNameLst>
                                      </p:cBhvr>
                                      <p:tavLst>
                                        <p:tav tm="0">
                                          <p:val>
                                            <p:strVal val="0"/>
                                          </p:val>
                                        </p:tav>
                                        <p:tav tm="100000">
                                          <p:val>
                                            <p:strVal val="#ppt_h"/>
                                          </p:val>
                                        </p:tav>
                                      </p:tavLst>
                                    </p:anim>
                                    <p:animEffect transition="in" filter="fade">
                                      <p:cBhvr>
                                        <p:cTn id="111" dur="500"/>
                                        <p:tgtEl>
                                          <p:spTgt spid="27"/>
                                        </p:tgtEl>
                                      </p:cBhvr>
                                    </p:animEffect>
                                  </p:childTnLst>
                                </p:cTn>
                              </p:par>
                              <p:par>
                                <p:cTn id="112" presetID="10" presetClass="entr" presetSubtype="0" fill="hold" grpId="0" nodeType="withEffect">
                                  <p:stCondLst>
                                    <p:cond delay="1540"/>
                                  </p:stCondLst>
                                  <p:childTnLst>
                                    <p:set>
                                      <p:cBhvr>
                                        <p:cTn id="113" dur="1" fill="hold">
                                          <p:stCondLst>
                                            <p:cond delay="0"/>
                                          </p:stCondLst>
                                        </p:cTn>
                                        <p:tgtEl>
                                          <p:spTgt spid="28"/>
                                        </p:tgtEl>
                                        <p:attrNameLst>
                                          <p:attrName>style.visibility</p:attrName>
                                        </p:attrNameLst>
                                      </p:cBhvr>
                                      <p:to>
                                        <p:strVal val="visible"/>
                                      </p:to>
                                    </p:set>
                                    <p:animEffect transition="in" filter="fade">
                                      <p:cBhvr>
                                        <p:cTn id="114"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749808"/>
            <a:ext cx="11064240" cy="685800"/>
          </a:xfrm>
          <a:prstGeom prst="rect">
            <a:avLst/>
          </a:prstGeom>
          <a:noFill/>
          <a:ln/>
        </p:spPr>
        <p:txBody>
          <a:bodyPr wrap="square" lIns="0" tIns="0" rIns="0" bIns="0" rtlCol="0" anchor="ctr"/>
          <a:lstStyle/>
          <a:p>
            <a:pPr marL="0" indent="0" algn="l">
              <a:buNone/>
            </a:pPr>
            <a:r>
              <a:rPr lang="en-US" sz="3000" b="1" dirty="0">
                <a:solidFill>
                  <a:schemeClr val="tx2"/>
                </a:solidFill>
              </a:rPr>
              <a:t>Technologies utilisées</a:t>
            </a:r>
            <a:endParaRPr lang="en-US" sz="3000" dirty="0"/>
          </a:p>
        </p:txBody>
      </p:sp>
      <p:sp>
        <p:nvSpPr>
          <p:cNvPr id="3" name="pill#32"/>
          <p:cNvSpPr/>
          <p:nvPr/>
        </p:nvSpPr>
        <p:spPr>
          <a:xfrm>
            <a:off x="548640" y="384048"/>
            <a:ext cx="1133856" cy="292608"/>
          </a:xfrm>
          <a:prstGeom prst="roundRect">
            <a:avLst>
              <a:gd name="adj" fmla="val 50000"/>
            </a:avLst>
          </a:prstGeom>
          <a:solidFill>
            <a:schemeClr val="accent2"/>
          </a:solidFill>
          <a:ln/>
        </p:spPr>
      </p:sp>
      <p:sp>
        <p:nvSpPr>
          <p:cNvPr id="4" name="pill#32t"/>
          <p:cNvSpPr txBox="1"/>
          <p:nvPr/>
        </p:nvSpPr>
        <p:spPr>
          <a:xfrm>
            <a:off x="548640" y="384048"/>
            <a:ext cx="1133856" cy="292608"/>
          </a:xfrm>
          <a:prstGeom prst="rect">
            <a:avLst/>
          </a:prstGeom>
          <a:noFill/>
          <a:ln/>
        </p:spPr>
        <p:txBody>
          <a:bodyPr wrap="square" lIns="0" tIns="0" rIns="0" bIns="0" rtlCol="0" anchor="ctr"/>
          <a:lstStyle/>
          <a:p>
            <a:pPr marL="0" indent="0" algn="ctr">
              <a:buNone/>
            </a:pPr>
            <a:r>
              <a:rPr lang="en-US" sz="1100" b="1" dirty="0">
                <a:solidFill>
                  <a:schemeClr val="bg1"/>
                </a:solidFill>
              </a:rPr>
              <a:t>Architecture</a:t>
            </a:r>
            <a:endParaRPr lang="en-US" sz="1100" dirty="0"/>
          </a:p>
        </p:txBody>
      </p:sp>
      <p:sp>
        <p:nvSpPr>
          <p:cNvPr id="5" name="tech#33"/>
          <p:cNvSpPr/>
          <p:nvPr/>
        </p:nvSpPr>
        <p:spPr>
          <a:xfrm>
            <a:off x="548640" y="1783080"/>
            <a:ext cx="2560320" cy="1965960"/>
          </a:xfrm>
          <a:prstGeom prst="roundRect">
            <a:avLst>
              <a:gd name="adj" fmla="val 4651"/>
            </a:avLst>
          </a:prstGeom>
          <a:solidFill>
            <a:schemeClr val="bg2"/>
          </a:solidFill>
          <a:ln/>
        </p:spPr>
      </p:sp>
      <p:sp>
        <p:nvSpPr>
          <p:cNvPr id="6" name="tech#33d"/>
          <p:cNvSpPr/>
          <p:nvPr/>
        </p:nvSpPr>
        <p:spPr>
          <a:xfrm>
            <a:off x="1463040" y="2011680"/>
            <a:ext cx="731520" cy="731520"/>
          </a:xfrm>
          <a:prstGeom prst="ellipse">
            <a:avLst/>
          </a:prstGeom>
          <a:solidFill>
            <a:schemeClr val="accent2"/>
          </a:solidFill>
          <a:ln/>
        </p:spPr>
      </p:sp>
      <p:pic>
        <p:nvPicPr>
          <p:cNvPr id="7" name="tech#33di" descr="preencoded.png"/>
          <p:cNvPicPr>
            <a:picLocks noChangeAspect="1"/>
          </p:cNvPicPr>
          <p:nvPr/>
        </p:nvPicPr>
        <p:blipFill>
          <a:blip r:embed="rId3"/>
          <a:stretch>
            <a:fillRect/>
          </a:stretch>
        </p:blipFill>
        <p:spPr>
          <a:xfrm>
            <a:off x="1660550" y="2209190"/>
            <a:ext cx="336499" cy="336499"/>
          </a:xfrm>
          <a:prstGeom prst="rect">
            <a:avLst/>
          </a:prstGeom>
        </p:spPr>
      </p:pic>
      <p:sp>
        <p:nvSpPr>
          <p:cNvPr id="8" name="tech#33h"/>
          <p:cNvSpPr txBox="1"/>
          <p:nvPr/>
        </p:nvSpPr>
        <p:spPr>
          <a:xfrm>
            <a:off x="640080" y="2834640"/>
            <a:ext cx="2377440" cy="411480"/>
          </a:xfrm>
          <a:prstGeom prst="rect">
            <a:avLst/>
          </a:prstGeom>
          <a:noFill/>
          <a:ln/>
        </p:spPr>
        <p:txBody>
          <a:bodyPr wrap="square" lIns="0" tIns="0" rIns="0" bIns="0" rtlCol="0" anchor="t"/>
          <a:lstStyle/>
          <a:p>
            <a:pPr marL="0" indent="0" algn="ctr">
              <a:buNone/>
            </a:pPr>
            <a:r>
              <a:rPr lang="en-US" sz="1700" b="1" dirty="0">
                <a:solidFill>
                  <a:schemeClr val="tx2"/>
                </a:solidFill>
              </a:rPr>
              <a:t>Java 17</a:t>
            </a:r>
            <a:endParaRPr lang="en-US" sz="1700" dirty="0"/>
          </a:p>
        </p:txBody>
      </p:sp>
      <p:sp>
        <p:nvSpPr>
          <p:cNvPr id="9" name="tech#33b"/>
          <p:cNvSpPr txBox="1"/>
          <p:nvPr/>
        </p:nvSpPr>
        <p:spPr>
          <a:xfrm>
            <a:off x="640080" y="3246120"/>
            <a:ext cx="2377440" cy="365760"/>
          </a:xfrm>
          <a:prstGeom prst="rect">
            <a:avLst/>
          </a:prstGeom>
          <a:noFill/>
          <a:ln/>
        </p:spPr>
        <p:txBody>
          <a:bodyPr wrap="square" lIns="0" tIns="0" rIns="0" bIns="0" rtlCol="0" anchor="t"/>
          <a:lstStyle/>
          <a:p>
            <a:pPr marL="0" indent="0" algn="ctr">
              <a:buNone/>
            </a:pPr>
            <a:r>
              <a:rPr lang="en-US" sz="1300" dirty="0">
                <a:solidFill>
                  <a:schemeClr val="accent6"/>
                </a:solidFill>
              </a:rPr>
              <a:t>Spring Boot 3.3</a:t>
            </a:r>
            <a:endParaRPr lang="en-US" sz="1300" dirty="0"/>
          </a:p>
        </p:txBody>
      </p:sp>
      <p:sp>
        <p:nvSpPr>
          <p:cNvPr id="10" name="tech#34"/>
          <p:cNvSpPr/>
          <p:nvPr/>
        </p:nvSpPr>
        <p:spPr>
          <a:xfrm>
            <a:off x="3355848" y="1783080"/>
            <a:ext cx="2560320" cy="1965960"/>
          </a:xfrm>
          <a:prstGeom prst="roundRect">
            <a:avLst>
              <a:gd name="adj" fmla="val 4651"/>
            </a:avLst>
          </a:prstGeom>
          <a:solidFill>
            <a:schemeClr val="bg2"/>
          </a:solidFill>
          <a:ln/>
        </p:spPr>
      </p:sp>
      <p:sp>
        <p:nvSpPr>
          <p:cNvPr id="11" name="tech#34d"/>
          <p:cNvSpPr/>
          <p:nvPr/>
        </p:nvSpPr>
        <p:spPr>
          <a:xfrm>
            <a:off x="4270248" y="2011680"/>
            <a:ext cx="731520" cy="731520"/>
          </a:xfrm>
          <a:prstGeom prst="ellipse">
            <a:avLst/>
          </a:prstGeom>
          <a:solidFill>
            <a:schemeClr val="accent3"/>
          </a:solidFill>
          <a:ln/>
        </p:spPr>
      </p:sp>
      <p:pic>
        <p:nvPicPr>
          <p:cNvPr id="12" name="tech#34di" descr="preencoded.png"/>
          <p:cNvPicPr>
            <a:picLocks noChangeAspect="1"/>
          </p:cNvPicPr>
          <p:nvPr/>
        </p:nvPicPr>
        <p:blipFill>
          <a:blip r:embed="rId4"/>
          <a:stretch>
            <a:fillRect/>
          </a:stretch>
        </p:blipFill>
        <p:spPr>
          <a:xfrm>
            <a:off x="4467758" y="2209190"/>
            <a:ext cx="336499" cy="336499"/>
          </a:xfrm>
          <a:prstGeom prst="rect">
            <a:avLst/>
          </a:prstGeom>
        </p:spPr>
      </p:pic>
      <p:sp>
        <p:nvSpPr>
          <p:cNvPr id="13" name="tech#34h"/>
          <p:cNvSpPr txBox="1"/>
          <p:nvPr/>
        </p:nvSpPr>
        <p:spPr>
          <a:xfrm>
            <a:off x="3447288" y="2834640"/>
            <a:ext cx="2377440" cy="411480"/>
          </a:xfrm>
          <a:prstGeom prst="rect">
            <a:avLst/>
          </a:prstGeom>
          <a:noFill/>
          <a:ln/>
        </p:spPr>
        <p:txBody>
          <a:bodyPr wrap="square" lIns="0" tIns="0" rIns="0" bIns="0" rtlCol="0" anchor="t"/>
          <a:lstStyle/>
          <a:p>
            <a:pPr marL="0" indent="0" algn="ctr">
              <a:buNone/>
            </a:pPr>
            <a:r>
              <a:rPr lang="en-US" sz="1700" b="1" dirty="0">
                <a:solidFill>
                  <a:schemeClr val="tx2"/>
                </a:solidFill>
              </a:rPr>
              <a:t>Apache CXF 4</a:t>
            </a:r>
            <a:endParaRPr lang="en-US" sz="1700" dirty="0"/>
          </a:p>
        </p:txBody>
      </p:sp>
      <p:sp>
        <p:nvSpPr>
          <p:cNvPr id="14" name="tech#34b"/>
          <p:cNvSpPr txBox="1"/>
          <p:nvPr/>
        </p:nvSpPr>
        <p:spPr>
          <a:xfrm>
            <a:off x="3447288" y="3246120"/>
            <a:ext cx="2377440" cy="365760"/>
          </a:xfrm>
          <a:prstGeom prst="rect">
            <a:avLst/>
          </a:prstGeom>
          <a:noFill/>
          <a:ln/>
        </p:spPr>
        <p:txBody>
          <a:bodyPr wrap="square" lIns="0" tIns="0" rIns="0" bIns="0" rtlCol="0" anchor="t"/>
          <a:lstStyle/>
          <a:p>
            <a:pPr marL="0" indent="0" algn="ctr">
              <a:buNone/>
            </a:pPr>
            <a:r>
              <a:rPr lang="en-US" sz="1300" dirty="0">
                <a:solidFill>
                  <a:schemeClr val="accent6"/>
                </a:solidFill>
              </a:rPr>
              <a:t>SOAP, WSDL, Faults</a:t>
            </a:r>
            <a:endParaRPr lang="en-US" sz="1300" dirty="0"/>
          </a:p>
        </p:txBody>
      </p:sp>
      <p:sp>
        <p:nvSpPr>
          <p:cNvPr id="15" name="tech#35"/>
          <p:cNvSpPr/>
          <p:nvPr/>
        </p:nvSpPr>
        <p:spPr>
          <a:xfrm>
            <a:off x="6163056" y="1783080"/>
            <a:ext cx="2560320" cy="1965960"/>
          </a:xfrm>
          <a:prstGeom prst="roundRect">
            <a:avLst>
              <a:gd name="adj" fmla="val 4651"/>
            </a:avLst>
          </a:prstGeom>
          <a:solidFill>
            <a:schemeClr val="bg2"/>
          </a:solidFill>
          <a:ln/>
        </p:spPr>
      </p:sp>
      <p:sp>
        <p:nvSpPr>
          <p:cNvPr id="16" name="tech#35d"/>
          <p:cNvSpPr/>
          <p:nvPr/>
        </p:nvSpPr>
        <p:spPr>
          <a:xfrm>
            <a:off x="7077456" y="2011680"/>
            <a:ext cx="731520" cy="731520"/>
          </a:xfrm>
          <a:prstGeom prst="ellipse">
            <a:avLst/>
          </a:prstGeom>
          <a:solidFill>
            <a:schemeClr val="accent4"/>
          </a:solidFill>
          <a:ln/>
        </p:spPr>
      </p:sp>
      <p:pic>
        <p:nvPicPr>
          <p:cNvPr id="17" name="tech#35di" descr="preencoded.png"/>
          <p:cNvPicPr>
            <a:picLocks noChangeAspect="1"/>
          </p:cNvPicPr>
          <p:nvPr/>
        </p:nvPicPr>
        <p:blipFill>
          <a:blip r:embed="rId5"/>
          <a:stretch>
            <a:fillRect/>
          </a:stretch>
        </p:blipFill>
        <p:spPr>
          <a:xfrm>
            <a:off x="7274966" y="2209190"/>
            <a:ext cx="336499" cy="336499"/>
          </a:xfrm>
          <a:prstGeom prst="rect">
            <a:avLst/>
          </a:prstGeom>
        </p:spPr>
      </p:pic>
      <p:sp>
        <p:nvSpPr>
          <p:cNvPr id="18" name="tech#35h"/>
          <p:cNvSpPr txBox="1"/>
          <p:nvPr/>
        </p:nvSpPr>
        <p:spPr>
          <a:xfrm>
            <a:off x="6254496" y="2834640"/>
            <a:ext cx="2377440" cy="411480"/>
          </a:xfrm>
          <a:prstGeom prst="rect">
            <a:avLst/>
          </a:prstGeom>
          <a:noFill/>
          <a:ln/>
        </p:spPr>
        <p:txBody>
          <a:bodyPr wrap="square" lIns="0" tIns="0" rIns="0" bIns="0" rtlCol="0" anchor="t"/>
          <a:lstStyle/>
          <a:p>
            <a:pPr marL="0" indent="0" algn="ctr">
              <a:buNone/>
            </a:pPr>
            <a:r>
              <a:rPr lang="en-US" sz="1700" b="1" dirty="0">
                <a:solidFill>
                  <a:schemeClr val="tx2"/>
                </a:solidFill>
              </a:rPr>
              <a:t>MySQL 8</a:t>
            </a:r>
            <a:endParaRPr lang="en-US" sz="1700" dirty="0"/>
          </a:p>
        </p:txBody>
      </p:sp>
      <p:sp>
        <p:nvSpPr>
          <p:cNvPr id="19" name="tech#35b"/>
          <p:cNvSpPr txBox="1"/>
          <p:nvPr/>
        </p:nvSpPr>
        <p:spPr>
          <a:xfrm>
            <a:off x="6254496" y="3246120"/>
            <a:ext cx="2377440" cy="365760"/>
          </a:xfrm>
          <a:prstGeom prst="rect">
            <a:avLst/>
          </a:prstGeom>
          <a:noFill/>
          <a:ln/>
        </p:spPr>
        <p:txBody>
          <a:bodyPr wrap="square" lIns="0" tIns="0" rIns="0" bIns="0" rtlCol="0" anchor="t"/>
          <a:lstStyle/>
          <a:p>
            <a:pPr marL="0" indent="0" algn="ctr">
              <a:buNone/>
            </a:pPr>
            <a:r>
              <a:rPr lang="en-US" sz="1300" dirty="0">
                <a:solidFill>
                  <a:schemeClr val="accent6"/>
                </a:solidFill>
              </a:rPr>
              <a:t>base source</a:t>
            </a:r>
            <a:endParaRPr lang="en-US" sz="1300" dirty="0"/>
          </a:p>
        </p:txBody>
      </p:sp>
      <p:sp>
        <p:nvSpPr>
          <p:cNvPr id="20" name="tech#36"/>
          <p:cNvSpPr/>
          <p:nvPr/>
        </p:nvSpPr>
        <p:spPr>
          <a:xfrm>
            <a:off x="8970264" y="1783080"/>
            <a:ext cx="2560320" cy="1965960"/>
          </a:xfrm>
          <a:prstGeom prst="roundRect">
            <a:avLst>
              <a:gd name="adj" fmla="val 4651"/>
            </a:avLst>
          </a:prstGeom>
          <a:solidFill>
            <a:schemeClr val="bg2"/>
          </a:solidFill>
          <a:ln/>
        </p:spPr>
      </p:sp>
      <p:sp>
        <p:nvSpPr>
          <p:cNvPr id="21" name="tech#36d"/>
          <p:cNvSpPr/>
          <p:nvPr/>
        </p:nvSpPr>
        <p:spPr>
          <a:xfrm>
            <a:off x="9884664" y="2011680"/>
            <a:ext cx="731520" cy="731520"/>
          </a:xfrm>
          <a:prstGeom prst="ellipse">
            <a:avLst/>
          </a:prstGeom>
          <a:solidFill>
            <a:schemeClr val="tx2"/>
          </a:solidFill>
          <a:ln/>
        </p:spPr>
      </p:sp>
      <p:pic>
        <p:nvPicPr>
          <p:cNvPr id="22" name="tech#36di" descr="preencoded.png"/>
          <p:cNvPicPr>
            <a:picLocks noChangeAspect="1"/>
          </p:cNvPicPr>
          <p:nvPr/>
        </p:nvPicPr>
        <p:blipFill>
          <a:blip r:embed="rId5"/>
          <a:stretch>
            <a:fillRect/>
          </a:stretch>
        </p:blipFill>
        <p:spPr>
          <a:xfrm>
            <a:off x="10082174" y="2209190"/>
            <a:ext cx="336499" cy="336499"/>
          </a:xfrm>
          <a:prstGeom prst="rect">
            <a:avLst/>
          </a:prstGeom>
        </p:spPr>
      </p:pic>
      <p:sp>
        <p:nvSpPr>
          <p:cNvPr id="23" name="tech#36h"/>
          <p:cNvSpPr txBox="1"/>
          <p:nvPr/>
        </p:nvSpPr>
        <p:spPr>
          <a:xfrm>
            <a:off x="9061704" y="2834640"/>
            <a:ext cx="2377440" cy="411480"/>
          </a:xfrm>
          <a:prstGeom prst="rect">
            <a:avLst/>
          </a:prstGeom>
          <a:noFill/>
          <a:ln/>
        </p:spPr>
        <p:txBody>
          <a:bodyPr wrap="square" lIns="0" tIns="0" rIns="0" bIns="0" rtlCol="0" anchor="t"/>
          <a:lstStyle/>
          <a:p>
            <a:pPr marL="0" indent="0" algn="ctr">
              <a:buNone/>
            </a:pPr>
            <a:r>
              <a:rPr lang="en-US" sz="1700" b="1" dirty="0">
                <a:solidFill>
                  <a:schemeClr val="tx2"/>
                </a:solidFill>
              </a:rPr>
              <a:t>PostgreSQL 16</a:t>
            </a:r>
            <a:endParaRPr lang="en-US" sz="1700" dirty="0"/>
          </a:p>
        </p:txBody>
      </p:sp>
      <p:sp>
        <p:nvSpPr>
          <p:cNvPr id="24" name="tech#36b"/>
          <p:cNvSpPr txBox="1"/>
          <p:nvPr/>
        </p:nvSpPr>
        <p:spPr>
          <a:xfrm>
            <a:off x="9061704" y="3246120"/>
            <a:ext cx="2377440" cy="365760"/>
          </a:xfrm>
          <a:prstGeom prst="rect">
            <a:avLst/>
          </a:prstGeom>
          <a:noFill/>
          <a:ln/>
        </p:spPr>
        <p:txBody>
          <a:bodyPr wrap="square" lIns="0" tIns="0" rIns="0" bIns="0" rtlCol="0" anchor="t"/>
          <a:lstStyle/>
          <a:p>
            <a:pPr marL="0" indent="0" algn="ctr">
              <a:buNone/>
            </a:pPr>
            <a:r>
              <a:rPr lang="en-US" sz="1300" dirty="0">
                <a:solidFill>
                  <a:schemeClr val="accent6"/>
                </a:solidFill>
              </a:rPr>
              <a:t>base de référence</a:t>
            </a:r>
            <a:endParaRPr lang="en-US" sz="1300" dirty="0"/>
          </a:p>
        </p:txBody>
      </p:sp>
      <p:sp>
        <p:nvSpPr>
          <p:cNvPr id="25" name="tech#37"/>
          <p:cNvSpPr/>
          <p:nvPr/>
        </p:nvSpPr>
        <p:spPr>
          <a:xfrm>
            <a:off x="548640" y="4023360"/>
            <a:ext cx="2560320" cy="1965960"/>
          </a:xfrm>
          <a:prstGeom prst="roundRect">
            <a:avLst>
              <a:gd name="adj" fmla="val 4651"/>
            </a:avLst>
          </a:prstGeom>
          <a:solidFill>
            <a:schemeClr val="bg2"/>
          </a:solidFill>
          <a:ln/>
        </p:spPr>
      </p:sp>
      <p:sp>
        <p:nvSpPr>
          <p:cNvPr id="26" name="tech#37d"/>
          <p:cNvSpPr/>
          <p:nvPr/>
        </p:nvSpPr>
        <p:spPr>
          <a:xfrm>
            <a:off x="1463040" y="4251960"/>
            <a:ext cx="731520" cy="731520"/>
          </a:xfrm>
          <a:prstGeom prst="ellipse">
            <a:avLst/>
          </a:prstGeom>
          <a:solidFill>
            <a:schemeClr val="accent2"/>
          </a:solidFill>
          <a:ln/>
        </p:spPr>
      </p:sp>
      <p:pic>
        <p:nvPicPr>
          <p:cNvPr id="27" name="tech#37di" descr="preencoded.png"/>
          <p:cNvPicPr>
            <a:picLocks noChangeAspect="1"/>
          </p:cNvPicPr>
          <p:nvPr/>
        </p:nvPicPr>
        <p:blipFill>
          <a:blip r:embed="rId6"/>
          <a:stretch>
            <a:fillRect/>
          </a:stretch>
        </p:blipFill>
        <p:spPr>
          <a:xfrm>
            <a:off x="1660550" y="4449470"/>
            <a:ext cx="336499" cy="336499"/>
          </a:xfrm>
          <a:prstGeom prst="rect">
            <a:avLst/>
          </a:prstGeom>
        </p:spPr>
      </p:pic>
      <p:sp>
        <p:nvSpPr>
          <p:cNvPr id="28" name="tech#37h"/>
          <p:cNvSpPr txBox="1"/>
          <p:nvPr/>
        </p:nvSpPr>
        <p:spPr>
          <a:xfrm>
            <a:off x="640080" y="5074920"/>
            <a:ext cx="2377440" cy="411480"/>
          </a:xfrm>
          <a:prstGeom prst="rect">
            <a:avLst/>
          </a:prstGeom>
          <a:noFill/>
          <a:ln/>
        </p:spPr>
        <p:txBody>
          <a:bodyPr wrap="square" lIns="0" tIns="0" rIns="0" bIns="0" rtlCol="0" anchor="t"/>
          <a:lstStyle/>
          <a:p>
            <a:pPr marL="0" indent="0" algn="ctr">
              <a:buNone/>
            </a:pPr>
            <a:r>
              <a:rPr lang="en-US" sz="1700" b="1" dirty="0">
                <a:solidFill>
                  <a:schemeClr val="tx2"/>
                </a:solidFill>
              </a:rPr>
              <a:t>Pentaho PDI</a:t>
            </a:r>
            <a:endParaRPr lang="en-US" sz="1700" dirty="0"/>
          </a:p>
        </p:txBody>
      </p:sp>
      <p:sp>
        <p:nvSpPr>
          <p:cNvPr id="29" name="tech#37b"/>
          <p:cNvSpPr txBox="1"/>
          <p:nvPr/>
        </p:nvSpPr>
        <p:spPr>
          <a:xfrm>
            <a:off x="640080" y="5486400"/>
            <a:ext cx="2377440" cy="365760"/>
          </a:xfrm>
          <a:prstGeom prst="rect">
            <a:avLst/>
          </a:prstGeom>
          <a:noFill/>
          <a:ln/>
        </p:spPr>
        <p:txBody>
          <a:bodyPr wrap="square" lIns="0" tIns="0" rIns="0" bIns="0" rtlCol="0" anchor="t"/>
          <a:lstStyle/>
          <a:p>
            <a:pPr marL="0" indent="0" algn="ctr">
              <a:buNone/>
            </a:pPr>
            <a:r>
              <a:rPr lang="en-US" sz="1300" dirty="0">
                <a:solidFill>
                  <a:schemeClr val="accent6"/>
                </a:solidFill>
              </a:rPr>
              <a:t>Kitchen, Spoon</a:t>
            </a:r>
            <a:endParaRPr lang="en-US" sz="1300" dirty="0"/>
          </a:p>
        </p:txBody>
      </p:sp>
      <p:sp>
        <p:nvSpPr>
          <p:cNvPr id="30" name="tech#38"/>
          <p:cNvSpPr/>
          <p:nvPr/>
        </p:nvSpPr>
        <p:spPr>
          <a:xfrm>
            <a:off x="3355848" y="4023360"/>
            <a:ext cx="2560320" cy="1965960"/>
          </a:xfrm>
          <a:prstGeom prst="roundRect">
            <a:avLst>
              <a:gd name="adj" fmla="val 4651"/>
            </a:avLst>
          </a:prstGeom>
          <a:solidFill>
            <a:schemeClr val="bg2"/>
          </a:solidFill>
          <a:ln/>
        </p:spPr>
      </p:sp>
      <p:sp>
        <p:nvSpPr>
          <p:cNvPr id="31" name="tech#38d"/>
          <p:cNvSpPr/>
          <p:nvPr/>
        </p:nvSpPr>
        <p:spPr>
          <a:xfrm>
            <a:off x="4270248" y="4251960"/>
            <a:ext cx="731520" cy="731520"/>
          </a:xfrm>
          <a:prstGeom prst="ellipse">
            <a:avLst/>
          </a:prstGeom>
          <a:solidFill>
            <a:schemeClr val="accent5"/>
          </a:solidFill>
          <a:ln/>
        </p:spPr>
      </p:sp>
      <p:pic>
        <p:nvPicPr>
          <p:cNvPr id="32" name="tech#38di" descr="preencoded.png"/>
          <p:cNvPicPr>
            <a:picLocks noChangeAspect="1"/>
          </p:cNvPicPr>
          <p:nvPr/>
        </p:nvPicPr>
        <p:blipFill>
          <a:blip r:embed="rId7"/>
          <a:stretch>
            <a:fillRect/>
          </a:stretch>
        </p:blipFill>
        <p:spPr>
          <a:xfrm>
            <a:off x="4467758" y="4449470"/>
            <a:ext cx="336499" cy="336499"/>
          </a:xfrm>
          <a:prstGeom prst="rect">
            <a:avLst/>
          </a:prstGeom>
        </p:spPr>
      </p:pic>
      <p:sp>
        <p:nvSpPr>
          <p:cNvPr id="33" name="tech#38h"/>
          <p:cNvSpPr txBox="1"/>
          <p:nvPr/>
        </p:nvSpPr>
        <p:spPr>
          <a:xfrm>
            <a:off x="3447288" y="5074920"/>
            <a:ext cx="2377440" cy="411480"/>
          </a:xfrm>
          <a:prstGeom prst="rect">
            <a:avLst/>
          </a:prstGeom>
          <a:noFill/>
          <a:ln/>
        </p:spPr>
        <p:txBody>
          <a:bodyPr wrap="square" lIns="0" tIns="0" rIns="0" bIns="0" rtlCol="0" anchor="t"/>
          <a:lstStyle/>
          <a:p>
            <a:pPr marL="0" indent="0" algn="ctr">
              <a:buNone/>
            </a:pPr>
            <a:r>
              <a:rPr lang="en-US" sz="1700" b="1" dirty="0">
                <a:solidFill>
                  <a:schemeClr val="tx2"/>
                </a:solidFill>
              </a:rPr>
              <a:t>Netdata</a:t>
            </a:r>
            <a:endParaRPr lang="en-US" sz="1700" dirty="0"/>
          </a:p>
        </p:txBody>
      </p:sp>
      <p:sp>
        <p:nvSpPr>
          <p:cNvPr id="34" name="tech#38b"/>
          <p:cNvSpPr txBox="1"/>
          <p:nvPr/>
        </p:nvSpPr>
        <p:spPr>
          <a:xfrm>
            <a:off x="3447288" y="5486400"/>
            <a:ext cx="2377440" cy="365760"/>
          </a:xfrm>
          <a:prstGeom prst="rect">
            <a:avLst/>
          </a:prstGeom>
          <a:noFill/>
          <a:ln/>
        </p:spPr>
        <p:txBody>
          <a:bodyPr wrap="square" lIns="0" tIns="0" rIns="0" bIns="0" rtlCol="0" anchor="t"/>
          <a:lstStyle/>
          <a:p>
            <a:pPr marL="0" indent="0" algn="ctr">
              <a:buNone/>
            </a:pPr>
            <a:r>
              <a:rPr lang="en-US" sz="1300" dirty="0">
                <a:solidFill>
                  <a:schemeClr val="accent6"/>
                </a:solidFill>
              </a:rPr>
              <a:t>métriques et alertes</a:t>
            </a:r>
            <a:endParaRPr lang="en-US" sz="1300" dirty="0"/>
          </a:p>
        </p:txBody>
      </p:sp>
      <p:sp>
        <p:nvSpPr>
          <p:cNvPr id="35" name="tech#39"/>
          <p:cNvSpPr/>
          <p:nvPr/>
        </p:nvSpPr>
        <p:spPr>
          <a:xfrm>
            <a:off x="6163056" y="4023360"/>
            <a:ext cx="2560320" cy="1965960"/>
          </a:xfrm>
          <a:prstGeom prst="roundRect">
            <a:avLst>
              <a:gd name="adj" fmla="val 4651"/>
            </a:avLst>
          </a:prstGeom>
          <a:solidFill>
            <a:schemeClr val="bg2"/>
          </a:solidFill>
          <a:ln/>
        </p:spPr>
      </p:sp>
      <p:sp>
        <p:nvSpPr>
          <p:cNvPr id="36" name="tech#39d"/>
          <p:cNvSpPr/>
          <p:nvPr/>
        </p:nvSpPr>
        <p:spPr>
          <a:xfrm>
            <a:off x="7077456" y="4251960"/>
            <a:ext cx="731520" cy="731520"/>
          </a:xfrm>
          <a:prstGeom prst="ellipse">
            <a:avLst/>
          </a:prstGeom>
          <a:solidFill>
            <a:schemeClr val="accent4"/>
          </a:solidFill>
          <a:ln/>
        </p:spPr>
      </p:sp>
      <p:pic>
        <p:nvPicPr>
          <p:cNvPr id="37" name="tech#39di" descr="preencoded.png"/>
          <p:cNvPicPr>
            <a:picLocks noChangeAspect="1"/>
          </p:cNvPicPr>
          <p:nvPr/>
        </p:nvPicPr>
        <p:blipFill>
          <a:blip r:embed="rId8"/>
          <a:stretch>
            <a:fillRect/>
          </a:stretch>
        </p:blipFill>
        <p:spPr>
          <a:xfrm>
            <a:off x="7274966" y="4449470"/>
            <a:ext cx="336499" cy="336499"/>
          </a:xfrm>
          <a:prstGeom prst="rect">
            <a:avLst/>
          </a:prstGeom>
        </p:spPr>
      </p:pic>
      <p:sp>
        <p:nvSpPr>
          <p:cNvPr id="38" name="tech#39h"/>
          <p:cNvSpPr txBox="1"/>
          <p:nvPr/>
        </p:nvSpPr>
        <p:spPr>
          <a:xfrm>
            <a:off x="6254496" y="5074920"/>
            <a:ext cx="2377440" cy="411480"/>
          </a:xfrm>
          <a:prstGeom prst="rect">
            <a:avLst/>
          </a:prstGeom>
          <a:noFill/>
          <a:ln/>
        </p:spPr>
        <p:txBody>
          <a:bodyPr wrap="square" lIns="0" tIns="0" rIns="0" bIns="0" rtlCol="0" anchor="t"/>
          <a:lstStyle/>
          <a:p>
            <a:pPr marL="0" indent="0" algn="ctr">
              <a:buNone/>
            </a:pPr>
            <a:r>
              <a:rPr lang="en-US" sz="1700" b="1" dirty="0">
                <a:solidFill>
                  <a:schemeClr val="tx2"/>
                </a:solidFill>
              </a:rPr>
              <a:t>Docker Compose</a:t>
            </a:r>
            <a:endParaRPr lang="en-US" sz="1700" dirty="0"/>
          </a:p>
        </p:txBody>
      </p:sp>
      <p:sp>
        <p:nvSpPr>
          <p:cNvPr id="39" name="tech#39b"/>
          <p:cNvSpPr txBox="1"/>
          <p:nvPr/>
        </p:nvSpPr>
        <p:spPr>
          <a:xfrm>
            <a:off x="6254496" y="5486400"/>
            <a:ext cx="2377440" cy="365760"/>
          </a:xfrm>
          <a:prstGeom prst="rect">
            <a:avLst/>
          </a:prstGeom>
          <a:noFill/>
          <a:ln/>
        </p:spPr>
        <p:txBody>
          <a:bodyPr wrap="square" lIns="0" tIns="0" rIns="0" bIns="0" rtlCol="0" anchor="t"/>
          <a:lstStyle/>
          <a:p>
            <a:pPr marL="0" indent="0" algn="ctr">
              <a:buNone/>
            </a:pPr>
            <a:r>
              <a:rPr lang="en-US" sz="1300" dirty="0">
                <a:solidFill>
                  <a:schemeClr val="accent6"/>
                </a:solidFill>
              </a:rPr>
              <a:t>installation reproductible</a:t>
            </a:r>
            <a:endParaRPr lang="en-US" sz="1300" dirty="0"/>
          </a:p>
        </p:txBody>
      </p:sp>
      <p:sp>
        <p:nvSpPr>
          <p:cNvPr id="40" name="tech#40"/>
          <p:cNvSpPr/>
          <p:nvPr/>
        </p:nvSpPr>
        <p:spPr>
          <a:xfrm>
            <a:off x="8970264" y="4023360"/>
            <a:ext cx="2560320" cy="1965960"/>
          </a:xfrm>
          <a:prstGeom prst="roundRect">
            <a:avLst>
              <a:gd name="adj" fmla="val 4651"/>
            </a:avLst>
          </a:prstGeom>
          <a:solidFill>
            <a:schemeClr val="bg2"/>
          </a:solidFill>
          <a:ln/>
        </p:spPr>
      </p:sp>
      <p:sp>
        <p:nvSpPr>
          <p:cNvPr id="41" name="tech#40d"/>
          <p:cNvSpPr/>
          <p:nvPr/>
        </p:nvSpPr>
        <p:spPr>
          <a:xfrm>
            <a:off x="9884664" y="4251960"/>
            <a:ext cx="731520" cy="731520"/>
          </a:xfrm>
          <a:prstGeom prst="ellipse">
            <a:avLst/>
          </a:prstGeom>
          <a:solidFill>
            <a:schemeClr val="accent3"/>
          </a:solidFill>
          <a:ln/>
        </p:spPr>
      </p:sp>
      <p:pic>
        <p:nvPicPr>
          <p:cNvPr id="42" name="tech#40di" descr="preencoded.png"/>
          <p:cNvPicPr>
            <a:picLocks noChangeAspect="1"/>
          </p:cNvPicPr>
          <p:nvPr/>
        </p:nvPicPr>
        <p:blipFill>
          <a:blip r:embed="rId9"/>
          <a:stretch>
            <a:fillRect/>
          </a:stretch>
        </p:blipFill>
        <p:spPr>
          <a:xfrm>
            <a:off x="10082174" y="4449470"/>
            <a:ext cx="336499" cy="336499"/>
          </a:xfrm>
          <a:prstGeom prst="rect">
            <a:avLst/>
          </a:prstGeom>
        </p:spPr>
      </p:pic>
      <p:sp>
        <p:nvSpPr>
          <p:cNvPr id="43" name="tech#40h"/>
          <p:cNvSpPr txBox="1"/>
          <p:nvPr/>
        </p:nvSpPr>
        <p:spPr>
          <a:xfrm>
            <a:off x="9061704" y="5074920"/>
            <a:ext cx="2377440" cy="411480"/>
          </a:xfrm>
          <a:prstGeom prst="rect">
            <a:avLst/>
          </a:prstGeom>
          <a:noFill/>
          <a:ln/>
        </p:spPr>
        <p:txBody>
          <a:bodyPr wrap="square" lIns="0" tIns="0" rIns="0" bIns="0" rtlCol="0" anchor="t"/>
          <a:lstStyle/>
          <a:p>
            <a:pPr marL="0" indent="0" algn="ctr">
              <a:buNone/>
            </a:pPr>
            <a:r>
              <a:rPr lang="en-US" sz="1700" b="1" dirty="0">
                <a:solidFill>
                  <a:schemeClr val="tx2"/>
                </a:solidFill>
              </a:rPr>
              <a:t>SoapUI · JUnit</a:t>
            </a:r>
            <a:endParaRPr lang="en-US" sz="1700" dirty="0"/>
          </a:p>
        </p:txBody>
      </p:sp>
      <p:sp>
        <p:nvSpPr>
          <p:cNvPr id="44" name="tech#40b"/>
          <p:cNvSpPr txBox="1"/>
          <p:nvPr/>
        </p:nvSpPr>
        <p:spPr>
          <a:xfrm>
            <a:off x="9061704" y="5486400"/>
            <a:ext cx="2377440" cy="365760"/>
          </a:xfrm>
          <a:prstGeom prst="rect">
            <a:avLst/>
          </a:prstGeom>
          <a:noFill/>
          <a:ln/>
        </p:spPr>
        <p:txBody>
          <a:bodyPr wrap="square" lIns="0" tIns="0" rIns="0" bIns="0" rtlCol="0" anchor="t"/>
          <a:lstStyle/>
          <a:p>
            <a:pPr marL="0" indent="0" algn="ctr">
              <a:buNone/>
            </a:pPr>
            <a:r>
              <a:rPr lang="en-US" sz="1300" dirty="0">
                <a:solidFill>
                  <a:schemeClr val="accent6"/>
                </a:solidFill>
              </a:rPr>
              <a:t>tests automatisés</a:t>
            </a:r>
            <a:endParaRPr lang="en-US" sz="1300" dirty="0"/>
          </a:p>
        </p:txBody>
      </p:sp>
      <p:sp>
        <p:nvSpPr>
          <p:cNvPr id="4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9</a:t>
            </a:fld>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anim calcmode="lin" valueType="num">
                                      <p:cBhvr additive="base">
                                        <p:cTn id="8" dur="500" fill="hold"/>
                                        <p:tgtEl>
                                          <p:spTgt spid="5"/>
                                        </p:tgtEl>
                                        <p:attrNameLst>
                                          <p:attrName>ppt_x</p:attrName>
                                        </p:attrNameLst>
                                      </p:cBhvr>
                                      <p:tavLst>
                                        <p:tav tm="0">
                                          <p:val>
                                            <p:strVal val="#ppt_x"/>
                                          </p:val>
                                        </p:tav>
                                        <p:tav tm="100000">
                                          <p:val>
                                            <p:strVal val="#ppt_x"/>
                                          </p:val>
                                        </p:tav>
                                      </p:tavLst>
                                    </p:anim>
                                    <p:anim calcmode="lin" valueType="num">
                                      <p:cBhvr additive="base">
                                        <p:cTn id="9" dur="5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anim calcmode="lin" valueType="num">
                                      <p:cBhvr additive="base">
                                        <p:cTn id="18" dur="500" fill="hold"/>
                                        <p:tgtEl>
                                          <p:spTgt spid="7"/>
                                        </p:tgtEl>
                                        <p:attrNameLst>
                                          <p:attrName>ppt_x</p:attrName>
                                        </p:attrNameLst>
                                      </p:cBhvr>
                                      <p:tavLst>
                                        <p:tav tm="0">
                                          <p:val>
                                            <p:strVal val="#ppt_x"/>
                                          </p:val>
                                        </p:tav>
                                        <p:tav tm="100000">
                                          <p:val>
                                            <p:strVal val="#ppt_x"/>
                                          </p:val>
                                        </p:tav>
                                      </p:tavLst>
                                    </p:anim>
                                    <p:anim calcmode="lin" valueType="num">
                                      <p:cBhvr additive="base">
                                        <p:cTn id="19" dur="500" fill="hold"/>
                                        <p:tgtEl>
                                          <p:spTgt spid="7"/>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anim calcmode="lin" valueType="num">
                                      <p:cBhvr additive="base">
                                        <p:cTn id="28" dur="500" fill="hold"/>
                                        <p:tgtEl>
                                          <p:spTgt spid="9"/>
                                        </p:tgtEl>
                                        <p:attrNameLst>
                                          <p:attrName>ppt_x</p:attrName>
                                        </p:attrNameLst>
                                      </p:cBhvr>
                                      <p:tavLst>
                                        <p:tav tm="0">
                                          <p:val>
                                            <p:strVal val="#ppt_x"/>
                                          </p:val>
                                        </p:tav>
                                        <p:tav tm="100000">
                                          <p:val>
                                            <p:strVal val="#ppt_x"/>
                                          </p:val>
                                        </p:tav>
                                      </p:tavLst>
                                    </p:anim>
                                    <p:anim calcmode="lin" valueType="num">
                                      <p:cBhvr additive="base">
                                        <p:cTn id="29" dur="500" fill="hold"/>
                                        <p:tgtEl>
                                          <p:spTgt spid="9"/>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22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anim calcmode="lin" valueType="num">
                                      <p:cBhvr additive="base">
                                        <p:cTn id="33" dur="500" fill="hold"/>
                                        <p:tgtEl>
                                          <p:spTgt spid="10"/>
                                        </p:tgtEl>
                                        <p:attrNameLst>
                                          <p:attrName>ppt_x</p:attrName>
                                        </p:attrNameLst>
                                      </p:cBhvr>
                                      <p:tavLst>
                                        <p:tav tm="0">
                                          <p:val>
                                            <p:strVal val="#ppt_x"/>
                                          </p:val>
                                        </p:tav>
                                        <p:tav tm="100000">
                                          <p:val>
                                            <p:strVal val="#ppt_x"/>
                                          </p:val>
                                        </p:tav>
                                      </p:tavLst>
                                    </p:anim>
                                    <p:anim calcmode="lin" valueType="num">
                                      <p:cBhvr additive="base">
                                        <p:cTn id="34" dur="500" fill="hold"/>
                                        <p:tgtEl>
                                          <p:spTgt spid="10"/>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22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anim calcmode="lin" valueType="num">
                                      <p:cBhvr additive="base">
                                        <p:cTn id="38" dur="500" fill="hold"/>
                                        <p:tgtEl>
                                          <p:spTgt spid="11"/>
                                        </p:tgtEl>
                                        <p:attrNameLst>
                                          <p:attrName>ppt_x</p:attrName>
                                        </p:attrNameLst>
                                      </p:cBhvr>
                                      <p:tavLst>
                                        <p:tav tm="0">
                                          <p:val>
                                            <p:strVal val="#ppt_x"/>
                                          </p:val>
                                        </p:tav>
                                        <p:tav tm="100000">
                                          <p:val>
                                            <p:strVal val="#ppt_x"/>
                                          </p:val>
                                        </p:tav>
                                      </p:tavLst>
                                    </p:anim>
                                    <p:anim calcmode="lin" valueType="num">
                                      <p:cBhvr additive="base">
                                        <p:cTn id="39" dur="500" fill="hold"/>
                                        <p:tgtEl>
                                          <p:spTgt spid="11"/>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22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00"/>
                                        <p:tgtEl>
                                          <p:spTgt spid="12"/>
                                        </p:tgtEl>
                                      </p:cBhvr>
                                    </p:animEffect>
                                    <p:anim calcmode="lin" valueType="num">
                                      <p:cBhvr additive="base">
                                        <p:cTn id="43" dur="500" fill="hold"/>
                                        <p:tgtEl>
                                          <p:spTgt spid="12"/>
                                        </p:tgtEl>
                                        <p:attrNameLst>
                                          <p:attrName>ppt_x</p:attrName>
                                        </p:attrNameLst>
                                      </p:cBhvr>
                                      <p:tavLst>
                                        <p:tav tm="0">
                                          <p:val>
                                            <p:strVal val="#ppt_x"/>
                                          </p:val>
                                        </p:tav>
                                        <p:tav tm="100000">
                                          <p:val>
                                            <p:strVal val="#ppt_x"/>
                                          </p:val>
                                        </p:tav>
                                      </p:tavLst>
                                    </p:anim>
                                    <p:anim calcmode="lin" valueType="num">
                                      <p:cBhvr additive="base">
                                        <p:cTn id="44" dur="500" fill="hold"/>
                                        <p:tgtEl>
                                          <p:spTgt spid="12"/>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22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anim calcmode="lin" valueType="num">
                                      <p:cBhvr additive="base">
                                        <p:cTn id="48" dur="500" fill="hold"/>
                                        <p:tgtEl>
                                          <p:spTgt spid="13"/>
                                        </p:tgtEl>
                                        <p:attrNameLst>
                                          <p:attrName>ppt_x</p:attrName>
                                        </p:attrNameLst>
                                      </p:cBhvr>
                                      <p:tavLst>
                                        <p:tav tm="0">
                                          <p:val>
                                            <p:strVal val="#ppt_x"/>
                                          </p:val>
                                        </p:tav>
                                        <p:tav tm="100000">
                                          <p:val>
                                            <p:strVal val="#ppt_x"/>
                                          </p:val>
                                        </p:tav>
                                      </p:tavLst>
                                    </p:anim>
                                    <p:anim calcmode="lin" valueType="num">
                                      <p:cBhvr additive="base">
                                        <p:cTn id="49" dur="500" fill="hold"/>
                                        <p:tgtEl>
                                          <p:spTgt spid="13"/>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22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500"/>
                                        <p:tgtEl>
                                          <p:spTgt spid="14"/>
                                        </p:tgtEl>
                                      </p:cBhvr>
                                    </p:animEffect>
                                    <p:anim calcmode="lin" valueType="num">
                                      <p:cBhvr additive="base">
                                        <p:cTn id="53" dur="500" fill="hold"/>
                                        <p:tgtEl>
                                          <p:spTgt spid="14"/>
                                        </p:tgtEl>
                                        <p:attrNameLst>
                                          <p:attrName>ppt_x</p:attrName>
                                        </p:attrNameLst>
                                      </p:cBhvr>
                                      <p:tavLst>
                                        <p:tav tm="0">
                                          <p:val>
                                            <p:strVal val="#ppt_x"/>
                                          </p:val>
                                        </p:tav>
                                        <p:tav tm="100000">
                                          <p:val>
                                            <p:strVal val="#ppt_x"/>
                                          </p:val>
                                        </p:tav>
                                      </p:tavLst>
                                    </p:anim>
                                    <p:anim calcmode="lin" valueType="num">
                                      <p:cBhvr additive="base">
                                        <p:cTn id="54" dur="500" fill="hold"/>
                                        <p:tgtEl>
                                          <p:spTgt spid="14"/>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44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500"/>
                                        <p:tgtEl>
                                          <p:spTgt spid="15"/>
                                        </p:tgtEl>
                                      </p:cBhvr>
                                    </p:animEffect>
                                    <p:anim calcmode="lin" valueType="num">
                                      <p:cBhvr additive="base">
                                        <p:cTn id="58" dur="500" fill="hold"/>
                                        <p:tgtEl>
                                          <p:spTgt spid="15"/>
                                        </p:tgtEl>
                                        <p:attrNameLst>
                                          <p:attrName>ppt_x</p:attrName>
                                        </p:attrNameLst>
                                      </p:cBhvr>
                                      <p:tavLst>
                                        <p:tav tm="0">
                                          <p:val>
                                            <p:strVal val="#ppt_x"/>
                                          </p:val>
                                        </p:tav>
                                        <p:tav tm="100000">
                                          <p:val>
                                            <p:strVal val="#ppt_x"/>
                                          </p:val>
                                        </p:tav>
                                      </p:tavLst>
                                    </p:anim>
                                    <p:anim calcmode="lin" valueType="num">
                                      <p:cBhvr additive="base">
                                        <p:cTn id="59" dur="500" fill="hold"/>
                                        <p:tgtEl>
                                          <p:spTgt spid="15"/>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44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500"/>
                                        <p:tgtEl>
                                          <p:spTgt spid="16"/>
                                        </p:tgtEl>
                                      </p:cBhvr>
                                    </p:animEffect>
                                    <p:anim calcmode="lin" valueType="num">
                                      <p:cBhvr additive="base">
                                        <p:cTn id="63" dur="500" fill="hold"/>
                                        <p:tgtEl>
                                          <p:spTgt spid="16"/>
                                        </p:tgtEl>
                                        <p:attrNameLst>
                                          <p:attrName>ppt_x</p:attrName>
                                        </p:attrNameLst>
                                      </p:cBhvr>
                                      <p:tavLst>
                                        <p:tav tm="0">
                                          <p:val>
                                            <p:strVal val="#ppt_x"/>
                                          </p:val>
                                        </p:tav>
                                        <p:tav tm="100000">
                                          <p:val>
                                            <p:strVal val="#ppt_x"/>
                                          </p:val>
                                        </p:tav>
                                      </p:tavLst>
                                    </p:anim>
                                    <p:anim calcmode="lin" valueType="num">
                                      <p:cBhvr additive="base">
                                        <p:cTn id="64" dur="500" fill="hold"/>
                                        <p:tgtEl>
                                          <p:spTgt spid="16"/>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44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500"/>
                                        <p:tgtEl>
                                          <p:spTgt spid="17"/>
                                        </p:tgtEl>
                                      </p:cBhvr>
                                    </p:animEffect>
                                    <p:anim calcmode="lin" valueType="num">
                                      <p:cBhvr additive="base">
                                        <p:cTn id="68" dur="500" fill="hold"/>
                                        <p:tgtEl>
                                          <p:spTgt spid="17"/>
                                        </p:tgtEl>
                                        <p:attrNameLst>
                                          <p:attrName>ppt_x</p:attrName>
                                        </p:attrNameLst>
                                      </p:cBhvr>
                                      <p:tavLst>
                                        <p:tav tm="0">
                                          <p:val>
                                            <p:strVal val="#ppt_x"/>
                                          </p:val>
                                        </p:tav>
                                        <p:tav tm="100000">
                                          <p:val>
                                            <p:strVal val="#ppt_x"/>
                                          </p:val>
                                        </p:tav>
                                      </p:tavLst>
                                    </p:anim>
                                    <p:anim calcmode="lin" valueType="num">
                                      <p:cBhvr additive="base">
                                        <p:cTn id="69" dur="500" fill="hold"/>
                                        <p:tgtEl>
                                          <p:spTgt spid="17"/>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440"/>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500"/>
                                        <p:tgtEl>
                                          <p:spTgt spid="18"/>
                                        </p:tgtEl>
                                      </p:cBhvr>
                                    </p:animEffect>
                                    <p:anim calcmode="lin" valueType="num">
                                      <p:cBhvr additive="base">
                                        <p:cTn id="73" dur="500" fill="hold"/>
                                        <p:tgtEl>
                                          <p:spTgt spid="18"/>
                                        </p:tgtEl>
                                        <p:attrNameLst>
                                          <p:attrName>ppt_x</p:attrName>
                                        </p:attrNameLst>
                                      </p:cBhvr>
                                      <p:tavLst>
                                        <p:tav tm="0">
                                          <p:val>
                                            <p:strVal val="#ppt_x"/>
                                          </p:val>
                                        </p:tav>
                                        <p:tav tm="100000">
                                          <p:val>
                                            <p:strVal val="#ppt_x"/>
                                          </p:val>
                                        </p:tav>
                                      </p:tavLst>
                                    </p:anim>
                                    <p:anim calcmode="lin" valueType="num">
                                      <p:cBhvr additive="base">
                                        <p:cTn id="74" dur="500" fill="hold"/>
                                        <p:tgtEl>
                                          <p:spTgt spid="18"/>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440"/>
                                  </p:stCondLst>
                                  <p:childTnLst>
                                    <p:set>
                                      <p:cBhvr>
                                        <p:cTn id="76" dur="1" fill="hold">
                                          <p:stCondLst>
                                            <p:cond delay="0"/>
                                          </p:stCondLst>
                                        </p:cTn>
                                        <p:tgtEl>
                                          <p:spTgt spid="19"/>
                                        </p:tgtEl>
                                        <p:attrNameLst>
                                          <p:attrName>style.visibility</p:attrName>
                                        </p:attrNameLst>
                                      </p:cBhvr>
                                      <p:to>
                                        <p:strVal val="visible"/>
                                      </p:to>
                                    </p:set>
                                    <p:animEffect transition="in" filter="fade">
                                      <p:cBhvr>
                                        <p:cTn id="77" dur="500"/>
                                        <p:tgtEl>
                                          <p:spTgt spid="19"/>
                                        </p:tgtEl>
                                      </p:cBhvr>
                                    </p:animEffect>
                                    <p:anim calcmode="lin" valueType="num">
                                      <p:cBhvr additive="base">
                                        <p:cTn id="78" dur="500" fill="hold"/>
                                        <p:tgtEl>
                                          <p:spTgt spid="19"/>
                                        </p:tgtEl>
                                        <p:attrNameLst>
                                          <p:attrName>ppt_x</p:attrName>
                                        </p:attrNameLst>
                                      </p:cBhvr>
                                      <p:tavLst>
                                        <p:tav tm="0">
                                          <p:val>
                                            <p:strVal val="#ppt_x"/>
                                          </p:val>
                                        </p:tav>
                                        <p:tav tm="100000">
                                          <p:val>
                                            <p:strVal val="#ppt_x"/>
                                          </p:val>
                                        </p:tav>
                                      </p:tavLst>
                                    </p:anim>
                                    <p:anim calcmode="lin" valueType="num">
                                      <p:cBhvr additive="base">
                                        <p:cTn id="79" dur="500" fill="hold"/>
                                        <p:tgtEl>
                                          <p:spTgt spid="19"/>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660"/>
                                  </p:stCondLst>
                                  <p:childTnLst>
                                    <p:set>
                                      <p:cBhvr>
                                        <p:cTn id="81" dur="1" fill="hold">
                                          <p:stCondLst>
                                            <p:cond delay="0"/>
                                          </p:stCondLst>
                                        </p:cTn>
                                        <p:tgtEl>
                                          <p:spTgt spid="20"/>
                                        </p:tgtEl>
                                        <p:attrNameLst>
                                          <p:attrName>style.visibility</p:attrName>
                                        </p:attrNameLst>
                                      </p:cBhvr>
                                      <p:to>
                                        <p:strVal val="visible"/>
                                      </p:to>
                                    </p:set>
                                    <p:animEffect transition="in" filter="fade">
                                      <p:cBhvr>
                                        <p:cTn id="82" dur="500"/>
                                        <p:tgtEl>
                                          <p:spTgt spid="20"/>
                                        </p:tgtEl>
                                      </p:cBhvr>
                                    </p:animEffect>
                                    <p:anim calcmode="lin" valueType="num">
                                      <p:cBhvr additive="base">
                                        <p:cTn id="83" dur="500" fill="hold"/>
                                        <p:tgtEl>
                                          <p:spTgt spid="20"/>
                                        </p:tgtEl>
                                        <p:attrNameLst>
                                          <p:attrName>ppt_x</p:attrName>
                                        </p:attrNameLst>
                                      </p:cBhvr>
                                      <p:tavLst>
                                        <p:tav tm="0">
                                          <p:val>
                                            <p:strVal val="#ppt_x"/>
                                          </p:val>
                                        </p:tav>
                                        <p:tav tm="100000">
                                          <p:val>
                                            <p:strVal val="#ppt_x"/>
                                          </p:val>
                                        </p:tav>
                                      </p:tavLst>
                                    </p:anim>
                                    <p:anim calcmode="lin" valueType="num">
                                      <p:cBhvr additive="base">
                                        <p:cTn id="84" dur="500" fill="hold"/>
                                        <p:tgtEl>
                                          <p:spTgt spid="20"/>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660"/>
                                  </p:stCondLst>
                                  <p:childTnLst>
                                    <p:set>
                                      <p:cBhvr>
                                        <p:cTn id="86" dur="1" fill="hold">
                                          <p:stCondLst>
                                            <p:cond delay="0"/>
                                          </p:stCondLst>
                                        </p:cTn>
                                        <p:tgtEl>
                                          <p:spTgt spid="21"/>
                                        </p:tgtEl>
                                        <p:attrNameLst>
                                          <p:attrName>style.visibility</p:attrName>
                                        </p:attrNameLst>
                                      </p:cBhvr>
                                      <p:to>
                                        <p:strVal val="visible"/>
                                      </p:to>
                                    </p:set>
                                    <p:animEffect transition="in" filter="fade">
                                      <p:cBhvr>
                                        <p:cTn id="87" dur="500"/>
                                        <p:tgtEl>
                                          <p:spTgt spid="21"/>
                                        </p:tgtEl>
                                      </p:cBhvr>
                                    </p:animEffect>
                                    <p:anim calcmode="lin" valueType="num">
                                      <p:cBhvr additive="base">
                                        <p:cTn id="88" dur="500" fill="hold"/>
                                        <p:tgtEl>
                                          <p:spTgt spid="21"/>
                                        </p:tgtEl>
                                        <p:attrNameLst>
                                          <p:attrName>ppt_x</p:attrName>
                                        </p:attrNameLst>
                                      </p:cBhvr>
                                      <p:tavLst>
                                        <p:tav tm="0">
                                          <p:val>
                                            <p:strVal val="#ppt_x"/>
                                          </p:val>
                                        </p:tav>
                                        <p:tav tm="100000">
                                          <p:val>
                                            <p:strVal val="#ppt_x"/>
                                          </p:val>
                                        </p:tav>
                                      </p:tavLst>
                                    </p:anim>
                                    <p:anim calcmode="lin" valueType="num">
                                      <p:cBhvr additive="base">
                                        <p:cTn id="89" dur="500" fill="hold"/>
                                        <p:tgtEl>
                                          <p:spTgt spid="21"/>
                                        </p:tgtEl>
                                        <p:attrNameLst>
                                          <p:attrName>ppt_y</p:attrName>
                                        </p:attrNameLst>
                                      </p:cBhvr>
                                      <p:tavLst>
                                        <p:tav tm="0">
                                          <p:val>
                                            <p:strVal val="#ppt_y+.1"/>
                                          </p:val>
                                        </p:tav>
                                        <p:tav tm="100000">
                                          <p:val>
                                            <p:strVal val="#ppt_y"/>
                                          </p:val>
                                        </p:tav>
                                      </p:tavLst>
                                    </p:anim>
                                  </p:childTnLst>
                                </p:cTn>
                              </p:par>
                              <p:par>
                                <p:cTn id="90" presetID="42" presetClass="entr" presetSubtype="0" fill="hold" nodeType="withEffect">
                                  <p:stCondLst>
                                    <p:cond delay="660"/>
                                  </p:stCondLst>
                                  <p:childTnLst>
                                    <p:set>
                                      <p:cBhvr>
                                        <p:cTn id="91" dur="1" fill="hold">
                                          <p:stCondLst>
                                            <p:cond delay="0"/>
                                          </p:stCondLst>
                                        </p:cTn>
                                        <p:tgtEl>
                                          <p:spTgt spid="22"/>
                                        </p:tgtEl>
                                        <p:attrNameLst>
                                          <p:attrName>style.visibility</p:attrName>
                                        </p:attrNameLst>
                                      </p:cBhvr>
                                      <p:to>
                                        <p:strVal val="visible"/>
                                      </p:to>
                                    </p:set>
                                    <p:animEffect transition="in" filter="fade">
                                      <p:cBhvr>
                                        <p:cTn id="92" dur="500"/>
                                        <p:tgtEl>
                                          <p:spTgt spid="22"/>
                                        </p:tgtEl>
                                      </p:cBhvr>
                                    </p:animEffect>
                                    <p:anim calcmode="lin" valueType="num">
                                      <p:cBhvr additive="base">
                                        <p:cTn id="93" dur="500" fill="hold"/>
                                        <p:tgtEl>
                                          <p:spTgt spid="22"/>
                                        </p:tgtEl>
                                        <p:attrNameLst>
                                          <p:attrName>ppt_x</p:attrName>
                                        </p:attrNameLst>
                                      </p:cBhvr>
                                      <p:tavLst>
                                        <p:tav tm="0">
                                          <p:val>
                                            <p:strVal val="#ppt_x"/>
                                          </p:val>
                                        </p:tav>
                                        <p:tav tm="100000">
                                          <p:val>
                                            <p:strVal val="#ppt_x"/>
                                          </p:val>
                                        </p:tav>
                                      </p:tavLst>
                                    </p:anim>
                                    <p:anim calcmode="lin" valueType="num">
                                      <p:cBhvr additive="base">
                                        <p:cTn id="94" dur="500" fill="hold"/>
                                        <p:tgtEl>
                                          <p:spTgt spid="22"/>
                                        </p:tgtEl>
                                        <p:attrNameLst>
                                          <p:attrName>ppt_y</p:attrName>
                                        </p:attrNameLst>
                                      </p:cBhvr>
                                      <p:tavLst>
                                        <p:tav tm="0">
                                          <p:val>
                                            <p:strVal val="#ppt_y+.1"/>
                                          </p:val>
                                        </p:tav>
                                        <p:tav tm="100000">
                                          <p:val>
                                            <p:strVal val="#ppt_y"/>
                                          </p:val>
                                        </p:tav>
                                      </p:tavLst>
                                    </p:anim>
                                  </p:childTnLst>
                                </p:cTn>
                              </p:par>
                              <p:par>
                                <p:cTn id="95" presetID="42" presetClass="entr" presetSubtype="0" fill="hold" grpId="0" nodeType="withEffect">
                                  <p:stCondLst>
                                    <p:cond delay="660"/>
                                  </p:stCondLst>
                                  <p:childTnLst>
                                    <p:set>
                                      <p:cBhvr>
                                        <p:cTn id="96" dur="1" fill="hold">
                                          <p:stCondLst>
                                            <p:cond delay="0"/>
                                          </p:stCondLst>
                                        </p:cTn>
                                        <p:tgtEl>
                                          <p:spTgt spid="23"/>
                                        </p:tgtEl>
                                        <p:attrNameLst>
                                          <p:attrName>style.visibility</p:attrName>
                                        </p:attrNameLst>
                                      </p:cBhvr>
                                      <p:to>
                                        <p:strVal val="visible"/>
                                      </p:to>
                                    </p:set>
                                    <p:animEffect transition="in" filter="fade">
                                      <p:cBhvr>
                                        <p:cTn id="97" dur="500"/>
                                        <p:tgtEl>
                                          <p:spTgt spid="23"/>
                                        </p:tgtEl>
                                      </p:cBhvr>
                                    </p:animEffect>
                                    <p:anim calcmode="lin" valueType="num">
                                      <p:cBhvr additive="base">
                                        <p:cTn id="98" dur="500" fill="hold"/>
                                        <p:tgtEl>
                                          <p:spTgt spid="23"/>
                                        </p:tgtEl>
                                        <p:attrNameLst>
                                          <p:attrName>ppt_x</p:attrName>
                                        </p:attrNameLst>
                                      </p:cBhvr>
                                      <p:tavLst>
                                        <p:tav tm="0">
                                          <p:val>
                                            <p:strVal val="#ppt_x"/>
                                          </p:val>
                                        </p:tav>
                                        <p:tav tm="100000">
                                          <p:val>
                                            <p:strVal val="#ppt_x"/>
                                          </p:val>
                                        </p:tav>
                                      </p:tavLst>
                                    </p:anim>
                                    <p:anim calcmode="lin" valueType="num">
                                      <p:cBhvr additive="base">
                                        <p:cTn id="99" dur="500" fill="hold"/>
                                        <p:tgtEl>
                                          <p:spTgt spid="23"/>
                                        </p:tgtEl>
                                        <p:attrNameLst>
                                          <p:attrName>ppt_y</p:attrName>
                                        </p:attrNameLst>
                                      </p:cBhvr>
                                      <p:tavLst>
                                        <p:tav tm="0">
                                          <p:val>
                                            <p:strVal val="#ppt_y+.1"/>
                                          </p:val>
                                        </p:tav>
                                        <p:tav tm="100000">
                                          <p:val>
                                            <p:strVal val="#ppt_y"/>
                                          </p:val>
                                        </p:tav>
                                      </p:tavLst>
                                    </p:anim>
                                  </p:childTnLst>
                                </p:cTn>
                              </p:par>
                              <p:par>
                                <p:cTn id="100" presetID="42" presetClass="entr" presetSubtype="0" fill="hold" grpId="0" nodeType="withEffect">
                                  <p:stCondLst>
                                    <p:cond delay="660"/>
                                  </p:stCondLst>
                                  <p:childTnLst>
                                    <p:set>
                                      <p:cBhvr>
                                        <p:cTn id="101" dur="1" fill="hold">
                                          <p:stCondLst>
                                            <p:cond delay="0"/>
                                          </p:stCondLst>
                                        </p:cTn>
                                        <p:tgtEl>
                                          <p:spTgt spid="24"/>
                                        </p:tgtEl>
                                        <p:attrNameLst>
                                          <p:attrName>style.visibility</p:attrName>
                                        </p:attrNameLst>
                                      </p:cBhvr>
                                      <p:to>
                                        <p:strVal val="visible"/>
                                      </p:to>
                                    </p:set>
                                    <p:animEffect transition="in" filter="fade">
                                      <p:cBhvr>
                                        <p:cTn id="102" dur="500"/>
                                        <p:tgtEl>
                                          <p:spTgt spid="24"/>
                                        </p:tgtEl>
                                      </p:cBhvr>
                                    </p:animEffect>
                                    <p:anim calcmode="lin" valueType="num">
                                      <p:cBhvr additive="base">
                                        <p:cTn id="103" dur="500" fill="hold"/>
                                        <p:tgtEl>
                                          <p:spTgt spid="24"/>
                                        </p:tgtEl>
                                        <p:attrNameLst>
                                          <p:attrName>ppt_x</p:attrName>
                                        </p:attrNameLst>
                                      </p:cBhvr>
                                      <p:tavLst>
                                        <p:tav tm="0">
                                          <p:val>
                                            <p:strVal val="#ppt_x"/>
                                          </p:val>
                                        </p:tav>
                                        <p:tav tm="100000">
                                          <p:val>
                                            <p:strVal val="#ppt_x"/>
                                          </p:val>
                                        </p:tav>
                                      </p:tavLst>
                                    </p:anim>
                                    <p:anim calcmode="lin" valueType="num">
                                      <p:cBhvr additive="base">
                                        <p:cTn id="104" dur="500" fill="hold"/>
                                        <p:tgtEl>
                                          <p:spTgt spid="24"/>
                                        </p:tgtEl>
                                        <p:attrNameLst>
                                          <p:attrName>ppt_y</p:attrName>
                                        </p:attrNameLst>
                                      </p:cBhvr>
                                      <p:tavLst>
                                        <p:tav tm="0">
                                          <p:val>
                                            <p:strVal val="#ppt_y+.1"/>
                                          </p:val>
                                        </p:tav>
                                        <p:tav tm="100000">
                                          <p:val>
                                            <p:strVal val="#ppt_y"/>
                                          </p:val>
                                        </p:tav>
                                      </p:tavLst>
                                    </p:anim>
                                  </p:childTnLst>
                                </p:cTn>
                              </p:par>
                              <p:par>
                                <p:cTn id="105" presetID="42" presetClass="entr" presetSubtype="0" fill="hold" grpId="0" nodeType="withEffect">
                                  <p:stCondLst>
                                    <p:cond delay="880"/>
                                  </p:stCondLst>
                                  <p:childTnLst>
                                    <p:set>
                                      <p:cBhvr>
                                        <p:cTn id="106" dur="1" fill="hold">
                                          <p:stCondLst>
                                            <p:cond delay="0"/>
                                          </p:stCondLst>
                                        </p:cTn>
                                        <p:tgtEl>
                                          <p:spTgt spid="25"/>
                                        </p:tgtEl>
                                        <p:attrNameLst>
                                          <p:attrName>style.visibility</p:attrName>
                                        </p:attrNameLst>
                                      </p:cBhvr>
                                      <p:to>
                                        <p:strVal val="visible"/>
                                      </p:to>
                                    </p:set>
                                    <p:animEffect transition="in" filter="fade">
                                      <p:cBhvr>
                                        <p:cTn id="107" dur="500"/>
                                        <p:tgtEl>
                                          <p:spTgt spid="25"/>
                                        </p:tgtEl>
                                      </p:cBhvr>
                                    </p:animEffect>
                                    <p:anim calcmode="lin" valueType="num">
                                      <p:cBhvr additive="base">
                                        <p:cTn id="108" dur="500" fill="hold"/>
                                        <p:tgtEl>
                                          <p:spTgt spid="25"/>
                                        </p:tgtEl>
                                        <p:attrNameLst>
                                          <p:attrName>ppt_x</p:attrName>
                                        </p:attrNameLst>
                                      </p:cBhvr>
                                      <p:tavLst>
                                        <p:tav tm="0">
                                          <p:val>
                                            <p:strVal val="#ppt_x"/>
                                          </p:val>
                                        </p:tav>
                                        <p:tav tm="100000">
                                          <p:val>
                                            <p:strVal val="#ppt_x"/>
                                          </p:val>
                                        </p:tav>
                                      </p:tavLst>
                                    </p:anim>
                                    <p:anim calcmode="lin" valueType="num">
                                      <p:cBhvr additive="base">
                                        <p:cTn id="109" dur="500" fill="hold"/>
                                        <p:tgtEl>
                                          <p:spTgt spid="25"/>
                                        </p:tgtEl>
                                        <p:attrNameLst>
                                          <p:attrName>ppt_y</p:attrName>
                                        </p:attrNameLst>
                                      </p:cBhvr>
                                      <p:tavLst>
                                        <p:tav tm="0">
                                          <p:val>
                                            <p:strVal val="#ppt_y+.1"/>
                                          </p:val>
                                        </p:tav>
                                        <p:tav tm="100000">
                                          <p:val>
                                            <p:strVal val="#ppt_y"/>
                                          </p:val>
                                        </p:tav>
                                      </p:tavLst>
                                    </p:anim>
                                  </p:childTnLst>
                                </p:cTn>
                              </p:par>
                              <p:par>
                                <p:cTn id="110" presetID="42" presetClass="entr" presetSubtype="0" fill="hold" grpId="0" nodeType="withEffect">
                                  <p:stCondLst>
                                    <p:cond delay="880"/>
                                  </p:stCondLst>
                                  <p:childTnLst>
                                    <p:set>
                                      <p:cBhvr>
                                        <p:cTn id="111" dur="1" fill="hold">
                                          <p:stCondLst>
                                            <p:cond delay="0"/>
                                          </p:stCondLst>
                                        </p:cTn>
                                        <p:tgtEl>
                                          <p:spTgt spid="26"/>
                                        </p:tgtEl>
                                        <p:attrNameLst>
                                          <p:attrName>style.visibility</p:attrName>
                                        </p:attrNameLst>
                                      </p:cBhvr>
                                      <p:to>
                                        <p:strVal val="visible"/>
                                      </p:to>
                                    </p:set>
                                    <p:animEffect transition="in" filter="fade">
                                      <p:cBhvr>
                                        <p:cTn id="112" dur="500"/>
                                        <p:tgtEl>
                                          <p:spTgt spid="26"/>
                                        </p:tgtEl>
                                      </p:cBhvr>
                                    </p:animEffect>
                                    <p:anim calcmode="lin" valueType="num">
                                      <p:cBhvr additive="base">
                                        <p:cTn id="113" dur="500" fill="hold"/>
                                        <p:tgtEl>
                                          <p:spTgt spid="26"/>
                                        </p:tgtEl>
                                        <p:attrNameLst>
                                          <p:attrName>ppt_x</p:attrName>
                                        </p:attrNameLst>
                                      </p:cBhvr>
                                      <p:tavLst>
                                        <p:tav tm="0">
                                          <p:val>
                                            <p:strVal val="#ppt_x"/>
                                          </p:val>
                                        </p:tav>
                                        <p:tav tm="100000">
                                          <p:val>
                                            <p:strVal val="#ppt_x"/>
                                          </p:val>
                                        </p:tav>
                                      </p:tavLst>
                                    </p:anim>
                                    <p:anim calcmode="lin" valueType="num">
                                      <p:cBhvr additive="base">
                                        <p:cTn id="114" dur="500" fill="hold"/>
                                        <p:tgtEl>
                                          <p:spTgt spid="26"/>
                                        </p:tgtEl>
                                        <p:attrNameLst>
                                          <p:attrName>ppt_y</p:attrName>
                                        </p:attrNameLst>
                                      </p:cBhvr>
                                      <p:tavLst>
                                        <p:tav tm="0">
                                          <p:val>
                                            <p:strVal val="#ppt_y+.1"/>
                                          </p:val>
                                        </p:tav>
                                        <p:tav tm="100000">
                                          <p:val>
                                            <p:strVal val="#ppt_y"/>
                                          </p:val>
                                        </p:tav>
                                      </p:tavLst>
                                    </p:anim>
                                  </p:childTnLst>
                                </p:cTn>
                              </p:par>
                              <p:par>
                                <p:cTn id="115" presetID="42" presetClass="entr" presetSubtype="0" fill="hold" nodeType="withEffect">
                                  <p:stCondLst>
                                    <p:cond delay="880"/>
                                  </p:stCondLst>
                                  <p:childTnLst>
                                    <p:set>
                                      <p:cBhvr>
                                        <p:cTn id="116" dur="1" fill="hold">
                                          <p:stCondLst>
                                            <p:cond delay="0"/>
                                          </p:stCondLst>
                                        </p:cTn>
                                        <p:tgtEl>
                                          <p:spTgt spid="27"/>
                                        </p:tgtEl>
                                        <p:attrNameLst>
                                          <p:attrName>style.visibility</p:attrName>
                                        </p:attrNameLst>
                                      </p:cBhvr>
                                      <p:to>
                                        <p:strVal val="visible"/>
                                      </p:to>
                                    </p:set>
                                    <p:animEffect transition="in" filter="fade">
                                      <p:cBhvr>
                                        <p:cTn id="117" dur="500"/>
                                        <p:tgtEl>
                                          <p:spTgt spid="27"/>
                                        </p:tgtEl>
                                      </p:cBhvr>
                                    </p:animEffect>
                                    <p:anim calcmode="lin" valueType="num">
                                      <p:cBhvr additive="base">
                                        <p:cTn id="118" dur="500" fill="hold"/>
                                        <p:tgtEl>
                                          <p:spTgt spid="27"/>
                                        </p:tgtEl>
                                        <p:attrNameLst>
                                          <p:attrName>ppt_x</p:attrName>
                                        </p:attrNameLst>
                                      </p:cBhvr>
                                      <p:tavLst>
                                        <p:tav tm="0">
                                          <p:val>
                                            <p:strVal val="#ppt_x"/>
                                          </p:val>
                                        </p:tav>
                                        <p:tav tm="100000">
                                          <p:val>
                                            <p:strVal val="#ppt_x"/>
                                          </p:val>
                                        </p:tav>
                                      </p:tavLst>
                                    </p:anim>
                                    <p:anim calcmode="lin" valueType="num">
                                      <p:cBhvr additive="base">
                                        <p:cTn id="119" dur="500" fill="hold"/>
                                        <p:tgtEl>
                                          <p:spTgt spid="27"/>
                                        </p:tgtEl>
                                        <p:attrNameLst>
                                          <p:attrName>ppt_y</p:attrName>
                                        </p:attrNameLst>
                                      </p:cBhvr>
                                      <p:tavLst>
                                        <p:tav tm="0">
                                          <p:val>
                                            <p:strVal val="#ppt_y+.1"/>
                                          </p:val>
                                        </p:tav>
                                        <p:tav tm="100000">
                                          <p:val>
                                            <p:strVal val="#ppt_y"/>
                                          </p:val>
                                        </p:tav>
                                      </p:tavLst>
                                    </p:anim>
                                  </p:childTnLst>
                                </p:cTn>
                              </p:par>
                              <p:par>
                                <p:cTn id="120" presetID="42" presetClass="entr" presetSubtype="0" fill="hold" grpId="0" nodeType="withEffect">
                                  <p:stCondLst>
                                    <p:cond delay="880"/>
                                  </p:stCondLst>
                                  <p:childTnLst>
                                    <p:set>
                                      <p:cBhvr>
                                        <p:cTn id="121" dur="1" fill="hold">
                                          <p:stCondLst>
                                            <p:cond delay="0"/>
                                          </p:stCondLst>
                                        </p:cTn>
                                        <p:tgtEl>
                                          <p:spTgt spid="28"/>
                                        </p:tgtEl>
                                        <p:attrNameLst>
                                          <p:attrName>style.visibility</p:attrName>
                                        </p:attrNameLst>
                                      </p:cBhvr>
                                      <p:to>
                                        <p:strVal val="visible"/>
                                      </p:to>
                                    </p:set>
                                    <p:animEffect transition="in" filter="fade">
                                      <p:cBhvr>
                                        <p:cTn id="122" dur="500"/>
                                        <p:tgtEl>
                                          <p:spTgt spid="28"/>
                                        </p:tgtEl>
                                      </p:cBhvr>
                                    </p:animEffect>
                                    <p:anim calcmode="lin" valueType="num">
                                      <p:cBhvr additive="base">
                                        <p:cTn id="123" dur="500" fill="hold"/>
                                        <p:tgtEl>
                                          <p:spTgt spid="28"/>
                                        </p:tgtEl>
                                        <p:attrNameLst>
                                          <p:attrName>ppt_x</p:attrName>
                                        </p:attrNameLst>
                                      </p:cBhvr>
                                      <p:tavLst>
                                        <p:tav tm="0">
                                          <p:val>
                                            <p:strVal val="#ppt_x"/>
                                          </p:val>
                                        </p:tav>
                                        <p:tav tm="100000">
                                          <p:val>
                                            <p:strVal val="#ppt_x"/>
                                          </p:val>
                                        </p:tav>
                                      </p:tavLst>
                                    </p:anim>
                                    <p:anim calcmode="lin" valueType="num">
                                      <p:cBhvr additive="base">
                                        <p:cTn id="124" dur="500" fill="hold"/>
                                        <p:tgtEl>
                                          <p:spTgt spid="28"/>
                                        </p:tgtEl>
                                        <p:attrNameLst>
                                          <p:attrName>ppt_y</p:attrName>
                                        </p:attrNameLst>
                                      </p:cBhvr>
                                      <p:tavLst>
                                        <p:tav tm="0">
                                          <p:val>
                                            <p:strVal val="#ppt_y+.1"/>
                                          </p:val>
                                        </p:tav>
                                        <p:tav tm="100000">
                                          <p:val>
                                            <p:strVal val="#ppt_y"/>
                                          </p:val>
                                        </p:tav>
                                      </p:tavLst>
                                    </p:anim>
                                  </p:childTnLst>
                                </p:cTn>
                              </p:par>
                              <p:par>
                                <p:cTn id="125" presetID="42" presetClass="entr" presetSubtype="0" fill="hold" grpId="0" nodeType="withEffect">
                                  <p:stCondLst>
                                    <p:cond delay="880"/>
                                  </p:stCondLst>
                                  <p:childTnLst>
                                    <p:set>
                                      <p:cBhvr>
                                        <p:cTn id="126" dur="1" fill="hold">
                                          <p:stCondLst>
                                            <p:cond delay="0"/>
                                          </p:stCondLst>
                                        </p:cTn>
                                        <p:tgtEl>
                                          <p:spTgt spid="29"/>
                                        </p:tgtEl>
                                        <p:attrNameLst>
                                          <p:attrName>style.visibility</p:attrName>
                                        </p:attrNameLst>
                                      </p:cBhvr>
                                      <p:to>
                                        <p:strVal val="visible"/>
                                      </p:to>
                                    </p:set>
                                    <p:animEffect transition="in" filter="fade">
                                      <p:cBhvr>
                                        <p:cTn id="127" dur="500"/>
                                        <p:tgtEl>
                                          <p:spTgt spid="29"/>
                                        </p:tgtEl>
                                      </p:cBhvr>
                                    </p:animEffect>
                                    <p:anim calcmode="lin" valueType="num">
                                      <p:cBhvr additive="base">
                                        <p:cTn id="128" dur="500" fill="hold"/>
                                        <p:tgtEl>
                                          <p:spTgt spid="29"/>
                                        </p:tgtEl>
                                        <p:attrNameLst>
                                          <p:attrName>ppt_x</p:attrName>
                                        </p:attrNameLst>
                                      </p:cBhvr>
                                      <p:tavLst>
                                        <p:tav tm="0">
                                          <p:val>
                                            <p:strVal val="#ppt_x"/>
                                          </p:val>
                                        </p:tav>
                                        <p:tav tm="100000">
                                          <p:val>
                                            <p:strVal val="#ppt_x"/>
                                          </p:val>
                                        </p:tav>
                                      </p:tavLst>
                                    </p:anim>
                                    <p:anim calcmode="lin" valueType="num">
                                      <p:cBhvr additive="base">
                                        <p:cTn id="129" dur="500" fill="hold"/>
                                        <p:tgtEl>
                                          <p:spTgt spid="29"/>
                                        </p:tgtEl>
                                        <p:attrNameLst>
                                          <p:attrName>ppt_y</p:attrName>
                                        </p:attrNameLst>
                                      </p:cBhvr>
                                      <p:tavLst>
                                        <p:tav tm="0">
                                          <p:val>
                                            <p:strVal val="#ppt_y+.1"/>
                                          </p:val>
                                        </p:tav>
                                        <p:tav tm="100000">
                                          <p:val>
                                            <p:strVal val="#ppt_y"/>
                                          </p:val>
                                        </p:tav>
                                      </p:tavLst>
                                    </p:anim>
                                  </p:childTnLst>
                                </p:cTn>
                              </p:par>
                              <p:par>
                                <p:cTn id="130" presetID="42" presetClass="entr" presetSubtype="0" fill="hold" grpId="0" nodeType="withEffect">
                                  <p:stCondLst>
                                    <p:cond delay="1100"/>
                                  </p:stCondLst>
                                  <p:childTnLst>
                                    <p:set>
                                      <p:cBhvr>
                                        <p:cTn id="131" dur="1" fill="hold">
                                          <p:stCondLst>
                                            <p:cond delay="0"/>
                                          </p:stCondLst>
                                        </p:cTn>
                                        <p:tgtEl>
                                          <p:spTgt spid="30"/>
                                        </p:tgtEl>
                                        <p:attrNameLst>
                                          <p:attrName>style.visibility</p:attrName>
                                        </p:attrNameLst>
                                      </p:cBhvr>
                                      <p:to>
                                        <p:strVal val="visible"/>
                                      </p:to>
                                    </p:set>
                                    <p:animEffect transition="in" filter="fade">
                                      <p:cBhvr>
                                        <p:cTn id="132" dur="500"/>
                                        <p:tgtEl>
                                          <p:spTgt spid="30"/>
                                        </p:tgtEl>
                                      </p:cBhvr>
                                    </p:animEffect>
                                    <p:anim calcmode="lin" valueType="num">
                                      <p:cBhvr additive="base">
                                        <p:cTn id="133" dur="500" fill="hold"/>
                                        <p:tgtEl>
                                          <p:spTgt spid="30"/>
                                        </p:tgtEl>
                                        <p:attrNameLst>
                                          <p:attrName>ppt_x</p:attrName>
                                        </p:attrNameLst>
                                      </p:cBhvr>
                                      <p:tavLst>
                                        <p:tav tm="0">
                                          <p:val>
                                            <p:strVal val="#ppt_x"/>
                                          </p:val>
                                        </p:tav>
                                        <p:tav tm="100000">
                                          <p:val>
                                            <p:strVal val="#ppt_x"/>
                                          </p:val>
                                        </p:tav>
                                      </p:tavLst>
                                    </p:anim>
                                    <p:anim calcmode="lin" valueType="num">
                                      <p:cBhvr additive="base">
                                        <p:cTn id="134" dur="500" fill="hold"/>
                                        <p:tgtEl>
                                          <p:spTgt spid="30"/>
                                        </p:tgtEl>
                                        <p:attrNameLst>
                                          <p:attrName>ppt_y</p:attrName>
                                        </p:attrNameLst>
                                      </p:cBhvr>
                                      <p:tavLst>
                                        <p:tav tm="0">
                                          <p:val>
                                            <p:strVal val="#ppt_y+.1"/>
                                          </p:val>
                                        </p:tav>
                                        <p:tav tm="100000">
                                          <p:val>
                                            <p:strVal val="#ppt_y"/>
                                          </p:val>
                                        </p:tav>
                                      </p:tavLst>
                                    </p:anim>
                                  </p:childTnLst>
                                </p:cTn>
                              </p:par>
                              <p:par>
                                <p:cTn id="135" presetID="42" presetClass="entr" presetSubtype="0" fill="hold" grpId="0" nodeType="withEffect">
                                  <p:stCondLst>
                                    <p:cond delay="1100"/>
                                  </p:stCondLst>
                                  <p:childTnLst>
                                    <p:set>
                                      <p:cBhvr>
                                        <p:cTn id="136" dur="1" fill="hold">
                                          <p:stCondLst>
                                            <p:cond delay="0"/>
                                          </p:stCondLst>
                                        </p:cTn>
                                        <p:tgtEl>
                                          <p:spTgt spid="31"/>
                                        </p:tgtEl>
                                        <p:attrNameLst>
                                          <p:attrName>style.visibility</p:attrName>
                                        </p:attrNameLst>
                                      </p:cBhvr>
                                      <p:to>
                                        <p:strVal val="visible"/>
                                      </p:to>
                                    </p:set>
                                    <p:animEffect transition="in" filter="fade">
                                      <p:cBhvr>
                                        <p:cTn id="137" dur="500"/>
                                        <p:tgtEl>
                                          <p:spTgt spid="31"/>
                                        </p:tgtEl>
                                      </p:cBhvr>
                                    </p:animEffect>
                                    <p:anim calcmode="lin" valueType="num">
                                      <p:cBhvr additive="base">
                                        <p:cTn id="138" dur="500" fill="hold"/>
                                        <p:tgtEl>
                                          <p:spTgt spid="31"/>
                                        </p:tgtEl>
                                        <p:attrNameLst>
                                          <p:attrName>ppt_x</p:attrName>
                                        </p:attrNameLst>
                                      </p:cBhvr>
                                      <p:tavLst>
                                        <p:tav tm="0">
                                          <p:val>
                                            <p:strVal val="#ppt_x"/>
                                          </p:val>
                                        </p:tav>
                                        <p:tav tm="100000">
                                          <p:val>
                                            <p:strVal val="#ppt_x"/>
                                          </p:val>
                                        </p:tav>
                                      </p:tavLst>
                                    </p:anim>
                                    <p:anim calcmode="lin" valueType="num">
                                      <p:cBhvr additive="base">
                                        <p:cTn id="139" dur="500" fill="hold"/>
                                        <p:tgtEl>
                                          <p:spTgt spid="31"/>
                                        </p:tgtEl>
                                        <p:attrNameLst>
                                          <p:attrName>ppt_y</p:attrName>
                                        </p:attrNameLst>
                                      </p:cBhvr>
                                      <p:tavLst>
                                        <p:tav tm="0">
                                          <p:val>
                                            <p:strVal val="#ppt_y+.1"/>
                                          </p:val>
                                        </p:tav>
                                        <p:tav tm="100000">
                                          <p:val>
                                            <p:strVal val="#ppt_y"/>
                                          </p:val>
                                        </p:tav>
                                      </p:tavLst>
                                    </p:anim>
                                  </p:childTnLst>
                                </p:cTn>
                              </p:par>
                              <p:par>
                                <p:cTn id="140" presetID="42" presetClass="entr" presetSubtype="0" fill="hold" nodeType="withEffect">
                                  <p:stCondLst>
                                    <p:cond delay="1100"/>
                                  </p:stCondLst>
                                  <p:childTnLst>
                                    <p:set>
                                      <p:cBhvr>
                                        <p:cTn id="141" dur="1" fill="hold">
                                          <p:stCondLst>
                                            <p:cond delay="0"/>
                                          </p:stCondLst>
                                        </p:cTn>
                                        <p:tgtEl>
                                          <p:spTgt spid="32"/>
                                        </p:tgtEl>
                                        <p:attrNameLst>
                                          <p:attrName>style.visibility</p:attrName>
                                        </p:attrNameLst>
                                      </p:cBhvr>
                                      <p:to>
                                        <p:strVal val="visible"/>
                                      </p:to>
                                    </p:set>
                                    <p:animEffect transition="in" filter="fade">
                                      <p:cBhvr>
                                        <p:cTn id="142" dur="500"/>
                                        <p:tgtEl>
                                          <p:spTgt spid="32"/>
                                        </p:tgtEl>
                                      </p:cBhvr>
                                    </p:animEffect>
                                    <p:anim calcmode="lin" valueType="num">
                                      <p:cBhvr additive="base">
                                        <p:cTn id="143" dur="500" fill="hold"/>
                                        <p:tgtEl>
                                          <p:spTgt spid="32"/>
                                        </p:tgtEl>
                                        <p:attrNameLst>
                                          <p:attrName>ppt_x</p:attrName>
                                        </p:attrNameLst>
                                      </p:cBhvr>
                                      <p:tavLst>
                                        <p:tav tm="0">
                                          <p:val>
                                            <p:strVal val="#ppt_x"/>
                                          </p:val>
                                        </p:tav>
                                        <p:tav tm="100000">
                                          <p:val>
                                            <p:strVal val="#ppt_x"/>
                                          </p:val>
                                        </p:tav>
                                      </p:tavLst>
                                    </p:anim>
                                    <p:anim calcmode="lin" valueType="num">
                                      <p:cBhvr additive="base">
                                        <p:cTn id="144" dur="500" fill="hold"/>
                                        <p:tgtEl>
                                          <p:spTgt spid="32"/>
                                        </p:tgtEl>
                                        <p:attrNameLst>
                                          <p:attrName>ppt_y</p:attrName>
                                        </p:attrNameLst>
                                      </p:cBhvr>
                                      <p:tavLst>
                                        <p:tav tm="0">
                                          <p:val>
                                            <p:strVal val="#ppt_y+.1"/>
                                          </p:val>
                                        </p:tav>
                                        <p:tav tm="100000">
                                          <p:val>
                                            <p:strVal val="#ppt_y"/>
                                          </p:val>
                                        </p:tav>
                                      </p:tavLst>
                                    </p:anim>
                                  </p:childTnLst>
                                </p:cTn>
                              </p:par>
                              <p:par>
                                <p:cTn id="145" presetID="42" presetClass="entr" presetSubtype="0" fill="hold" grpId="0" nodeType="withEffect">
                                  <p:stCondLst>
                                    <p:cond delay="1100"/>
                                  </p:stCondLst>
                                  <p:childTnLst>
                                    <p:set>
                                      <p:cBhvr>
                                        <p:cTn id="146" dur="1" fill="hold">
                                          <p:stCondLst>
                                            <p:cond delay="0"/>
                                          </p:stCondLst>
                                        </p:cTn>
                                        <p:tgtEl>
                                          <p:spTgt spid="33"/>
                                        </p:tgtEl>
                                        <p:attrNameLst>
                                          <p:attrName>style.visibility</p:attrName>
                                        </p:attrNameLst>
                                      </p:cBhvr>
                                      <p:to>
                                        <p:strVal val="visible"/>
                                      </p:to>
                                    </p:set>
                                    <p:animEffect transition="in" filter="fade">
                                      <p:cBhvr>
                                        <p:cTn id="147" dur="500"/>
                                        <p:tgtEl>
                                          <p:spTgt spid="33"/>
                                        </p:tgtEl>
                                      </p:cBhvr>
                                    </p:animEffect>
                                    <p:anim calcmode="lin" valueType="num">
                                      <p:cBhvr additive="base">
                                        <p:cTn id="148" dur="500" fill="hold"/>
                                        <p:tgtEl>
                                          <p:spTgt spid="33"/>
                                        </p:tgtEl>
                                        <p:attrNameLst>
                                          <p:attrName>ppt_x</p:attrName>
                                        </p:attrNameLst>
                                      </p:cBhvr>
                                      <p:tavLst>
                                        <p:tav tm="0">
                                          <p:val>
                                            <p:strVal val="#ppt_x"/>
                                          </p:val>
                                        </p:tav>
                                        <p:tav tm="100000">
                                          <p:val>
                                            <p:strVal val="#ppt_x"/>
                                          </p:val>
                                        </p:tav>
                                      </p:tavLst>
                                    </p:anim>
                                    <p:anim calcmode="lin" valueType="num">
                                      <p:cBhvr additive="base">
                                        <p:cTn id="149" dur="500" fill="hold"/>
                                        <p:tgtEl>
                                          <p:spTgt spid="33"/>
                                        </p:tgtEl>
                                        <p:attrNameLst>
                                          <p:attrName>ppt_y</p:attrName>
                                        </p:attrNameLst>
                                      </p:cBhvr>
                                      <p:tavLst>
                                        <p:tav tm="0">
                                          <p:val>
                                            <p:strVal val="#ppt_y+.1"/>
                                          </p:val>
                                        </p:tav>
                                        <p:tav tm="100000">
                                          <p:val>
                                            <p:strVal val="#ppt_y"/>
                                          </p:val>
                                        </p:tav>
                                      </p:tavLst>
                                    </p:anim>
                                  </p:childTnLst>
                                </p:cTn>
                              </p:par>
                              <p:par>
                                <p:cTn id="150" presetID="42" presetClass="entr" presetSubtype="0" fill="hold" grpId="0" nodeType="withEffect">
                                  <p:stCondLst>
                                    <p:cond delay="1100"/>
                                  </p:stCondLst>
                                  <p:childTnLst>
                                    <p:set>
                                      <p:cBhvr>
                                        <p:cTn id="151" dur="1" fill="hold">
                                          <p:stCondLst>
                                            <p:cond delay="0"/>
                                          </p:stCondLst>
                                        </p:cTn>
                                        <p:tgtEl>
                                          <p:spTgt spid="34"/>
                                        </p:tgtEl>
                                        <p:attrNameLst>
                                          <p:attrName>style.visibility</p:attrName>
                                        </p:attrNameLst>
                                      </p:cBhvr>
                                      <p:to>
                                        <p:strVal val="visible"/>
                                      </p:to>
                                    </p:set>
                                    <p:animEffect transition="in" filter="fade">
                                      <p:cBhvr>
                                        <p:cTn id="152" dur="500"/>
                                        <p:tgtEl>
                                          <p:spTgt spid="34"/>
                                        </p:tgtEl>
                                      </p:cBhvr>
                                    </p:animEffect>
                                    <p:anim calcmode="lin" valueType="num">
                                      <p:cBhvr additive="base">
                                        <p:cTn id="153" dur="500" fill="hold"/>
                                        <p:tgtEl>
                                          <p:spTgt spid="34"/>
                                        </p:tgtEl>
                                        <p:attrNameLst>
                                          <p:attrName>ppt_x</p:attrName>
                                        </p:attrNameLst>
                                      </p:cBhvr>
                                      <p:tavLst>
                                        <p:tav tm="0">
                                          <p:val>
                                            <p:strVal val="#ppt_x"/>
                                          </p:val>
                                        </p:tav>
                                        <p:tav tm="100000">
                                          <p:val>
                                            <p:strVal val="#ppt_x"/>
                                          </p:val>
                                        </p:tav>
                                      </p:tavLst>
                                    </p:anim>
                                    <p:anim calcmode="lin" valueType="num">
                                      <p:cBhvr additive="base">
                                        <p:cTn id="154" dur="500" fill="hold"/>
                                        <p:tgtEl>
                                          <p:spTgt spid="34"/>
                                        </p:tgtEl>
                                        <p:attrNameLst>
                                          <p:attrName>ppt_y</p:attrName>
                                        </p:attrNameLst>
                                      </p:cBhvr>
                                      <p:tavLst>
                                        <p:tav tm="0">
                                          <p:val>
                                            <p:strVal val="#ppt_y+.1"/>
                                          </p:val>
                                        </p:tav>
                                        <p:tav tm="100000">
                                          <p:val>
                                            <p:strVal val="#ppt_y"/>
                                          </p:val>
                                        </p:tav>
                                      </p:tavLst>
                                    </p:anim>
                                  </p:childTnLst>
                                </p:cTn>
                              </p:par>
                              <p:par>
                                <p:cTn id="155" presetID="42" presetClass="entr" presetSubtype="0" fill="hold" grpId="0" nodeType="withEffect">
                                  <p:stCondLst>
                                    <p:cond delay="1320"/>
                                  </p:stCondLst>
                                  <p:childTnLst>
                                    <p:set>
                                      <p:cBhvr>
                                        <p:cTn id="156" dur="1" fill="hold">
                                          <p:stCondLst>
                                            <p:cond delay="0"/>
                                          </p:stCondLst>
                                        </p:cTn>
                                        <p:tgtEl>
                                          <p:spTgt spid="35"/>
                                        </p:tgtEl>
                                        <p:attrNameLst>
                                          <p:attrName>style.visibility</p:attrName>
                                        </p:attrNameLst>
                                      </p:cBhvr>
                                      <p:to>
                                        <p:strVal val="visible"/>
                                      </p:to>
                                    </p:set>
                                    <p:animEffect transition="in" filter="fade">
                                      <p:cBhvr>
                                        <p:cTn id="157" dur="500"/>
                                        <p:tgtEl>
                                          <p:spTgt spid="35"/>
                                        </p:tgtEl>
                                      </p:cBhvr>
                                    </p:animEffect>
                                    <p:anim calcmode="lin" valueType="num">
                                      <p:cBhvr additive="base">
                                        <p:cTn id="158" dur="500" fill="hold"/>
                                        <p:tgtEl>
                                          <p:spTgt spid="35"/>
                                        </p:tgtEl>
                                        <p:attrNameLst>
                                          <p:attrName>ppt_x</p:attrName>
                                        </p:attrNameLst>
                                      </p:cBhvr>
                                      <p:tavLst>
                                        <p:tav tm="0">
                                          <p:val>
                                            <p:strVal val="#ppt_x"/>
                                          </p:val>
                                        </p:tav>
                                        <p:tav tm="100000">
                                          <p:val>
                                            <p:strVal val="#ppt_x"/>
                                          </p:val>
                                        </p:tav>
                                      </p:tavLst>
                                    </p:anim>
                                    <p:anim calcmode="lin" valueType="num">
                                      <p:cBhvr additive="base">
                                        <p:cTn id="159" dur="500" fill="hold"/>
                                        <p:tgtEl>
                                          <p:spTgt spid="35"/>
                                        </p:tgtEl>
                                        <p:attrNameLst>
                                          <p:attrName>ppt_y</p:attrName>
                                        </p:attrNameLst>
                                      </p:cBhvr>
                                      <p:tavLst>
                                        <p:tav tm="0">
                                          <p:val>
                                            <p:strVal val="#ppt_y+.1"/>
                                          </p:val>
                                        </p:tav>
                                        <p:tav tm="100000">
                                          <p:val>
                                            <p:strVal val="#ppt_y"/>
                                          </p:val>
                                        </p:tav>
                                      </p:tavLst>
                                    </p:anim>
                                  </p:childTnLst>
                                </p:cTn>
                              </p:par>
                              <p:par>
                                <p:cTn id="160" presetID="42" presetClass="entr" presetSubtype="0" fill="hold" grpId="0" nodeType="withEffect">
                                  <p:stCondLst>
                                    <p:cond delay="1320"/>
                                  </p:stCondLst>
                                  <p:childTnLst>
                                    <p:set>
                                      <p:cBhvr>
                                        <p:cTn id="161" dur="1" fill="hold">
                                          <p:stCondLst>
                                            <p:cond delay="0"/>
                                          </p:stCondLst>
                                        </p:cTn>
                                        <p:tgtEl>
                                          <p:spTgt spid="36"/>
                                        </p:tgtEl>
                                        <p:attrNameLst>
                                          <p:attrName>style.visibility</p:attrName>
                                        </p:attrNameLst>
                                      </p:cBhvr>
                                      <p:to>
                                        <p:strVal val="visible"/>
                                      </p:to>
                                    </p:set>
                                    <p:animEffect transition="in" filter="fade">
                                      <p:cBhvr>
                                        <p:cTn id="162" dur="500"/>
                                        <p:tgtEl>
                                          <p:spTgt spid="36"/>
                                        </p:tgtEl>
                                      </p:cBhvr>
                                    </p:animEffect>
                                    <p:anim calcmode="lin" valueType="num">
                                      <p:cBhvr additive="base">
                                        <p:cTn id="163" dur="500" fill="hold"/>
                                        <p:tgtEl>
                                          <p:spTgt spid="36"/>
                                        </p:tgtEl>
                                        <p:attrNameLst>
                                          <p:attrName>ppt_x</p:attrName>
                                        </p:attrNameLst>
                                      </p:cBhvr>
                                      <p:tavLst>
                                        <p:tav tm="0">
                                          <p:val>
                                            <p:strVal val="#ppt_x"/>
                                          </p:val>
                                        </p:tav>
                                        <p:tav tm="100000">
                                          <p:val>
                                            <p:strVal val="#ppt_x"/>
                                          </p:val>
                                        </p:tav>
                                      </p:tavLst>
                                    </p:anim>
                                    <p:anim calcmode="lin" valueType="num">
                                      <p:cBhvr additive="base">
                                        <p:cTn id="164" dur="500" fill="hold"/>
                                        <p:tgtEl>
                                          <p:spTgt spid="36"/>
                                        </p:tgtEl>
                                        <p:attrNameLst>
                                          <p:attrName>ppt_y</p:attrName>
                                        </p:attrNameLst>
                                      </p:cBhvr>
                                      <p:tavLst>
                                        <p:tav tm="0">
                                          <p:val>
                                            <p:strVal val="#ppt_y+.1"/>
                                          </p:val>
                                        </p:tav>
                                        <p:tav tm="100000">
                                          <p:val>
                                            <p:strVal val="#ppt_y"/>
                                          </p:val>
                                        </p:tav>
                                      </p:tavLst>
                                    </p:anim>
                                  </p:childTnLst>
                                </p:cTn>
                              </p:par>
                              <p:par>
                                <p:cTn id="165" presetID="42" presetClass="entr" presetSubtype="0" fill="hold" nodeType="withEffect">
                                  <p:stCondLst>
                                    <p:cond delay="1320"/>
                                  </p:stCondLst>
                                  <p:childTnLst>
                                    <p:set>
                                      <p:cBhvr>
                                        <p:cTn id="166" dur="1" fill="hold">
                                          <p:stCondLst>
                                            <p:cond delay="0"/>
                                          </p:stCondLst>
                                        </p:cTn>
                                        <p:tgtEl>
                                          <p:spTgt spid="37"/>
                                        </p:tgtEl>
                                        <p:attrNameLst>
                                          <p:attrName>style.visibility</p:attrName>
                                        </p:attrNameLst>
                                      </p:cBhvr>
                                      <p:to>
                                        <p:strVal val="visible"/>
                                      </p:to>
                                    </p:set>
                                    <p:animEffect transition="in" filter="fade">
                                      <p:cBhvr>
                                        <p:cTn id="167" dur="500"/>
                                        <p:tgtEl>
                                          <p:spTgt spid="37"/>
                                        </p:tgtEl>
                                      </p:cBhvr>
                                    </p:animEffect>
                                    <p:anim calcmode="lin" valueType="num">
                                      <p:cBhvr additive="base">
                                        <p:cTn id="168" dur="500" fill="hold"/>
                                        <p:tgtEl>
                                          <p:spTgt spid="37"/>
                                        </p:tgtEl>
                                        <p:attrNameLst>
                                          <p:attrName>ppt_x</p:attrName>
                                        </p:attrNameLst>
                                      </p:cBhvr>
                                      <p:tavLst>
                                        <p:tav tm="0">
                                          <p:val>
                                            <p:strVal val="#ppt_x"/>
                                          </p:val>
                                        </p:tav>
                                        <p:tav tm="100000">
                                          <p:val>
                                            <p:strVal val="#ppt_x"/>
                                          </p:val>
                                        </p:tav>
                                      </p:tavLst>
                                    </p:anim>
                                    <p:anim calcmode="lin" valueType="num">
                                      <p:cBhvr additive="base">
                                        <p:cTn id="169" dur="500" fill="hold"/>
                                        <p:tgtEl>
                                          <p:spTgt spid="37"/>
                                        </p:tgtEl>
                                        <p:attrNameLst>
                                          <p:attrName>ppt_y</p:attrName>
                                        </p:attrNameLst>
                                      </p:cBhvr>
                                      <p:tavLst>
                                        <p:tav tm="0">
                                          <p:val>
                                            <p:strVal val="#ppt_y+.1"/>
                                          </p:val>
                                        </p:tav>
                                        <p:tav tm="100000">
                                          <p:val>
                                            <p:strVal val="#ppt_y"/>
                                          </p:val>
                                        </p:tav>
                                      </p:tavLst>
                                    </p:anim>
                                  </p:childTnLst>
                                </p:cTn>
                              </p:par>
                              <p:par>
                                <p:cTn id="170" presetID="42" presetClass="entr" presetSubtype="0" fill="hold" grpId="0" nodeType="withEffect">
                                  <p:stCondLst>
                                    <p:cond delay="1320"/>
                                  </p:stCondLst>
                                  <p:childTnLst>
                                    <p:set>
                                      <p:cBhvr>
                                        <p:cTn id="171" dur="1" fill="hold">
                                          <p:stCondLst>
                                            <p:cond delay="0"/>
                                          </p:stCondLst>
                                        </p:cTn>
                                        <p:tgtEl>
                                          <p:spTgt spid="38"/>
                                        </p:tgtEl>
                                        <p:attrNameLst>
                                          <p:attrName>style.visibility</p:attrName>
                                        </p:attrNameLst>
                                      </p:cBhvr>
                                      <p:to>
                                        <p:strVal val="visible"/>
                                      </p:to>
                                    </p:set>
                                    <p:animEffect transition="in" filter="fade">
                                      <p:cBhvr>
                                        <p:cTn id="172" dur="500"/>
                                        <p:tgtEl>
                                          <p:spTgt spid="38"/>
                                        </p:tgtEl>
                                      </p:cBhvr>
                                    </p:animEffect>
                                    <p:anim calcmode="lin" valueType="num">
                                      <p:cBhvr additive="base">
                                        <p:cTn id="173" dur="500" fill="hold"/>
                                        <p:tgtEl>
                                          <p:spTgt spid="38"/>
                                        </p:tgtEl>
                                        <p:attrNameLst>
                                          <p:attrName>ppt_x</p:attrName>
                                        </p:attrNameLst>
                                      </p:cBhvr>
                                      <p:tavLst>
                                        <p:tav tm="0">
                                          <p:val>
                                            <p:strVal val="#ppt_x"/>
                                          </p:val>
                                        </p:tav>
                                        <p:tav tm="100000">
                                          <p:val>
                                            <p:strVal val="#ppt_x"/>
                                          </p:val>
                                        </p:tav>
                                      </p:tavLst>
                                    </p:anim>
                                    <p:anim calcmode="lin" valueType="num">
                                      <p:cBhvr additive="base">
                                        <p:cTn id="174" dur="500" fill="hold"/>
                                        <p:tgtEl>
                                          <p:spTgt spid="38"/>
                                        </p:tgtEl>
                                        <p:attrNameLst>
                                          <p:attrName>ppt_y</p:attrName>
                                        </p:attrNameLst>
                                      </p:cBhvr>
                                      <p:tavLst>
                                        <p:tav tm="0">
                                          <p:val>
                                            <p:strVal val="#ppt_y+.1"/>
                                          </p:val>
                                        </p:tav>
                                        <p:tav tm="100000">
                                          <p:val>
                                            <p:strVal val="#ppt_y"/>
                                          </p:val>
                                        </p:tav>
                                      </p:tavLst>
                                    </p:anim>
                                  </p:childTnLst>
                                </p:cTn>
                              </p:par>
                              <p:par>
                                <p:cTn id="175" presetID="42" presetClass="entr" presetSubtype="0" fill="hold" grpId="0" nodeType="withEffect">
                                  <p:stCondLst>
                                    <p:cond delay="1320"/>
                                  </p:stCondLst>
                                  <p:childTnLst>
                                    <p:set>
                                      <p:cBhvr>
                                        <p:cTn id="176" dur="1" fill="hold">
                                          <p:stCondLst>
                                            <p:cond delay="0"/>
                                          </p:stCondLst>
                                        </p:cTn>
                                        <p:tgtEl>
                                          <p:spTgt spid="39"/>
                                        </p:tgtEl>
                                        <p:attrNameLst>
                                          <p:attrName>style.visibility</p:attrName>
                                        </p:attrNameLst>
                                      </p:cBhvr>
                                      <p:to>
                                        <p:strVal val="visible"/>
                                      </p:to>
                                    </p:set>
                                    <p:animEffect transition="in" filter="fade">
                                      <p:cBhvr>
                                        <p:cTn id="177" dur="500"/>
                                        <p:tgtEl>
                                          <p:spTgt spid="39"/>
                                        </p:tgtEl>
                                      </p:cBhvr>
                                    </p:animEffect>
                                    <p:anim calcmode="lin" valueType="num">
                                      <p:cBhvr additive="base">
                                        <p:cTn id="178" dur="500" fill="hold"/>
                                        <p:tgtEl>
                                          <p:spTgt spid="39"/>
                                        </p:tgtEl>
                                        <p:attrNameLst>
                                          <p:attrName>ppt_x</p:attrName>
                                        </p:attrNameLst>
                                      </p:cBhvr>
                                      <p:tavLst>
                                        <p:tav tm="0">
                                          <p:val>
                                            <p:strVal val="#ppt_x"/>
                                          </p:val>
                                        </p:tav>
                                        <p:tav tm="100000">
                                          <p:val>
                                            <p:strVal val="#ppt_x"/>
                                          </p:val>
                                        </p:tav>
                                      </p:tavLst>
                                    </p:anim>
                                    <p:anim calcmode="lin" valueType="num">
                                      <p:cBhvr additive="base">
                                        <p:cTn id="179" dur="500" fill="hold"/>
                                        <p:tgtEl>
                                          <p:spTgt spid="39"/>
                                        </p:tgtEl>
                                        <p:attrNameLst>
                                          <p:attrName>ppt_y</p:attrName>
                                        </p:attrNameLst>
                                      </p:cBhvr>
                                      <p:tavLst>
                                        <p:tav tm="0">
                                          <p:val>
                                            <p:strVal val="#ppt_y+.1"/>
                                          </p:val>
                                        </p:tav>
                                        <p:tav tm="100000">
                                          <p:val>
                                            <p:strVal val="#ppt_y"/>
                                          </p:val>
                                        </p:tav>
                                      </p:tavLst>
                                    </p:anim>
                                  </p:childTnLst>
                                </p:cTn>
                              </p:par>
                              <p:par>
                                <p:cTn id="180" presetID="42" presetClass="entr" presetSubtype="0" fill="hold" grpId="0" nodeType="withEffect">
                                  <p:stCondLst>
                                    <p:cond delay="1540"/>
                                  </p:stCondLst>
                                  <p:childTnLst>
                                    <p:set>
                                      <p:cBhvr>
                                        <p:cTn id="181" dur="1" fill="hold">
                                          <p:stCondLst>
                                            <p:cond delay="0"/>
                                          </p:stCondLst>
                                        </p:cTn>
                                        <p:tgtEl>
                                          <p:spTgt spid="40"/>
                                        </p:tgtEl>
                                        <p:attrNameLst>
                                          <p:attrName>style.visibility</p:attrName>
                                        </p:attrNameLst>
                                      </p:cBhvr>
                                      <p:to>
                                        <p:strVal val="visible"/>
                                      </p:to>
                                    </p:set>
                                    <p:animEffect transition="in" filter="fade">
                                      <p:cBhvr>
                                        <p:cTn id="182" dur="500"/>
                                        <p:tgtEl>
                                          <p:spTgt spid="40"/>
                                        </p:tgtEl>
                                      </p:cBhvr>
                                    </p:animEffect>
                                    <p:anim calcmode="lin" valueType="num">
                                      <p:cBhvr additive="base">
                                        <p:cTn id="183" dur="500" fill="hold"/>
                                        <p:tgtEl>
                                          <p:spTgt spid="40"/>
                                        </p:tgtEl>
                                        <p:attrNameLst>
                                          <p:attrName>ppt_x</p:attrName>
                                        </p:attrNameLst>
                                      </p:cBhvr>
                                      <p:tavLst>
                                        <p:tav tm="0">
                                          <p:val>
                                            <p:strVal val="#ppt_x"/>
                                          </p:val>
                                        </p:tav>
                                        <p:tav tm="100000">
                                          <p:val>
                                            <p:strVal val="#ppt_x"/>
                                          </p:val>
                                        </p:tav>
                                      </p:tavLst>
                                    </p:anim>
                                    <p:anim calcmode="lin" valueType="num">
                                      <p:cBhvr additive="base">
                                        <p:cTn id="184" dur="500" fill="hold"/>
                                        <p:tgtEl>
                                          <p:spTgt spid="40"/>
                                        </p:tgtEl>
                                        <p:attrNameLst>
                                          <p:attrName>ppt_y</p:attrName>
                                        </p:attrNameLst>
                                      </p:cBhvr>
                                      <p:tavLst>
                                        <p:tav tm="0">
                                          <p:val>
                                            <p:strVal val="#ppt_y+.1"/>
                                          </p:val>
                                        </p:tav>
                                        <p:tav tm="100000">
                                          <p:val>
                                            <p:strVal val="#ppt_y"/>
                                          </p:val>
                                        </p:tav>
                                      </p:tavLst>
                                    </p:anim>
                                  </p:childTnLst>
                                </p:cTn>
                              </p:par>
                              <p:par>
                                <p:cTn id="185" presetID="42" presetClass="entr" presetSubtype="0" fill="hold" grpId="0" nodeType="withEffect">
                                  <p:stCondLst>
                                    <p:cond delay="1540"/>
                                  </p:stCondLst>
                                  <p:childTnLst>
                                    <p:set>
                                      <p:cBhvr>
                                        <p:cTn id="186" dur="1" fill="hold">
                                          <p:stCondLst>
                                            <p:cond delay="0"/>
                                          </p:stCondLst>
                                        </p:cTn>
                                        <p:tgtEl>
                                          <p:spTgt spid="41"/>
                                        </p:tgtEl>
                                        <p:attrNameLst>
                                          <p:attrName>style.visibility</p:attrName>
                                        </p:attrNameLst>
                                      </p:cBhvr>
                                      <p:to>
                                        <p:strVal val="visible"/>
                                      </p:to>
                                    </p:set>
                                    <p:animEffect transition="in" filter="fade">
                                      <p:cBhvr>
                                        <p:cTn id="187" dur="500"/>
                                        <p:tgtEl>
                                          <p:spTgt spid="41"/>
                                        </p:tgtEl>
                                      </p:cBhvr>
                                    </p:animEffect>
                                    <p:anim calcmode="lin" valueType="num">
                                      <p:cBhvr additive="base">
                                        <p:cTn id="188" dur="500" fill="hold"/>
                                        <p:tgtEl>
                                          <p:spTgt spid="41"/>
                                        </p:tgtEl>
                                        <p:attrNameLst>
                                          <p:attrName>ppt_x</p:attrName>
                                        </p:attrNameLst>
                                      </p:cBhvr>
                                      <p:tavLst>
                                        <p:tav tm="0">
                                          <p:val>
                                            <p:strVal val="#ppt_x"/>
                                          </p:val>
                                        </p:tav>
                                        <p:tav tm="100000">
                                          <p:val>
                                            <p:strVal val="#ppt_x"/>
                                          </p:val>
                                        </p:tav>
                                      </p:tavLst>
                                    </p:anim>
                                    <p:anim calcmode="lin" valueType="num">
                                      <p:cBhvr additive="base">
                                        <p:cTn id="189" dur="500" fill="hold"/>
                                        <p:tgtEl>
                                          <p:spTgt spid="41"/>
                                        </p:tgtEl>
                                        <p:attrNameLst>
                                          <p:attrName>ppt_y</p:attrName>
                                        </p:attrNameLst>
                                      </p:cBhvr>
                                      <p:tavLst>
                                        <p:tav tm="0">
                                          <p:val>
                                            <p:strVal val="#ppt_y+.1"/>
                                          </p:val>
                                        </p:tav>
                                        <p:tav tm="100000">
                                          <p:val>
                                            <p:strVal val="#ppt_y"/>
                                          </p:val>
                                        </p:tav>
                                      </p:tavLst>
                                    </p:anim>
                                  </p:childTnLst>
                                </p:cTn>
                              </p:par>
                              <p:par>
                                <p:cTn id="190" presetID="42" presetClass="entr" presetSubtype="0" fill="hold" nodeType="withEffect">
                                  <p:stCondLst>
                                    <p:cond delay="1540"/>
                                  </p:stCondLst>
                                  <p:childTnLst>
                                    <p:set>
                                      <p:cBhvr>
                                        <p:cTn id="191" dur="1" fill="hold">
                                          <p:stCondLst>
                                            <p:cond delay="0"/>
                                          </p:stCondLst>
                                        </p:cTn>
                                        <p:tgtEl>
                                          <p:spTgt spid="42"/>
                                        </p:tgtEl>
                                        <p:attrNameLst>
                                          <p:attrName>style.visibility</p:attrName>
                                        </p:attrNameLst>
                                      </p:cBhvr>
                                      <p:to>
                                        <p:strVal val="visible"/>
                                      </p:to>
                                    </p:set>
                                    <p:animEffect transition="in" filter="fade">
                                      <p:cBhvr>
                                        <p:cTn id="192" dur="500"/>
                                        <p:tgtEl>
                                          <p:spTgt spid="42"/>
                                        </p:tgtEl>
                                      </p:cBhvr>
                                    </p:animEffect>
                                    <p:anim calcmode="lin" valueType="num">
                                      <p:cBhvr additive="base">
                                        <p:cTn id="193" dur="500" fill="hold"/>
                                        <p:tgtEl>
                                          <p:spTgt spid="42"/>
                                        </p:tgtEl>
                                        <p:attrNameLst>
                                          <p:attrName>ppt_x</p:attrName>
                                        </p:attrNameLst>
                                      </p:cBhvr>
                                      <p:tavLst>
                                        <p:tav tm="0">
                                          <p:val>
                                            <p:strVal val="#ppt_x"/>
                                          </p:val>
                                        </p:tav>
                                        <p:tav tm="100000">
                                          <p:val>
                                            <p:strVal val="#ppt_x"/>
                                          </p:val>
                                        </p:tav>
                                      </p:tavLst>
                                    </p:anim>
                                    <p:anim calcmode="lin" valueType="num">
                                      <p:cBhvr additive="base">
                                        <p:cTn id="194" dur="500" fill="hold"/>
                                        <p:tgtEl>
                                          <p:spTgt spid="42"/>
                                        </p:tgtEl>
                                        <p:attrNameLst>
                                          <p:attrName>ppt_y</p:attrName>
                                        </p:attrNameLst>
                                      </p:cBhvr>
                                      <p:tavLst>
                                        <p:tav tm="0">
                                          <p:val>
                                            <p:strVal val="#ppt_y+.1"/>
                                          </p:val>
                                        </p:tav>
                                        <p:tav tm="100000">
                                          <p:val>
                                            <p:strVal val="#ppt_y"/>
                                          </p:val>
                                        </p:tav>
                                      </p:tavLst>
                                    </p:anim>
                                  </p:childTnLst>
                                </p:cTn>
                              </p:par>
                              <p:par>
                                <p:cTn id="195" presetID="42" presetClass="entr" presetSubtype="0" fill="hold" grpId="0" nodeType="withEffect">
                                  <p:stCondLst>
                                    <p:cond delay="1540"/>
                                  </p:stCondLst>
                                  <p:childTnLst>
                                    <p:set>
                                      <p:cBhvr>
                                        <p:cTn id="196" dur="1" fill="hold">
                                          <p:stCondLst>
                                            <p:cond delay="0"/>
                                          </p:stCondLst>
                                        </p:cTn>
                                        <p:tgtEl>
                                          <p:spTgt spid="43"/>
                                        </p:tgtEl>
                                        <p:attrNameLst>
                                          <p:attrName>style.visibility</p:attrName>
                                        </p:attrNameLst>
                                      </p:cBhvr>
                                      <p:to>
                                        <p:strVal val="visible"/>
                                      </p:to>
                                    </p:set>
                                    <p:animEffect transition="in" filter="fade">
                                      <p:cBhvr>
                                        <p:cTn id="197" dur="500"/>
                                        <p:tgtEl>
                                          <p:spTgt spid="43"/>
                                        </p:tgtEl>
                                      </p:cBhvr>
                                    </p:animEffect>
                                    <p:anim calcmode="lin" valueType="num">
                                      <p:cBhvr additive="base">
                                        <p:cTn id="198" dur="500" fill="hold"/>
                                        <p:tgtEl>
                                          <p:spTgt spid="43"/>
                                        </p:tgtEl>
                                        <p:attrNameLst>
                                          <p:attrName>ppt_x</p:attrName>
                                        </p:attrNameLst>
                                      </p:cBhvr>
                                      <p:tavLst>
                                        <p:tav tm="0">
                                          <p:val>
                                            <p:strVal val="#ppt_x"/>
                                          </p:val>
                                        </p:tav>
                                        <p:tav tm="100000">
                                          <p:val>
                                            <p:strVal val="#ppt_x"/>
                                          </p:val>
                                        </p:tav>
                                      </p:tavLst>
                                    </p:anim>
                                    <p:anim calcmode="lin" valueType="num">
                                      <p:cBhvr additive="base">
                                        <p:cTn id="199" dur="500" fill="hold"/>
                                        <p:tgtEl>
                                          <p:spTgt spid="43"/>
                                        </p:tgtEl>
                                        <p:attrNameLst>
                                          <p:attrName>ppt_y</p:attrName>
                                        </p:attrNameLst>
                                      </p:cBhvr>
                                      <p:tavLst>
                                        <p:tav tm="0">
                                          <p:val>
                                            <p:strVal val="#ppt_y+.1"/>
                                          </p:val>
                                        </p:tav>
                                        <p:tav tm="100000">
                                          <p:val>
                                            <p:strVal val="#ppt_y"/>
                                          </p:val>
                                        </p:tav>
                                      </p:tavLst>
                                    </p:anim>
                                  </p:childTnLst>
                                </p:cTn>
                              </p:par>
                              <p:par>
                                <p:cTn id="200" presetID="42" presetClass="entr" presetSubtype="0" fill="hold" grpId="0" nodeType="withEffect">
                                  <p:stCondLst>
                                    <p:cond delay="1540"/>
                                  </p:stCondLst>
                                  <p:childTnLst>
                                    <p:set>
                                      <p:cBhvr>
                                        <p:cTn id="201" dur="1" fill="hold">
                                          <p:stCondLst>
                                            <p:cond delay="0"/>
                                          </p:stCondLst>
                                        </p:cTn>
                                        <p:tgtEl>
                                          <p:spTgt spid="44"/>
                                        </p:tgtEl>
                                        <p:attrNameLst>
                                          <p:attrName>style.visibility</p:attrName>
                                        </p:attrNameLst>
                                      </p:cBhvr>
                                      <p:to>
                                        <p:strVal val="visible"/>
                                      </p:to>
                                    </p:set>
                                    <p:animEffect transition="in" filter="fade">
                                      <p:cBhvr>
                                        <p:cTn id="202" dur="500"/>
                                        <p:tgtEl>
                                          <p:spTgt spid="44"/>
                                        </p:tgtEl>
                                      </p:cBhvr>
                                    </p:animEffect>
                                    <p:anim calcmode="lin" valueType="num">
                                      <p:cBhvr additive="base">
                                        <p:cTn id="203" dur="500" fill="hold"/>
                                        <p:tgtEl>
                                          <p:spTgt spid="44"/>
                                        </p:tgtEl>
                                        <p:attrNameLst>
                                          <p:attrName>ppt_x</p:attrName>
                                        </p:attrNameLst>
                                      </p:cBhvr>
                                      <p:tavLst>
                                        <p:tav tm="0">
                                          <p:val>
                                            <p:strVal val="#ppt_x"/>
                                          </p:val>
                                        </p:tav>
                                        <p:tav tm="100000">
                                          <p:val>
                                            <p:strVal val="#ppt_x"/>
                                          </p:val>
                                        </p:tav>
                                      </p:tavLst>
                                    </p:anim>
                                    <p:anim calcmode="lin" valueType="num">
                                      <p:cBhvr additive="base">
                                        <p:cTn id="204" dur="500" fill="hold"/>
                                        <p:tgtEl>
                                          <p:spTgt spid="4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0" grpId="0" animBg="1"/>
      <p:bldP spid="11" grpId="0" animBg="1"/>
      <p:bldP spid="13" grpId="0" animBg="1"/>
      <p:bldP spid="14" grpId="0" animBg="1"/>
      <p:bldP spid="15" grpId="0" animBg="1"/>
      <p:bldP spid="16" grpId="0" animBg="1"/>
      <p:bldP spid="18" grpId="0" animBg="1"/>
      <p:bldP spid="19" grpId="0" animBg="1"/>
      <p:bldP spid="20" grpId="0" animBg="1"/>
      <p:bldP spid="21" grpId="0" animBg="1"/>
      <p:bldP spid="23" grpId="0" animBg="1"/>
      <p:bldP spid="24" grpId="0" animBg="1"/>
      <p:bldP spid="25" grpId="0" animBg="1"/>
      <p:bldP spid="26" grpId="0" animBg="1"/>
      <p:bldP spid="28" grpId="0" animBg="1"/>
      <p:bldP spid="29" grpId="0" animBg="1"/>
      <p:bldP spid="30" grpId="0" animBg="1"/>
      <p:bldP spid="31" grpId="0" animBg="1"/>
      <p:bldP spid="33" grpId="0" animBg="1"/>
      <p:bldP spid="34" grpId="0" animBg="1"/>
      <p:bldP spid="35" grpId="0" animBg="1"/>
      <p:bldP spid="36" grpId="0" animBg="1"/>
      <p:bldP spid="38" grpId="0" animBg="1"/>
      <p:bldP spid="39" grpId="0" animBg="1"/>
      <p:bldP spid="40" grpId="0" animBg="1"/>
      <p:bldP spid="41" grpId="0" animBg="1"/>
      <p:bldP spid="43" grpId="0" animBg="1"/>
      <p:bldP spid="4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749808"/>
            <a:ext cx="11064240" cy="685800"/>
          </a:xfrm>
          <a:prstGeom prst="rect">
            <a:avLst/>
          </a:prstGeom>
          <a:noFill/>
          <a:ln/>
        </p:spPr>
        <p:txBody>
          <a:bodyPr wrap="square" lIns="0" tIns="0" rIns="0" bIns="0" rtlCol="0" anchor="ctr"/>
          <a:lstStyle/>
          <a:p>
            <a:pPr marL="0" indent="0" algn="l">
              <a:buNone/>
            </a:pPr>
            <a:r>
              <a:rPr lang="en-US" sz="3000" b="1" dirty="0">
                <a:solidFill>
                  <a:schemeClr val="tx2"/>
                </a:solidFill>
              </a:rPr>
              <a:t>Modèle commun d'employé</a:t>
            </a:r>
            <a:endParaRPr lang="en-US" sz="3000" dirty="0"/>
          </a:p>
        </p:txBody>
      </p:sp>
      <p:sp>
        <p:nvSpPr>
          <p:cNvPr id="3" name="pill#41"/>
          <p:cNvSpPr/>
          <p:nvPr/>
        </p:nvSpPr>
        <p:spPr>
          <a:xfrm>
            <a:off x="548640" y="384048"/>
            <a:ext cx="1522476" cy="292608"/>
          </a:xfrm>
          <a:prstGeom prst="roundRect">
            <a:avLst>
              <a:gd name="adj" fmla="val 50000"/>
            </a:avLst>
          </a:prstGeom>
          <a:solidFill>
            <a:schemeClr val="accent2"/>
          </a:solidFill>
          <a:ln/>
        </p:spPr>
      </p:sp>
      <p:sp>
        <p:nvSpPr>
          <p:cNvPr id="4" name="pill#41t"/>
          <p:cNvSpPr txBox="1"/>
          <p:nvPr/>
        </p:nvSpPr>
        <p:spPr>
          <a:xfrm>
            <a:off x="548640" y="384048"/>
            <a:ext cx="1522476" cy="292608"/>
          </a:xfrm>
          <a:prstGeom prst="rect">
            <a:avLst/>
          </a:prstGeom>
          <a:noFill/>
          <a:ln/>
        </p:spPr>
        <p:txBody>
          <a:bodyPr wrap="square" lIns="0" tIns="0" rIns="0" bIns="0" rtlCol="0" anchor="ctr"/>
          <a:lstStyle/>
          <a:p>
            <a:pPr marL="0" indent="0" algn="ctr">
              <a:buNone/>
            </a:pPr>
            <a:r>
              <a:rPr lang="en-US" sz="1100" b="1" dirty="0">
                <a:solidFill>
                  <a:schemeClr val="bg1"/>
                </a:solidFill>
              </a:rPr>
              <a:t>Modèle de données</a:t>
            </a:r>
            <a:endParaRPr lang="en-US" sz="1100" dirty="0"/>
          </a:p>
        </p:txBody>
      </p:sp>
      <p:graphicFrame>
        <p:nvGraphicFramePr>
          <p:cNvPr id="11" name="tblModele"/>
          <p:cNvGraphicFramePr>
            <a:graphicFrameLocks noGrp="1"/>
          </p:cNvGraphicFramePr>
          <p:nvPr>
            <p:extLst>
              <p:ext uri="{D42A27DB-BD31-4B8C-83A1-F6EECF244321}">
                <p14:modId xmlns:p14="http://schemas.microsoft.com/office/powerpoint/2010/main" val="1579011935"/>
              </p:ext>
            </p:extLst>
          </p:nvPr>
        </p:nvGraphicFramePr>
        <p:xfrm>
          <a:off x="548640" y="1691640"/>
          <a:ext cx="6858000" cy="4297680"/>
        </p:xfrm>
        <a:graphic>
          <a:graphicData uri="http://schemas.openxmlformats.org/drawingml/2006/table">
            <a:tbl>
              <a:tblPr/>
              <a:tblGrid>
                <a:gridCol w="18288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tblGrid>
              <a:tr h="429768">
                <a:tc>
                  <a:txBody>
                    <a:bodyPr/>
                    <a:lstStyle/>
                    <a:p>
                      <a:pPr marL="0" indent="0">
                        <a:buNone/>
                      </a:pPr>
                      <a:r>
                        <a:rPr lang="en-US" sz="1300" b="1" dirty="0">
                          <a:solidFill>
                            <a:srgbClr val="FFFFFF"/>
                          </a:solidFill>
                        </a:rPr>
                        <a:t>Champ</a:t>
                      </a:r>
                      <a:endParaRPr lang="en-US" sz="1300" dirty="0"/>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0D2340"/>
                    </a:solidFill>
                  </a:tcPr>
                </a:tc>
                <a:tc>
                  <a:txBody>
                    <a:bodyPr/>
                    <a:lstStyle/>
                    <a:p>
                      <a:pPr marL="0" indent="0">
                        <a:buNone/>
                      </a:pPr>
                      <a:r>
                        <a:rPr lang="en-US" sz="1300" b="1" dirty="0">
                          <a:solidFill>
                            <a:srgbClr val="FFFFFF"/>
                          </a:solidFill>
                        </a:rPr>
                        <a:t>Type</a:t>
                      </a:r>
                      <a:endParaRPr lang="en-US" sz="1300" dirty="0"/>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0D2340"/>
                    </a:solidFill>
                  </a:tcPr>
                </a:tc>
                <a:tc>
                  <a:txBody>
                    <a:bodyPr/>
                    <a:lstStyle/>
                    <a:p>
                      <a:pPr marL="0" indent="0">
                        <a:buNone/>
                      </a:pPr>
                      <a:r>
                        <a:rPr lang="en-US" sz="1300" b="1" dirty="0">
                          <a:solidFill>
                            <a:srgbClr val="FFFFFF"/>
                          </a:solidFill>
                        </a:rPr>
                        <a:t>Règle</a:t>
                      </a:r>
                      <a:endParaRPr lang="en-US" sz="1300" dirty="0"/>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0D2340"/>
                    </a:solidFill>
                  </a:tcPr>
                </a:tc>
                <a:extLst>
                  <a:ext uri="{0D108BD9-81ED-4DB2-BD59-A6C34878D82A}">
                    <a16:rowId xmlns:a16="http://schemas.microsoft.com/office/drawing/2014/main" val="10000"/>
                  </a:ext>
                </a:extLst>
              </a:tr>
              <a:tr h="429768">
                <a:tc>
                  <a:txBody>
                    <a:bodyPr/>
                    <a:lstStyle/>
                    <a:p>
                      <a:pPr marL="0" indent="0">
                        <a:buNone/>
                      </a:pPr>
                      <a:r>
                        <a:rPr lang="en-US" sz="1300" b="1" dirty="0">
                          <a:solidFill>
                            <a:srgbClr val="16213A"/>
                          </a:solidFill>
                        </a:rPr>
                        <a:t>matricule</a:t>
                      </a:r>
                      <a:endParaRPr lang="en-US" sz="1300" dirty="0"/>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buNone/>
                      </a:pPr>
                      <a:r>
                        <a:rPr lang="en-US" sz="1300" dirty="0">
                          <a:solidFill>
                            <a:srgbClr val="16213A"/>
                          </a:solidFill>
                          <a:latin typeface="Courier New" pitchFamily="34" charset="0"/>
                          <a:ea typeface="Courier New" pitchFamily="34" charset="-122"/>
                          <a:cs typeface="Courier New" pitchFamily="34" charset="-120"/>
                        </a:rPr>
                        <a:t>VARCHAR(20)</a:t>
                      </a:r>
                      <a:endParaRPr lang="en-US" sz="1300" dirty="0">
                        <a:latin typeface="Courier New" charset="0"/>
                        <a:ea typeface="Courier New" charset="0"/>
                        <a:cs typeface="Courier New"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buNone/>
                      </a:pPr>
                      <a:r>
                        <a:rPr lang="en-US" sz="1300" dirty="0">
                          <a:solidFill>
                            <a:srgbClr val="16213A"/>
                          </a:solidFill>
                        </a:rPr>
                        <a:t>clé métier, format EMP-0000</a:t>
                      </a:r>
                      <a:endParaRPr lang="en-US" sz="1300" dirty="0"/>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9768">
                <a:tc>
                  <a:txBody>
                    <a:bodyPr/>
                    <a:lstStyle/>
                    <a:p>
                      <a:pPr marL="0" indent="0">
                        <a:buNone/>
                      </a:pPr>
                      <a:r>
                        <a:rPr lang="en-US" sz="1300" b="1" dirty="0">
                          <a:solidFill>
                            <a:srgbClr val="16213A"/>
                          </a:solidFill>
                        </a:rPr>
                        <a:t>nom, prenom</a:t>
                      </a:r>
                      <a:endParaRPr lang="en-US" sz="1300" dirty="0"/>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2F5FA"/>
                    </a:solidFill>
                  </a:tcPr>
                </a:tc>
                <a:tc>
                  <a:txBody>
                    <a:bodyPr/>
                    <a:lstStyle/>
                    <a:p>
                      <a:pPr marL="0" indent="0">
                        <a:buNone/>
                      </a:pPr>
                      <a:r>
                        <a:rPr lang="en-US" sz="1300" dirty="0">
                          <a:solidFill>
                            <a:srgbClr val="16213A"/>
                          </a:solidFill>
                          <a:latin typeface="Courier New" pitchFamily="34" charset="0"/>
                          <a:ea typeface="Courier New" pitchFamily="34" charset="-122"/>
                          <a:cs typeface="Courier New" pitchFamily="34" charset="-120"/>
                        </a:rPr>
                        <a:t>VARCHAR(100)</a:t>
                      </a:r>
                      <a:endParaRPr lang="en-US" sz="1300" dirty="0">
                        <a:latin typeface="Courier New" charset="0"/>
                        <a:ea typeface="Courier New" charset="0"/>
                        <a:cs typeface="Courier New"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2F5FA"/>
                    </a:solidFill>
                  </a:tcPr>
                </a:tc>
                <a:tc>
                  <a:txBody>
                    <a:bodyPr/>
                    <a:lstStyle/>
                    <a:p>
                      <a:pPr marL="0" indent="0">
                        <a:buNone/>
                      </a:pPr>
                      <a:r>
                        <a:rPr lang="en-US" sz="1300" dirty="0">
                          <a:solidFill>
                            <a:srgbClr val="16213A"/>
                          </a:solidFill>
                        </a:rPr>
                        <a:t>obligatoires, nom en majuscules</a:t>
                      </a:r>
                      <a:endParaRPr lang="en-US" sz="1300" dirty="0"/>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2F5FA"/>
                    </a:solidFill>
                  </a:tcPr>
                </a:tc>
                <a:extLst>
                  <a:ext uri="{0D108BD9-81ED-4DB2-BD59-A6C34878D82A}">
                    <a16:rowId xmlns:a16="http://schemas.microsoft.com/office/drawing/2014/main" val="10002"/>
                  </a:ext>
                </a:extLst>
              </a:tr>
              <a:tr h="429768">
                <a:tc>
                  <a:txBody>
                    <a:bodyPr/>
                    <a:lstStyle/>
                    <a:p>
                      <a:pPr marL="0" indent="0">
                        <a:buNone/>
                      </a:pPr>
                      <a:r>
                        <a:rPr lang="en-US" sz="1300" b="1" dirty="0">
                          <a:solidFill>
                            <a:srgbClr val="16213A"/>
                          </a:solidFill>
                        </a:rPr>
                        <a:t>email</a:t>
                      </a:r>
                      <a:endParaRPr lang="en-US" sz="1300" dirty="0"/>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buNone/>
                      </a:pPr>
                      <a:r>
                        <a:rPr lang="en-US" sz="1300" dirty="0">
                          <a:solidFill>
                            <a:srgbClr val="16213A"/>
                          </a:solidFill>
                          <a:latin typeface="Courier New" pitchFamily="34" charset="0"/>
                          <a:ea typeface="Courier New" pitchFamily="34" charset="-122"/>
                          <a:cs typeface="Courier New" pitchFamily="34" charset="-120"/>
                        </a:rPr>
                        <a:t>VARCHAR(150)</a:t>
                      </a:r>
                      <a:endParaRPr lang="en-US" sz="1300" dirty="0">
                        <a:latin typeface="Courier New" charset="0"/>
                        <a:ea typeface="Courier New" charset="0"/>
                        <a:cs typeface="Courier New"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buNone/>
                      </a:pPr>
                      <a:r>
                        <a:rPr lang="en-US" sz="1300" dirty="0">
                          <a:solidFill>
                            <a:srgbClr val="16213A"/>
                          </a:solidFill>
                        </a:rPr>
                        <a:t>format valide, unique</a:t>
                      </a:r>
                      <a:endParaRPr lang="en-US" sz="1300" dirty="0"/>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9768">
                <a:tc>
                  <a:txBody>
                    <a:bodyPr/>
                    <a:lstStyle/>
                    <a:p>
                      <a:pPr marL="0" indent="0">
                        <a:buNone/>
                      </a:pPr>
                      <a:r>
                        <a:rPr lang="en-US" sz="1300" b="1" dirty="0">
                          <a:solidFill>
                            <a:srgbClr val="16213A"/>
                          </a:solidFill>
                        </a:rPr>
                        <a:t>date_naissance</a:t>
                      </a:r>
                      <a:endParaRPr lang="en-US" sz="1300" dirty="0"/>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2F5FA"/>
                    </a:solidFill>
                  </a:tcPr>
                </a:tc>
                <a:tc>
                  <a:txBody>
                    <a:bodyPr/>
                    <a:lstStyle/>
                    <a:p>
                      <a:pPr marL="0" indent="0">
                        <a:buNone/>
                      </a:pPr>
                      <a:r>
                        <a:rPr lang="en-US" sz="1300" dirty="0">
                          <a:solidFill>
                            <a:srgbClr val="16213A"/>
                          </a:solidFill>
                          <a:latin typeface="Courier New" pitchFamily="34" charset="0"/>
                          <a:ea typeface="Courier New" pitchFamily="34" charset="-122"/>
                          <a:cs typeface="Courier New" pitchFamily="34" charset="-120"/>
                        </a:rPr>
                        <a:t>DATE</a:t>
                      </a:r>
                      <a:endParaRPr lang="en-US" sz="1300" dirty="0">
                        <a:latin typeface="Courier New" charset="0"/>
                        <a:ea typeface="Courier New" charset="0"/>
                        <a:cs typeface="Courier New"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2F5FA"/>
                    </a:solidFill>
                  </a:tcPr>
                </a:tc>
                <a:tc>
                  <a:txBody>
                    <a:bodyPr/>
                    <a:lstStyle/>
                    <a:p>
                      <a:pPr marL="0" indent="0">
                        <a:buNone/>
                      </a:pPr>
                      <a:r>
                        <a:rPr lang="en-US" sz="1300" dirty="0">
                          <a:solidFill>
                            <a:srgbClr val="16213A"/>
                          </a:solidFill>
                        </a:rPr>
                        <a:t>au moins 18 ans</a:t>
                      </a:r>
                      <a:endParaRPr lang="en-US" sz="1300" dirty="0"/>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2F5FA"/>
                    </a:solidFill>
                  </a:tcPr>
                </a:tc>
                <a:extLst>
                  <a:ext uri="{0D108BD9-81ED-4DB2-BD59-A6C34878D82A}">
                    <a16:rowId xmlns:a16="http://schemas.microsoft.com/office/drawing/2014/main" val="10004"/>
                  </a:ext>
                </a:extLst>
              </a:tr>
              <a:tr h="429768">
                <a:tc>
                  <a:txBody>
                    <a:bodyPr/>
                    <a:lstStyle/>
                    <a:p>
                      <a:pPr marL="0" indent="0">
                        <a:buNone/>
                      </a:pPr>
                      <a:r>
                        <a:rPr lang="en-US" sz="1300" b="1" dirty="0">
                          <a:solidFill>
                            <a:srgbClr val="16213A"/>
                          </a:solidFill>
                        </a:rPr>
                        <a:t>date_embauche</a:t>
                      </a:r>
                      <a:endParaRPr lang="en-US" sz="1300" dirty="0"/>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buNone/>
                      </a:pPr>
                      <a:r>
                        <a:rPr lang="en-US" sz="1300" dirty="0">
                          <a:solidFill>
                            <a:srgbClr val="16213A"/>
                          </a:solidFill>
                          <a:latin typeface="Courier New" pitchFamily="34" charset="0"/>
                          <a:ea typeface="Courier New" pitchFamily="34" charset="-122"/>
                          <a:cs typeface="Courier New" pitchFamily="34" charset="-120"/>
                        </a:rPr>
                        <a:t>DATE</a:t>
                      </a:r>
                      <a:endParaRPr lang="en-US" sz="1300" dirty="0">
                        <a:latin typeface="Courier New" charset="0"/>
                        <a:ea typeface="Courier New" charset="0"/>
                        <a:cs typeface="Courier New"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buNone/>
                      </a:pPr>
                      <a:r>
                        <a:rPr lang="en-US" sz="1300" dirty="0">
                          <a:solidFill>
                            <a:srgbClr val="16213A"/>
                          </a:solidFill>
                        </a:rPr>
                        <a:t>pas dans le futur</a:t>
                      </a:r>
                      <a:endParaRPr lang="en-US" sz="1300" dirty="0"/>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9768">
                <a:tc>
                  <a:txBody>
                    <a:bodyPr/>
                    <a:lstStyle/>
                    <a:p>
                      <a:pPr marL="0" indent="0">
                        <a:buNone/>
                      </a:pPr>
                      <a:r>
                        <a:rPr lang="en-US" sz="1300" b="1" dirty="0">
                          <a:solidFill>
                            <a:srgbClr val="16213A"/>
                          </a:solidFill>
                        </a:rPr>
                        <a:t>departement</a:t>
                      </a:r>
                      <a:endParaRPr lang="en-US" sz="1300" dirty="0"/>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2F5FA"/>
                    </a:solidFill>
                  </a:tcPr>
                </a:tc>
                <a:tc>
                  <a:txBody>
                    <a:bodyPr/>
                    <a:lstStyle/>
                    <a:p>
                      <a:pPr marL="0" indent="0">
                        <a:buNone/>
                      </a:pPr>
                      <a:r>
                        <a:rPr lang="en-US" sz="1300" dirty="0">
                          <a:solidFill>
                            <a:srgbClr val="16213A"/>
                          </a:solidFill>
                          <a:latin typeface="Courier New" pitchFamily="34" charset="0"/>
                          <a:ea typeface="Courier New" pitchFamily="34" charset="-122"/>
                          <a:cs typeface="Courier New" pitchFamily="34" charset="-120"/>
                        </a:rPr>
                        <a:t>VARCHAR(100)</a:t>
                      </a:r>
                      <a:endParaRPr lang="en-US" sz="1300" dirty="0">
                        <a:latin typeface="Courier New" charset="0"/>
                        <a:ea typeface="Courier New" charset="0"/>
                        <a:cs typeface="Courier New"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2F5FA"/>
                    </a:solidFill>
                  </a:tcPr>
                </a:tc>
                <a:tc>
                  <a:txBody>
                    <a:bodyPr/>
                    <a:lstStyle/>
                    <a:p>
                      <a:pPr marL="0" indent="0">
                        <a:buNone/>
                      </a:pPr>
                      <a:r>
                        <a:rPr lang="en-US" sz="1300" dirty="0">
                          <a:solidFill>
                            <a:srgbClr val="16213A"/>
                          </a:solidFill>
                        </a:rPr>
                        <a:t>un des 6 départements</a:t>
                      </a:r>
                      <a:endParaRPr lang="en-US" sz="1300" dirty="0"/>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2F5FA"/>
                    </a:solidFill>
                  </a:tcPr>
                </a:tc>
                <a:extLst>
                  <a:ext uri="{0D108BD9-81ED-4DB2-BD59-A6C34878D82A}">
                    <a16:rowId xmlns:a16="http://schemas.microsoft.com/office/drawing/2014/main" val="10006"/>
                  </a:ext>
                </a:extLst>
              </a:tr>
              <a:tr h="429768">
                <a:tc>
                  <a:txBody>
                    <a:bodyPr/>
                    <a:lstStyle/>
                    <a:p>
                      <a:pPr marL="0" indent="0">
                        <a:buNone/>
                      </a:pPr>
                      <a:r>
                        <a:rPr lang="en-US" sz="1300" b="1" dirty="0">
                          <a:solidFill>
                            <a:srgbClr val="16213A"/>
                          </a:solidFill>
                        </a:rPr>
                        <a:t>salaire</a:t>
                      </a:r>
                      <a:endParaRPr lang="en-US" sz="1300" dirty="0"/>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buNone/>
                      </a:pPr>
                      <a:r>
                        <a:rPr lang="en-US" sz="1300" dirty="0">
                          <a:solidFill>
                            <a:srgbClr val="16213A"/>
                          </a:solidFill>
                          <a:latin typeface="Courier New" pitchFamily="34" charset="0"/>
                          <a:ea typeface="Courier New" pitchFamily="34" charset="-122"/>
                          <a:cs typeface="Courier New" pitchFamily="34" charset="-120"/>
                        </a:rPr>
                        <a:t>NUMERIC(12,2)</a:t>
                      </a:r>
                      <a:endParaRPr lang="en-US" sz="1300" dirty="0">
                        <a:latin typeface="Courier New" charset="0"/>
                        <a:ea typeface="Courier New" charset="0"/>
                        <a:cs typeface="Courier New"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buNone/>
                      </a:pPr>
                      <a:r>
                        <a:rPr lang="en-US" sz="1300" dirty="0">
                          <a:solidFill>
                            <a:srgbClr val="16213A"/>
                          </a:solidFill>
                        </a:rPr>
                        <a:t>strictement positif</a:t>
                      </a:r>
                      <a:endParaRPr lang="en-US" sz="1300" dirty="0"/>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29768">
                <a:tc>
                  <a:txBody>
                    <a:bodyPr/>
                    <a:lstStyle/>
                    <a:p>
                      <a:pPr marL="0" indent="0">
                        <a:buNone/>
                      </a:pPr>
                      <a:r>
                        <a:rPr lang="en-US" sz="1300" b="1" dirty="0">
                          <a:solidFill>
                            <a:srgbClr val="16213A"/>
                          </a:solidFill>
                        </a:rPr>
                        <a:t>statut</a:t>
                      </a:r>
                      <a:endParaRPr lang="en-US" sz="1300" dirty="0"/>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2F5FA"/>
                    </a:solidFill>
                  </a:tcPr>
                </a:tc>
                <a:tc>
                  <a:txBody>
                    <a:bodyPr/>
                    <a:lstStyle/>
                    <a:p>
                      <a:pPr marL="0" indent="0">
                        <a:buNone/>
                      </a:pPr>
                      <a:r>
                        <a:rPr lang="en-US" sz="1300" dirty="0">
                          <a:solidFill>
                            <a:srgbClr val="16213A"/>
                          </a:solidFill>
                          <a:latin typeface="Courier New" pitchFamily="34" charset="0"/>
                          <a:ea typeface="Courier New" pitchFamily="34" charset="-122"/>
                          <a:cs typeface="Courier New" pitchFamily="34" charset="-120"/>
                        </a:rPr>
                        <a:t>ENUM</a:t>
                      </a:r>
                      <a:endParaRPr lang="en-US" sz="1300" dirty="0">
                        <a:latin typeface="Courier New" charset="0"/>
                        <a:ea typeface="Courier New" charset="0"/>
                        <a:cs typeface="Courier New"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2F5FA"/>
                    </a:solidFill>
                  </a:tcPr>
                </a:tc>
                <a:tc>
                  <a:txBody>
                    <a:bodyPr/>
                    <a:lstStyle/>
                    <a:p>
                      <a:pPr marL="0" indent="0">
                        <a:buNone/>
                      </a:pPr>
                      <a:r>
                        <a:rPr lang="en-US" sz="1300" dirty="0">
                          <a:solidFill>
                            <a:srgbClr val="16213A"/>
                          </a:solidFill>
                        </a:rPr>
                        <a:t>ACTIF, SUSPENDU, SORTI</a:t>
                      </a:r>
                      <a:endParaRPr lang="en-US" sz="1300" dirty="0"/>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2F5FA"/>
                    </a:solidFill>
                  </a:tcPr>
                </a:tc>
                <a:extLst>
                  <a:ext uri="{0D108BD9-81ED-4DB2-BD59-A6C34878D82A}">
                    <a16:rowId xmlns:a16="http://schemas.microsoft.com/office/drawing/2014/main" val="10008"/>
                  </a:ext>
                </a:extLst>
              </a:tr>
              <a:tr h="429768">
                <a:tc>
                  <a:txBody>
                    <a:bodyPr/>
                    <a:lstStyle/>
                    <a:p>
                      <a:pPr marL="0" indent="0">
                        <a:buNone/>
                      </a:pPr>
                      <a:r>
                        <a:rPr lang="en-US" sz="1300" b="1" dirty="0">
                          <a:solidFill>
                            <a:srgbClr val="16213A"/>
                          </a:solidFill>
                        </a:rPr>
                        <a:t>updated_at</a:t>
                      </a:r>
                      <a:endParaRPr lang="en-US" sz="1300" dirty="0"/>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buNone/>
                      </a:pPr>
                      <a:r>
                        <a:rPr lang="en-US" sz="1300" dirty="0">
                          <a:solidFill>
                            <a:srgbClr val="16213A"/>
                          </a:solidFill>
                          <a:latin typeface="Courier New" pitchFamily="34" charset="0"/>
                          <a:ea typeface="Courier New" pitchFamily="34" charset="-122"/>
                          <a:cs typeface="Courier New" pitchFamily="34" charset="-120"/>
                        </a:rPr>
                        <a:t>TIMESTAMP</a:t>
                      </a:r>
                      <a:endParaRPr lang="en-US" sz="1300" dirty="0">
                        <a:latin typeface="Courier New" charset="0"/>
                        <a:ea typeface="Courier New" charset="0"/>
                        <a:cs typeface="Courier New"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marL="0" indent="0">
                        <a:buNone/>
                      </a:pPr>
                      <a:r>
                        <a:rPr lang="en-US" sz="1300" dirty="0">
                          <a:solidFill>
                            <a:srgbClr val="16213A"/>
                          </a:solidFill>
                        </a:rPr>
                        <a:t>date de la dernière modification</a:t>
                      </a:r>
                      <a:endParaRPr lang="en-US" sz="1300" dirty="0"/>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refCard"/>
          <p:cNvSpPr/>
          <p:nvPr/>
        </p:nvSpPr>
        <p:spPr>
          <a:xfrm>
            <a:off x="7818120" y="1691640"/>
            <a:ext cx="3794760" cy="4297680"/>
          </a:xfrm>
          <a:prstGeom prst="roundRect">
            <a:avLst>
              <a:gd name="adj" fmla="val 2410"/>
            </a:avLst>
          </a:prstGeom>
          <a:solidFill>
            <a:schemeClr val="tx2"/>
          </a:solidFill>
          <a:ln/>
          <a:effectLst>
            <a:outerShdw blurRad="127000" dist="38100" dir="5400000" algn="bl" rotWithShape="0">
              <a:srgbClr val="0D2340">
                <a:alpha val="12000"/>
              </a:srgbClr>
            </a:outerShdw>
          </a:effectLst>
        </p:spPr>
      </p:sp>
      <p:sp>
        <p:nvSpPr>
          <p:cNvPr id="7" name="refDot"/>
          <p:cNvSpPr/>
          <p:nvPr/>
        </p:nvSpPr>
        <p:spPr>
          <a:xfrm>
            <a:off x="8092440" y="1965960"/>
            <a:ext cx="685800" cy="685800"/>
          </a:xfrm>
          <a:prstGeom prst="ellipse">
            <a:avLst/>
          </a:prstGeom>
          <a:solidFill>
            <a:schemeClr val="accent2"/>
          </a:solidFill>
          <a:ln/>
        </p:spPr>
      </p:sp>
      <p:pic>
        <p:nvPicPr>
          <p:cNvPr id="8" name="refDoti" descr="preencoded.png"/>
          <p:cNvPicPr>
            <a:picLocks noChangeAspect="1"/>
          </p:cNvPicPr>
          <p:nvPr/>
        </p:nvPicPr>
        <p:blipFill>
          <a:blip r:embed="rId3"/>
          <a:stretch>
            <a:fillRect/>
          </a:stretch>
        </p:blipFill>
        <p:spPr>
          <a:xfrm>
            <a:off x="8277606" y="2151126"/>
            <a:ext cx="315468" cy="315468"/>
          </a:xfrm>
          <a:prstGeom prst="rect">
            <a:avLst/>
          </a:prstGeom>
        </p:spPr>
      </p:pic>
      <p:sp>
        <p:nvSpPr>
          <p:cNvPr id="9" name="refH"/>
          <p:cNvSpPr txBox="1"/>
          <p:nvPr/>
        </p:nvSpPr>
        <p:spPr>
          <a:xfrm>
            <a:off x="8092440" y="2788920"/>
            <a:ext cx="3291840" cy="731520"/>
          </a:xfrm>
          <a:prstGeom prst="rect">
            <a:avLst/>
          </a:prstGeom>
          <a:noFill/>
          <a:ln/>
        </p:spPr>
        <p:txBody>
          <a:bodyPr wrap="square" lIns="0" tIns="0" rIns="0" bIns="0" rtlCol="0" anchor="t"/>
          <a:lstStyle/>
          <a:p>
            <a:pPr marL="0" indent="0">
              <a:buNone/>
            </a:pPr>
            <a:r>
              <a:rPr lang="en-US" sz="2000" b="1" dirty="0">
                <a:solidFill>
                  <a:schemeClr val="bg1"/>
                </a:solidFill>
              </a:rPr>
              <a:t>PostgreSQL, base de référence</a:t>
            </a:r>
            <a:endParaRPr lang="en-US" sz="2000" dirty="0"/>
          </a:p>
        </p:txBody>
      </p:sp>
      <p:sp>
        <p:nvSpPr>
          <p:cNvPr id="10" name="refB"/>
          <p:cNvSpPr txBox="1"/>
          <p:nvPr/>
        </p:nvSpPr>
        <p:spPr>
          <a:xfrm>
            <a:off x="8092440" y="3566160"/>
            <a:ext cx="3291840" cy="2286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DCE4F0"/>
                </a:solidFill>
              </a:rPr>
              <a:t>Reçoit les données nettoyées par Pentaho</a:t>
            </a:r>
            <a:endParaRPr lang="en-US" sz="1400" dirty="0"/>
          </a:p>
          <a:p>
            <a:pPr marL="342900" indent="-342900">
              <a:spcAft>
                <a:spcPts val="600"/>
              </a:spcAft>
              <a:buSzPct val="100000"/>
              <a:buChar char="•"/>
            </a:pPr>
            <a:r>
              <a:rPr lang="en-US" sz="1400" dirty="0">
                <a:solidFill>
                  <a:srgbClr val="DCE4F0"/>
                </a:solidFill>
              </a:rPr>
              <a:t>Contraintes CHECK, clé étrangère, unicité</a:t>
            </a:r>
            <a:endParaRPr lang="en-US" sz="1400" dirty="0"/>
          </a:p>
          <a:p>
            <a:pPr marL="342900" indent="-342900">
              <a:spcAft>
                <a:spcPts val="600"/>
              </a:spcAft>
              <a:buSzPct val="100000"/>
              <a:buChar char="•"/>
            </a:pPr>
            <a:r>
              <a:rPr lang="en-US" sz="1400" dirty="0">
                <a:solidFill>
                  <a:srgbClr val="DCE4F0"/>
                </a:solidFill>
              </a:rPr>
              <a:t>Seule base utilisée par le service</a:t>
            </a:r>
            <a:endParaRPr lang="en-US" sz="1400" dirty="0"/>
          </a:p>
          <a:p>
            <a:pPr marL="342900" indent="-342900">
              <a:spcAft>
                <a:spcPts val="600"/>
              </a:spcAft>
              <a:buSzPct val="100000"/>
              <a:buChar char="•"/>
            </a:pPr>
            <a:r>
              <a:rPr lang="en-US" sz="1400" dirty="0">
                <a:solidFill>
                  <a:srgbClr val="DCE4F0"/>
                </a:solidFill>
              </a:rPr>
              <a:t>Mêmes règles dans Pentaho et en Java</a:t>
            </a:r>
            <a:endParaRPr lang="en-US" sz="1400" dirty="0"/>
          </a:p>
        </p:txBody>
      </p:sp>
      <p:sp>
        <p:nvSpPr>
          <p:cNvPr id="26"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10</a:t>
            </a:fld>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42" presetClass="entr" presetSubtype="0" fill="hold" grpId="0" nodeType="withEffect">
                                  <p:stCondLst>
                                    <p:cond delay="22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ppt_y+.1"/>
                                          </p:val>
                                        </p:tav>
                                        <p:tav tm="100000">
                                          <p:val>
                                            <p:strVal val="#ppt_y"/>
                                          </p:val>
                                        </p:tav>
                                      </p:tavLst>
                                    </p:anim>
                                  </p:childTnLst>
                                </p:cTn>
                              </p:par>
                              <p:par>
                                <p:cTn id="13" presetID="42" presetClass="entr" presetSubtype="0" fill="hold" grpId="0" nodeType="withEffect">
                                  <p:stCondLst>
                                    <p:cond delay="22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anim calcmode="lin" valueType="num">
                                      <p:cBhvr additive="base">
                                        <p:cTn id="16" dur="500" fill="hold"/>
                                        <p:tgtEl>
                                          <p:spTgt spid="7"/>
                                        </p:tgtEl>
                                        <p:attrNameLst>
                                          <p:attrName>ppt_x</p:attrName>
                                        </p:attrNameLst>
                                      </p:cBhvr>
                                      <p:tavLst>
                                        <p:tav tm="0">
                                          <p:val>
                                            <p:strVal val="#ppt_x"/>
                                          </p:val>
                                        </p:tav>
                                        <p:tav tm="100000">
                                          <p:val>
                                            <p:strVal val="#ppt_x"/>
                                          </p:val>
                                        </p:tav>
                                      </p:tavLst>
                                    </p:anim>
                                    <p:anim calcmode="lin" valueType="num">
                                      <p:cBhvr additive="base">
                                        <p:cTn id="17" dur="500" fill="hold"/>
                                        <p:tgtEl>
                                          <p:spTgt spid="7"/>
                                        </p:tgtEl>
                                        <p:attrNameLst>
                                          <p:attrName>ppt_y</p:attrName>
                                        </p:attrNameLst>
                                      </p:cBhvr>
                                      <p:tavLst>
                                        <p:tav tm="0">
                                          <p:val>
                                            <p:strVal val="#ppt_y+.1"/>
                                          </p:val>
                                        </p:tav>
                                        <p:tav tm="100000">
                                          <p:val>
                                            <p:strVal val="#ppt_y"/>
                                          </p:val>
                                        </p:tav>
                                      </p:tavLst>
                                    </p:anim>
                                  </p:childTnLst>
                                </p:cTn>
                              </p:par>
                              <p:par>
                                <p:cTn id="18" presetID="42" presetClass="entr" presetSubtype="0" fill="hold" nodeType="withEffect">
                                  <p:stCondLst>
                                    <p:cond delay="22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anim calcmode="lin" valueType="num">
                                      <p:cBhvr additive="base">
                                        <p:cTn id="21" dur="500" fill="hold"/>
                                        <p:tgtEl>
                                          <p:spTgt spid="8"/>
                                        </p:tgtEl>
                                        <p:attrNameLst>
                                          <p:attrName>ppt_x</p:attrName>
                                        </p:attrNameLst>
                                      </p:cBhvr>
                                      <p:tavLst>
                                        <p:tav tm="0">
                                          <p:val>
                                            <p:strVal val="#ppt_x"/>
                                          </p:val>
                                        </p:tav>
                                        <p:tav tm="100000">
                                          <p:val>
                                            <p:strVal val="#ppt_x"/>
                                          </p:val>
                                        </p:tav>
                                      </p:tavLst>
                                    </p:anim>
                                    <p:anim calcmode="lin" valueType="num">
                                      <p:cBhvr additive="base">
                                        <p:cTn id="22" dur="500" fill="hold"/>
                                        <p:tgtEl>
                                          <p:spTgt spid="8"/>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22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anim calcmode="lin" valueType="num">
                                      <p:cBhvr additive="base">
                                        <p:cTn id="26" dur="500" fill="hold"/>
                                        <p:tgtEl>
                                          <p:spTgt spid="9"/>
                                        </p:tgtEl>
                                        <p:attrNameLst>
                                          <p:attrName>ppt_x</p:attrName>
                                        </p:attrNameLst>
                                      </p:cBhvr>
                                      <p:tavLst>
                                        <p:tav tm="0">
                                          <p:val>
                                            <p:strVal val="#ppt_x"/>
                                          </p:val>
                                        </p:tav>
                                        <p:tav tm="100000">
                                          <p:val>
                                            <p:strVal val="#ppt_x"/>
                                          </p:val>
                                        </p:tav>
                                      </p:tavLst>
                                    </p:anim>
                                    <p:anim calcmode="lin" valueType="num">
                                      <p:cBhvr additive="base">
                                        <p:cTn id="27" dur="500" fill="hold"/>
                                        <p:tgtEl>
                                          <p:spTgt spid="9"/>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22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ring#42"/>
          <p:cNvSpPr/>
          <p:nvPr/>
        </p:nvSpPr>
        <p:spPr>
          <a:xfrm>
            <a:off x="7223760" y="1234440"/>
            <a:ext cx="4389120" cy="4389120"/>
          </a:xfrm>
          <a:prstGeom prst="ellipse">
            <a:avLst/>
          </a:prstGeom>
          <a:solidFill>
            <a:srgbClr val="1BA39C">
              <a:alpha val="20000"/>
            </a:srgbClr>
          </a:solidFill>
          <a:ln/>
        </p:spPr>
      </p:sp>
      <p:sp>
        <p:nvSpPr>
          <p:cNvPr id="3" name="ring#43"/>
          <p:cNvSpPr/>
          <p:nvPr/>
        </p:nvSpPr>
        <p:spPr>
          <a:xfrm>
            <a:off x="7818120" y="1828800"/>
            <a:ext cx="3200400" cy="3200400"/>
          </a:xfrm>
          <a:prstGeom prst="ellipse">
            <a:avLst/>
          </a:prstGeom>
          <a:solidFill>
            <a:srgbClr val="1BA39C">
              <a:alpha val="8000"/>
            </a:srgbClr>
          </a:solidFill>
          <a:ln/>
        </p:spPr>
      </p:sp>
      <p:sp>
        <p:nvSpPr>
          <p:cNvPr id="4" name="divDot"/>
          <p:cNvSpPr/>
          <p:nvPr/>
        </p:nvSpPr>
        <p:spPr>
          <a:xfrm>
            <a:off x="8503920" y="2514600"/>
            <a:ext cx="1828800" cy="1828800"/>
          </a:xfrm>
          <a:prstGeom prst="ellipse">
            <a:avLst/>
          </a:prstGeom>
          <a:solidFill>
            <a:schemeClr val="accent3"/>
          </a:solidFill>
          <a:ln/>
        </p:spPr>
      </p:sp>
      <p:pic>
        <p:nvPicPr>
          <p:cNvPr id="5" name="divDoti" descr="preencoded.png"/>
          <p:cNvPicPr>
            <a:picLocks noChangeAspect="1"/>
          </p:cNvPicPr>
          <p:nvPr/>
        </p:nvPicPr>
        <p:blipFill>
          <a:blip r:embed="rId3"/>
          <a:stretch>
            <a:fillRect/>
          </a:stretch>
        </p:blipFill>
        <p:spPr>
          <a:xfrm>
            <a:off x="8997696" y="3008376"/>
            <a:ext cx="841248" cy="841248"/>
          </a:xfrm>
          <a:prstGeom prst="rect">
            <a:avLst/>
          </a:prstGeom>
        </p:spPr>
      </p:pic>
      <p:sp>
        <p:nvSpPr>
          <p:cNvPr id="6" name="divNum"/>
          <p:cNvSpPr txBox="1"/>
          <p:nvPr/>
        </p:nvSpPr>
        <p:spPr>
          <a:xfrm>
            <a:off x="548640" y="1463040"/>
            <a:ext cx="3657600" cy="1737360"/>
          </a:xfrm>
          <a:prstGeom prst="rect">
            <a:avLst/>
          </a:prstGeom>
          <a:noFill/>
          <a:ln/>
        </p:spPr>
        <p:txBody>
          <a:bodyPr wrap="square" lIns="0" tIns="0" rIns="0" bIns="0" rtlCol="0" anchor="t"/>
          <a:lstStyle/>
          <a:p>
            <a:pPr marL="0" indent="0">
              <a:buNone/>
            </a:pPr>
            <a:r>
              <a:rPr lang="en-US" sz="12000" b="1" dirty="0">
                <a:solidFill>
                  <a:schemeClr val="accent2"/>
                </a:solidFill>
              </a:rPr>
              <a:t>03</a:t>
            </a:r>
            <a:endParaRPr lang="en-US" sz="12000" dirty="0"/>
          </a:p>
        </p:txBody>
      </p:sp>
      <p:sp>
        <p:nvSpPr>
          <p:cNvPr id="7" name="divPart"/>
          <p:cNvSpPr txBox="1"/>
          <p:nvPr/>
        </p:nvSpPr>
        <p:spPr>
          <a:xfrm>
            <a:off x="548640" y="3383280"/>
            <a:ext cx="5486400" cy="320040"/>
          </a:xfrm>
          <a:prstGeom prst="rect">
            <a:avLst/>
          </a:prstGeom>
          <a:noFill/>
          <a:ln/>
        </p:spPr>
        <p:txBody>
          <a:bodyPr wrap="square" lIns="0" tIns="0" rIns="0" bIns="0" rtlCol="0" anchor="t"/>
          <a:lstStyle/>
          <a:p>
            <a:pPr marL="0" indent="0">
              <a:buNone/>
            </a:pPr>
            <a:r>
              <a:rPr lang="en-US" sz="1300" b="1" kern="0" spc="300" dirty="0">
                <a:solidFill>
                  <a:schemeClr val="accent3"/>
                </a:solidFill>
              </a:rPr>
              <a:t>PARTIE 3</a:t>
            </a:r>
            <a:endParaRPr lang="en-US" sz="1300" dirty="0"/>
          </a:p>
        </p:txBody>
      </p:sp>
      <p:sp>
        <p:nvSpPr>
          <p:cNvPr id="8" name="divTtl"/>
          <p:cNvSpPr txBox="1"/>
          <p:nvPr/>
        </p:nvSpPr>
        <p:spPr>
          <a:xfrm>
            <a:off x="548640" y="3749040"/>
            <a:ext cx="6949440" cy="914400"/>
          </a:xfrm>
          <a:prstGeom prst="rect">
            <a:avLst/>
          </a:prstGeom>
          <a:noFill/>
          <a:ln/>
        </p:spPr>
        <p:txBody>
          <a:bodyPr wrap="square" lIns="0" tIns="0" rIns="0" bIns="0" rtlCol="0" anchor="t"/>
          <a:lstStyle/>
          <a:p>
            <a:pPr marL="0" indent="0">
              <a:buNone/>
            </a:pPr>
            <a:r>
              <a:rPr lang="en-US" sz="3400" b="1" dirty="0">
                <a:solidFill>
                  <a:schemeClr val="bg1"/>
                </a:solidFill>
              </a:rPr>
              <a:t>Synchronisation avec Pentaho</a:t>
            </a:r>
            <a:endParaRPr lang="en-US" sz="3400" dirty="0"/>
          </a:p>
        </p:txBody>
      </p:sp>
      <p:sp>
        <p:nvSpPr>
          <p:cNvPr id="9" name="divSub"/>
          <p:cNvSpPr txBox="1"/>
          <p:nvPr/>
        </p:nvSpPr>
        <p:spPr>
          <a:xfrm>
            <a:off x="548640" y="4709160"/>
            <a:ext cx="6949440" cy="548640"/>
          </a:xfrm>
          <a:prstGeom prst="rect">
            <a:avLst/>
          </a:prstGeom>
          <a:noFill/>
          <a:ln/>
        </p:spPr>
        <p:txBody>
          <a:bodyPr wrap="square" lIns="0" tIns="0" rIns="0" bIns="0" rtlCol="0" anchor="t"/>
          <a:lstStyle/>
          <a:p>
            <a:pPr marL="0" indent="0">
              <a:buNone/>
            </a:pPr>
            <a:r>
              <a:rPr lang="en-US" sz="1600" dirty="0">
                <a:solidFill>
                  <a:srgbClr val="C9D3E3"/>
                </a:solidFill>
              </a:rPr>
              <a:t>De MySQL vers PostgreSQL, et retour</a:t>
            </a:r>
            <a:endParaRPr lang="en-US" sz="16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ppt_w</p:attrName>
                                        </p:attrNameLst>
                                      </p:cBhvr>
                                      <p:tavLst>
                                        <p:tav tm="0">
                                          <p:val>
                                            <p:strVal val="0"/>
                                          </p:val>
                                        </p:tav>
                                        <p:tav tm="100000">
                                          <p:val>
                                            <p:strVal val="#ppt_w"/>
                                          </p:val>
                                        </p:tav>
                                      </p:tavLst>
                                    </p:anim>
                                    <p:anim calcmode="lin" valueType="num">
                                      <p:cBhvr additive="base">
                                        <p:cTn id="8" dur="500" fill="hold"/>
                                        <p:tgtEl>
                                          <p:spTgt spid="4"/>
                                        </p:tgtEl>
                                        <p:attrNameLst>
                                          <p:attrName>ppt_h</p:attrName>
                                        </p:attrNameLst>
                                      </p:cBhvr>
                                      <p:tavLst>
                                        <p:tav tm="0">
                                          <p:val>
                                            <p:strVal val="0"/>
                                          </p:val>
                                        </p:tav>
                                        <p:tav tm="100000">
                                          <p:val>
                                            <p:strVal val="#ppt_h"/>
                                          </p:val>
                                        </p:tav>
                                      </p:tavLst>
                                    </p:anim>
                                    <p:animEffect transition="in" filter="fade">
                                      <p:cBhvr>
                                        <p:cTn id="9" dur="500"/>
                                        <p:tgtEl>
                                          <p:spTgt spid="4"/>
                                        </p:tgtEl>
                                      </p:cBhvr>
                                    </p:animEffect>
                                  </p:childTnLst>
                                </p:cTn>
                              </p:par>
                              <p:par>
                                <p:cTn id="10" presetID="53" presetClass="entr" presetSubtype="16"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ppt_w</p:attrName>
                                        </p:attrNameLst>
                                      </p:cBhvr>
                                      <p:tavLst>
                                        <p:tav tm="0">
                                          <p:val>
                                            <p:strVal val="0"/>
                                          </p:val>
                                        </p:tav>
                                        <p:tav tm="100000">
                                          <p:val>
                                            <p:strVal val="#ppt_w"/>
                                          </p:val>
                                        </p:tav>
                                      </p:tavLst>
                                    </p:anim>
                                    <p:anim calcmode="lin" valueType="num">
                                      <p:cBhvr additive="base">
                                        <p:cTn id="13" dur="500" fill="hold"/>
                                        <p:tgtEl>
                                          <p:spTgt spid="5"/>
                                        </p:tgtEl>
                                        <p:attrNameLst>
                                          <p:attrName>ppt_h</p:attrName>
                                        </p:attrNameLst>
                                      </p:cBhvr>
                                      <p:tavLst>
                                        <p:tav tm="0">
                                          <p:val>
                                            <p:strVal val="0"/>
                                          </p:val>
                                        </p:tav>
                                        <p:tav tm="100000">
                                          <p:val>
                                            <p:strVal val="#ppt_h"/>
                                          </p:val>
                                        </p:tav>
                                      </p:tavLst>
                                    </p:anim>
                                    <p:animEffect transition="in" filter="fade">
                                      <p:cBhvr>
                                        <p:cTn id="14" dur="500"/>
                                        <p:tgtEl>
                                          <p:spTgt spid="5"/>
                                        </p:tgtEl>
                                      </p:cBhvr>
                                    </p:animEffect>
                                  </p:childTnLst>
                                </p:cTn>
                              </p:par>
                              <p:par>
                                <p:cTn id="15" presetID="42" presetClass="entr" presetSubtype="0" fill="hold" grpId="0" nodeType="withEffect">
                                  <p:stCondLst>
                                    <p:cond delay="22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anim calcmode="lin" valueType="num">
                                      <p:cBhvr additive="base">
                                        <p:cTn id="18" dur="500" fill="hold"/>
                                        <p:tgtEl>
                                          <p:spTgt spid="6"/>
                                        </p:tgtEl>
                                        <p:attrNameLst>
                                          <p:attrName>ppt_x</p:attrName>
                                        </p:attrNameLst>
                                      </p:cBhvr>
                                      <p:tavLst>
                                        <p:tav tm="0">
                                          <p:val>
                                            <p:strVal val="#ppt_x"/>
                                          </p:val>
                                        </p:tav>
                                        <p:tav tm="100000">
                                          <p:val>
                                            <p:strVal val="#ppt_x"/>
                                          </p:val>
                                        </p:tav>
                                      </p:tavLst>
                                    </p:anim>
                                    <p:anim calcmode="lin" valueType="num">
                                      <p:cBhvr additive="base">
                                        <p:cTn id="19" dur="50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44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anim calcmode="lin" valueType="num">
                                      <p:cBhvr additive="base">
                                        <p:cTn id="23" dur="500" fill="hold"/>
                                        <p:tgtEl>
                                          <p:spTgt spid="7"/>
                                        </p:tgtEl>
                                        <p:attrNameLst>
                                          <p:attrName>ppt_x</p:attrName>
                                        </p:attrNameLst>
                                      </p:cBhvr>
                                      <p:tavLst>
                                        <p:tav tm="0">
                                          <p:val>
                                            <p:strVal val="#ppt_x"/>
                                          </p:val>
                                        </p:tav>
                                        <p:tav tm="100000">
                                          <p:val>
                                            <p:strVal val="#ppt_x"/>
                                          </p:val>
                                        </p:tav>
                                      </p:tavLst>
                                    </p:anim>
                                    <p:anim calcmode="lin" valueType="num">
                                      <p:cBhvr additive="base">
                                        <p:cTn id="24" dur="500" fill="hold"/>
                                        <p:tgtEl>
                                          <p:spTgt spid="7"/>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44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anim calcmode="lin" valueType="num">
                                      <p:cBhvr additive="base">
                                        <p:cTn id="28" dur="500" fill="hold"/>
                                        <p:tgtEl>
                                          <p:spTgt spid="8"/>
                                        </p:tgtEl>
                                        <p:attrNameLst>
                                          <p:attrName>ppt_x</p:attrName>
                                        </p:attrNameLst>
                                      </p:cBhvr>
                                      <p:tavLst>
                                        <p:tav tm="0">
                                          <p:val>
                                            <p:strVal val="#ppt_x"/>
                                          </p:val>
                                        </p:tav>
                                        <p:tav tm="100000">
                                          <p:val>
                                            <p:strVal val="#ppt_x"/>
                                          </p:val>
                                        </p:tav>
                                      </p:tavLst>
                                    </p:anim>
                                    <p:anim calcmode="lin" valueType="num">
                                      <p:cBhvr additive="base">
                                        <p:cTn id="29" dur="500" fill="hold"/>
                                        <p:tgtEl>
                                          <p:spTgt spid="8"/>
                                        </p:tgtEl>
                                        <p:attrNameLst>
                                          <p:attrName>ppt_y</p:attrName>
                                        </p:attrNameLst>
                                      </p:cBhvr>
                                      <p:tavLst>
                                        <p:tav tm="0">
                                          <p:val>
                                            <p:strVal val="#ppt_y+.1"/>
                                          </p:val>
                                        </p:tav>
                                        <p:tav tm="100000">
                                          <p:val>
                                            <p:strVal val="#ppt_y"/>
                                          </p:val>
                                        </p:tav>
                                      </p:tavLst>
                                    </p:anim>
                                  </p:childTnLst>
                                </p:cTn>
                              </p:par>
                              <p:par>
                                <p:cTn id="30" presetID="10" presetClass="entr" presetSubtype="0" fill="hold" grpId="0" nodeType="withEffect">
                                  <p:stCondLst>
                                    <p:cond delay="66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749808"/>
            <a:ext cx="11064240" cy="685800"/>
          </a:xfrm>
          <a:prstGeom prst="rect">
            <a:avLst/>
          </a:prstGeom>
          <a:noFill/>
          <a:ln/>
        </p:spPr>
        <p:txBody>
          <a:bodyPr wrap="square" lIns="0" tIns="0" rIns="0" bIns="0" rtlCol="0" anchor="ctr"/>
          <a:lstStyle/>
          <a:p>
            <a:pPr marL="0" indent="0" algn="l">
              <a:buNone/>
            </a:pPr>
            <a:r>
              <a:rPr lang="en-US" sz="3000" b="1" dirty="0">
                <a:solidFill>
                  <a:schemeClr val="tx2"/>
                </a:solidFill>
              </a:rPr>
              <a:t>Le job aller : MySQL vers PostgreSQL</a:t>
            </a:r>
            <a:endParaRPr lang="en-US" sz="3000" dirty="0"/>
          </a:p>
        </p:txBody>
      </p:sp>
      <p:sp>
        <p:nvSpPr>
          <p:cNvPr id="3" name="pill#44"/>
          <p:cNvSpPr/>
          <p:nvPr/>
        </p:nvSpPr>
        <p:spPr>
          <a:xfrm>
            <a:off x="548640" y="384048"/>
            <a:ext cx="745236" cy="292608"/>
          </a:xfrm>
          <a:prstGeom prst="roundRect">
            <a:avLst>
              <a:gd name="adj" fmla="val 50000"/>
            </a:avLst>
          </a:prstGeom>
          <a:solidFill>
            <a:schemeClr val="accent4"/>
          </a:solidFill>
          <a:ln/>
        </p:spPr>
      </p:sp>
      <p:sp>
        <p:nvSpPr>
          <p:cNvPr id="4" name="pill#44t"/>
          <p:cNvSpPr txBox="1"/>
          <p:nvPr/>
        </p:nvSpPr>
        <p:spPr>
          <a:xfrm>
            <a:off x="548640" y="384048"/>
            <a:ext cx="745236" cy="292608"/>
          </a:xfrm>
          <a:prstGeom prst="rect">
            <a:avLst/>
          </a:prstGeom>
          <a:noFill/>
          <a:ln/>
        </p:spPr>
        <p:txBody>
          <a:bodyPr wrap="square" lIns="0" tIns="0" rIns="0" bIns="0" rtlCol="0" anchor="ctr"/>
          <a:lstStyle/>
          <a:p>
            <a:pPr marL="0" indent="0" algn="ctr">
              <a:buNone/>
            </a:pPr>
            <a:r>
              <a:rPr lang="en-US" sz="1100" b="1" dirty="0">
                <a:solidFill>
                  <a:schemeClr val="bg1"/>
                </a:solidFill>
              </a:rPr>
              <a:t>Pentaho</a:t>
            </a:r>
            <a:endParaRPr lang="en-US" sz="1100" dirty="0"/>
          </a:p>
        </p:txBody>
      </p:sp>
      <p:sp>
        <p:nvSpPr>
          <p:cNvPr id="5" name="st#45d"/>
          <p:cNvSpPr/>
          <p:nvPr/>
        </p:nvSpPr>
        <p:spPr>
          <a:xfrm>
            <a:off x="1005840" y="1920240"/>
            <a:ext cx="868680" cy="868680"/>
          </a:xfrm>
          <a:prstGeom prst="ellipse">
            <a:avLst/>
          </a:prstGeom>
          <a:solidFill>
            <a:schemeClr val="accent4"/>
          </a:solidFill>
          <a:ln/>
        </p:spPr>
      </p:sp>
      <p:pic>
        <p:nvPicPr>
          <p:cNvPr id="6" name="st#45di" descr="preencoded.png"/>
          <p:cNvPicPr>
            <a:picLocks noChangeAspect="1"/>
          </p:cNvPicPr>
          <p:nvPr/>
        </p:nvPicPr>
        <p:blipFill>
          <a:blip r:embed="rId3"/>
          <a:stretch>
            <a:fillRect/>
          </a:stretch>
        </p:blipFill>
        <p:spPr>
          <a:xfrm>
            <a:off x="1240384" y="2154784"/>
            <a:ext cx="399593" cy="399593"/>
          </a:xfrm>
          <a:prstGeom prst="rect">
            <a:avLst/>
          </a:prstGeom>
        </p:spPr>
      </p:pic>
      <p:sp>
        <p:nvSpPr>
          <p:cNvPr id="7" name="st#45h"/>
          <p:cNvSpPr txBox="1"/>
          <p:nvPr/>
        </p:nvSpPr>
        <p:spPr>
          <a:xfrm>
            <a:off x="548640" y="2926080"/>
            <a:ext cx="1783080" cy="365760"/>
          </a:xfrm>
          <a:prstGeom prst="rect">
            <a:avLst/>
          </a:prstGeom>
          <a:noFill/>
          <a:ln/>
        </p:spPr>
        <p:txBody>
          <a:bodyPr wrap="square" lIns="0" tIns="0" rIns="0" bIns="0" rtlCol="0" anchor="t"/>
          <a:lstStyle/>
          <a:p>
            <a:pPr marL="0" indent="0" algn="ctr">
              <a:buNone/>
            </a:pPr>
            <a:r>
              <a:rPr lang="en-US" sz="1700" b="1" dirty="0">
                <a:solidFill>
                  <a:schemeClr val="tx2"/>
                </a:solidFill>
              </a:rPr>
              <a:t>1. Lire</a:t>
            </a:r>
            <a:endParaRPr lang="en-US" sz="1700" dirty="0"/>
          </a:p>
        </p:txBody>
      </p:sp>
      <p:sp>
        <p:nvSpPr>
          <p:cNvPr id="8" name="st#45b"/>
          <p:cNvSpPr txBox="1"/>
          <p:nvPr/>
        </p:nvSpPr>
        <p:spPr>
          <a:xfrm>
            <a:off x="548640" y="3310128"/>
            <a:ext cx="1783080" cy="548640"/>
          </a:xfrm>
          <a:prstGeom prst="rect">
            <a:avLst/>
          </a:prstGeom>
          <a:noFill/>
          <a:ln/>
        </p:spPr>
        <p:txBody>
          <a:bodyPr wrap="square" lIns="0" tIns="0" rIns="0" bIns="0" rtlCol="0" anchor="t"/>
          <a:lstStyle/>
          <a:p>
            <a:pPr marL="0" indent="0" algn="ctr">
              <a:buNone/>
            </a:pPr>
            <a:r>
              <a:rPr lang="en-US" sz="1300" dirty="0">
                <a:solidFill>
                  <a:schemeClr val="tx1"/>
                </a:solidFill>
              </a:rPr>
              <a:t>table employes</a:t>
            </a:r>
            <a:endParaRPr lang="en-US" sz="1300" dirty="0"/>
          </a:p>
        </p:txBody>
      </p:sp>
      <p:sp>
        <p:nvSpPr>
          <p:cNvPr id="9" name="st#45l"/>
          <p:cNvSpPr/>
          <p:nvPr/>
        </p:nvSpPr>
        <p:spPr>
          <a:xfrm>
            <a:off x="1965960" y="2354580"/>
            <a:ext cx="841248" cy="0"/>
          </a:xfrm>
          <a:prstGeom prst="line">
            <a:avLst/>
          </a:prstGeom>
          <a:noFill/>
          <a:ln w="19050">
            <a:solidFill>
              <a:srgbClr val="C5CDDA"/>
            </a:solidFill>
            <a:prstDash val="dash"/>
            <a:tailEnd type="triangle"/>
          </a:ln>
        </p:spPr>
      </p:sp>
      <p:sp>
        <p:nvSpPr>
          <p:cNvPr id="10" name="st#46d"/>
          <p:cNvSpPr/>
          <p:nvPr/>
        </p:nvSpPr>
        <p:spPr>
          <a:xfrm>
            <a:off x="2898648" y="1920240"/>
            <a:ext cx="868680" cy="868680"/>
          </a:xfrm>
          <a:prstGeom prst="ellipse">
            <a:avLst/>
          </a:prstGeom>
          <a:solidFill>
            <a:schemeClr val="accent2"/>
          </a:solidFill>
          <a:ln/>
        </p:spPr>
      </p:sp>
      <p:pic>
        <p:nvPicPr>
          <p:cNvPr id="11" name="st#46di" descr="preencoded.png"/>
          <p:cNvPicPr>
            <a:picLocks noChangeAspect="1"/>
          </p:cNvPicPr>
          <p:nvPr/>
        </p:nvPicPr>
        <p:blipFill>
          <a:blip r:embed="rId4"/>
          <a:stretch>
            <a:fillRect/>
          </a:stretch>
        </p:blipFill>
        <p:spPr>
          <a:xfrm>
            <a:off x="3133192" y="2154784"/>
            <a:ext cx="399593" cy="399593"/>
          </a:xfrm>
          <a:prstGeom prst="rect">
            <a:avLst/>
          </a:prstGeom>
        </p:spPr>
      </p:pic>
      <p:sp>
        <p:nvSpPr>
          <p:cNvPr id="12" name="st#46h"/>
          <p:cNvSpPr txBox="1"/>
          <p:nvPr/>
        </p:nvSpPr>
        <p:spPr>
          <a:xfrm>
            <a:off x="2441448" y="2926080"/>
            <a:ext cx="1783080" cy="365760"/>
          </a:xfrm>
          <a:prstGeom prst="rect">
            <a:avLst/>
          </a:prstGeom>
          <a:noFill/>
          <a:ln/>
        </p:spPr>
        <p:txBody>
          <a:bodyPr wrap="square" lIns="0" tIns="0" rIns="0" bIns="0" rtlCol="0" anchor="t"/>
          <a:lstStyle/>
          <a:p>
            <a:pPr marL="0" indent="0" algn="ctr">
              <a:buNone/>
            </a:pPr>
            <a:r>
              <a:rPr lang="en-US" sz="1700" b="1" dirty="0">
                <a:solidFill>
                  <a:schemeClr val="tx2"/>
                </a:solidFill>
              </a:rPr>
              <a:t>2. Nettoyer</a:t>
            </a:r>
            <a:endParaRPr lang="en-US" sz="1700" dirty="0"/>
          </a:p>
        </p:txBody>
      </p:sp>
      <p:sp>
        <p:nvSpPr>
          <p:cNvPr id="13" name="st#46b"/>
          <p:cNvSpPr txBox="1"/>
          <p:nvPr/>
        </p:nvSpPr>
        <p:spPr>
          <a:xfrm>
            <a:off x="2441448" y="3310128"/>
            <a:ext cx="1783080" cy="548640"/>
          </a:xfrm>
          <a:prstGeom prst="rect">
            <a:avLst/>
          </a:prstGeom>
          <a:noFill/>
          <a:ln/>
        </p:spPr>
        <p:txBody>
          <a:bodyPr wrap="square" lIns="0" tIns="0" rIns="0" bIns="0" rtlCol="0" anchor="t"/>
          <a:lstStyle/>
          <a:p>
            <a:pPr marL="0" indent="0" algn="ctr">
              <a:buNone/>
            </a:pPr>
            <a:r>
              <a:rPr lang="en-US" sz="1300" dirty="0">
                <a:solidFill>
                  <a:schemeClr val="tx1"/>
                </a:solidFill>
              </a:rPr>
              <a:t>espaces et casse</a:t>
            </a:r>
            <a:endParaRPr lang="en-US" sz="1300" dirty="0"/>
          </a:p>
        </p:txBody>
      </p:sp>
      <p:sp>
        <p:nvSpPr>
          <p:cNvPr id="14" name="st#46l"/>
          <p:cNvSpPr/>
          <p:nvPr/>
        </p:nvSpPr>
        <p:spPr>
          <a:xfrm>
            <a:off x="3858768" y="2354580"/>
            <a:ext cx="841248" cy="0"/>
          </a:xfrm>
          <a:prstGeom prst="line">
            <a:avLst/>
          </a:prstGeom>
          <a:noFill/>
          <a:ln w="19050">
            <a:solidFill>
              <a:srgbClr val="C5CDDA"/>
            </a:solidFill>
            <a:prstDash val="dash"/>
            <a:tailEnd type="triangle"/>
          </a:ln>
        </p:spPr>
      </p:sp>
      <p:sp>
        <p:nvSpPr>
          <p:cNvPr id="15" name="st#47d"/>
          <p:cNvSpPr/>
          <p:nvPr/>
        </p:nvSpPr>
        <p:spPr>
          <a:xfrm>
            <a:off x="4791456" y="1920240"/>
            <a:ext cx="868680" cy="868680"/>
          </a:xfrm>
          <a:prstGeom prst="ellipse">
            <a:avLst/>
          </a:prstGeom>
          <a:solidFill>
            <a:schemeClr val="accent4"/>
          </a:solidFill>
          <a:ln/>
        </p:spPr>
      </p:sp>
      <p:pic>
        <p:nvPicPr>
          <p:cNvPr id="16" name="st#47di" descr="preencoded.png"/>
          <p:cNvPicPr>
            <a:picLocks noChangeAspect="1"/>
          </p:cNvPicPr>
          <p:nvPr/>
        </p:nvPicPr>
        <p:blipFill>
          <a:blip r:embed="rId5"/>
          <a:stretch>
            <a:fillRect/>
          </a:stretch>
        </p:blipFill>
        <p:spPr>
          <a:xfrm>
            <a:off x="5026000" y="2154784"/>
            <a:ext cx="399593" cy="399593"/>
          </a:xfrm>
          <a:prstGeom prst="rect">
            <a:avLst/>
          </a:prstGeom>
        </p:spPr>
      </p:pic>
      <p:sp>
        <p:nvSpPr>
          <p:cNvPr id="17" name="st#47h"/>
          <p:cNvSpPr txBox="1"/>
          <p:nvPr/>
        </p:nvSpPr>
        <p:spPr>
          <a:xfrm>
            <a:off x="4334256" y="2926080"/>
            <a:ext cx="1783080" cy="365760"/>
          </a:xfrm>
          <a:prstGeom prst="rect">
            <a:avLst/>
          </a:prstGeom>
          <a:noFill/>
          <a:ln/>
        </p:spPr>
        <p:txBody>
          <a:bodyPr wrap="square" lIns="0" tIns="0" rIns="0" bIns="0" rtlCol="0" anchor="t"/>
          <a:lstStyle/>
          <a:p>
            <a:pPr marL="0" indent="0" algn="ctr">
              <a:buNone/>
            </a:pPr>
            <a:r>
              <a:rPr lang="en-US" sz="1700" b="1" dirty="0">
                <a:solidFill>
                  <a:schemeClr val="tx2"/>
                </a:solidFill>
              </a:rPr>
              <a:t>3. Normaliser</a:t>
            </a:r>
            <a:endParaRPr lang="en-US" sz="1700" dirty="0"/>
          </a:p>
        </p:txBody>
      </p:sp>
      <p:sp>
        <p:nvSpPr>
          <p:cNvPr id="18" name="st#47b"/>
          <p:cNvSpPr txBox="1"/>
          <p:nvPr/>
        </p:nvSpPr>
        <p:spPr>
          <a:xfrm>
            <a:off x="4334256" y="3310128"/>
            <a:ext cx="1783080" cy="548640"/>
          </a:xfrm>
          <a:prstGeom prst="rect">
            <a:avLst/>
          </a:prstGeom>
          <a:noFill/>
          <a:ln/>
        </p:spPr>
        <p:txBody>
          <a:bodyPr wrap="square" lIns="0" tIns="0" rIns="0" bIns="0" rtlCol="0" anchor="t"/>
          <a:lstStyle/>
          <a:p>
            <a:pPr marL="0" indent="0" algn="ctr">
              <a:buNone/>
            </a:pPr>
            <a:r>
              <a:rPr lang="en-US" sz="1300" dirty="0">
                <a:solidFill>
                  <a:schemeClr val="tx1"/>
                </a:solidFill>
              </a:rPr>
              <a:t>alias de département</a:t>
            </a:r>
            <a:endParaRPr lang="en-US" sz="1300" dirty="0"/>
          </a:p>
        </p:txBody>
      </p:sp>
      <p:sp>
        <p:nvSpPr>
          <p:cNvPr id="19" name="st#47l"/>
          <p:cNvSpPr/>
          <p:nvPr/>
        </p:nvSpPr>
        <p:spPr>
          <a:xfrm>
            <a:off x="5751576" y="2354580"/>
            <a:ext cx="841248" cy="0"/>
          </a:xfrm>
          <a:prstGeom prst="line">
            <a:avLst/>
          </a:prstGeom>
          <a:noFill/>
          <a:ln w="19050">
            <a:solidFill>
              <a:srgbClr val="C5CDDA"/>
            </a:solidFill>
            <a:prstDash val="dash"/>
            <a:tailEnd type="triangle"/>
          </a:ln>
        </p:spPr>
      </p:sp>
      <p:sp>
        <p:nvSpPr>
          <p:cNvPr id="20" name="st#48d"/>
          <p:cNvSpPr/>
          <p:nvPr/>
        </p:nvSpPr>
        <p:spPr>
          <a:xfrm>
            <a:off x="6684264" y="1920240"/>
            <a:ext cx="868680" cy="868680"/>
          </a:xfrm>
          <a:prstGeom prst="ellipse">
            <a:avLst/>
          </a:prstGeom>
          <a:solidFill>
            <a:schemeClr val="accent2"/>
          </a:solidFill>
          <a:ln/>
        </p:spPr>
      </p:sp>
      <p:pic>
        <p:nvPicPr>
          <p:cNvPr id="21" name="st#48di" descr="preencoded.png"/>
          <p:cNvPicPr>
            <a:picLocks noChangeAspect="1"/>
          </p:cNvPicPr>
          <p:nvPr/>
        </p:nvPicPr>
        <p:blipFill>
          <a:blip r:embed="rId6"/>
          <a:stretch>
            <a:fillRect/>
          </a:stretch>
        </p:blipFill>
        <p:spPr>
          <a:xfrm>
            <a:off x="6918808" y="2154784"/>
            <a:ext cx="399593" cy="399593"/>
          </a:xfrm>
          <a:prstGeom prst="rect">
            <a:avLst/>
          </a:prstGeom>
        </p:spPr>
      </p:pic>
      <p:sp>
        <p:nvSpPr>
          <p:cNvPr id="22" name="st#48h"/>
          <p:cNvSpPr txBox="1"/>
          <p:nvPr/>
        </p:nvSpPr>
        <p:spPr>
          <a:xfrm>
            <a:off x="6227064" y="2926080"/>
            <a:ext cx="1783080" cy="365760"/>
          </a:xfrm>
          <a:prstGeom prst="rect">
            <a:avLst/>
          </a:prstGeom>
          <a:noFill/>
          <a:ln/>
        </p:spPr>
        <p:txBody>
          <a:bodyPr wrap="square" lIns="0" tIns="0" rIns="0" bIns="0" rtlCol="0" anchor="t"/>
          <a:lstStyle/>
          <a:p>
            <a:pPr marL="0" indent="0" algn="ctr">
              <a:buNone/>
            </a:pPr>
            <a:r>
              <a:rPr lang="en-US" sz="1700" b="1" dirty="0">
                <a:solidFill>
                  <a:schemeClr val="tx2"/>
                </a:solidFill>
              </a:rPr>
              <a:t>4. Valider</a:t>
            </a:r>
            <a:endParaRPr lang="en-US" sz="1700" dirty="0"/>
          </a:p>
        </p:txBody>
      </p:sp>
      <p:sp>
        <p:nvSpPr>
          <p:cNvPr id="23" name="st#48b"/>
          <p:cNvSpPr txBox="1"/>
          <p:nvPr/>
        </p:nvSpPr>
        <p:spPr>
          <a:xfrm>
            <a:off x="6227064" y="3310128"/>
            <a:ext cx="1783080" cy="548640"/>
          </a:xfrm>
          <a:prstGeom prst="rect">
            <a:avLst/>
          </a:prstGeom>
          <a:noFill/>
          <a:ln/>
        </p:spPr>
        <p:txBody>
          <a:bodyPr wrap="square" lIns="0" tIns="0" rIns="0" bIns="0" rtlCol="0" anchor="t"/>
          <a:lstStyle/>
          <a:p>
            <a:pPr marL="0" indent="0" algn="ctr">
              <a:buNone/>
            </a:pPr>
            <a:r>
              <a:rPr lang="en-US" sz="1300" dirty="0">
                <a:solidFill>
                  <a:schemeClr val="tx1"/>
                </a:solidFill>
              </a:rPr>
              <a:t>règles du modèle</a:t>
            </a:r>
            <a:endParaRPr lang="en-US" sz="1300" dirty="0"/>
          </a:p>
        </p:txBody>
      </p:sp>
      <p:sp>
        <p:nvSpPr>
          <p:cNvPr id="24" name="st#48l"/>
          <p:cNvSpPr/>
          <p:nvPr/>
        </p:nvSpPr>
        <p:spPr>
          <a:xfrm>
            <a:off x="7644384" y="2354580"/>
            <a:ext cx="841248" cy="0"/>
          </a:xfrm>
          <a:prstGeom prst="line">
            <a:avLst/>
          </a:prstGeom>
          <a:noFill/>
          <a:ln w="19050">
            <a:solidFill>
              <a:srgbClr val="C5CDDA"/>
            </a:solidFill>
            <a:prstDash val="dash"/>
            <a:tailEnd type="triangle"/>
          </a:ln>
        </p:spPr>
      </p:sp>
      <p:sp>
        <p:nvSpPr>
          <p:cNvPr id="25" name="st#49d"/>
          <p:cNvSpPr/>
          <p:nvPr/>
        </p:nvSpPr>
        <p:spPr>
          <a:xfrm>
            <a:off x="8577072" y="1920240"/>
            <a:ext cx="868680" cy="868680"/>
          </a:xfrm>
          <a:prstGeom prst="ellipse">
            <a:avLst/>
          </a:prstGeom>
          <a:solidFill>
            <a:schemeClr val="accent4"/>
          </a:solidFill>
          <a:ln/>
        </p:spPr>
      </p:sp>
      <p:pic>
        <p:nvPicPr>
          <p:cNvPr id="26" name="st#49di" descr="preencoded.png"/>
          <p:cNvPicPr>
            <a:picLocks noChangeAspect="1"/>
          </p:cNvPicPr>
          <p:nvPr/>
        </p:nvPicPr>
        <p:blipFill>
          <a:blip r:embed="rId7"/>
          <a:stretch>
            <a:fillRect/>
          </a:stretch>
        </p:blipFill>
        <p:spPr>
          <a:xfrm>
            <a:off x="8811616" y="2154784"/>
            <a:ext cx="399593" cy="399593"/>
          </a:xfrm>
          <a:prstGeom prst="rect">
            <a:avLst/>
          </a:prstGeom>
        </p:spPr>
      </p:pic>
      <p:sp>
        <p:nvSpPr>
          <p:cNvPr id="27" name="st#49h"/>
          <p:cNvSpPr txBox="1"/>
          <p:nvPr/>
        </p:nvSpPr>
        <p:spPr>
          <a:xfrm>
            <a:off x="8119872" y="2926080"/>
            <a:ext cx="1783080" cy="365760"/>
          </a:xfrm>
          <a:prstGeom prst="rect">
            <a:avLst/>
          </a:prstGeom>
          <a:noFill/>
          <a:ln/>
        </p:spPr>
        <p:txBody>
          <a:bodyPr wrap="square" lIns="0" tIns="0" rIns="0" bIns="0" rtlCol="0" anchor="t"/>
          <a:lstStyle/>
          <a:p>
            <a:pPr marL="0" indent="0" algn="ctr">
              <a:buNone/>
            </a:pPr>
            <a:r>
              <a:rPr lang="en-US" sz="1700" b="1" dirty="0">
                <a:solidFill>
                  <a:schemeClr val="tx2"/>
                </a:solidFill>
              </a:rPr>
              <a:t>5. Charger</a:t>
            </a:r>
            <a:endParaRPr lang="en-US" sz="1700" dirty="0"/>
          </a:p>
        </p:txBody>
      </p:sp>
      <p:sp>
        <p:nvSpPr>
          <p:cNvPr id="28" name="st#49b"/>
          <p:cNvSpPr txBox="1"/>
          <p:nvPr/>
        </p:nvSpPr>
        <p:spPr>
          <a:xfrm>
            <a:off x="8119872" y="3310128"/>
            <a:ext cx="1783080" cy="548640"/>
          </a:xfrm>
          <a:prstGeom prst="rect">
            <a:avLst/>
          </a:prstGeom>
          <a:noFill/>
          <a:ln/>
        </p:spPr>
        <p:txBody>
          <a:bodyPr wrap="square" lIns="0" tIns="0" rIns="0" bIns="0" rtlCol="0" anchor="t"/>
          <a:lstStyle/>
          <a:p>
            <a:pPr marL="0" indent="0" algn="ctr">
              <a:buNone/>
            </a:pPr>
            <a:r>
              <a:rPr lang="en-US" sz="1300" dirty="0">
                <a:solidFill>
                  <a:schemeClr val="tx1"/>
                </a:solidFill>
              </a:rPr>
              <a:t>transit ou rejets</a:t>
            </a:r>
            <a:endParaRPr lang="en-US" sz="1300" dirty="0"/>
          </a:p>
        </p:txBody>
      </p:sp>
      <p:sp>
        <p:nvSpPr>
          <p:cNvPr id="29" name="st#49l"/>
          <p:cNvSpPr/>
          <p:nvPr/>
        </p:nvSpPr>
        <p:spPr>
          <a:xfrm>
            <a:off x="9537192" y="2354580"/>
            <a:ext cx="841248" cy="0"/>
          </a:xfrm>
          <a:prstGeom prst="line">
            <a:avLst/>
          </a:prstGeom>
          <a:noFill/>
          <a:ln w="19050">
            <a:solidFill>
              <a:srgbClr val="C5CDDA"/>
            </a:solidFill>
            <a:prstDash val="dash"/>
            <a:tailEnd type="triangle"/>
          </a:ln>
        </p:spPr>
      </p:sp>
      <p:sp>
        <p:nvSpPr>
          <p:cNvPr id="30" name="st#50d"/>
          <p:cNvSpPr/>
          <p:nvPr/>
        </p:nvSpPr>
        <p:spPr>
          <a:xfrm>
            <a:off x="10469880" y="1920240"/>
            <a:ext cx="868680" cy="868680"/>
          </a:xfrm>
          <a:prstGeom prst="ellipse">
            <a:avLst/>
          </a:prstGeom>
          <a:solidFill>
            <a:schemeClr val="accent2"/>
          </a:solidFill>
          <a:ln/>
        </p:spPr>
      </p:sp>
      <p:pic>
        <p:nvPicPr>
          <p:cNvPr id="31" name="st#50di" descr="preencoded.png"/>
          <p:cNvPicPr>
            <a:picLocks noChangeAspect="1"/>
          </p:cNvPicPr>
          <p:nvPr/>
        </p:nvPicPr>
        <p:blipFill>
          <a:blip r:embed="rId8"/>
          <a:stretch>
            <a:fillRect/>
          </a:stretch>
        </p:blipFill>
        <p:spPr>
          <a:xfrm>
            <a:off x="10704424" y="2154784"/>
            <a:ext cx="399593" cy="399593"/>
          </a:xfrm>
          <a:prstGeom prst="rect">
            <a:avLst/>
          </a:prstGeom>
        </p:spPr>
      </p:pic>
      <p:sp>
        <p:nvSpPr>
          <p:cNvPr id="32" name="st#50h"/>
          <p:cNvSpPr txBox="1"/>
          <p:nvPr/>
        </p:nvSpPr>
        <p:spPr>
          <a:xfrm>
            <a:off x="10012680" y="2926080"/>
            <a:ext cx="1783080" cy="365760"/>
          </a:xfrm>
          <a:prstGeom prst="rect">
            <a:avLst/>
          </a:prstGeom>
          <a:noFill/>
          <a:ln/>
        </p:spPr>
        <p:txBody>
          <a:bodyPr wrap="square" lIns="0" tIns="0" rIns="0" bIns="0" rtlCol="0" anchor="t"/>
          <a:lstStyle/>
          <a:p>
            <a:pPr marL="0" indent="0" algn="ctr">
              <a:buNone/>
            </a:pPr>
            <a:r>
              <a:rPr lang="en-US" sz="1700" b="1" dirty="0">
                <a:solidFill>
                  <a:schemeClr val="tx2"/>
                </a:solidFill>
              </a:rPr>
              <a:t>6. Fusionner</a:t>
            </a:r>
            <a:endParaRPr lang="en-US" sz="1700" dirty="0"/>
          </a:p>
        </p:txBody>
      </p:sp>
      <p:sp>
        <p:nvSpPr>
          <p:cNvPr id="33" name="st#50b"/>
          <p:cNvSpPr txBox="1"/>
          <p:nvPr/>
        </p:nvSpPr>
        <p:spPr>
          <a:xfrm>
            <a:off x="10012680" y="3310128"/>
            <a:ext cx="1783080" cy="548640"/>
          </a:xfrm>
          <a:prstGeom prst="rect">
            <a:avLst/>
          </a:prstGeom>
          <a:noFill/>
          <a:ln/>
        </p:spPr>
        <p:txBody>
          <a:bodyPr wrap="square" lIns="0" tIns="0" rIns="0" bIns="0" rtlCol="0" anchor="t"/>
          <a:lstStyle/>
          <a:p>
            <a:pPr marL="0" indent="0" algn="ctr">
              <a:buNone/>
            </a:pPr>
            <a:r>
              <a:rPr lang="en-US" sz="1300" dirty="0">
                <a:solidFill>
                  <a:schemeClr val="tx1"/>
                </a:solidFill>
              </a:rPr>
              <a:t>la plus récente gagne</a:t>
            </a:r>
            <a:endParaRPr lang="en-US" sz="1300" dirty="0"/>
          </a:p>
        </p:txBody>
      </p:sp>
      <p:sp>
        <p:nvSpPr>
          <p:cNvPr id="34" name="pdiNote"/>
          <p:cNvSpPr/>
          <p:nvPr/>
        </p:nvSpPr>
        <p:spPr>
          <a:xfrm>
            <a:off x="548640" y="4251960"/>
            <a:ext cx="11064240" cy="1691640"/>
          </a:xfrm>
          <a:prstGeom prst="roundRect">
            <a:avLst>
              <a:gd name="adj" fmla="val 5405"/>
            </a:avLst>
          </a:prstGeom>
          <a:solidFill>
            <a:schemeClr val="bg2"/>
          </a:solidFill>
          <a:ln/>
        </p:spPr>
      </p:sp>
      <p:sp>
        <p:nvSpPr>
          <p:cNvPr id="35" name="pdiNoteT"/>
          <p:cNvSpPr txBox="1"/>
          <p:nvPr/>
        </p:nvSpPr>
        <p:spPr>
          <a:xfrm>
            <a:off x="822960" y="4389120"/>
            <a:ext cx="10515600" cy="1463040"/>
          </a:xfrm>
          <a:prstGeom prst="rect">
            <a:avLst/>
          </a:prstGeom>
          <a:noFill/>
          <a:ln/>
        </p:spPr>
        <p:txBody>
          <a:bodyPr wrap="square" lIns="0" tIns="0" rIns="0" bIns="0" rtlCol="0" anchor="t"/>
          <a:lstStyle/>
          <a:p>
            <a:pPr marL="0" indent="0">
              <a:spcAft>
                <a:spcPts val="600"/>
              </a:spcAft>
              <a:buNone/>
            </a:pPr>
            <a:r>
              <a:rPr lang="en-US" sz="1600" b="1" dirty="0">
                <a:solidFill>
                  <a:schemeClr val="tx2"/>
                </a:solidFill>
              </a:rPr>
              <a:t>Pourquoi une zone de transit ?</a:t>
            </a:r>
            <a:endParaRPr lang="en-US" sz="1400" dirty="0"/>
          </a:p>
          <a:p>
            <a:pPr marL="0" indent="0">
              <a:spcAft>
                <a:spcPts val="600"/>
              </a:spcAft>
              <a:buNone/>
            </a:pPr>
            <a:r>
              <a:rPr lang="en-US" sz="1400" dirty="0">
                <a:solidFill>
                  <a:schemeClr val="tx1"/>
                </a:solidFill>
              </a:rPr>
              <a:t>Pentaho charge d'abord les lignes valides dans stg_employee, puis une requête de fusion (ON CONFLICT) ne met à jour PostgreSQL que si la donnée MySQL est plus récente. Une modification faite par le service SOAP n'est donc jamais écrasée. Le job peut être relancé autant de fois que nécessaire sans rien casser.</a:t>
            </a:r>
            <a:endParaRPr lang="en-US" sz="1400" dirty="0"/>
          </a:p>
        </p:txBody>
      </p:sp>
      <p:sp>
        <p:nvSpPr>
          <p:cNvPr id="36"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12</a:t>
            </a:fld>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anim calcmode="lin" valueType="num">
                                      <p:cBhvr additive="base">
                                        <p:cTn id="8" dur="500" fill="hold"/>
                                        <p:tgtEl>
                                          <p:spTgt spid="5"/>
                                        </p:tgtEl>
                                        <p:attrNameLst>
                                          <p:attrName>ppt_x</p:attrName>
                                        </p:attrNameLst>
                                      </p:cBhvr>
                                      <p:tavLst>
                                        <p:tav tm="0">
                                          <p:val>
                                            <p:strVal val="#ppt_x"/>
                                          </p:val>
                                        </p:tav>
                                        <p:tav tm="100000">
                                          <p:val>
                                            <p:strVal val="#ppt_x"/>
                                          </p:val>
                                        </p:tav>
                                      </p:tavLst>
                                    </p:anim>
                                    <p:anim calcmode="lin" valueType="num">
                                      <p:cBhvr additive="base">
                                        <p:cTn id="9" dur="5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anim calcmode="lin" valueType="num">
                                      <p:cBhvr additive="base">
                                        <p:cTn id="18" dur="500" fill="hold"/>
                                        <p:tgtEl>
                                          <p:spTgt spid="7"/>
                                        </p:tgtEl>
                                        <p:attrNameLst>
                                          <p:attrName>ppt_x</p:attrName>
                                        </p:attrNameLst>
                                      </p:cBhvr>
                                      <p:tavLst>
                                        <p:tav tm="0">
                                          <p:val>
                                            <p:strVal val="#ppt_x"/>
                                          </p:val>
                                        </p:tav>
                                        <p:tav tm="100000">
                                          <p:val>
                                            <p:strVal val="#ppt_x"/>
                                          </p:val>
                                        </p:tav>
                                      </p:tavLst>
                                    </p:anim>
                                    <p:anim calcmode="lin" valueType="num">
                                      <p:cBhvr additive="base">
                                        <p:cTn id="19" dur="500" fill="hold"/>
                                        <p:tgtEl>
                                          <p:spTgt spid="7"/>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anim calcmode="lin" valueType="num">
                                      <p:cBhvr additive="base">
                                        <p:cTn id="28" dur="500" fill="hold"/>
                                        <p:tgtEl>
                                          <p:spTgt spid="9"/>
                                        </p:tgtEl>
                                        <p:attrNameLst>
                                          <p:attrName>ppt_x</p:attrName>
                                        </p:attrNameLst>
                                      </p:cBhvr>
                                      <p:tavLst>
                                        <p:tav tm="0">
                                          <p:val>
                                            <p:strVal val="#ppt_x"/>
                                          </p:val>
                                        </p:tav>
                                        <p:tav tm="100000">
                                          <p:val>
                                            <p:strVal val="#ppt_x"/>
                                          </p:val>
                                        </p:tav>
                                      </p:tavLst>
                                    </p:anim>
                                    <p:anim calcmode="lin" valueType="num">
                                      <p:cBhvr additive="base">
                                        <p:cTn id="29" dur="500" fill="hold"/>
                                        <p:tgtEl>
                                          <p:spTgt spid="9"/>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22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anim calcmode="lin" valueType="num">
                                      <p:cBhvr additive="base">
                                        <p:cTn id="33" dur="500" fill="hold"/>
                                        <p:tgtEl>
                                          <p:spTgt spid="10"/>
                                        </p:tgtEl>
                                        <p:attrNameLst>
                                          <p:attrName>ppt_x</p:attrName>
                                        </p:attrNameLst>
                                      </p:cBhvr>
                                      <p:tavLst>
                                        <p:tav tm="0">
                                          <p:val>
                                            <p:strVal val="#ppt_x"/>
                                          </p:val>
                                        </p:tav>
                                        <p:tav tm="100000">
                                          <p:val>
                                            <p:strVal val="#ppt_x"/>
                                          </p:val>
                                        </p:tav>
                                      </p:tavLst>
                                    </p:anim>
                                    <p:anim calcmode="lin" valueType="num">
                                      <p:cBhvr additive="base">
                                        <p:cTn id="34" dur="500" fill="hold"/>
                                        <p:tgtEl>
                                          <p:spTgt spid="10"/>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22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anim calcmode="lin" valueType="num">
                                      <p:cBhvr additive="base">
                                        <p:cTn id="38" dur="500" fill="hold"/>
                                        <p:tgtEl>
                                          <p:spTgt spid="11"/>
                                        </p:tgtEl>
                                        <p:attrNameLst>
                                          <p:attrName>ppt_x</p:attrName>
                                        </p:attrNameLst>
                                      </p:cBhvr>
                                      <p:tavLst>
                                        <p:tav tm="0">
                                          <p:val>
                                            <p:strVal val="#ppt_x"/>
                                          </p:val>
                                        </p:tav>
                                        <p:tav tm="100000">
                                          <p:val>
                                            <p:strVal val="#ppt_x"/>
                                          </p:val>
                                        </p:tav>
                                      </p:tavLst>
                                    </p:anim>
                                    <p:anim calcmode="lin" valueType="num">
                                      <p:cBhvr additive="base">
                                        <p:cTn id="39" dur="500" fill="hold"/>
                                        <p:tgtEl>
                                          <p:spTgt spid="11"/>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22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00"/>
                                        <p:tgtEl>
                                          <p:spTgt spid="12"/>
                                        </p:tgtEl>
                                      </p:cBhvr>
                                    </p:animEffect>
                                    <p:anim calcmode="lin" valueType="num">
                                      <p:cBhvr additive="base">
                                        <p:cTn id="43" dur="500" fill="hold"/>
                                        <p:tgtEl>
                                          <p:spTgt spid="12"/>
                                        </p:tgtEl>
                                        <p:attrNameLst>
                                          <p:attrName>ppt_x</p:attrName>
                                        </p:attrNameLst>
                                      </p:cBhvr>
                                      <p:tavLst>
                                        <p:tav tm="0">
                                          <p:val>
                                            <p:strVal val="#ppt_x"/>
                                          </p:val>
                                        </p:tav>
                                        <p:tav tm="100000">
                                          <p:val>
                                            <p:strVal val="#ppt_x"/>
                                          </p:val>
                                        </p:tav>
                                      </p:tavLst>
                                    </p:anim>
                                    <p:anim calcmode="lin" valueType="num">
                                      <p:cBhvr additive="base">
                                        <p:cTn id="44" dur="500" fill="hold"/>
                                        <p:tgtEl>
                                          <p:spTgt spid="12"/>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22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anim calcmode="lin" valueType="num">
                                      <p:cBhvr additive="base">
                                        <p:cTn id="48" dur="500" fill="hold"/>
                                        <p:tgtEl>
                                          <p:spTgt spid="13"/>
                                        </p:tgtEl>
                                        <p:attrNameLst>
                                          <p:attrName>ppt_x</p:attrName>
                                        </p:attrNameLst>
                                      </p:cBhvr>
                                      <p:tavLst>
                                        <p:tav tm="0">
                                          <p:val>
                                            <p:strVal val="#ppt_x"/>
                                          </p:val>
                                        </p:tav>
                                        <p:tav tm="100000">
                                          <p:val>
                                            <p:strVal val="#ppt_x"/>
                                          </p:val>
                                        </p:tav>
                                      </p:tavLst>
                                    </p:anim>
                                    <p:anim calcmode="lin" valueType="num">
                                      <p:cBhvr additive="base">
                                        <p:cTn id="49" dur="500" fill="hold"/>
                                        <p:tgtEl>
                                          <p:spTgt spid="13"/>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22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500"/>
                                        <p:tgtEl>
                                          <p:spTgt spid="14"/>
                                        </p:tgtEl>
                                      </p:cBhvr>
                                    </p:animEffect>
                                    <p:anim calcmode="lin" valueType="num">
                                      <p:cBhvr additive="base">
                                        <p:cTn id="53" dur="500" fill="hold"/>
                                        <p:tgtEl>
                                          <p:spTgt spid="14"/>
                                        </p:tgtEl>
                                        <p:attrNameLst>
                                          <p:attrName>ppt_x</p:attrName>
                                        </p:attrNameLst>
                                      </p:cBhvr>
                                      <p:tavLst>
                                        <p:tav tm="0">
                                          <p:val>
                                            <p:strVal val="#ppt_x"/>
                                          </p:val>
                                        </p:tav>
                                        <p:tav tm="100000">
                                          <p:val>
                                            <p:strVal val="#ppt_x"/>
                                          </p:val>
                                        </p:tav>
                                      </p:tavLst>
                                    </p:anim>
                                    <p:anim calcmode="lin" valueType="num">
                                      <p:cBhvr additive="base">
                                        <p:cTn id="54" dur="500" fill="hold"/>
                                        <p:tgtEl>
                                          <p:spTgt spid="14"/>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44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500"/>
                                        <p:tgtEl>
                                          <p:spTgt spid="15"/>
                                        </p:tgtEl>
                                      </p:cBhvr>
                                    </p:animEffect>
                                    <p:anim calcmode="lin" valueType="num">
                                      <p:cBhvr additive="base">
                                        <p:cTn id="58" dur="500" fill="hold"/>
                                        <p:tgtEl>
                                          <p:spTgt spid="15"/>
                                        </p:tgtEl>
                                        <p:attrNameLst>
                                          <p:attrName>ppt_x</p:attrName>
                                        </p:attrNameLst>
                                      </p:cBhvr>
                                      <p:tavLst>
                                        <p:tav tm="0">
                                          <p:val>
                                            <p:strVal val="#ppt_x"/>
                                          </p:val>
                                        </p:tav>
                                        <p:tav tm="100000">
                                          <p:val>
                                            <p:strVal val="#ppt_x"/>
                                          </p:val>
                                        </p:tav>
                                      </p:tavLst>
                                    </p:anim>
                                    <p:anim calcmode="lin" valueType="num">
                                      <p:cBhvr additive="base">
                                        <p:cTn id="59" dur="500" fill="hold"/>
                                        <p:tgtEl>
                                          <p:spTgt spid="15"/>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44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500"/>
                                        <p:tgtEl>
                                          <p:spTgt spid="16"/>
                                        </p:tgtEl>
                                      </p:cBhvr>
                                    </p:animEffect>
                                    <p:anim calcmode="lin" valueType="num">
                                      <p:cBhvr additive="base">
                                        <p:cTn id="63" dur="500" fill="hold"/>
                                        <p:tgtEl>
                                          <p:spTgt spid="16"/>
                                        </p:tgtEl>
                                        <p:attrNameLst>
                                          <p:attrName>ppt_x</p:attrName>
                                        </p:attrNameLst>
                                      </p:cBhvr>
                                      <p:tavLst>
                                        <p:tav tm="0">
                                          <p:val>
                                            <p:strVal val="#ppt_x"/>
                                          </p:val>
                                        </p:tav>
                                        <p:tav tm="100000">
                                          <p:val>
                                            <p:strVal val="#ppt_x"/>
                                          </p:val>
                                        </p:tav>
                                      </p:tavLst>
                                    </p:anim>
                                    <p:anim calcmode="lin" valueType="num">
                                      <p:cBhvr additive="base">
                                        <p:cTn id="64" dur="500" fill="hold"/>
                                        <p:tgtEl>
                                          <p:spTgt spid="16"/>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44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500"/>
                                        <p:tgtEl>
                                          <p:spTgt spid="17"/>
                                        </p:tgtEl>
                                      </p:cBhvr>
                                    </p:animEffect>
                                    <p:anim calcmode="lin" valueType="num">
                                      <p:cBhvr additive="base">
                                        <p:cTn id="68" dur="500" fill="hold"/>
                                        <p:tgtEl>
                                          <p:spTgt spid="17"/>
                                        </p:tgtEl>
                                        <p:attrNameLst>
                                          <p:attrName>ppt_x</p:attrName>
                                        </p:attrNameLst>
                                      </p:cBhvr>
                                      <p:tavLst>
                                        <p:tav tm="0">
                                          <p:val>
                                            <p:strVal val="#ppt_x"/>
                                          </p:val>
                                        </p:tav>
                                        <p:tav tm="100000">
                                          <p:val>
                                            <p:strVal val="#ppt_x"/>
                                          </p:val>
                                        </p:tav>
                                      </p:tavLst>
                                    </p:anim>
                                    <p:anim calcmode="lin" valueType="num">
                                      <p:cBhvr additive="base">
                                        <p:cTn id="69" dur="500" fill="hold"/>
                                        <p:tgtEl>
                                          <p:spTgt spid="17"/>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440"/>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500"/>
                                        <p:tgtEl>
                                          <p:spTgt spid="18"/>
                                        </p:tgtEl>
                                      </p:cBhvr>
                                    </p:animEffect>
                                    <p:anim calcmode="lin" valueType="num">
                                      <p:cBhvr additive="base">
                                        <p:cTn id="73" dur="500" fill="hold"/>
                                        <p:tgtEl>
                                          <p:spTgt spid="18"/>
                                        </p:tgtEl>
                                        <p:attrNameLst>
                                          <p:attrName>ppt_x</p:attrName>
                                        </p:attrNameLst>
                                      </p:cBhvr>
                                      <p:tavLst>
                                        <p:tav tm="0">
                                          <p:val>
                                            <p:strVal val="#ppt_x"/>
                                          </p:val>
                                        </p:tav>
                                        <p:tav tm="100000">
                                          <p:val>
                                            <p:strVal val="#ppt_x"/>
                                          </p:val>
                                        </p:tav>
                                      </p:tavLst>
                                    </p:anim>
                                    <p:anim calcmode="lin" valueType="num">
                                      <p:cBhvr additive="base">
                                        <p:cTn id="74" dur="500" fill="hold"/>
                                        <p:tgtEl>
                                          <p:spTgt spid="18"/>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440"/>
                                  </p:stCondLst>
                                  <p:childTnLst>
                                    <p:set>
                                      <p:cBhvr>
                                        <p:cTn id="76" dur="1" fill="hold">
                                          <p:stCondLst>
                                            <p:cond delay="0"/>
                                          </p:stCondLst>
                                        </p:cTn>
                                        <p:tgtEl>
                                          <p:spTgt spid="19"/>
                                        </p:tgtEl>
                                        <p:attrNameLst>
                                          <p:attrName>style.visibility</p:attrName>
                                        </p:attrNameLst>
                                      </p:cBhvr>
                                      <p:to>
                                        <p:strVal val="visible"/>
                                      </p:to>
                                    </p:set>
                                    <p:animEffect transition="in" filter="fade">
                                      <p:cBhvr>
                                        <p:cTn id="77" dur="500"/>
                                        <p:tgtEl>
                                          <p:spTgt spid="19"/>
                                        </p:tgtEl>
                                      </p:cBhvr>
                                    </p:animEffect>
                                    <p:anim calcmode="lin" valueType="num">
                                      <p:cBhvr additive="base">
                                        <p:cTn id="78" dur="500" fill="hold"/>
                                        <p:tgtEl>
                                          <p:spTgt spid="19"/>
                                        </p:tgtEl>
                                        <p:attrNameLst>
                                          <p:attrName>ppt_x</p:attrName>
                                        </p:attrNameLst>
                                      </p:cBhvr>
                                      <p:tavLst>
                                        <p:tav tm="0">
                                          <p:val>
                                            <p:strVal val="#ppt_x"/>
                                          </p:val>
                                        </p:tav>
                                        <p:tav tm="100000">
                                          <p:val>
                                            <p:strVal val="#ppt_x"/>
                                          </p:val>
                                        </p:tav>
                                      </p:tavLst>
                                    </p:anim>
                                    <p:anim calcmode="lin" valueType="num">
                                      <p:cBhvr additive="base">
                                        <p:cTn id="79" dur="500" fill="hold"/>
                                        <p:tgtEl>
                                          <p:spTgt spid="19"/>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660"/>
                                  </p:stCondLst>
                                  <p:childTnLst>
                                    <p:set>
                                      <p:cBhvr>
                                        <p:cTn id="81" dur="1" fill="hold">
                                          <p:stCondLst>
                                            <p:cond delay="0"/>
                                          </p:stCondLst>
                                        </p:cTn>
                                        <p:tgtEl>
                                          <p:spTgt spid="20"/>
                                        </p:tgtEl>
                                        <p:attrNameLst>
                                          <p:attrName>style.visibility</p:attrName>
                                        </p:attrNameLst>
                                      </p:cBhvr>
                                      <p:to>
                                        <p:strVal val="visible"/>
                                      </p:to>
                                    </p:set>
                                    <p:animEffect transition="in" filter="fade">
                                      <p:cBhvr>
                                        <p:cTn id="82" dur="500"/>
                                        <p:tgtEl>
                                          <p:spTgt spid="20"/>
                                        </p:tgtEl>
                                      </p:cBhvr>
                                    </p:animEffect>
                                    <p:anim calcmode="lin" valueType="num">
                                      <p:cBhvr additive="base">
                                        <p:cTn id="83" dur="500" fill="hold"/>
                                        <p:tgtEl>
                                          <p:spTgt spid="20"/>
                                        </p:tgtEl>
                                        <p:attrNameLst>
                                          <p:attrName>ppt_x</p:attrName>
                                        </p:attrNameLst>
                                      </p:cBhvr>
                                      <p:tavLst>
                                        <p:tav tm="0">
                                          <p:val>
                                            <p:strVal val="#ppt_x"/>
                                          </p:val>
                                        </p:tav>
                                        <p:tav tm="100000">
                                          <p:val>
                                            <p:strVal val="#ppt_x"/>
                                          </p:val>
                                        </p:tav>
                                      </p:tavLst>
                                    </p:anim>
                                    <p:anim calcmode="lin" valueType="num">
                                      <p:cBhvr additive="base">
                                        <p:cTn id="84" dur="500" fill="hold"/>
                                        <p:tgtEl>
                                          <p:spTgt spid="20"/>
                                        </p:tgtEl>
                                        <p:attrNameLst>
                                          <p:attrName>ppt_y</p:attrName>
                                        </p:attrNameLst>
                                      </p:cBhvr>
                                      <p:tavLst>
                                        <p:tav tm="0">
                                          <p:val>
                                            <p:strVal val="#ppt_y+.1"/>
                                          </p:val>
                                        </p:tav>
                                        <p:tav tm="100000">
                                          <p:val>
                                            <p:strVal val="#ppt_y"/>
                                          </p:val>
                                        </p:tav>
                                      </p:tavLst>
                                    </p:anim>
                                  </p:childTnLst>
                                </p:cTn>
                              </p:par>
                              <p:par>
                                <p:cTn id="85" presetID="42" presetClass="entr" presetSubtype="0" fill="hold" nodeType="withEffect">
                                  <p:stCondLst>
                                    <p:cond delay="660"/>
                                  </p:stCondLst>
                                  <p:childTnLst>
                                    <p:set>
                                      <p:cBhvr>
                                        <p:cTn id="86" dur="1" fill="hold">
                                          <p:stCondLst>
                                            <p:cond delay="0"/>
                                          </p:stCondLst>
                                        </p:cTn>
                                        <p:tgtEl>
                                          <p:spTgt spid="21"/>
                                        </p:tgtEl>
                                        <p:attrNameLst>
                                          <p:attrName>style.visibility</p:attrName>
                                        </p:attrNameLst>
                                      </p:cBhvr>
                                      <p:to>
                                        <p:strVal val="visible"/>
                                      </p:to>
                                    </p:set>
                                    <p:animEffect transition="in" filter="fade">
                                      <p:cBhvr>
                                        <p:cTn id="87" dur="500"/>
                                        <p:tgtEl>
                                          <p:spTgt spid="21"/>
                                        </p:tgtEl>
                                      </p:cBhvr>
                                    </p:animEffect>
                                    <p:anim calcmode="lin" valueType="num">
                                      <p:cBhvr additive="base">
                                        <p:cTn id="88" dur="500" fill="hold"/>
                                        <p:tgtEl>
                                          <p:spTgt spid="21"/>
                                        </p:tgtEl>
                                        <p:attrNameLst>
                                          <p:attrName>ppt_x</p:attrName>
                                        </p:attrNameLst>
                                      </p:cBhvr>
                                      <p:tavLst>
                                        <p:tav tm="0">
                                          <p:val>
                                            <p:strVal val="#ppt_x"/>
                                          </p:val>
                                        </p:tav>
                                        <p:tav tm="100000">
                                          <p:val>
                                            <p:strVal val="#ppt_x"/>
                                          </p:val>
                                        </p:tav>
                                      </p:tavLst>
                                    </p:anim>
                                    <p:anim calcmode="lin" valueType="num">
                                      <p:cBhvr additive="base">
                                        <p:cTn id="89" dur="500" fill="hold"/>
                                        <p:tgtEl>
                                          <p:spTgt spid="21"/>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660"/>
                                  </p:stCondLst>
                                  <p:childTnLst>
                                    <p:set>
                                      <p:cBhvr>
                                        <p:cTn id="91" dur="1" fill="hold">
                                          <p:stCondLst>
                                            <p:cond delay="0"/>
                                          </p:stCondLst>
                                        </p:cTn>
                                        <p:tgtEl>
                                          <p:spTgt spid="22"/>
                                        </p:tgtEl>
                                        <p:attrNameLst>
                                          <p:attrName>style.visibility</p:attrName>
                                        </p:attrNameLst>
                                      </p:cBhvr>
                                      <p:to>
                                        <p:strVal val="visible"/>
                                      </p:to>
                                    </p:set>
                                    <p:animEffect transition="in" filter="fade">
                                      <p:cBhvr>
                                        <p:cTn id="92" dur="500"/>
                                        <p:tgtEl>
                                          <p:spTgt spid="22"/>
                                        </p:tgtEl>
                                      </p:cBhvr>
                                    </p:animEffect>
                                    <p:anim calcmode="lin" valueType="num">
                                      <p:cBhvr additive="base">
                                        <p:cTn id="93" dur="500" fill="hold"/>
                                        <p:tgtEl>
                                          <p:spTgt spid="22"/>
                                        </p:tgtEl>
                                        <p:attrNameLst>
                                          <p:attrName>ppt_x</p:attrName>
                                        </p:attrNameLst>
                                      </p:cBhvr>
                                      <p:tavLst>
                                        <p:tav tm="0">
                                          <p:val>
                                            <p:strVal val="#ppt_x"/>
                                          </p:val>
                                        </p:tav>
                                        <p:tav tm="100000">
                                          <p:val>
                                            <p:strVal val="#ppt_x"/>
                                          </p:val>
                                        </p:tav>
                                      </p:tavLst>
                                    </p:anim>
                                    <p:anim calcmode="lin" valueType="num">
                                      <p:cBhvr additive="base">
                                        <p:cTn id="94" dur="500" fill="hold"/>
                                        <p:tgtEl>
                                          <p:spTgt spid="22"/>
                                        </p:tgtEl>
                                        <p:attrNameLst>
                                          <p:attrName>ppt_y</p:attrName>
                                        </p:attrNameLst>
                                      </p:cBhvr>
                                      <p:tavLst>
                                        <p:tav tm="0">
                                          <p:val>
                                            <p:strVal val="#ppt_y+.1"/>
                                          </p:val>
                                        </p:tav>
                                        <p:tav tm="100000">
                                          <p:val>
                                            <p:strVal val="#ppt_y"/>
                                          </p:val>
                                        </p:tav>
                                      </p:tavLst>
                                    </p:anim>
                                  </p:childTnLst>
                                </p:cTn>
                              </p:par>
                              <p:par>
                                <p:cTn id="95" presetID="42" presetClass="entr" presetSubtype="0" fill="hold" grpId="0" nodeType="withEffect">
                                  <p:stCondLst>
                                    <p:cond delay="660"/>
                                  </p:stCondLst>
                                  <p:childTnLst>
                                    <p:set>
                                      <p:cBhvr>
                                        <p:cTn id="96" dur="1" fill="hold">
                                          <p:stCondLst>
                                            <p:cond delay="0"/>
                                          </p:stCondLst>
                                        </p:cTn>
                                        <p:tgtEl>
                                          <p:spTgt spid="23"/>
                                        </p:tgtEl>
                                        <p:attrNameLst>
                                          <p:attrName>style.visibility</p:attrName>
                                        </p:attrNameLst>
                                      </p:cBhvr>
                                      <p:to>
                                        <p:strVal val="visible"/>
                                      </p:to>
                                    </p:set>
                                    <p:animEffect transition="in" filter="fade">
                                      <p:cBhvr>
                                        <p:cTn id="97" dur="500"/>
                                        <p:tgtEl>
                                          <p:spTgt spid="23"/>
                                        </p:tgtEl>
                                      </p:cBhvr>
                                    </p:animEffect>
                                    <p:anim calcmode="lin" valueType="num">
                                      <p:cBhvr additive="base">
                                        <p:cTn id="98" dur="500" fill="hold"/>
                                        <p:tgtEl>
                                          <p:spTgt spid="23"/>
                                        </p:tgtEl>
                                        <p:attrNameLst>
                                          <p:attrName>ppt_x</p:attrName>
                                        </p:attrNameLst>
                                      </p:cBhvr>
                                      <p:tavLst>
                                        <p:tav tm="0">
                                          <p:val>
                                            <p:strVal val="#ppt_x"/>
                                          </p:val>
                                        </p:tav>
                                        <p:tav tm="100000">
                                          <p:val>
                                            <p:strVal val="#ppt_x"/>
                                          </p:val>
                                        </p:tav>
                                      </p:tavLst>
                                    </p:anim>
                                    <p:anim calcmode="lin" valueType="num">
                                      <p:cBhvr additive="base">
                                        <p:cTn id="99" dur="500" fill="hold"/>
                                        <p:tgtEl>
                                          <p:spTgt spid="23"/>
                                        </p:tgtEl>
                                        <p:attrNameLst>
                                          <p:attrName>ppt_y</p:attrName>
                                        </p:attrNameLst>
                                      </p:cBhvr>
                                      <p:tavLst>
                                        <p:tav tm="0">
                                          <p:val>
                                            <p:strVal val="#ppt_y+.1"/>
                                          </p:val>
                                        </p:tav>
                                        <p:tav tm="100000">
                                          <p:val>
                                            <p:strVal val="#ppt_y"/>
                                          </p:val>
                                        </p:tav>
                                      </p:tavLst>
                                    </p:anim>
                                  </p:childTnLst>
                                </p:cTn>
                              </p:par>
                              <p:par>
                                <p:cTn id="100" presetID="42" presetClass="entr" presetSubtype="0" fill="hold" grpId="0" nodeType="withEffect">
                                  <p:stCondLst>
                                    <p:cond delay="660"/>
                                  </p:stCondLst>
                                  <p:childTnLst>
                                    <p:set>
                                      <p:cBhvr>
                                        <p:cTn id="101" dur="1" fill="hold">
                                          <p:stCondLst>
                                            <p:cond delay="0"/>
                                          </p:stCondLst>
                                        </p:cTn>
                                        <p:tgtEl>
                                          <p:spTgt spid="24"/>
                                        </p:tgtEl>
                                        <p:attrNameLst>
                                          <p:attrName>style.visibility</p:attrName>
                                        </p:attrNameLst>
                                      </p:cBhvr>
                                      <p:to>
                                        <p:strVal val="visible"/>
                                      </p:to>
                                    </p:set>
                                    <p:animEffect transition="in" filter="fade">
                                      <p:cBhvr>
                                        <p:cTn id="102" dur="500"/>
                                        <p:tgtEl>
                                          <p:spTgt spid="24"/>
                                        </p:tgtEl>
                                      </p:cBhvr>
                                    </p:animEffect>
                                    <p:anim calcmode="lin" valueType="num">
                                      <p:cBhvr additive="base">
                                        <p:cTn id="103" dur="500" fill="hold"/>
                                        <p:tgtEl>
                                          <p:spTgt spid="24"/>
                                        </p:tgtEl>
                                        <p:attrNameLst>
                                          <p:attrName>ppt_x</p:attrName>
                                        </p:attrNameLst>
                                      </p:cBhvr>
                                      <p:tavLst>
                                        <p:tav tm="0">
                                          <p:val>
                                            <p:strVal val="#ppt_x"/>
                                          </p:val>
                                        </p:tav>
                                        <p:tav tm="100000">
                                          <p:val>
                                            <p:strVal val="#ppt_x"/>
                                          </p:val>
                                        </p:tav>
                                      </p:tavLst>
                                    </p:anim>
                                    <p:anim calcmode="lin" valueType="num">
                                      <p:cBhvr additive="base">
                                        <p:cTn id="104" dur="500" fill="hold"/>
                                        <p:tgtEl>
                                          <p:spTgt spid="24"/>
                                        </p:tgtEl>
                                        <p:attrNameLst>
                                          <p:attrName>ppt_y</p:attrName>
                                        </p:attrNameLst>
                                      </p:cBhvr>
                                      <p:tavLst>
                                        <p:tav tm="0">
                                          <p:val>
                                            <p:strVal val="#ppt_y+.1"/>
                                          </p:val>
                                        </p:tav>
                                        <p:tav tm="100000">
                                          <p:val>
                                            <p:strVal val="#ppt_y"/>
                                          </p:val>
                                        </p:tav>
                                      </p:tavLst>
                                    </p:anim>
                                  </p:childTnLst>
                                </p:cTn>
                              </p:par>
                              <p:par>
                                <p:cTn id="105" presetID="42" presetClass="entr" presetSubtype="0" fill="hold" grpId="0" nodeType="withEffect">
                                  <p:stCondLst>
                                    <p:cond delay="880"/>
                                  </p:stCondLst>
                                  <p:childTnLst>
                                    <p:set>
                                      <p:cBhvr>
                                        <p:cTn id="106" dur="1" fill="hold">
                                          <p:stCondLst>
                                            <p:cond delay="0"/>
                                          </p:stCondLst>
                                        </p:cTn>
                                        <p:tgtEl>
                                          <p:spTgt spid="25"/>
                                        </p:tgtEl>
                                        <p:attrNameLst>
                                          <p:attrName>style.visibility</p:attrName>
                                        </p:attrNameLst>
                                      </p:cBhvr>
                                      <p:to>
                                        <p:strVal val="visible"/>
                                      </p:to>
                                    </p:set>
                                    <p:animEffect transition="in" filter="fade">
                                      <p:cBhvr>
                                        <p:cTn id="107" dur="500"/>
                                        <p:tgtEl>
                                          <p:spTgt spid="25"/>
                                        </p:tgtEl>
                                      </p:cBhvr>
                                    </p:animEffect>
                                    <p:anim calcmode="lin" valueType="num">
                                      <p:cBhvr additive="base">
                                        <p:cTn id="108" dur="500" fill="hold"/>
                                        <p:tgtEl>
                                          <p:spTgt spid="25"/>
                                        </p:tgtEl>
                                        <p:attrNameLst>
                                          <p:attrName>ppt_x</p:attrName>
                                        </p:attrNameLst>
                                      </p:cBhvr>
                                      <p:tavLst>
                                        <p:tav tm="0">
                                          <p:val>
                                            <p:strVal val="#ppt_x"/>
                                          </p:val>
                                        </p:tav>
                                        <p:tav tm="100000">
                                          <p:val>
                                            <p:strVal val="#ppt_x"/>
                                          </p:val>
                                        </p:tav>
                                      </p:tavLst>
                                    </p:anim>
                                    <p:anim calcmode="lin" valueType="num">
                                      <p:cBhvr additive="base">
                                        <p:cTn id="109" dur="500" fill="hold"/>
                                        <p:tgtEl>
                                          <p:spTgt spid="25"/>
                                        </p:tgtEl>
                                        <p:attrNameLst>
                                          <p:attrName>ppt_y</p:attrName>
                                        </p:attrNameLst>
                                      </p:cBhvr>
                                      <p:tavLst>
                                        <p:tav tm="0">
                                          <p:val>
                                            <p:strVal val="#ppt_y+.1"/>
                                          </p:val>
                                        </p:tav>
                                        <p:tav tm="100000">
                                          <p:val>
                                            <p:strVal val="#ppt_y"/>
                                          </p:val>
                                        </p:tav>
                                      </p:tavLst>
                                    </p:anim>
                                  </p:childTnLst>
                                </p:cTn>
                              </p:par>
                              <p:par>
                                <p:cTn id="110" presetID="42" presetClass="entr" presetSubtype="0" fill="hold" nodeType="withEffect">
                                  <p:stCondLst>
                                    <p:cond delay="880"/>
                                  </p:stCondLst>
                                  <p:childTnLst>
                                    <p:set>
                                      <p:cBhvr>
                                        <p:cTn id="111" dur="1" fill="hold">
                                          <p:stCondLst>
                                            <p:cond delay="0"/>
                                          </p:stCondLst>
                                        </p:cTn>
                                        <p:tgtEl>
                                          <p:spTgt spid="26"/>
                                        </p:tgtEl>
                                        <p:attrNameLst>
                                          <p:attrName>style.visibility</p:attrName>
                                        </p:attrNameLst>
                                      </p:cBhvr>
                                      <p:to>
                                        <p:strVal val="visible"/>
                                      </p:to>
                                    </p:set>
                                    <p:animEffect transition="in" filter="fade">
                                      <p:cBhvr>
                                        <p:cTn id="112" dur="500"/>
                                        <p:tgtEl>
                                          <p:spTgt spid="26"/>
                                        </p:tgtEl>
                                      </p:cBhvr>
                                    </p:animEffect>
                                    <p:anim calcmode="lin" valueType="num">
                                      <p:cBhvr additive="base">
                                        <p:cTn id="113" dur="500" fill="hold"/>
                                        <p:tgtEl>
                                          <p:spTgt spid="26"/>
                                        </p:tgtEl>
                                        <p:attrNameLst>
                                          <p:attrName>ppt_x</p:attrName>
                                        </p:attrNameLst>
                                      </p:cBhvr>
                                      <p:tavLst>
                                        <p:tav tm="0">
                                          <p:val>
                                            <p:strVal val="#ppt_x"/>
                                          </p:val>
                                        </p:tav>
                                        <p:tav tm="100000">
                                          <p:val>
                                            <p:strVal val="#ppt_x"/>
                                          </p:val>
                                        </p:tav>
                                      </p:tavLst>
                                    </p:anim>
                                    <p:anim calcmode="lin" valueType="num">
                                      <p:cBhvr additive="base">
                                        <p:cTn id="114" dur="500" fill="hold"/>
                                        <p:tgtEl>
                                          <p:spTgt spid="26"/>
                                        </p:tgtEl>
                                        <p:attrNameLst>
                                          <p:attrName>ppt_y</p:attrName>
                                        </p:attrNameLst>
                                      </p:cBhvr>
                                      <p:tavLst>
                                        <p:tav tm="0">
                                          <p:val>
                                            <p:strVal val="#ppt_y+.1"/>
                                          </p:val>
                                        </p:tav>
                                        <p:tav tm="100000">
                                          <p:val>
                                            <p:strVal val="#ppt_y"/>
                                          </p:val>
                                        </p:tav>
                                      </p:tavLst>
                                    </p:anim>
                                  </p:childTnLst>
                                </p:cTn>
                              </p:par>
                              <p:par>
                                <p:cTn id="115" presetID="42" presetClass="entr" presetSubtype="0" fill="hold" grpId="0" nodeType="withEffect">
                                  <p:stCondLst>
                                    <p:cond delay="880"/>
                                  </p:stCondLst>
                                  <p:childTnLst>
                                    <p:set>
                                      <p:cBhvr>
                                        <p:cTn id="116" dur="1" fill="hold">
                                          <p:stCondLst>
                                            <p:cond delay="0"/>
                                          </p:stCondLst>
                                        </p:cTn>
                                        <p:tgtEl>
                                          <p:spTgt spid="27"/>
                                        </p:tgtEl>
                                        <p:attrNameLst>
                                          <p:attrName>style.visibility</p:attrName>
                                        </p:attrNameLst>
                                      </p:cBhvr>
                                      <p:to>
                                        <p:strVal val="visible"/>
                                      </p:to>
                                    </p:set>
                                    <p:animEffect transition="in" filter="fade">
                                      <p:cBhvr>
                                        <p:cTn id="117" dur="500"/>
                                        <p:tgtEl>
                                          <p:spTgt spid="27"/>
                                        </p:tgtEl>
                                      </p:cBhvr>
                                    </p:animEffect>
                                    <p:anim calcmode="lin" valueType="num">
                                      <p:cBhvr additive="base">
                                        <p:cTn id="118" dur="500" fill="hold"/>
                                        <p:tgtEl>
                                          <p:spTgt spid="27"/>
                                        </p:tgtEl>
                                        <p:attrNameLst>
                                          <p:attrName>ppt_x</p:attrName>
                                        </p:attrNameLst>
                                      </p:cBhvr>
                                      <p:tavLst>
                                        <p:tav tm="0">
                                          <p:val>
                                            <p:strVal val="#ppt_x"/>
                                          </p:val>
                                        </p:tav>
                                        <p:tav tm="100000">
                                          <p:val>
                                            <p:strVal val="#ppt_x"/>
                                          </p:val>
                                        </p:tav>
                                      </p:tavLst>
                                    </p:anim>
                                    <p:anim calcmode="lin" valueType="num">
                                      <p:cBhvr additive="base">
                                        <p:cTn id="119" dur="500" fill="hold"/>
                                        <p:tgtEl>
                                          <p:spTgt spid="27"/>
                                        </p:tgtEl>
                                        <p:attrNameLst>
                                          <p:attrName>ppt_y</p:attrName>
                                        </p:attrNameLst>
                                      </p:cBhvr>
                                      <p:tavLst>
                                        <p:tav tm="0">
                                          <p:val>
                                            <p:strVal val="#ppt_y+.1"/>
                                          </p:val>
                                        </p:tav>
                                        <p:tav tm="100000">
                                          <p:val>
                                            <p:strVal val="#ppt_y"/>
                                          </p:val>
                                        </p:tav>
                                      </p:tavLst>
                                    </p:anim>
                                  </p:childTnLst>
                                </p:cTn>
                              </p:par>
                              <p:par>
                                <p:cTn id="120" presetID="42" presetClass="entr" presetSubtype="0" fill="hold" grpId="0" nodeType="withEffect">
                                  <p:stCondLst>
                                    <p:cond delay="880"/>
                                  </p:stCondLst>
                                  <p:childTnLst>
                                    <p:set>
                                      <p:cBhvr>
                                        <p:cTn id="121" dur="1" fill="hold">
                                          <p:stCondLst>
                                            <p:cond delay="0"/>
                                          </p:stCondLst>
                                        </p:cTn>
                                        <p:tgtEl>
                                          <p:spTgt spid="28"/>
                                        </p:tgtEl>
                                        <p:attrNameLst>
                                          <p:attrName>style.visibility</p:attrName>
                                        </p:attrNameLst>
                                      </p:cBhvr>
                                      <p:to>
                                        <p:strVal val="visible"/>
                                      </p:to>
                                    </p:set>
                                    <p:animEffect transition="in" filter="fade">
                                      <p:cBhvr>
                                        <p:cTn id="122" dur="500"/>
                                        <p:tgtEl>
                                          <p:spTgt spid="28"/>
                                        </p:tgtEl>
                                      </p:cBhvr>
                                    </p:animEffect>
                                    <p:anim calcmode="lin" valueType="num">
                                      <p:cBhvr additive="base">
                                        <p:cTn id="123" dur="500" fill="hold"/>
                                        <p:tgtEl>
                                          <p:spTgt spid="28"/>
                                        </p:tgtEl>
                                        <p:attrNameLst>
                                          <p:attrName>ppt_x</p:attrName>
                                        </p:attrNameLst>
                                      </p:cBhvr>
                                      <p:tavLst>
                                        <p:tav tm="0">
                                          <p:val>
                                            <p:strVal val="#ppt_x"/>
                                          </p:val>
                                        </p:tav>
                                        <p:tav tm="100000">
                                          <p:val>
                                            <p:strVal val="#ppt_x"/>
                                          </p:val>
                                        </p:tav>
                                      </p:tavLst>
                                    </p:anim>
                                    <p:anim calcmode="lin" valueType="num">
                                      <p:cBhvr additive="base">
                                        <p:cTn id="124" dur="500" fill="hold"/>
                                        <p:tgtEl>
                                          <p:spTgt spid="28"/>
                                        </p:tgtEl>
                                        <p:attrNameLst>
                                          <p:attrName>ppt_y</p:attrName>
                                        </p:attrNameLst>
                                      </p:cBhvr>
                                      <p:tavLst>
                                        <p:tav tm="0">
                                          <p:val>
                                            <p:strVal val="#ppt_y+.1"/>
                                          </p:val>
                                        </p:tav>
                                        <p:tav tm="100000">
                                          <p:val>
                                            <p:strVal val="#ppt_y"/>
                                          </p:val>
                                        </p:tav>
                                      </p:tavLst>
                                    </p:anim>
                                  </p:childTnLst>
                                </p:cTn>
                              </p:par>
                              <p:par>
                                <p:cTn id="125" presetID="42" presetClass="entr" presetSubtype="0" fill="hold" grpId="0" nodeType="withEffect">
                                  <p:stCondLst>
                                    <p:cond delay="880"/>
                                  </p:stCondLst>
                                  <p:childTnLst>
                                    <p:set>
                                      <p:cBhvr>
                                        <p:cTn id="126" dur="1" fill="hold">
                                          <p:stCondLst>
                                            <p:cond delay="0"/>
                                          </p:stCondLst>
                                        </p:cTn>
                                        <p:tgtEl>
                                          <p:spTgt spid="29"/>
                                        </p:tgtEl>
                                        <p:attrNameLst>
                                          <p:attrName>style.visibility</p:attrName>
                                        </p:attrNameLst>
                                      </p:cBhvr>
                                      <p:to>
                                        <p:strVal val="visible"/>
                                      </p:to>
                                    </p:set>
                                    <p:animEffect transition="in" filter="fade">
                                      <p:cBhvr>
                                        <p:cTn id="127" dur="500"/>
                                        <p:tgtEl>
                                          <p:spTgt spid="29"/>
                                        </p:tgtEl>
                                      </p:cBhvr>
                                    </p:animEffect>
                                    <p:anim calcmode="lin" valueType="num">
                                      <p:cBhvr additive="base">
                                        <p:cTn id="128" dur="500" fill="hold"/>
                                        <p:tgtEl>
                                          <p:spTgt spid="29"/>
                                        </p:tgtEl>
                                        <p:attrNameLst>
                                          <p:attrName>ppt_x</p:attrName>
                                        </p:attrNameLst>
                                      </p:cBhvr>
                                      <p:tavLst>
                                        <p:tav tm="0">
                                          <p:val>
                                            <p:strVal val="#ppt_x"/>
                                          </p:val>
                                        </p:tav>
                                        <p:tav tm="100000">
                                          <p:val>
                                            <p:strVal val="#ppt_x"/>
                                          </p:val>
                                        </p:tav>
                                      </p:tavLst>
                                    </p:anim>
                                    <p:anim calcmode="lin" valueType="num">
                                      <p:cBhvr additive="base">
                                        <p:cTn id="129" dur="500" fill="hold"/>
                                        <p:tgtEl>
                                          <p:spTgt spid="29"/>
                                        </p:tgtEl>
                                        <p:attrNameLst>
                                          <p:attrName>ppt_y</p:attrName>
                                        </p:attrNameLst>
                                      </p:cBhvr>
                                      <p:tavLst>
                                        <p:tav tm="0">
                                          <p:val>
                                            <p:strVal val="#ppt_y+.1"/>
                                          </p:val>
                                        </p:tav>
                                        <p:tav tm="100000">
                                          <p:val>
                                            <p:strVal val="#ppt_y"/>
                                          </p:val>
                                        </p:tav>
                                      </p:tavLst>
                                    </p:anim>
                                  </p:childTnLst>
                                </p:cTn>
                              </p:par>
                              <p:par>
                                <p:cTn id="130" presetID="42" presetClass="entr" presetSubtype="0" fill="hold" grpId="0" nodeType="withEffect">
                                  <p:stCondLst>
                                    <p:cond delay="1100"/>
                                  </p:stCondLst>
                                  <p:childTnLst>
                                    <p:set>
                                      <p:cBhvr>
                                        <p:cTn id="131" dur="1" fill="hold">
                                          <p:stCondLst>
                                            <p:cond delay="0"/>
                                          </p:stCondLst>
                                        </p:cTn>
                                        <p:tgtEl>
                                          <p:spTgt spid="30"/>
                                        </p:tgtEl>
                                        <p:attrNameLst>
                                          <p:attrName>style.visibility</p:attrName>
                                        </p:attrNameLst>
                                      </p:cBhvr>
                                      <p:to>
                                        <p:strVal val="visible"/>
                                      </p:to>
                                    </p:set>
                                    <p:animEffect transition="in" filter="fade">
                                      <p:cBhvr>
                                        <p:cTn id="132" dur="500"/>
                                        <p:tgtEl>
                                          <p:spTgt spid="30"/>
                                        </p:tgtEl>
                                      </p:cBhvr>
                                    </p:animEffect>
                                    <p:anim calcmode="lin" valueType="num">
                                      <p:cBhvr additive="base">
                                        <p:cTn id="133" dur="500" fill="hold"/>
                                        <p:tgtEl>
                                          <p:spTgt spid="30"/>
                                        </p:tgtEl>
                                        <p:attrNameLst>
                                          <p:attrName>ppt_x</p:attrName>
                                        </p:attrNameLst>
                                      </p:cBhvr>
                                      <p:tavLst>
                                        <p:tav tm="0">
                                          <p:val>
                                            <p:strVal val="#ppt_x"/>
                                          </p:val>
                                        </p:tav>
                                        <p:tav tm="100000">
                                          <p:val>
                                            <p:strVal val="#ppt_x"/>
                                          </p:val>
                                        </p:tav>
                                      </p:tavLst>
                                    </p:anim>
                                    <p:anim calcmode="lin" valueType="num">
                                      <p:cBhvr additive="base">
                                        <p:cTn id="134" dur="500" fill="hold"/>
                                        <p:tgtEl>
                                          <p:spTgt spid="30"/>
                                        </p:tgtEl>
                                        <p:attrNameLst>
                                          <p:attrName>ppt_y</p:attrName>
                                        </p:attrNameLst>
                                      </p:cBhvr>
                                      <p:tavLst>
                                        <p:tav tm="0">
                                          <p:val>
                                            <p:strVal val="#ppt_y+.1"/>
                                          </p:val>
                                        </p:tav>
                                        <p:tav tm="100000">
                                          <p:val>
                                            <p:strVal val="#ppt_y"/>
                                          </p:val>
                                        </p:tav>
                                      </p:tavLst>
                                    </p:anim>
                                  </p:childTnLst>
                                </p:cTn>
                              </p:par>
                              <p:par>
                                <p:cTn id="135" presetID="42" presetClass="entr" presetSubtype="0" fill="hold" nodeType="withEffect">
                                  <p:stCondLst>
                                    <p:cond delay="1100"/>
                                  </p:stCondLst>
                                  <p:childTnLst>
                                    <p:set>
                                      <p:cBhvr>
                                        <p:cTn id="136" dur="1" fill="hold">
                                          <p:stCondLst>
                                            <p:cond delay="0"/>
                                          </p:stCondLst>
                                        </p:cTn>
                                        <p:tgtEl>
                                          <p:spTgt spid="31"/>
                                        </p:tgtEl>
                                        <p:attrNameLst>
                                          <p:attrName>style.visibility</p:attrName>
                                        </p:attrNameLst>
                                      </p:cBhvr>
                                      <p:to>
                                        <p:strVal val="visible"/>
                                      </p:to>
                                    </p:set>
                                    <p:animEffect transition="in" filter="fade">
                                      <p:cBhvr>
                                        <p:cTn id="137" dur="500"/>
                                        <p:tgtEl>
                                          <p:spTgt spid="31"/>
                                        </p:tgtEl>
                                      </p:cBhvr>
                                    </p:animEffect>
                                    <p:anim calcmode="lin" valueType="num">
                                      <p:cBhvr additive="base">
                                        <p:cTn id="138" dur="500" fill="hold"/>
                                        <p:tgtEl>
                                          <p:spTgt spid="31"/>
                                        </p:tgtEl>
                                        <p:attrNameLst>
                                          <p:attrName>ppt_x</p:attrName>
                                        </p:attrNameLst>
                                      </p:cBhvr>
                                      <p:tavLst>
                                        <p:tav tm="0">
                                          <p:val>
                                            <p:strVal val="#ppt_x"/>
                                          </p:val>
                                        </p:tav>
                                        <p:tav tm="100000">
                                          <p:val>
                                            <p:strVal val="#ppt_x"/>
                                          </p:val>
                                        </p:tav>
                                      </p:tavLst>
                                    </p:anim>
                                    <p:anim calcmode="lin" valueType="num">
                                      <p:cBhvr additive="base">
                                        <p:cTn id="139" dur="500" fill="hold"/>
                                        <p:tgtEl>
                                          <p:spTgt spid="31"/>
                                        </p:tgtEl>
                                        <p:attrNameLst>
                                          <p:attrName>ppt_y</p:attrName>
                                        </p:attrNameLst>
                                      </p:cBhvr>
                                      <p:tavLst>
                                        <p:tav tm="0">
                                          <p:val>
                                            <p:strVal val="#ppt_y+.1"/>
                                          </p:val>
                                        </p:tav>
                                        <p:tav tm="100000">
                                          <p:val>
                                            <p:strVal val="#ppt_y"/>
                                          </p:val>
                                        </p:tav>
                                      </p:tavLst>
                                    </p:anim>
                                  </p:childTnLst>
                                </p:cTn>
                              </p:par>
                              <p:par>
                                <p:cTn id="140" presetID="42" presetClass="entr" presetSubtype="0" fill="hold" grpId="0" nodeType="withEffect">
                                  <p:stCondLst>
                                    <p:cond delay="1100"/>
                                  </p:stCondLst>
                                  <p:childTnLst>
                                    <p:set>
                                      <p:cBhvr>
                                        <p:cTn id="141" dur="1" fill="hold">
                                          <p:stCondLst>
                                            <p:cond delay="0"/>
                                          </p:stCondLst>
                                        </p:cTn>
                                        <p:tgtEl>
                                          <p:spTgt spid="32"/>
                                        </p:tgtEl>
                                        <p:attrNameLst>
                                          <p:attrName>style.visibility</p:attrName>
                                        </p:attrNameLst>
                                      </p:cBhvr>
                                      <p:to>
                                        <p:strVal val="visible"/>
                                      </p:to>
                                    </p:set>
                                    <p:animEffect transition="in" filter="fade">
                                      <p:cBhvr>
                                        <p:cTn id="142" dur="500"/>
                                        <p:tgtEl>
                                          <p:spTgt spid="32"/>
                                        </p:tgtEl>
                                      </p:cBhvr>
                                    </p:animEffect>
                                    <p:anim calcmode="lin" valueType="num">
                                      <p:cBhvr additive="base">
                                        <p:cTn id="143" dur="500" fill="hold"/>
                                        <p:tgtEl>
                                          <p:spTgt spid="32"/>
                                        </p:tgtEl>
                                        <p:attrNameLst>
                                          <p:attrName>ppt_x</p:attrName>
                                        </p:attrNameLst>
                                      </p:cBhvr>
                                      <p:tavLst>
                                        <p:tav tm="0">
                                          <p:val>
                                            <p:strVal val="#ppt_x"/>
                                          </p:val>
                                        </p:tav>
                                        <p:tav tm="100000">
                                          <p:val>
                                            <p:strVal val="#ppt_x"/>
                                          </p:val>
                                        </p:tav>
                                      </p:tavLst>
                                    </p:anim>
                                    <p:anim calcmode="lin" valueType="num">
                                      <p:cBhvr additive="base">
                                        <p:cTn id="144" dur="500" fill="hold"/>
                                        <p:tgtEl>
                                          <p:spTgt spid="32"/>
                                        </p:tgtEl>
                                        <p:attrNameLst>
                                          <p:attrName>ppt_y</p:attrName>
                                        </p:attrNameLst>
                                      </p:cBhvr>
                                      <p:tavLst>
                                        <p:tav tm="0">
                                          <p:val>
                                            <p:strVal val="#ppt_y+.1"/>
                                          </p:val>
                                        </p:tav>
                                        <p:tav tm="100000">
                                          <p:val>
                                            <p:strVal val="#ppt_y"/>
                                          </p:val>
                                        </p:tav>
                                      </p:tavLst>
                                    </p:anim>
                                  </p:childTnLst>
                                </p:cTn>
                              </p:par>
                              <p:par>
                                <p:cTn id="145" presetID="42" presetClass="entr" presetSubtype="0" fill="hold" grpId="0" nodeType="withEffect">
                                  <p:stCondLst>
                                    <p:cond delay="1100"/>
                                  </p:stCondLst>
                                  <p:childTnLst>
                                    <p:set>
                                      <p:cBhvr>
                                        <p:cTn id="146" dur="1" fill="hold">
                                          <p:stCondLst>
                                            <p:cond delay="0"/>
                                          </p:stCondLst>
                                        </p:cTn>
                                        <p:tgtEl>
                                          <p:spTgt spid="33"/>
                                        </p:tgtEl>
                                        <p:attrNameLst>
                                          <p:attrName>style.visibility</p:attrName>
                                        </p:attrNameLst>
                                      </p:cBhvr>
                                      <p:to>
                                        <p:strVal val="visible"/>
                                      </p:to>
                                    </p:set>
                                    <p:animEffect transition="in" filter="fade">
                                      <p:cBhvr>
                                        <p:cTn id="147" dur="500"/>
                                        <p:tgtEl>
                                          <p:spTgt spid="33"/>
                                        </p:tgtEl>
                                      </p:cBhvr>
                                    </p:animEffect>
                                    <p:anim calcmode="lin" valueType="num">
                                      <p:cBhvr additive="base">
                                        <p:cTn id="148" dur="500" fill="hold"/>
                                        <p:tgtEl>
                                          <p:spTgt spid="33"/>
                                        </p:tgtEl>
                                        <p:attrNameLst>
                                          <p:attrName>ppt_x</p:attrName>
                                        </p:attrNameLst>
                                      </p:cBhvr>
                                      <p:tavLst>
                                        <p:tav tm="0">
                                          <p:val>
                                            <p:strVal val="#ppt_x"/>
                                          </p:val>
                                        </p:tav>
                                        <p:tav tm="100000">
                                          <p:val>
                                            <p:strVal val="#ppt_x"/>
                                          </p:val>
                                        </p:tav>
                                      </p:tavLst>
                                    </p:anim>
                                    <p:anim calcmode="lin" valueType="num">
                                      <p:cBhvr additive="base">
                                        <p:cTn id="149" dur="500" fill="hold"/>
                                        <p:tgtEl>
                                          <p:spTgt spid="33"/>
                                        </p:tgtEl>
                                        <p:attrNameLst>
                                          <p:attrName>ppt_y</p:attrName>
                                        </p:attrNameLst>
                                      </p:cBhvr>
                                      <p:tavLst>
                                        <p:tav tm="0">
                                          <p:val>
                                            <p:strVal val="#ppt_y+.1"/>
                                          </p:val>
                                        </p:tav>
                                        <p:tav tm="100000">
                                          <p:val>
                                            <p:strVal val="#ppt_y"/>
                                          </p:val>
                                        </p:tav>
                                      </p:tavLst>
                                    </p:anim>
                                  </p:childTnLst>
                                </p:cTn>
                              </p:par>
                              <p:par>
                                <p:cTn id="150" presetID="10" presetClass="entr" presetSubtype="0" fill="hold" grpId="0" nodeType="withEffect">
                                  <p:stCondLst>
                                    <p:cond delay="1320"/>
                                  </p:stCondLst>
                                  <p:childTnLst>
                                    <p:set>
                                      <p:cBhvr>
                                        <p:cTn id="151" dur="1" fill="hold">
                                          <p:stCondLst>
                                            <p:cond delay="0"/>
                                          </p:stCondLst>
                                        </p:cTn>
                                        <p:tgtEl>
                                          <p:spTgt spid="34"/>
                                        </p:tgtEl>
                                        <p:attrNameLst>
                                          <p:attrName>style.visibility</p:attrName>
                                        </p:attrNameLst>
                                      </p:cBhvr>
                                      <p:to>
                                        <p:strVal val="visible"/>
                                      </p:to>
                                    </p:set>
                                    <p:animEffect transition="in" filter="fade">
                                      <p:cBhvr>
                                        <p:cTn id="152" dur="500"/>
                                        <p:tgtEl>
                                          <p:spTgt spid="34"/>
                                        </p:tgtEl>
                                      </p:cBhvr>
                                    </p:animEffect>
                                  </p:childTnLst>
                                </p:cTn>
                              </p:par>
                              <p:par>
                                <p:cTn id="153" presetID="10" presetClass="entr" presetSubtype="0" fill="hold" grpId="0" nodeType="withEffect">
                                  <p:stCondLst>
                                    <p:cond delay="1320"/>
                                  </p:stCondLst>
                                  <p:childTnLst>
                                    <p:set>
                                      <p:cBhvr>
                                        <p:cTn id="154" dur="1" fill="hold">
                                          <p:stCondLst>
                                            <p:cond delay="0"/>
                                          </p:stCondLst>
                                        </p:cTn>
                                        <p:tgtEl>
                                          <p:spTgt spid="35"/>
                                        </p:tgtEl>
                                        <p:attrNameLst>
                                          <p:attrName>style.visibility</p:attrName>
                                        </p:attrNameLst>
                                      </p:cBhvr>
                                      <p:to>
                                        <p:strVal val="visible"/>
                                      </p:to>
                                    </p:set>
                                    <p:animEffect transition="in" filter="fade">
                                      <p:cBhvr>
                                        <p:cTn id="155"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P spid="24" grpId="0" animBg="1"/>
      <p:bldP spid="25" grpId="0" animBg="1"/>
      <p:bldP spid="27" grpId="0" animBg="1"/>
      <p:bldP spid="28" grpId="0" animBg="1"/>
      <p:bldP spid="29" grpId="0" animBg="1"/>
      <p:bldP spid="30" grpId="0" animBg="1"/>
      <p:bldP spid="32" grpId="0" animBg="1"/>
      <p:bldP spid="33" grpId="0" animBg="1"/>
      <p:bldP spid="34" grpId="0" animBg="1"/>
      <p:bldP spid="3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749808"/>
            <a:ext cx="11064240" cy="685800"/>
          </a:xfrm>
          <a:prstGeom prst="rect">
            <a:avLst/>
          </a:prstGeom>
          <a:noFill/>
          <a:ln/>
        </p:spPr>
        <p:txBody>
          <a:bodyPr wrap="square" lIns="0" tIns="0" rIns="0" bIns="0" rtlCol="0" anchor="ctr"/>
          <a:lstStyle/>
          <a:p>
            <a:pPr marL="0" indent="0" algn="l">
              <a:buNone/>
            </a:pPr>
            <a:r>
              <a:rPr lang="en-US" sz="3000" b="1" dirty="0">
                <a:solidFill>
                  <a:schemeClr val="tx2"/>
                </a:solidFill>
              </a:rPr>
              <a:t>Résultat de la synchronisation</a:t>
            </a:r>
            <a:endParaRPr lang="en-US" sz="3000" dirty="0"/>
          </a:p>
        </p:txBody>
      </p:sp>
      <p:sp>
        <p:nvSpPr>
          <p:cNvPr id="3" name="pill#51"/>
          <p:cNvSpPr/>
          <p:nvPr/>
        </p:nvSpPr>
        <p:spPr>
          <a:xfrm>
            <a:off x="548640" y="384048"/>
            <a:ext cx="745236" cy="292608"/>
          </a:xfrm>
          <a:prstGeom prst="roundRect">
            <a:avLst>
              <a:gd name="adj" fmla="val 50000"/>
            </a:avLst>
          </a:prstGeom>
          <a:solidFill>
            <a:schemeClr val="accent4"/>
          </a:solidFill>
          <a:ln/>
        </p:spPr>
      </p:sp>
      <p:sp>
        <p:nvSpPr>
          <p:cNvPr id="4" name="pill#51t"/>
          <p:cNvSpPr txBox="1"/>
          <p:nvPr/>
        </p:nvSpPr>
        <p:spPr>
          <a:xfrm>
            <a:off x="548640" y="384048"/>
            <a:ext cx="745236" cy="292608"/>
          </a:xfrm>
          <a:prstGeom prst="rect">
            <a:avLst/>
          </a:prstGeom>
          <a:noFill/>
          <a:ln/>
        </p:spPr>
        <p:txBody>
          <a:bodyPr wrap="square" lIns="0" tIns="0" rIns="0" bIns="0" rtlCol="0" anchor="ctr"/>
          <a:lstStyle/>
          <a:p>
            <a:pPr marL="0" indent="0" algn="ctr">
              <a:buNone/>
            </a:pPr>
            <a:r>
              <a:rPr lang="en-US" sz="1100" b="1" dirty="0">
                <a:solidFill>
                  <a:schemeClr val="bg1"/>
                </a:solidFill>
              </a:rPr>
              <a:t>Pentaho</a:t>
            </a:r>
            <a:endParaRPr lang="en-US" sz="1100" dirty="0"/>
          </a:p>
        </p:txBody>
      </p:sp>
      <p:graphicFrame>
        <p:nvGraphicFramePr>
          <p:cNvPr id="5" name="donut"/>
          <p:cNvGraphicFramePr/>
          <p:nvPr/>
        </p:nvGraphicFramePr>
        <p:xfrm>
          <a:off x="548640" y="1645920"/>
          <a:ext cx="4389120" cy="4297680"/>
        </p:xfrm>
        <a:graphic>
          <a:graphicData uri="http://schemas.openxmlformats.org/drawingml/2006/chart">
            <c:chart xmlns:c="http://schemas.openxmlformats.org/drawingml/2006/chart" xmlns:r="http://schemas.openxmlformats.org/officeDocument/2006/relationships" r:id="rId3"/>
          </a:graphicData>
        </a:graphic>
      </p:graphicFrame>
      <p:sp>
        <p:nvSpPr>
          <p:cNvPr id="6" name="donutC"/>
          <p:cNvSpPr txBox="1"/>
          <p:nvPr/>
        </p:nvSpPr>
        <p:spPr>
          <a:xfrm>
            <a:off x="1737360" y="3154680"/>
            <a:ext cx="2011680" cy="1280160"/>
          </a:xfrm>
          <a:prstGeom prst="rect">
            <a:avLst/>
          </a:prstGeom>
          <a:noFill/>
          <a:ln/>
        </p:spPr>
        <p:txBody>
          <a:bodyPr wrap="square" lIns="0" tIns="0" rIns="0" bIns="0" rtlCol="0" anchor="ctr"/>
          <a:lstStyle/>
          <a:p>
            <a:pPr marL="0" indent="0" algn="ctr">
              <a:buNone/>
            </a:pPr>
            <a:r>
              <a:rPr lang="en-US" sz="4400" b="1" dirty="0">
                <a:solidFill>
                  <a:schemeClr val="tx2"/>
                </a:solidFill>
              </a:rPr>
              <a:t>23</a:t>
            </a:r>
            <a:endParaRPr lang="en-US" sz="1400" dirty="0"/>
          </a:p>
          <a:p>
            <a:pPr marL="0" indent="0" algn="ctr">
              <a:buNone/>
            </a:pPr>
            <a:r>
              <a:rPr lang="en-US" sz="1400" dirty="0">
                <a:solidFill>
                  <a:schemeClr val="accent6"/>
                </a:solidFill>
              </a:rPr>
              <a:t>employés lus</a:t>
            </a:r>
            <a:endParaRPr lang="en-US" sz="1400" dirty="0"/>
          </a:p>
        </p:txBody>
      </p:sp>
      <p:sp>
        <p:nvSpPr>
          <p:cNvPr id="7" name="res#52"/>
          <p:cNvSpPr/>
          <p:nvPr/>
        </p:nvSpPr>
        <p:spPr>
          <a:xfrm>
            <a:off x="5486400" y="1737360"/>
            <a:ext cx="6126480" cy="1005840"/>
          </a:xfrm>
          <a:prstGeom prst="roundRect">
            <a:avLst>
              <a:gd name="adj" fmla="val 9091"/>
            </a:avLst>
          </a:prstGeom>
          <a:solidFill>
            <a:schemeClr val="bg2"/>
          </a:solidFill>
          <a:ln/>
        </p:spPr>
      </p:sp>
      <p:sp>
        <p:nvSpPr>
          <p:cNvPr id="8" name="res#52n"/>
          <p:cNvSpPr txBox="1"/>
          <p:nvPr/>
        </p:nvSpPr>
        <p:spPr>
          <a:xfrm>
            <a:off x="5669280" y="1737360"/>
            <a:ext cx="1188720" cy="1005840"/>
          </a:xfrm>
          <a:prstGeom prst="rect">
            <a:avLst/>
          </a:prstGeom>
          <a:noFill/>
          <a:ln/>
        </p:spPr>
        <p:txBody>
          <a:bodyPr wrap="square" lIns="0" tIns="0" rIns="0" bIns="0" rtlCol="0" anchor="ctr"/>
          <a:lstStyle/>
          <a:p>
            <a:pPr marL="0" indent="0">
              <a:buNone/>
            </a:pPr>
            <a:r>
              <a:rPr lang="en-US" sz="3600" b="1" dirty="0">
                <a:solidFill>
                  <a:schemeClr val="accent3"/>
                </a:solidFill>
              </a:rPr>
              <a:t>20</a:t>
            </a:r>
            <a:endParaRPr lang="en-US" sz="3600" dirty="0"/>
          </a:p>
        </p:txBody>
      </p:sp>
      <p:sp>
        <p:nvSpPr>
          <p:cNvPr id="9" name="res#52t"/>
          <p:cNvSpPr txBox="1"/>
          <p:nvPr/>
        </p:nvSpPr>
        <p:spPr>
          <a:xfrm>
            <a:off x="6858000" y="1737360"/>
            <a:ext cx="4572000" cy="1005840"/>
          </a:xfrm>
          <a:prstGeom prst="rect">
            <a:avLst/>
          </a:prstGeom>
          <a:noFill/>
          <a:ln/>
        </p:spPr>
        <p:txBody>
          <a:bodyPr wrap="square" lIns="0" tIns="0" rIns="0" bIns="0" rtlCol="0" anchor="ctr"/>
          <a:lstStyle/>
          <a:p>
            <a:pPr marL="0" indent="0">
              <a:buNone/>
            </a:pPr>
            <a:r>
              <a:rPr lang="en-US" sz="1600" b="1" dirty="0">
                <a:solidFill>
                  <a:schemeClr val="tx1"/>
                </a:solidFill>
              </a:rPr>
              <a:t>chargés dans PostgreSQL</a:t>
            </a:r>
            <a:endParaRPr lang="en-US" sz="1600" dirty="0"/>
          </a:p>
          <a:p>
            <a:pPr marL="0" indent="0">
              <a:buNone/>
            </a:pPr>
            <a:r>
              <a:rPr lang="en-US" sz="1300" dirty="0">
                <a:solidFill>
                  <a:schemeClr val="accent6"/>
                </a:solidFill>
              </a:rPr>
              <a:t>nettoyés et normalisés</a:t>
            </a:r>
            <a:endParaRPr lang="en-US" sz="1600" dirty="0"/>
          </a:p>
        </p:txBody>
      </p:sp>
      <p:sp>
        <p:nvSpPr>
          <p:cNvPr id="10" name="res#53"/>
          <p:cNvSpPr/>
          <p:nvPr/>
        </p:nvSpPr>
        <p:spPr>
          <a:xfrm>
            <a:off x="5486400" y="2971800"/>
            <a:ext cx="6126480" cy="1005840"/>
          </a:xfrm>
          <a:prstGeom prst="roundRect">
            <a:avLst>
              <a:gd name="adj" fmla="val 9091"/>
            </a:avLst>
          </a:prstGeom>
          <a:solidFill>
            <a:schemeClr val="bg2"/>
          </a:solidFill>
          <a:ln/>
        </p:spPr>
      </p:sp>
      <p:sp>
        <p:nvSpPr>
          <p:cNvPr id="11" name="res#53n"/>
          <p:cNvSpPr txBox="1"/>
          <p:nvPr/>
        </p:nvSpPr>
        <p:spPr>
          <a:xfrm>
            <a:off x="5669280" y="2971800"/>
            <a:ext cx="1188720" cy="1005840"/>
          </a:xfrm>
          <a:prstGeom prst="rect">
            <a:avLst/>
          </a:prstGeom>
          <a:noFill/>
          <a:ln/>
        </p:spPr>
        <p:txBody>
          <a:bodyPr wrap="square" lIns="0" tIns="0" rIns="0" bIns="0" rtlCol="0" anchor="ctr"/>
          <a:lstStyle/>
          <a:p>
            <a:pPr marL="0" indent="0">
              <a:buNone/>
            </a:pPr>
            <a:r>
              <a:rPr lang="en-US" sz="3600" b="1" dirty="0">
                <a:solidFill>
                  <a:schemeClr val="accent5"/>
                </a:solidFill>
              </a:rPr>
              <a:t>3</a:t>
            </a:r>
            <a:endParaRPr lang="en-US" sz="3600" dirty="0"/>
          </a:p>
        </p:txBody>
      </p:sp>
      <p:sp>
        <p:nvSpPr>
          <p:cNvPr id="12" name="res#53t"/>
          <p:cNvSpPr txBox="1"/>
          <p:nvPr/>
        </p:nvSpPr>
        <p:spPr>
          <a:xfrm>
            <a:off x="6858000" y="2971800"/>
            <a:ext cx="4572000" cy="1005840"/>
          </a:xfrm>
          <a:prstGeom prst="rect">
            <a:avLst/>
          </a:prstGeom>
          <a:noFill/>
          <a:ln/>
        </p:spPr>
        <p:txBody>
          <a:bodyPr wrap="square" lIns="0" tIns="0" rIns="0" bIns="0" rtlCol="0" anchor="ctr"/>
          <a:lstStyle/>
          <a:p>
            <a:pPr marL="0" indent="0">
              <a:buNone/>
            </a:pPr>
            <a:r>
              <a:rPr lang="en-US" sz="1600" b="1" dirty="0">
                <a:solidFill>
                  <a:schemeClr val="tx1"/>
                </a:solidFill>
              </a:rPr>
              <a:t>rejetés avec leur motif</a:t>
            </a:r>
            <a:endParaRPr lang="en-US" sz="1600" dirty="0"/>
          </a:p>
          <a:p>
            <a:pPr marL="0" indent="0">
              <a:buNone/>
            </a:pPr>
            <a:r>
              <a:rPr lang="en-US" sz="1300" dirty="0">
                <a:solidFill>
                  <a:schemeClr val="accent6"/>
                </a:solidFill>
              </a:rPr>
              <a:t>tracés dans sync_reject</a:t>
            </a:r>
            <a:endParaRPr lang="en-US" sz="1600" dirty="0"/>
          </a:p>
        </p:txBody>
      </p:sp>
      <p:sp>
        <p:nvSpPr>
          <p:cNvPr id="13" name="rjCard"/>
          <p:cNvSpPr/>
          <p:nvPr/>
        </p:nvSpPr>
        <p:spPr>
          <a:xfrm>
            <a:off x="5486400" y="4251960"/>
            <a:ext cx="6126480" cy="1691640"/>
          </a:xfrm>
          <a:prstGeom prst="roundRect">
            <a:avLst>
              <a:gd name="adj" fmla="val 5405"/>
            </a:avLst>
          </a:prstGeom>
          <a:solidFill>
            <a:schemeClr val="tx2"/>
          </a:solidFill>
          <a:ln/>
        </p:spPr>
      </p:sp>
      <p:sp>
        <p:nvSpPr>
          <p:cNvPr id="14" name="rjT"/>
          <p:cNvSpPr txBox="1"/>
          <p:nvPr/>
        </p:nvSpPr>
        <p:spPr>
          <a:xfrm>
            <a:off x="5760720" y="4389120"/>
            <a:ext cx="5669280" cy="1463040"/>
          </a:xfrm>
          <a:prstGeom prst="rect">
            <a:avLst/>
          </a:prstGeom>
          <a:noFill/>
          <a:ln/>
        </p:spPr>
        <p:txBody>
          <a:bodyPr wrap="square" lIns="0" tIns="0" rIns="0" bIns="0" rtlCol="0" anchor="t"/>
          <a:lstStyle/>
          <a:p>
            <a:pPr marL="0" indent="0">
              <a:spcAft>
                <a:spcPts val="400"/>
              </a:spcAft>
              <a:buNone/>
            </a:pPr>
            <a:r>
              <a:rPr lang="en-US" sz="1400" b="1" dirty="0">
                <a:solidFill>
                  <a:schemeClr val="accent2"/>
                </a:solidFill>
              </a:rPr>
              <a:t>Lignes rejetées</a:t>
            </a:r>
            <a:endParaRPr lang="en-US" sz="1400" dirty="0"/>
          </a:p>
          <a:p>
            <a:pPr marL="0" indent="0">
              <a:spcAft>
                <a:spcPts val="400"/>
              </a:spcAft>
              <a:buNone/>
            </a:pPr>
            <a:r>
              <a:rPr lang="en-US" sz="1400" dirty="0">
                <a:solidFill>
                  <a:schemeClr val="bg1"/>
                </a:solidFill>
                <a:latin typeface="Courier New" pitchFamily="34" charset="0"/>
                <a:ea typeface="Courier New" pitchFamily="34" charset="-122"/>
                <a:cs typeface="Courier New" pitchFamily="34" charset="-120"/>
              </a:rPr>
              <a:t>EMP-0021 : nom obligatoire</a:t>
            </a:r>
            <a:endParaRPr lang="en-US" sz="1400" dirty="0"/>
          </a:p>
          <a:p>
            <a:pPr marL="0" indent="0">
              <a:spcAft>
                <a:spcPts val="400"/>
              </a:spcAft>
              <a:buNone/>
            </a:pPr>
            <a:r>
              <a:rPr lang="en-US" sz="1400" dirty="0">
                <a:solidFill>
                  <a:schemeClr val="bg1"/>
                </a:solidFill>
                <a:latin typeface="Courier New" pitchFamily="34" charset="0"/>
                <a:ea typeface="Courier New" pitchFamily="34" charset="-122"/>
                <a:cs typeface="Courier New" pitchFamily="34" charset="-120"/>
              </a:rPr>
              <a:t>EMP-0022 : email invalide</a:t>
            </a:r>
            <a:endParaRPr lang="en-US" sz="1400" dirty="0"/>
          </a:p>
          <a:p>
            <a:pPr marL="0" indent="0">
              <a:spcAft>
                <a:spcPts val="400"/>
              </a:spcAft>
              <a:buNone/>
            </a:pPr>
            <a:r>
              <a:rPr lang="en-US" sz="1400" dirty="0">
                <a:solidFill>
                  <a:schemeClr val="bg1"/>
                </a:solidFill>
                <a:latin typeface="Courier New" pitchFamily="34" charset="0"/>
                <a:ea typeface="Courier New" pitchFamily="34" charset="-122"/>
                <a:cs typeface="Courier New" pitchFamily="34" charset="-120"/>
              </a:rPr>
              <a:t>EMP-0023 : salaire doit être positif</a:t>
            </a:r>
            <a:endParaRPr lang="en-US" sz="1400" dirty="0"/>
          </a:p>
        </p:txBody>
      </p:sp>
      <p:sp>
        <p:nvSpPr>
          <p:cNvPr id="26"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13</a:t>
            </a:fld>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ppt_w</p:attrName>
                                        </p:attrNameLst>
                                      </p:cBhvr>
                                      <p:tavLst>
                                        <p:tav tm="0">
                                          <p:val>
                                            <p:strVal val="0"/>
                                          </p:val>
                                        </p:tav>
                                        <p:tav tm="100000">
                                          <p:val>
                                            <p:strVal val="#ppt_w"/>
                                          </p:val>
                                        </p:tav>
                                      </p:tavLst>
                                    </p:anim>
                                    <p:anim calcmode="lin" valueType="num">
                                      <p:cBhvr additive="base">
                                        <p:cTn id="8" dur="500" fill="hold"/>
                                        <p:tgtEl>
                                          <p:spTgt spid="5"/>
                                        </p:tgtEl>
                                        <p:attrNameLst>
                                          <p:attrName>ppt_h</p:attrName>
                                        </p:attrNameLst>
                                      </p:cBhvr>
                                      <p:tavLst>
                                        <p:tav tm="0">
                                          <p:val>
                                            <p:strVal val="0"/>
                                          </p:val>
                                        </p:tav>
                                        <p:tav tm="100000">
                                          <p:val>
                                            <p:strVal val="#ppt_h"/>
                                          </p:val>
                                        </p:tav>
                                      </p:tavLst>
                                    </p:anim>
                                    <p:animEffect transition="in" filter="fade">
                                      <p:cBhvr>
                                        <p:cTn id="9" dur="500"/>
                                        <p:tgtEl>
                                          <p:spTgt spid="5"/>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ppt_w</p:attrName>
                                        </p:attrNameLst>
                                      </p:cBhvr>
                                      <p:tavLst>
                                        <p:tav tm="0">
                                          <p:val>
                                            <p:strVal val="0"/>
                                          </p:val>
                                        </p:tav>
                                        <p:tav tm="100000">
                                          <p:val>
                                            <p:strVal val="#ppt_w"/>
                                          </p:val>
                                        </p:tav>
                                      </p:tavLst>
                                    </p:anim>
                                    <p:anim calcmode="lin" valueType="num">
                                      <p:cBhvr additive="base">
                                        <p:cTn id="13" dur="500" fill="hold"/>
                                        <p:tgtEl>
                                          <p:spTgt spid="6"/>
                                        </p:tgtEl>
                                        <p:attrNameLst>
                                          <p:attrName>ppt_h</p:attrName>
                                        </p:attrNameLst>
                                      </p:cBhvr>
                                      <p:tavLst>
                                        <p:tav tm="0">
                                          <p:val>
                                            <p:strVal val="0"/>
                                          </p:val>
                                        </p:tav>
                                        <p:tav tm="100000">
                                          <p:val>
                                            <p:strVal val="#ppt_h"/>
                                          </p:val>
                                        </p:tav>
                                      </p:tavLst>
                                    </p:anim>
                                    <p:animEffect transition="in" filter="fade">
                                      <p:cBhvr>
                                        <p:cTn id="14" dur="500"/>
                                        <p:tgtEl>
                                          <p:spTgt spid="6"/>
                                        </p:tgtEl>
                                      </p:cBhvr>
                                    </p:animEffect>
                                  </p:childTnLst>
                                </p:cTn>
                              </p:par>
                              <p:par>
                                <p:cTn id="15" presetID="42" presetClass="entr" presetSubtype="0" fill="hold" grpId="0" nodeType="withEffect">
                                  <p:stCondLst>
                                    <p:cond delay="22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anim calcmode="lin" valueType="num">
                                      <p:cBhvr additive="base">
                                        <p:cTn id="18" dur="500" fill="hold"/>
                                        <p:tgtEl>
                                          <p:spTgt spid="7"/>
                                        </p:tgtEl>
                                        <p:attrNameLst>
                                          <p:attrName>ppt_x</p:attrName>
                                        </p:attrNameLst>
                                      </p:cBhvr>
                                      <p:tavLst>
                                        <p:tav tm="0">
                                          <p:val>
                                            <p:strVal val="#ppt_x"/>
                                          </p:val>
                                        </p:tav>
                                        <p:tav tm="100000">
                                          <p:val>
                                            <p:strVal val="#ppt_x"/>
                                          </p:val>
                                        </p:tav>
                                      </p:tavLst>
                                    </p:anim>
                                    <p:anim calcmode="lin" valueType="num">
                                      <p:cBhvr additive="base">
                                        <p:cTn id="19" dur="500" fill="hold"/>
                                        <p:tgtEl>
                                          <p:spTgt spid="7"/>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22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22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anim calcmode="lin" valueType="num">
                                      <p:cBhvr additive="base">
                                        <p:cTn id="28" dur="500" fill="hold"/>
                                        <p:tgtEl>
                                          <p:spTgt spid="9"/>
                                        </p:tgtEl>
                                        <p:attrNameLst>
                                          <p:attrName>ppt_x</p:attrName>
                                        </p:attrNameLst>
                                      </p:cBhvr>
                                      <p:tavLst>
                                        <p:tav tm="0">
                                          <p:val>
                                            <p:strVal val="#ppt_x"/>
                                          </p:val>
                                        </p:tav>
                                        <p:tav tm="100000">
                                          <p:val>
                                            <p:strVal val="#ppt_x"/>
                                          </p:val>
                                        </p:tav>
                                      </p:tavLst>
                                    </p:anim>
                                    <p:anim calcmode="lin" valueType="num">
                                      <p:cBhvr additive="base">
                                        <p:cTn id="29" dur="500" fill="hold"/>
                                        <p:tgtEl>
                                          <p:spTgt spid="9"/>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44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anim calcmode="lin" valueType="num">
                                      <p:cBhvr additive="base">
                                        <p:cTn id="33" dur="500" fill="hold"/>
                                        <p:tgtEl>
                                          <p:spTgt spid="10"/>
                                        </p:tgtEl>
                                        <p:attrNameLst>
                                          <p:attrName>ppt_x</p:attrName>
                                        </p:attrNameLst>
                                      </p:cBhvr>
                                      <p:tavLst>
                                        <p:tav tm="0">
                                          <p:val>
                                            <p:strVal val="#ppt_x"/>
                                          </p:val>
                                        </p:tav>
                                        <p:tav tm="100000">
                                          <p:val>
                                            <p:strVal val="#ppt_x"/>
                                          </p:val>
                                        </p:tav>
                                      </p:tavLst>
                                    </p:anim>
                                    <p:anim calcmode="lin" valueType="num">
                                      <p:cBhvr additive="base">
                                        <p:cTn id="34" dur="500" fill="hold"/>
                                        <p:tgtEl>
                                          <p:spTgt spid="10"/>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44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anim calcmode="lin" valueType="num">
                                      <p:cBhvr additive="base">
                                        <p:cTn id="38" dur="500" fill="hold"/>
                                        <p:tgtEl>
                                          <p:spTgt spid="11"/>
                                        </p:tgtEl>
                                        <p:attrNameLst>
                                          <p:attrName>ppt_x</p:attrName>
                                        </p:attrNameLst>
                                      </p:cBhvr>
                                      <p:tavLst>
                                        <p:tav tm="0">
                                          <p:val>
                                            <p:strVal val="#ppt_x"/>
                                          </p:val>
                                        </p:tav>
                                        <p:tav tm="100000">
                                          <p:val>
                                            <p:strVal val="#ppt_x"/>
                                          </p:val>
                                        </p:tav>
                                      </p:tavLst>
                                    </p:anim>
                                    <p:anim calcmode="lin" valueType="num">
                                      <p:cBhvr additive="base">
                                        <p:cTn id="39" dur="500" fill="hold"/>
                                        <p:tgtEl>
                                          <p:spTgt spid="11"/>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44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00"/>
                                        <p:tgtEl>
                                          <p:spTgt spid="12"/>
                                        </p:tgtEl>
                                      </p:cBhvr>
                                    </p:animEffect>
                                    <p:anim calcmode="lin" valueType="num">
                                      <p:cBhvr additive="base">
                                        <p:cTn id="43" dur="500" fill="hold"/>
                                        <p:tgtEl>
                                          <p:spTgt spid="12"/>
                                        </p:tgtEl>
                                        <p:attrNameLst>
                                          <p:attrName>ppt_x</p:attrName>
                                        </p:attrNameLst>
                                      </p:cBhvr>
                                      <p:tavLst>
                                        <p:tav tm="0">
                                          <p:val>
                                            <p:strVal val="#ppt_x"/>
                                          </p:val>
                                        </p:tav>
                                        <p:tav tm="100000">
                                          <p:val>
                                            <p:strVal val="#ppt_x"/>
                                          </p:val>
                                        </p:tav>
                                      </p:tavLst>
                                    </p:anim>
                                    <p:anim calcmode="lin" valueType="num">
                                      <p:cBhvr additive="base">
                                        <p:cTn id="44" dur="500" fill="hold"/>
                                        <p:tgtEl>
                                          <p:spTgt spid="12"/>
                                        </p:tgtEl>
                                        <p:attrNameLst>
                                          <p:attrName>ppt_y</p:attrName>
                                        </p:attrNameLst>
                                      </p:cBhvr>
                                      <p:tavLst>
                                        <p:tav tm="0">
                                          <p:val>
                                            <p:strVal val="#ppt_y+.1"/>
                                          </p:val>
                                        </p:tav>
                                        <p:tav tm="100000">
                                          <p:val>
                                            <p:strVal val="#ppt_y"/>
                                          </p:val>
                                        </p:tav>
                                      </p:tavLst>
                                    </p:anim>
                                  </p:childTnLst>
                                </p:cTn>
                              </p:par>
                              <p:par>
                                <p:cTn id="45" presetID="10" presetClass="entr" presetSubtype="0" fill="hold" grpId="0" nodeType="withEffect">
                                  <p:stCondLst>
                                    <p:cond delay="66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par>
                                <p:cTn id="48" presetID="10" presetClass="entr" presetSubtype="0" fill="hold" grpId="0" nodeType="withEffect">
                                  <p:stCondLst>
                                    <p:cond delay="66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749808"/>
            <a:ext cx="11064240" cy="685800"/>
          </a:xfrm>
          <a:prstGeom prst="rect">
            <a:avLst/>
          </a:prstGeom>
          <a:noFill/>
          <a:ln/>
        </p:spPr>
        <p:txBody>
          <a:bodyPr wrap="square" lIns="0" tIns="0" rIns="0" bIns="0" rtlCol="0" anchor="ctr"/>
          <a:lstStyle/>
          <a:p>
            <a:pPr marL="0" indent="0" algn="l">
              <a:buNone/>
            </a:pPr>
            <a:r>
              <a:rPr lang="en-US" sz="3000" b="1" dirty="0">
                <a:solidFill>
                  <a:schemeClr val="tx2"/>
                </a:solidFill>
              </a:rPr>
              <a:t>Le retour vers MySQL</a:t>
            </a:r>
            <a:endParaRPr lang="en-US" sz="3000" dirty="0"/>
          </a:p>
        </p:txBody>
      </p:sp>
      <p:sp>
        <p:nvSpPr>
          <p:cNvPr id="3" name="pill#54"/>
          <p:cNvSpPr/>
          <p:nvPr/>
        </p:nvSpPr>
        <p:spPr>
          <a:xfrm>
            <a:off x="548640" y="384048"/>
            <a:ext cx="745236" cy="292608"/>
          </a:xfrm>
          <a:prstGeom prst="roundRect">
            <a:avLst>
              <a:gd name="adj" fmla="val 50000"/>
            </a:avLst>
          </a:prstGeom>
          <a:solidFill>
            <a:schemeClr val="accent4"/>
          </a:solidFill>
          <a:ln/>
        </p:spPr>
      </p:sp>
      <p:sp>
        <p:nvSpPr>
          <p:cNvPr id="4" name="pill#54t"/>
          <p:cNvSpPr txBox="1"/>
          <p:nvPr/>
        </p:nvSpPr>
        <p:spPr>
          <a:xfrm>
            <a:off x="548640" y="384048"/>
            <a:ext cx="745236" cy="292608"/>
          </a:xfrm>
          <a:prstGeom prst="rect">
            <a:avLst/>
          </a:prstGeom>
          <a:noFill/>
          <a:ln/>
        </p:spPr>
        <p:txBody>
          <a:bodyPr wrap="square" lIns="0" tIns="0" rIns="0" bIns="0" rtlCol="0" anchor="ctr"/>
          <a:lstStyle/>
          <a:p>
            <a:pPr marL="0" indent="0" algn="ctr">
              <a:buNone/>
            </a:pPr>
            <a:r>
              <a:rPr lang="en-US" sz="1100" b="1" dirty="0">
                <a:solidFill>
                  <a:schemeClr val="bg1"/>
                </a:solidFill>
              </a:rPr>
              <a:t>Pentaho</a:t>
            </a:r>
            <a:endParaRPr lang="en-US" sz="1100" dirty="0"/>
          </a:p>
        </p:txBody>
      </p:sp>
      <p:sp>
        <p:nvSpPr>
          <p:cNvPr id="5" name="fl#55"/>
          <p:cNvSpPr/>
          <p:nvPr/>
        </p:nvSpPr>
        <p:spPr>
          <a:xfrm>
            <a:off x="548640" y="1737360"/>
            <a:ext cx="2514600" cy="1600200"/>
          </a:xfrm>
          <a:prstGeom prst="roundRect">
            <a:avLst>
              <a:gd name="adj" fmla="val 5714"/>
            </a:avLst>
          </a:prstGeom>
          <a:solidFill>
            <a:schemeClr val="bg2"/>
          </a:solidFill>
          <a:ln/>
          <a:effectLst>
            <a:outerShdw blurRad="127000" dist="38100" dir="5400000" algn="bl" rotWithShape="0">
              <a:srgbClr val="0D2340">
                <a:alpha val="12000"/>
              </a:srgbClr>
            </a:outerShdw>
          </a:effectLst>
        </p:spPr>
      </p:sp>
      <p:pic>
        <p:nvPicPr>
          <p:cNvPr id="6" name="fl#55i" descr="preencoded.png"/>
          <p:cNvPicPr>
            <a:picLocks noChangeAspect="1"/>
          </p:cNvPicPr>
          <p:nvPr/>
        </p:nvPicPr>
        <p:blipFill>
          <a:blip r:embed="rId3"/>
          <a:stretch>
            <a:fillRect/>
          </a:stretch>
        </p:blipFill>
        <p:spPr>
          <a:xfrm>
            <a:off x="1572768" y="1874520"/>
            <a:ext cx="457200" cy="457200"/>
          </a:xfrm>
          <a:prstGeom prst="rect">
            <a:avLst/>
          </a:prstGeom>
        </p:spPr>
      </p:pic>
      <p:sp>
        <p:nvSpPr>
          <p:cNvPr id="7" name="fl#55t"/>
          <p:cNvSpPr txBox="1"/>
          <p:nvPr/>
        </p:nvSpPr>
        <p:spPr>
          <a:xfrm>
            <a:off x="640080" y="2377440"/>
            <a:ext cx="2331720" cy="868680"/>
          </a:xfrm>
          <a:prstGeom prst="rect">
            <a:avLst/>
          </a:prstGeom>
          <a:noFill/>
          <a:ln/>
        </p:spPr>
        <p:txBody>
          <a:bodyPr wrap="square" lIns="0" tIns="0" rIns="0" bIns="0" rtlCol="0" anchor="t"/>
          <a:lstStyle/>
          <a:p>
            <a:pPr marL="0" indent="0" algn="ctr">
              <a:buNone/>
            </a:pPr>
            <a:r>
              <a:rPr lang="en-US" sz="1600" b="1" dirty="0">
                <a:solidFill>
                  <a:schemeClr val="tx1"/>
                </a:solidFill>
              </a:rPr>
              <a:t>Appel SOAP</a:t>
            </a:r>
            <a:endParaRPr lang="en-US" sz="1400" dirty="0"/>
          </a:p>
          <a:p>
            <a:pPr marL="0" indent="0" algn="ctr">
              <a:buNone/>
            </a:pPr>
            <a:r>
              <a:rPr lang="en-US" sz="1300" dirty="0">
                <a:solidFill>
                  <a:schemeClr val="tx1"/>
                </a:solidFill>
              </a:rPr>
              <a:t>create ou update</a:t>
            </a:r>
            <a:endParaRPr lang="en-US" sz="1400" dirty="0"/>
          </a:p>
        </p:txBody>
      </p:sp>
      <p:sp>
        <p:nvSpPr>
          <p:cNvPr id="8" name="fl#55l"/>
          <p:cNvSpPr/>
          <p:nvPr/>
        </p:nvSpPr>
        <p:spPr>
          <a:xfrm>
            <a:off x="3063240" y="2537460"/>
            <a:ext cx="320040" cy="0"/>
          </a:xfrm>
          <a:prstGeom prst="line">
            <a:avLst/>
          </a:prstGeom>
          <a:noFill/>
          <a:ln w="25400">
            <a:solidFill>
              <a:srgbClr val="8B97AD"/>
            </a:solidFill>
            <a:prstDash val="solid"/>
            <a:tailEnd type="triangle"/>
          </a:ln>
        </p:spPr>
      </p:sp>
      <p:sp>
        <p:nvSpPr>
          <p:cNvPr id="9" name="fl#56"/>
          <p:cNvSpPr/>
          <p:nvPr/>
        </p:nvSpPr>
        <p:spPr>
          <a:xfrm>
            <a:off x="3383280" y="1737360"/>
            <a:ext cx="2514600" cy="1600200"/>
          </a:xfrm>
          <a:prstGeom prst="roundRect">
            <a:avLst>
              <a:gd name="adj" fmla="val 5714"/>
            </a:avLst>
          </a:prstGeom>
          <a:solidFill>
            <a:schemeClr val="accent3"/>
          </a:solidFill>
          <a:ln/>
          <a:effectLst>
            <a:outerShdw blurRad="127000" dist="38100" dir="5400000" algn="bl" rotWithShape="0">
              <a:srgbClr val="0D2340">
                <a:alpha val="12000"/>
              </a:srgbClr>
            </a:outerShdw>
          </a:effectLst>
        </p:spPr>
      </p:sp>
      <p:pic>
        <p:nvPicPr>
          <p:cNvPr id="10" name="fl#56i" descr="preencoded.png"/>
          <p:cNvPicPr>
            <a:picLocks noChangeAspect="1"/>
          </p:cNvPicPr>
          <p:nvPr/>
        </p:nvPicPr>
        <p:blipFill>
          <a:blip r:embed="rId4"/>
          <a:stretch>
            <a:fillRect/>
          </a:stretch>
        </p:blipFill>
        <p:spPr>
          <a:xfrm>
            <a:off x="4407408" y="1874520"/>
            <a:ext cx="457200" cy="457200"/>
          </a:xfrm>
          <a:prstGeom prst="rect">
            <a:avLst/>
          </a:prstGeom>
        </p:spPr>
      </p:pic>
      <p:sp>
        <p:nvSpPr>
          <p:cNvPr id="11" name="fl#56t"/>
          <p:cNvSpPr txBox="1"/>
          <p:nvPr/>
        </p:nvSpPr>
        <p:spPr>
          <a:xfrm>
            <a:off x="3474720" y="2377440"/>
            <a:ext cx="2331720" cy="868680"/>
          </a:xfrm>
          <a:prstGeom prst="rect">
            <a:avLst/>
          </a:prstGeom>
          <a:noFill/>
          <a:ln/>
        </p:spPr>
        <p:txBody>
          <a:bodyPr wrap="square" lIns="0" tIns="0" rIns="0" bIns="0" rtlCol="0" anchor="t"/>
          <a:lstStyle/>
          <a:p>
            <a:pPr marL="0" indent="0" algn="ctr">
              <a:buNone/>
            </a:pPr>
            <a:r>
              <a:rPr lang="en-US" sz="1600" b="1" dirty="0">
                <a:solidFill>
                  <a:schemeClr val="bg1"/>
                </a:solidFill>
              </a:rPr>
              <a:t>Transaction PostgreSQL</a:t>
            </a:r>
            <a:endParaRPr lang="en-US" sz="1400" dirty="0"/>
          </a:p>
          <a:p>
            <a:pPr marL="0" indent="0" algn="ctr">
              <a:buNone/>
            </a:pPr>
            <a:r>
              <a:rPr lang="en-US" sz="1300" dirty="0">
                <a:solidFill>
                  <a:schemeClr val="bg1"/>
                </a:solidFill>
              </a:rPr>
              <a:t>employee + outbox</a:t>
            </a:r>
            <a:endParaRPr lang="en-US" sz="1400" dirty="0"/>
          </a:p>
        </p:txBody>
      </p:sp>
      <p:sp>
        <p:nvSpPr>
          <p:cNvPr id="12" name="fl#56l"/>
          <p:cNvSpPr/>
          <p:nvPr/>
        </p:nvSpPr>
        <p:spPr>
          <a:xfrm>
            <a:off x="5897880" y="2537460"/>
            <a:ext cx="320040" cy="0"/>
          </a:xfrm>
          <a:prstGeom prst="line">
            <a:avLst/>
          </a:prstGeom>
          <a:noFill/>
          <a:ln w="25400">
            <a:solidFill>
              <a:srgbClr val="8B97AD"/>
            </a:solidFill>
            <a:prstDash val="solid"/>
            <a:tailEnd type="triangle"/>
          </a:ln>
        </p:spPr>
      </p:sp>
      <p:sp>
        <p:nvSpPr>
          <p:cNvPr id="13" name="fl#57"/>
          <p:cNvSpPr/>
          <p:nvPr/>
        </p:nvSpPr>
        <p:spPr>
          <a:xfrm>
            <a:off x="6217920" y="1737360"/>
            <a:ext cx="2514600" cy="1600200"/>
          </a:xfrm>
          <a:prstGeom prst="roundRect">
            <a:avLst>
              <a:gd name="adj" fmla="val 5714"/>
            </a:avLst>
          </a:prstGeom>
          <a:solidFill>
            <a:schemeClr val="bg2"/>
          </a:solidFill>
          <a:ln/>
          <a:effectLst>
            <a:outerShdw blurRad="127000" dist="38100" dir="5400000" algn="bl" rotWithShape="0">
              <a:srgbClr val="0D2340">
                <a:alpha val="12000"/>
              </a:srgbClr>
            </a:outerShdw>
          </a:effectLst>
        </p:spPr>
      </p:sp>
      <p:pic>
        <p:nvPicPr>
          <p:cNvPr id="14" name="fl#57i" descr="preencoded.png"/>
          <p:cNvPicPr>
            <a:picLocks noChangeAspect="1"/>
          </p:cNvPicPr>
          <p:nvPr/>
        </p:nvPicPr>
        <p:blipFill>
          <a:blip r:embed="rId5"/>
          <a:stretch>
            <a:fillRect/>
          </a:stretch>
        </p:blipFill>
        <p:spPr>
          <a:xfrm>
            <a:off x="7242048" y="1874520"/>
            <a:ext cx="457200" cy="457200"/>
          </a:xfrm>
          <a:prstGeom prst="rect">
            <a:avLst/>
          </a:prstGeom>
        </p:spPr>
      </p:pic>
      <p:sp>
        <p:nvSpPr>
          <p:cNvPr id="15" name="fl#57t"/>
          <p:cNvSpPr txBox="1"/>
          <p:nvPr/>
        </p:nvSpPr>
        <p:spPr>
          <a:xfrm>
            <a:off x="6309360" y="2377440"/>
            <a:ext cx="2331720" cy="868680"/>
          </a:xfrm>
          <a:prstGeom prst="rect">
            <a:avLst/>
          </a:prstGeom>
          <a:noFill/>
          <a:ln/>
        </p:spPr>
        <p:txBody>
          <a:bodyPr wrap="square" lIns="0" tIns="0" rIns="0" bIns="0" rtlCol="0" anchor="t"/>
          <a:lstStyle/>
          <a:p>
            <a:pPr marL="0" indent="0" algn="ctr">
              <a:buNone/>
            </a:pPr>
            <a:r>
              <a:rPr lang="en-US" sz="1600" b="1" dirty="0">
                <a:solidFill>
                  <a:schemeClr val="tx1"/>
                </a:solidFill>
              </a:rPr>
              <a:t>Job Pentaho retour</a:t>
            </a:r>
            <a:endParaRPr lang="en-US" sz="1400" dirty="0"/>
          </a:p>
          <a:p>
            <a:pPr marL="0" indent="0" algn="ctr">
              <a:buNone/>
            </a:pPr>
            <a:r>
              <a:rPr lang="en-US" sz="1300" dirty="0">
                <a:solidFill>
                  <a:schemeClr val="tx1"/>
                </a:solidFill>
              </a:rPr>
              <a:t>lit l'outbox</a:t>
            </a:r>
            <a:endParaRPr lang="en-US" sz="1400" dirty="0"/>
          </a:p>
        </p:txBody>
      </p:sp>
      <p:sp>
        <p:nvSpPr>
          <p:cNvPr id="16" name="fl#57l"/>
          <p:cNvSpPr/>
          <p:nvPr/>
        </p:nvSpPr>
        <p:spPr>
          <a:xfrm>
            <a:off x="8732520" y="2537460"/>
            <a:ext cx="320040" cy="0"/>
          </a:xfrm>
          <a:prstGeom prst="line">
            <a:avLst/>
          </a:prstGeom>
          <a:noFill/>
          <a:ln w="25400">
            <a:solidFill>
              <a:srgbClr val="8B97AD"/>
            </a:solidFill>
            <a:prstDash val="solid"/>
            <a:tailEnd type="triangle"/>
          </a:ln>
        </p:spPr>
      </p:sp>
      <p:sp>
        <p:nvSpPr>
          <p:cNvPr id="17" name="fl#58"/>
          <p:cNvSpPr/>
          <p:nvPr/>
        </p:nvSpPr>
        <p:spPr>
          <a:xfrm>
            <a:off x="9052560" y="1737360"/>
            <a:ext cx="2514600" cy="1600200"/>
          </a:xfrm>
          <a:prstGeom prst="roundRect">
            <a:avLst>
              <a:gd name="adj" fmla="val 5714"/>
            </a:avLst>
          </a:prstGeom>
          <a:solidFill>
            <a:schemeClr val="bg2"/>
          </a:solidFill>
          <a:ln/>
          <a:effectLst>
            <a:outerShdw blurRad="127000" dist="38100" dir="5400000" algn="bl" rotWithShape="0">
              <a:srgbClr val="0D2340">
                <a:alpha val="12000"/>
              </a:srgbClr>
            </a:outerShdw>
          </a:effectLst>
        </p:spPr>
      </p:sp>
      <p:pic>
        <p:nvPicPr>
          <p:cNvPr id="18" name="fl#58i" descr="preencoded.png"/>
          <p:cNvPicPr>
            <a:picLocks noChangeAspect="1"/>
          </p:cNvPicPr>
          <p:nvPr/>
        </p:nvPicPr>
        <p:blipFill>
          <a:blip r:embed="rId6"/>
          <a:stretch>
            <a:fillRect/>
          </a:stretch>
        </p:blipFill>
        <p:spPr>
          <a:xfrm>
            <a:off x="10076688" y="1874520"/>
            <a:ext cx="457200" cy="457200"/>
          </a:xfrm>
          <a:prstGeom prst="rect">
            <a:avLst/>
          </a:prstGeom>
        </p:spPr>
      </p:pic>
      <p:sp>
        <p:nvSpPr>
          <p:cNvPr id="19" name="fl#58t"/>
          <p:cNvSpPr txBox="1"/>
          <p:nvPr/>
        </p:nvSpPr>
        <p:spPr>
          <a:xfrm>
            <a:off x="9144000" y="2377440"/>
            <a:ext cx="2331720" cy="868680"/>
          </a:xfrm>
          <a:prstGeom prst="rect">
            <a:avLst/>
          </a:prstGeom>
          <a:noFill/>
          <a:ln/>
        </p:spPr>
        <p:txBody>
          <a:bodyPr wrap="square" lIns="0" tIns="0" rIns="0" bIns="0" rtlCol="0" anchor="t"/>
          <a:lstStyle/>
          <a:p>
            <a:pPr marL="0" indent="0" algn="ctr">
              <a:buNone/>
            </a:pPr>
            <a:r>
              <a:rPr lang="en-US" sz="1600" b="1" dirty="0">
                <a:solidFill>
                  <a:schemeClr val="tx1"/>
                </a:solidFill>
              </a:rPr>
              <a:t>MySQL à jour</a:t>
            </a:r>
            <a:endParaRPr lang="en-US" sz="1400" dirty="0"/>
          </a:p>
          <a:p>
            <a:pPr marL="0" indent="0" algn="ctr">
              <a:buNone/>
            </a:pPr>
            <a:r>
              <a:rPr lang="en-US" sz="1300" dirty="0">
                <a:solidFill>
                  <a:schemeClr val="tx1"/>
                </a:solidFill>
              </a:rPr>
              <a:t>même updated_at</a:t>
            </a:r>
            <a:endParaRPr lang="en-US" sz="1400" dirty="0"/>
          </a:p>
        </p:txBody>
      </p:sp>
      <p:sp>
        <p:nvSpPr>
          <p:cNvPr id="20" name="rule#59d"/>
          <p:cNvSpPr/>
          <p:nvPr/>
        </p:nvSpPr>
        <p:spPr>
          <a:xfrm>
            <a:off x="548640" y="3749040"/>
            <a:ext cx="685800" cy="685800"/>
          </a:xfrm>
          <a:prstGeom prst="ellipse">
            <a:avLst/>
          </a:prstGeom>
          <a:solidFill>
            <a:schemeClr val="accent2"/>
          </a:solidFill>
          <a:ln/>
        </p:spPr>
      </p:sp>
      <p:pic>
        <p:nvPicPr>
          <p:cNvPr id="21" name="rule#59di" descr="preencoded.png"/>
          <p:cNvPicPr>
            <a:picLocks noChangeAspect="1"/>
          </p:cNvPicPr>
          <p:nvPr/>
        </p:nvPicPr>
        <p:blipFill>
          <a:blip r:embed="rId7"/>
          <a:stretch>
            <a:fillRect/>
          </a:stretch>
        </p:blipFill>
        <p:spPr>
          <a:xfrm>
            <a:off x="733806" y="3934206"/>
            <a:ext cx="315468" cy="315468"/>
          </a:xfrm>
          <a:prstGeom prst="rect">
            <a:avLst/>
          </a:prstGeom>
        </p:spPr>
      </p:pic>
      <p:sp>
        <p:nvSpPr>
          <p:cNvPr id="22" name="rule#59h"/>
          <p:cNvSpPr txBox="1"/>
          <p:nvPr/>
        </p:nvSpPr>
        <p:spPr>
          <a:xfrm>
            <a:off x="1417320" y="3749040"/>
            <a:ext cx="4572000" cy="365760"/>
          </a:xfrm>
          <a:prstGeom prst="rect">
            <a:avLst/>
          </a:prstGeom>
          <a:noFill/>
          <a:ln/>
        </p:spPr>
        <p:txBody>
          <a:bodyPr wrap="square" lIns="0" tIns="0" rIns="0" bIns="0" rtlCol="0" anchor="t"/>
          <a:lstStyle/>
          <a:p>
            <a:pPr marL="0" indent="0">
              <a:buNone/>
            </a:pPr>
            <a:r>
              <a:rPr lang="en-US" sz="1600" b="1" dirty="0">
                <a:solidFill>
                  <a:schemeClr val="tx2"/>
                </a:solidFill>
              </a:rPr>
              <a:t>Aucune perte</a:t>
            </a:r>
            <a:endParaRPr lang="en-US" sz="1600" dirty="0"/>
          </a:p>
        </p:txBody>
      </p:sp>
      <p:sp>
        <p:nvSpPr>
          <p:cNvPr id="23" name="rule#59b"/>
          <p:cNvSpPr txBox="1"/>
          <p:nvPr/>
        </p:nvSpPr>
        <p:spPr>
          <a:xfrm>
            <a:off x="1417320" y="4114800"/>
            <a:ext cx="4572000" cy="640080"/>
          </a:xfrm>
          <a:prstGeom prst="rect">
            <a:avLst/>
          </a:prstGeom>
          <a:noFill/>
          <a:ln/>
        </p:spPr>
        <p:txBody>
          <a:bodyPr wrap="square" lIns="0" tIns="0" rIns="0" bIns="0" rtlCol="0" anchor="t"/>
          <a:lstStyle/>
          <a:p>
            <a:pPr marL="0" indent="0">
              <a:buNone/>
            </a:pPr>
            <a:r>
              <a:rPr lang="en-US" sz="1400" dirty="0">
                <a:solidFill>
                  <a:schemeClr val="tx1"/>
                </a:solidFill>
              </a:rPr>
              <a:t>L'outbox est écrite dans la même transaction que la modification.</a:t>
            </a:r>
            <a:endParaRPr lang="en-US" sz="1400" dirty="0"/>
          </a:p>
        </p:txBody>
      </p:sp>
      <p:sp>
        <p:nvSpPr>
          <p:cNvPr id="24" name="rule#60d"/>
          <p:cNvSpPr/>
          <p:nvPr/>
        </p:nvSpPr>
        <p:spPr>
          <a:xfrm>
            <a:off x="6217920" y="3749040"/>
            <a:ext cx="685800" cy="685800"/>
          </a:xfrm>
          <a:prstGeom prst="ellipse">
            <a:avLst/>
          </a:prstGeom>
          <a:solidFill>
            <a:schemeClr val="accent2"/>
          </a:solidFill>
          <a:ln/>
        </p:spPr>
      </p:sp>
      <p:pic>
        <p:nvPicPr>
          <p:cNvPr id="25" name="rule#60di" descr="preencoded.png"/>
          <p:cNvPicPr>
            <a:picLocks noChangeAspect="1"/>
          </p:cNvPicPr>
          <p:nvPr/>
        </p:nvPicPr>
        <p:blipFill>
          <a:blip r:embed="rId8"/>
          <a:stretch>
            <a:fillRect/>
          </a:stretch>
        </p:blipFill>
        <p:spPr>
          <a:xfrm>
            <a:off x="6403086" y="3934206"/>
            <a:ext cx="315468" cy="315468"/>
          </a:xfrm>
          <a:prstGeom prst="rect">
            <a:avLst/>
          </a:prstGeom>
        </p:spPr>
      </p:pic>
      <p:sp>
        <p:nvSpPr>
          <p:cNvPr id="26" name="rule#60h"/>
          <p:cNvSpPr txBox="1"/>
          <p:nvPr/>
        </p:nvSpPr>
        <p:spPr>
          <a:xfrm>
            <a:off x="7086600" y="3749040"/>
            <a:ext cx="4572000" cy="365760"/>
          </a:xfrm>
          <a:prstGeom prst="rect">
            <a:avLst/>
          </a:prstGeom>
          <a:noFill/>
          <a:ln/>
        </p:spPr>
        <p:txBody>
          <a:bodyPr wrap="square" lIns="0" tIns="0" rIns="0" bIns="0" rtlCol="0" anchor="t"/>
          <a:lstStyle/>
          <a:p>
            <a:pPr marL="0" indent="0">
              <a:buNone/>
            </a:pPr>
            <a:r>
              <a:rPr lang="en-US" sz="1600" b="1" dirty="0">
                <a:solidFill>
                  <a:schemeClr val="tx2"/>
                </a:solidFill>
              </a:rPr>
              <a:t>Aucune boucle</a:t>
            </a:r>
            <a:endParaRPr lang="en-US" sz="1600" dirty="0"/>
          </a:p>
        </p:txBody>
      </p:sp>
      <p:sp>
        <p:nvSpPr>
          <p:cNvPr id="27" name="rule#60b"/>
          <p:cNvSpPr txBox="1"/>
          <p:nvPr/>
        </p:nvSpPr>
        <p:spPr>
          <a:xfrm>
            <a:off x="7086600" y="4114800"/>
            <a:ext cx="4572000" cy="640080"/>
          </a:xfrm>
          <a:prstGeom prst="rect">
            <a:avLst/>
          </a:prstGeom>
          <a:noFill/>
          <a:ln/>
        </p:spPr>
        <p:txBody>
          <a:bodyPr wrap="square" lIns="0" tIns="0" rIns="0" bIns="0" rtlCol="0" anchor="t"/>
          <a:lstStyle/>
          <a:p>
            <a:pPr marL="0" indent="0">
              <a:buNone/>
            </a:pPr>
            <a:r>
              <a:rPr lang="en-US" sz="1400" dirty="0">
                <a:solidFill>
                  <a:schemeClr val="tx1"/>
                </a:solidFill>
              </a:rPr>
              <a:t>MySQL reçoit le même updated_at : rien n'est réécrit au tour suivant.</a:t>
            </a:r>
            <a:endParaRPr lang="en-US" sz="1400" dirty="0"/>
          </a:p>
        </p:txBody>
      </p:sp>
      <p:sp>
        <p:nvSpPr>
          <p:cNvPr id="28" name="rule#61d"/>
          <p:cNvSpPr/>
          <p:nvPr/>
        </p:nvSpPr>
        <p:spPr>
          <a:xfrm>
            <a:off x="548640" y="4983480"/>
            <a:ext cx="685800" cy="685800"/>
          </a:xfrm>
          <a:prstGeom prst="ellipse">
            <a:avLst/>
          </a:prstGeom>
          <a:solidFill>
            <a:schemeClr val="accent2"/>
          </a:solidFill>
          <a:ln/>
        </p:spPr>
      </p:sp>
      <p:pic>
        <p:nvPicPr>
          <p:cNvPr id="29" name="rule#61di" descr="preencoded.png"/>
          <p:cNvPicPr>
            <a:picLocks noChangeAspect="1"/>
          </p:cNvPicPr>
          <p:nvPr/>
        </p:nvPicPr>
        <p:blipFill>
          <a:blip r:embed="rId9"/>
          <a:stretch>
            <a:fillRect/>
          </a:stretch>
        </p:blipFill>
        <p:spPr>
          <a:xfrm>
            <a:off x="733806" y="5168646"/>
            <a:ext cx="315468" cy="315468"/>
          </a:xfrm>
          <a:prstGeom prst="rect">
            <a:avLst/>
          </a:prstGeom>
        </p:spPr>
      </p:pic>
      <p:sp>
        <p:nvSpPr>
          <p:cNvPr id="30" name="rule#61h"/>
          <p:cNvSpPr txBox="1"/>
          <p:nvPr/>
        </p:nvSpPr>
        <p:spPr>
          <a:xfrm>
            <a:off x="1417320" y="4983480"/>
            <a:ext cx="4572000" cy="365760"/>
          </a:xfrm>
          <a:prstGeom prst="rect">
            <a:avLst/>
          </a:prstGeom>
          <a:noFill/>
          <a:ln/>
        </p:spPr>
        <p:txBody>
          <a:bodyPr wrap="square" lIns="0" tIns="0" rIns="0" bIns="0" rtlCol="0" anchor="t"/>
          <a:lstStyle/>
          <a:p>
            <a:pPr marL="0" indent="0">
              <a:buNone/>
            </a:pPr>
            <a:r>
              <a:rPr lang="en-US" sz="1600" b="1" dirty="0">
                <a:solidFill>
                  <a:schemeClr val="tx2"/>
                </a:solidFill>
              </a:rPr>
              <a:t>Conflits</a:t>
            </a:r>
            <a:endParaRPr lang="en-US" sz="1600" dirty="0"/>
          </a:p>
        </p:txBody>
      </p:sp>
      <p:sp>
        <p:nvSpPr>
          <p:cNvPr id="31" name="rule#61b"/>
          <p:cNvSpPr txBox="1"/>
          <p:nvPr/>
        </p:nvSpPr>
        <p:spPr>
          <a:xfrm>
            <a:off x="1417320" y="5349240"/>
            <a:ext cx="4572000" cy="640080"/>
          </a:xfrm>
          <a:prstGeom prst="rect">
            <a:avLst/>
          </a:prstGeom>
          <a:noFill/>
          <a:ln/>
        </p:spPr>
        <p:txBody>
          <a:bodyPr wrap="square" lIns="0" tIns="0" rIns="0" bIns="0" rtlCol="0" anchor="t"/>
          <a:lstStyle/>
          <a:p>
            <a:pPr marL="0" indent="0">
              <a:buNone/>
            </a:pPr>
            <a:r>
              <a:rPr lang="en-US" sz="1400" dirty="0">
                <a:solidFill>
                  <a:schemeClr val="tx1"/>
                </a:solidFill>
              </a:rPr>
              <a:t>La modification la plus récente gagne.</a:t>
            </a:r>
            <a:endParaRPr lang="en-US" sz="1400" dirty="0"/>
          </a:p>
        </p:txBody>
      </p:sp>
      <p:sp>
        <p:nvSpPr>
          <p:cNvPr id="32" name="rule#62d"/>
          <p:cNvSpPr/>
          <p:nvPr/>
        </p:nvSpPr>
        <p:spPr>
          <a:xfrm>
            <a:off x="6217920" y="4983480"/>
            <a:ext cx="685800" cy="685800"/>
          </a:xfrm>
          <a:prstGeom prst="ellipse">
            <a:avLst/>
          </a:prstGeom>
          <a:solidFill>
            <a:schemeClr val="accent2"/>
          </a:solidFill>
          <a:ln/>
        </p:spPr>
      </p:sp>
      <p:pic>
        <p:nvPicPr>
          <p:cNvPr id="33" name="rule#62di" descr="preencoded.png"/>
          <p:cNvPicPr>
            <a:picLocks noChangeAspect="1"/>
          </p:cNvPicPr>
          <p:nvPr/>
        </p:nvPicPr>
        <p:blipFill>
          <a:blip r:embed="rId10"/>
          <a:stretch>
            <a:fillRect/>
          </a:stretch>
        </p:blipFill>
        <p:spPr>
          <a:xfrm>
            <a:off x="6403086" y="5168646"/>
            <a:ext cx="315468" cy="315468"/>
          </a:xfrm>
          <a:prstGeom prst="rect">
            <a:avLst/>
          </a:prstGeom>
        </p:spPr>
      </p:pic>
      <p:sp>
        <p:nvSpPr>
          <p:cNvPr id="34" name="rule#62h"/>
          <p:cNvSpPr txBox="1"/>
          <p:nvPr/>
        </p:nvSpPr>
        <p:spPr>
          <a:xfrm>
            <a:off x="7086600" y="4983480"/>
            <a:ext cx="4572000" cy="365760"/>
          </a:xfrm>
          <a:prstGeom prst="rect">
            <a:avLst/>
          </a:prstGeom>
          <a:noFill/>
          <a:ln/>
        </p:spPr>
        <p:txBody>
          <a:bodyPr wrap="square" lIns="0" tIns="0" rIns="0" bIns="0" rtlCol="0" anchor="t"/>
          <a:lstStyle/>
          <a:p>
            <a:pPr marL="0" indent="0">
              <a:buNone/>
            </a:pPr>
            <a:r>
              <a:rPr lang="en-US" sz="1600" b="1" dirty="0">
                <a:solidFill>
                  <a:schemeClr val="tx2"/>
                </a:solidFill>
              </a:rPr>
              <a:t>Reprise</a:t>
            </a:r>
            <a:endParaRPr lang="en-US" sz="1600" dirty="0"/>
          </a:p>
        </p:txBody>
      </p:sp>
      <p:sp>
        <p:nvSpPr>
          <p:cNvPr id="35" name="rule#62b"/>
          <p:cNvSpPr txBox="1"/>
          <p:nvPr/>
        </p:nvSpPr>
        <p:spPr>
          <a:xfrm>
            <a:off x="7086600" y="5349240"/>
            <a:ext cx="4572000" cy="640080"/>
          </a:xfrm>
          <a:prstGeom prst="rect">
            <a:avLst/>
          </a:prstGeom>
          <a:noFill/>
          <a:ln/>
        </p:spPr>
        <p:txBody>
          <a:bodyPr wrap="square" lIns="0" tIns="0" rIns="0" bIns="0" rtlCol="0" anchor="t"/>
          <a:lstStyle/>
          <a:p>
            <a:pPr marL="0" indent="0">
              <a:buNone/>
            </a:pPr>
            <a:r>
              <a:rPr lang="en-US" sz="1400" dirty="0">
                <a:solidFill>
                  <a:schemeClr val="tx1"/>
                </a:solidFill>
              </a:rPr>
              <a:t>Une ligne n'est marquée traitée qu'après l'écriture dans MySQL.</a:t>
            </a:r>
            <a:endParaRPr lang="en-US" sz="1400" dirty="0"/>
          </a:p>
        </p:txBody>
      </p:sp>
      <p:sp>
        <p:nvSpPr>
          <p:cNvPr id="36"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14</a:t>
            </a:fld>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anim calcmode="lin" valueType="num">
                                      <p:cBhvr additive="base">
                                        <p:cTn id="8" dur="500" fill="hold"/>
                                        <p:tgtEl>
                                          <p:spTgt spid="5"/>
                                        </p:tgtEl>
                                        <p:attrNameLst>
                                          <p:attrName>ppt_x</p:attrName>
                                        </p:attrNameLst>
                                      </p:cBhvr>
                                      <p:tavLst>
                                        <p:tav tm="0">
                                          <p:val>
                                            <p:strVal val="#ppt_x"/>
                                          </p:val>
                                        </p:tav>
                                        <p:tav tm="100000">
                                          <p:val>
                                            <p:strVal val="#ppt_x"/>
                                          </p:val>
                                        </p:tav>
                                      </p:tavLst>
                                    </p:anim>
                                    <p:anim calcmode="lin" valueType="num">
                                      <p:cBhvr additive="base">
                                        <p:cTn id="9" dur="5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anim calcmode="lin" valueType="num">
                                      <p:cBhvr additive="base">
                                        <p:cTn id="18" dur="500" fill="hold"/>
                                        <p:tgtEl>
                                          <p:spTgt spid="7"/>
                                        </p:tgtEl>
                                        <p:attrNameLst>
                                          <p:attrName>ppt_x</p:attrName>
                                        </p:attrNameLst>
                                      </p:cBhvr>
                                      <p:tavLst>
                                        <p:tav tm="0">
                                          <p:val>
                                            <p:strVal val="#ppt_x"/>
                                          </p:val>
                                        </p:tav>
                                        <p:tav tm="100000">
                                          <p:val>
                                            <p:strVal val="#ppt_x"/>
                                          </p:val>
                                        </p:tav>
                                      </p:tavLst>
                                    </p:anim>
                                    <p:anim calcmode="lin" valueType="num">
                                      <p:cBhvr additive="base">
                                        <p:cTn id="19" dur="500" fill="hold"/>
                                        <p:tgtEl>
                                          <p:spTgt spid="7"/>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22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anim calcmode="lin" valueType="num">
                                      <p:cBhvr additive="base">
                                        <p:cTn id="28" dur="500" fill="hold"/>
                                        <p:tgtEl>
                                          <p:spTgt spid="9"/>
                                        </p:tgtEl>
                                        <p:attrNameLst>
                                          <p:attrName>ppt_x</p:attrName>
                                        </p:attrNameLst>
                                      </p:cBhvr>
                                      <p:tavLst>
                                        <p:tav tm="0">
                                          <p:val>
                                            <p:strVal val="#ppt_x"/>
                                          </p:val>
                                        </p:tav>
                                        <p:tav tm="100000">
                                          <p:val>
                                            <p:strVal val="#ppt_x"/>
                                          </p:val>
                                        </p:tav>
                                      </p:tavLst>
                                    </p:anim>
                                    <p:anim calcmode="lin" valueType="num">
                                      <p:cBhvr additive="base">
                                        <p:cTn id="29" dur="500" fill="hold"/>
                                        <p:tgtEl>
                                          <p:spTgt spid="9"/>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22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anim calcmode="lin" valueType="num">
                                      <p:cBhvr additive="base">
                                        <p:cTn id="33" dur="500" fill="hold"/>
                                        <p:tgtEl>
                                          <p:spTgt spid="10"/>
                                        </p:tgtEl>
                                        <p:attrNameLst>
                                          <p:attrName>ppt_x</p:attrName>
                                        </p:attrNameLst>
                                      </p:cBhvr>
                                      <p:tavLst>
                                        <p:tav tm="0">
                                          <p:val>
                                            <p:strVal val="#ppt_x"/>
                                          </p:val>
                                        </p:tav>
                                        <p:tav tm="100000">
                                          <p:val>
                                            <p:strVal val="#ppt_x"/>
                                          </p:val>
                                        </p:tav>
                                      </p:tavLst>
                                    </p:anim>
                                    <p:anim calcmode="lin" valueType="num">
                                      <p:cBhvr additive="base">
                                        <p:cTn id="34" dur="500" fill="hold"/>
                                        <p:tgtEl>
                                          <p:spTgt spid="10"/>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22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anim calcmode="lin" valueType="num">
                                      <p:cBhvr additive="base">
                                        <p:cTn id="38" dur="500" fill="hold"/>
                                        <p:tgtEl>
                                          <p:spTgt spid="11"/>
                                        </p:tgtEl>
                                        <p:attrNameLst>
                                          <p:attrName>ppt_x</p:attrName>
                                        </p:attrNameLst>
                                      </p:cBhvr>
                                      <p:tavLst>
                                        <p:tav tm="0">
                                          <p:val>
                                            <p:strVal val="#ppt_x"/>
                                          </p:val>
                                        </p:tav>
                                        <p:tav tm="100000">
                                          <p:val>
                                            <p:strVal val="#ppt_x"/>
                                          </p:val>
                                        </p:tav>
                                      </p:tavLst>
                                    </p:anim>
                                    <p:anim calcmode="lin" valueType="num">
                                      <p:cBhvr additive="base">
                                        <p:cTn id="39" dur="500" fill="hold"/>
                                        <p:tgtEl>
                                          <p:spTgt spid="11"/>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22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00"/>
                                        <p:tgtEl>
                                          <p:spTgt spid="12"/>
                                        </p:tgtEl>
                                      </p:cBhvr>
                                    </p:animEffect>
                                    <p:anim calcmode="lin" valueType="num">
                                      <p:cBhvr additive="base">
                                        <p:cTn id="43" dur="500" fill="hold"/>
                                        <p:tgtEl>
                                          <p:spTgt spid="12"/>
                                        </p:tgtEl>
                                        <p:attrNameLst>
                                          <p:attrName>ppt_x</p:attrName>
                                        </p:attrNameLst>
                                      </p:cBhvr>
                                      <p:tavLst>
                                        <p:tav tm="0">
                                          <p:val>
                                            <p:strVal val="#ppt_x"/>
                                          </p:val>
                                        </p:tav>
                                        <p:tav tm="100000">
                                          <p:val>
                                            <p:strVal val="#ppt_x"/>
                                          </p:val>
                                        </p:tav>
                                      </p:tavLst>
                                    </p:anim>
                                    <p:anim calcmode="lin" valueType="num">
                                      <p:cBhvr additive="base">
                                        <p:cTn id="44" dur="500" fill="hold"/>
                                        <p:tgtEl>
                                          <p:spTgt spid="12"/>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44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anim calcmode="lin" valueType="num">
                                      <p:cBhvr additive="base">
                                        <p:cTn id="48" dur="500" fill="hold"/>
                                        <p:tgtEl>
                                          <p:spTgt spid="13"/>
                                        </p:tgtEl>
                                        <p:attrNameLst>
                                          <p:attrName>ppt_x</p:attrName>
                                        </p:attrNameLst>
                                      </p:cBhvr>
                                      <p:tavLst>
                                        <p:tav tm="0">
                                          <p:val>
                                            <p:strVal val="#ppt_x"/>
                                          </p:val>
                                        </p:tav>
                                        <p:tav tm="100000">
                                          <p:val>
                                            <p:strVal val="#ppt_x"/>
                                          </p:val>
                                        </p:tav>
                                      </p:tavLst>
                                    </p:anim>
                                    <p:anim calcmode="lin" valueType="num">
                                      <p:cBhvr additive="base">
                                        <p:cTn id="49" dur="500" fill="hold"/>
                                        <p:tgtEl>
                                          <p:spTgt spid="13"/>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44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500"/>
                                        <p:tgtEl>
                                          <p:spTgt spid="14"/>
                                        </p:tgtEl>
                                      </p:cBhvr>
                                    </p:animEffect>
                                    <p:anim calcmode="lin" valueType="num">
                                      <p:cBhvr additive="base">
                                        <p:cTn id="53" dur="500" fill="hold"/>
                                        <p:tgtEl>
                                          <p:spTgt spid="14"/>
                                        </p:tgtEl>
                                        <p:attrNameLst>
                                          <p:attrName>ppt_x</p:attrName>
                                        </p:attrNameLst>
                                      </p:cBhvr>
                                      <p:tavLst>
                                        <p:tav tm="0">
                                          <p:val>
                                            <p:strVal val="#ppt_x"/>
                                          </p:val>
                                        </p:tav>
                                        <p:tav tm="100000">
                                          <p:val>
                                            <p:strVal val="#ppt_x"/>
                                          </p:val>
                                        </p:tav>
                                      </p:tavLst>
                                    </p:anim>
                                    <p:anim calcmode="lin" valueType="num">
                                      <p:cBhvr additive="base">
                                        <p:cTn id="54" dur="500" fill="hold"/>
                                        <p:tgtEl>
                                          <p:spTgt spid="14"/>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44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500"/>
                                        <p:tgtEl>
                                          <p:spTgt spid="15"/>
                                        </p:tgtEl>
                                      </p:cBhvr>
                                    </p:animEffect>
                                    <p:anim calcmode="lin" valueType="num">
                                      <p:cBhvr additive="base">
                                        <p:cTn id="58" dur="500" fill="hold"/>
                                        <p:tgtEl>
                                          <p:spTgt spid="15"/>
                                        </p:tgtEl>
                                        <p:attrNameLst>
                                          <p:attrName>ppt_x</p:attrName>
                                        </p:attrNameLst>
                                      </p:cBhvr>
                                      <p:tavLst>
                                        <p:tav tm="0">
                                          <p:val>
                                            <p:strVal val="#ppt_x"/>
                                          </p:val>
                                        </p:tav>
                                        <p:tav tm="100000">
                                          <p:val>
                                            <p:strVal val="#ppt_x"/>
                                          </p:val>
                                        </p:tav>
                                      </p:tavLst>
                                    </p:anim>
                                    <p:anim calcmode="lin" valueType="num">
                                      <p:cBhvr additive="base">
                                        <p:cTn id="59" dur="500" fill="hold"/>
                                        <p:tgtEl>
                                          <p:spTgt spid="15"/>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44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500"/>
                                        <p:tgtEl>
                                          <p:spTgt spid="16"/>
                                        </p:tgtEl>
                                      </p:cBhvr>
                                    </p:animEffect>
                                    <p:anim calcmode="lin" valueType="num">
                                      <p:cBhvr additive="base">
                                        <p:cTn id="63" dur="500" fill="hold"/>
                                        <p:tgtEl>
                                          <p:spTgt spid="16"/>
                                        </p:tgtEl>
                                        <p:attrNameLst>
                                          <p:attrName>ppt_x</p:attrName>
                                        </p:attrNameLst>
                                      </p:cBhvr>
                                      <p:tavLst>
                                        <p:tav tm="0">
                                          <p:val>
                                            <p:strVal val="#ppt_x"/>
                                          </p:val>
                                        </p:tav>
                                        <p:tav tm="100000">
                                          <p:val>
                                            <p:strVal val="#ppt_x"/>
                                          </p:val>
                                        </p:tav>
                                      </p:tavLst>
                                    </p:anim>
                                    <p:anim calcmode="lin" valueType="num">
                                      <p:cBhvr additive="base">
                                        <p:cTn id="64" dur="500" fill="hold"/>
                                        <p:tgtEl>
                                          <p:spTgt spid="16"/>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66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500"/>
                                        <p:tgtEl>
                                          <p:spTgt spid="17"/>
                                        </p:tgtEl>
                                      </p:cBhvr>
                                    </p:animEffect>
                                    <p:anim calcmode="lin" valueType="num">
                                      <p:cBhvr additive="base">
                                        <p:cTn id="68" dur="500" fill="hold"/>
                                        <p:tgtEl>
                                          <p:spTgt spid="17"/>
                                        </p:tgtEl>
                                        <p:attrNameLst>
                                          <p:attrName>ppt_x</p:attrName>
                                        </p:attrNameLst>
                                      </p:cBhvr>
                                      <p:tavLst>
                                        <p:tav tm="0">
                                          <p:val>
                                            <p:strVal val="#ppt_x"/>
                                          </p:val>
                                        </p:tav>
                                        <p:tav tm="100000">
                                          <p:val>
                                            <p:strVal val="#ppt_x"/>
                                          </p:val>
                                        </p:tav>
                                      </p:tavLst>
                                    </p:anim>
                                    <p:anim calcmode="lin" valueType="num">
                                      <p:cBhvr additive="base">
                                        <p:cTn id="69" dur="500" fill="hold"/>
                                        <p:tgtEl>
                                          <p:spTgt spid="17"/>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660"/>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500"/>
                                        <p:tgtEl>
                                          <p:spTgt spid="18"/>
                                        </p:tgtEl>
                                      </p:cBhvr>
                                    </p:animEffect>
                                    <p:anim calcmode="lin" valueType="num">
                                      <p:cBhvr additive="base">
                                        <p:cTn id="73" dur="500" fill="hold"/>
                                        <p:tgtEl>
                                          <p:spTgt spid="18"/>
                                        </p:tgtEl>
                                        <p:attrNameLst>
                                          <p:attrName>ppt_x</p:attrName>
                                        </p:attrNameLst>
                                      </p:cBhvr>
                                      <p:tavLst>
                                        <p:tav tm="0">
                                          <p:val>
                                            <p:strVal val="#ppt_x"/>
                                          </p:val>
                                        </p:tav>
                                        <p:tav tm="100000">
                                          <p:val>
                                            <p:strVal val="#ppt_x"/>
                                          </p:val>
                                        </p:tav>
                                      </p:tavLst>
                                    </p:anim>
                                    <p:anim calcmode="lin" valueType="num">
                                      <p:cBhvr additive="base">
                                        <p:cTn id="74" dur="500" fill="hold"/>
                                        <p:tgtEl>
                                          <p:spTgt spid="18"/>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660"/>
                                  </p:stCondLst>
                                  <p:childTnLst>
                                    <p:set>
                                      <p:cBhvr>
                                        <p:cTn id="76" dur="1" fill="hold">
                                          <p:stCondLst>
                                            <p:cond delay="0"/>
                                          </p:stCondLst>
                                        </p:cTn>
                                        <p:tgtEl>
                                          <p:spTgt spid="19"/>
                                        </p:tgtEl>
                                        <p:attrNameLst>
                                          <p:attrName>style.visibility</p:attrName>
                                        </p:attrNameLst>
                                      </p:cBhvr>
                                      <p:to>
                                        <p:strVal val="visible"/>
                                      </p:to>
                                    </p:set>
                                    <p:animEffect transition="in" filter="fade">
                                      <p:cBhvr>
                                        <p:cTn id="77" dur="500"/>
                                        <p:tgtEl>
                                          <p:spTgt spid="19"/>
                                        </p:tgtEl>
                                      </p:cBhvr>
                                    </p:animEffect>
                                    <p:anim calcmode="lin" valueType="num">
                                      <p:cBhvr additive="base">
                                        <p:cTn id="78" dur="500" fill="hold"/>
                                        <p:tgtEl>
                                          <p:spTgt spid="19"/>
                                        </p:tgtEl>
                                        <p:attrNameLst>
                                          <p:attrName>ppt_x</p:attrName>
                                        </p:attrNameLst>
                                      </p:cBhvr>
                                      <p:tavLst>
                                        <p:tav tm="0">
                                          <p:val>
                                            <p:strVal val="#ppt_x"/>
                                          </p:val>
                                        </p:tav>
                                        <p:tav tm="100000">
                                          <p:val>
                                            <p:strVal val="#ppt_x"/>
                                          </p:val>
                                        </p:tav>
                                      </p:tavLst>
                                    </p:anim>
                                    <p:anim calcmode="lin" valueType="num">
                                      <p:cBhvr additive="base">
                                        <p:cTn id="79" dur="500" fill="hold"/>
                                        <p:tgtEl>
                                          <p:spTgt spid="19"/>
                                        </p:tgtEl>
                                        <p:attrNameLst>
                                          <p:attrName>ppt_y</p:attrName>
                                        </p:attrNameLst>
                                      </p:cBhvr>
                                      <p:tavLst>
                                        <p:tav tm="0">
                                          <p:val>
                                            <p:strVal val="#ppt_y+.1"/>
                                          </p:val>
                                        </p:tav>
                                        <p:tav tm="100000">
                                          <p:val>
                                            <p:strVal val="#ppt_y"/>
                                          </p:val>
                                        </p:tav>
                                      </p:tavLst>
                                    </p:anim>
                                  </p:childTnLst>
                                </p:cTn>
                              </p:par>
                              <p:par>
                                <p:cTn id="80" presetID="10" presetClass="entr" presetSubtype="0" fill="hold" grpId="0" nodeType="withEffect">
                                  <p:stCondLst>
                                    <p:cond delay="880"/>
                                  </p:stCondLst>
                                  <p:childTnLst>
                                    <p:set>
                                      <p:cBhvr>
                                        <p:cTn id="81" dur="1" fill="hold">
                                          <p:stCondLst>
                                            <p:cond delay="0"/>
                                          </p:stCondLst>
                                        </p:cTn>
                                        <p:tgtEl>
                                          <p:spTgt spid="20"/>
                                        </p:tgtEl>
                                        <p:attrNameLst>
                                          <p:attrName>style.visibility</p:attrName>
                                        </p:attrNameLst>
                                      </p:cBhvr>
                                      <p:to>
                                        <p:strVal val="visible"/>
                                      </p:to>
                                    </p:set>
                                    <p:animEffect transition="in" filter="fade">
                                      <p:cBhvr>
                                        <p:cTn id="82" dur="500"/>
                                        <p:tgtEl>
                                          <p:spTgt spid="20"/>
                                        </p:tgtEl>
                                      </p:cBhvr>
                                    </p:animEffect>
                                  </p:childTnLst>
                                </p:cTn>
                              </p:par>
                              <p:par>
                                <p:cTn id="83" presetID="10" presetClass="entr" presetSubtype="0" fill="hold" nodeType="withEffect">
                                  <p:stCondLst>
                                    <p:cond delay="880"/>
                                  </p:stCondLst>
                                  <p:childTnLst>
                                    <p:set>
                                      <p:cBhvr>
                                        <p:cTn id="84" dur="1" fill="hold">
                                          <p:stCondLst>
                                            <p:cond delay="0"/>
                                          </p:stCondLst>
                                        </p:cTn>
                                        <p:tgtEl>
                                          <p:spTgt spid="21"/>
                                        </p:tgtEl>
                                        <p:attrNameLst>
                                          <p:attrName>style.visibility</p:attrName>
                                        </p:attrNameLst>
                                      </p:cBhvr>
                                      <p:to>
                                        <p:strVal val="visible"/>
                                      </p:to>
                                    </p:set>
                                    <p:animEffect transition="in" filter="fade">
                                      <p:cBhvr>
                                        <p:cTn id="85" dur="500"/>
                                        <p:tgtEl>
                                          <p:spTgt spid="21"/>
                                        </p:tgtEl>
                                      </p:cBhvr>
                                    </p:animEffect>
                                  </p:childTnLst>
                                </p:cTn>
                              </p:par>
                              <p:par>
                                <p:cTn id="86" presetID="10" presetClass="entr" presetSubtype="0" fill="hold" grpId="0" nodeType="withEffect">
                                  <p:stCondLst>
                                    <p:cond delay="880"/>
                                  </p:stCondLst>
                                  <p:childTnLst>
                                    <p:set>
                                      <p:cBhvr>
                                        <p:cTn id="87" dur="1" fill="hold">
                                          <p:stCondLst>
                                            <p:cond delay="0"/>
                                          </p:stCondLst>
                                        </p:cTn>
                                        <p:tgtEl>
                                          <p:spTgt spid="22"/>
                                        </p:tgtEl>
                                        <p:attrNameLst>
                                          <p:attrName>style.visibility</p:attrName>
                                        </p:attrNameLst>
                                      </p:cBhvr>
                                      <p:to>
                                        <p:strVal val="visible"/>
                                      </p:to>
                                    </p:set>
                                    <p:animEffect transition="in" filter="fade">
                                      <p:cBhvr>
                                        <p:cTn id="88" dur="500"/>
                                        <p:tgtEl>
                                          <p:spTgt spid="22"/>
                                        </p:tgtEl>
                                      </p:cBhvr>
                                    </p:animEffect>
                                  </p:childTnLst>
                                </p:cTn>
                              </p:par>
                              <p:par>
                                <p:cTn id="89" presetID="10" presetClass="entr" presetSubtype="0" fill="hold" grpId="0" nodeType="withEffect">
                                  <p:stCondLst>
                                    <p:cond delay="880"/>
                                  </p:stCondLst>
                                  <p:childTnLst>
                                    <p:set>
                                      <p:cBhvr>
                                        <p:cTn id="90" dur="1" fill="hold">
                                          <p:stCondLst>
                                            <p:cond delay="0"/>
                                          </p:stCondLst>
                                        </p:cTn>
                                        <p:tgtEl>
                                          <p:spTgt spid="23"/>
                                        </p:tgtEl>
                                        <p:attrNameLst>
                                          <p:attrName>style.visibility</p:attrName>
                                        </p:attrNameLst>
                                      </p:cBhvr>
                                      <p:to>
                                        <p:strVal val="visible"/>
                                      </p:to>
                                    </p:set>
                                    <p:animEffect transition="in" filter="fade">
                                      <p:cBhvr>
                                        <p:cTn id="91" dur="500"/>
                                        <p:tgtEl>
                                          <p:spTgt spid="23"/>
                                        </p:tgtEl>
                                      </p:cBhvr>
                                    </p:animEffect>
                                  </p:childTnLst>
                                </p:cTn>
                              </p:par>
                              <p:par>
                                <p:cTn id="92" presetID="10" presetClass="entr" presetSubtype="0" fill="hold" grpId="0" nodeType="withEffect">
                                  <p:stCondLst>
                                    <p:cond delay="1100"/>
                                  </p:stCondLst>
                                  <p:childTnLst>
                                    <p:set>
                                      <p:cBhvr>
                                        <p:cTn id="93" dur="1" fill="hold">
                                          <p:stCondLst>
                                            <p:cond delay="0"/>
                                          </p:stCondLst>
                                        </p:cTn>
                                        <p:tgtEl>
                                          <p:spTgt spid="24"/>
                                        </p:tgtEl>
                                        <p:attrNameLst>
                                          <p:attrName>style.visibility</p:attrName>
                                        </p:attrNameLst>
                                      </p:cBhvr>
                                      <p:to>
                                        <p:strVal val="visible"/>
                                      </p:to>
                                    </p:set>
                                    <p:animEffect transition="in" filter="fade">
                                      <p:cBhvr>
                                        <p:cTn id="94" dur="500"/>
                                        <p:tgtEl>
                                          <p:spTgt spid="24"/>
                                        </p:tgtEl>
                                      </p:cBhvr>
                                    </p:animEffect>
                                  </p:childTnLst>
                                </p:cTn>
                              </p:par>
                              <p:par>
                                <p:cTn id="95" presetID="10" presetClass="entr" presetSubtype="0" fill="hold" nodeType="withEffect">
                                  <p:stCondLst>
                                    <p:cond delay="1100"/>
                                  </p:stCondLst>
                                  <p:childTnLst>
                                    <p:set>
                                      <p:cBhvr>
                                        <p:cTn id="96" dur="1" fill="hold">
                                          <p:stCondLst>
                                            <p:cond delay="0"/>
                                          </p:stCondLst>
                                        </p:cTn>
                                        <p:tgtEl>
                                          <p:spTgt spid="25"/>
                                        </p:tgtEl>
                                        <p:attrNameLst>
                                          <p:attrName>style.visibility</p:attrName>
                                        </p:attrNameLst>
                                      </p:cBhvr>
                                      <p:to>
                                        <p:strVal val="visible"/>
                                      </p:to>
                                    </p:set>
                                    <p:animEffect transition="in" filter="fade">
                                      <p:cBhvr>
                                        <p:cTn id="97" dur="500"/>
                                        <p:tgtEl>
                                          <p:spTgt spid="25"/>
                                        </p:tgtEl>
                                      </p:cBhvr>
                                    </p:animEffect>
                                  </p:childTnLst>
                                </p:cTn>
                              </p:par>
                              <p:par>
                                <p:cTn id="98" presetID="10" presetClass="entr" presetSubtype="0" fill="hold" grpId="0" nodeType="withEffect">
                                  <p:stCondLst>
                                    <p:cond delay="1100"/>
                                  </p:stCondLst>
                                  <p:childTnLst>
                                    <p:set>
                                      <p:cBhvr>
                                        <p:cTn id="99" dur="1" fill="hold">
                                          <p:stCondLst>
                                            <p:cond delay="0"/>
                                          </p:stCondLst>
                                        </p:cTn>
                                        <p:tgtEl>
                                          <p:spTgt spid="26"/>
                                        </p:tgtEl>
                                        <p:attrNameLst>
                                          <p:attrName>style.visibility</p:attrName>
                                        </p:attrNameLst>
                                      </p:cBhvr>
                                      <p:to>
                                        <p:strVal val="visible"/>
                                      </p:to>
                                    </p:set>
                                    <p:animEffect transition="in" filter="fade">
                                      <p:cBhvr>
                                        <p:cTn id="100" dur="500"/>
                                        <p:tgtEl>
                                          <p:spTgt spid="26"/>
                                        </p:tgtEl>
                                      </p:cBhvr>
                                    </p:animEffect>
                                  </p:childTnLst>
                                </p:cTn>
                              </p:par>
                              <p:par>
                                <p:cTn id="101" presetID="10" presetClass="entr" presetSubtype="0" fill="hold" grpId="0" nodeType="withEffect">
                                  <p:stCondLst>
                                    <p:cond delay="1100"/>
                                  </p:stCondLst>
                                  <p:childTnLst>
                                    <p:set>
                                      <p:cBhvr>
                                        <p:cTn id="102" dur="1" fill="hold">
                                          <p:stCondLst>
                                            <p:cond delay="0"/>
                                          </p:stCondLst>
                                        </p:cTn>
                                        <p:tgtEl>
                                          <p:spTgt spid="27"/>
                                        </p:tgtEl>
                                        <p:attrNameLst>
                                          <p:attrName>style.visibility</p:attrName>
                                        </p:attrNameLst>
                                      </p:cBhvr>
                                      <p:to>
                                        <p:strVal val="visible"/>
                                      </p:to>
                                    </p:set>
                                    <p:animEffect transition="in" filter="fade">
                                      <p:cBhvr>
                                        <p:cTn id="103" dur="500"/>
                                        <p:tgtEl>
                                          <p:spTgt spid="27"/>
                                        </p:tgtEl>
                                      </p:cBhvr>
                                    </p:animEffect>
                                  </p:childTnLst>
                                </p:cTn>
                              </p:par>
                              <p:par>
                                <p:cTn id="104" presetID="10" presetClass="entr" presetSubtype="0" fill="hold" grpId="0" nodeType="withEffect">
                                  <p:stCondLst>
                                    <p:cond delay="1320"/>
                                  </p:stCondLst>
                                  <p:childTnLst>
                                    <p:set>
                                      <p:cBhvr>
                                        <p:cTn id="105" dur="1" fill="hold">
                                          <p:stCondLst>
                                            <p:cond delay="0"/>
                                          </p:stCondLst>
                                        </p:cTn>
                                        <p:tgtEl>
                                          <p:spTgt spid="28"/>
                                        </p:tgtEl>
                                        <p:attrNameLst>
                                          <p:attrName>style.visibility</p:attrName>
                                        </p:attrNameLst>
                                      </p:cBhvr>
                                      <p:to>
                                        <p:strVal val="visible"/>
                                      </p:to>
                                    </p:set>
                                    <p:animEffect transition="in" filter="fade">
                                      <p:cBhvr>
                                        <p:cTn id="106" dur="500"/>
                                        <p:tgtEl>
                                          <p:spTgt spid="28"/>
                                        </p:tgtEl>
                                      </p:cBhvr>
                                    </p:animEffect>
                                  </p:childTnLst>
                                </p:cTn>
                              </p:par>
                              <p:par>
                                <p:cTn id="107" presetID="10" presetClass="entr" presetSubtype="0" fill="hold" nodeType="withEffect">
                                  <p:stCondLst>
                                    <p:cond delay="1320"/>
                                  </p:stCondLst>
                                  <p:childTnLst>
                                    <p:set>
                                      <p:cBhvr>
                                        <p:cTn id="108" dur="1" fill="hold">
                                          <p:stCondLst>
                                            <p:cond delay="0"/>
                                          </p:stCondLst>
                                        </p:cTn>
                                        <p:tgtEl>
                                          <p:spTgt spid="29"/>
                                        </p:tgtEl>
                                        <p:attrNameLst>
                                          <p:attrName>style.visibility</p:attrName>
                                        </p:attrNameLst>
                                      </p:cBhvr>
                                      <p:to>
                                        <p:strVal val="visible"/>
                                      </p:to>
                                    </p:set>
                                    <p:animEffect transition="in" filter="fade">
                                      <p:cBhvr>
                                        <p:cTn id="109" dur="500"/>
                                        <p:tgtEl>
                                          <p:spTgt spid="29"/>
                                        </p:tgtEl>
                                      </p:cBhvr>
                                    </p:animEffect>
                                  </p:childTnLst>
                                </p:cTn>
                              </p:par>
                              <p:par>
                                <p:cTn id="110" presetID="10" presetClass="entr" presetSubtype="0" fill="hold" grpId="0" nodeType="withEffect">
                                  <p:stCondLst>
                                    <p:cond delay="1320"/>
                                  </p:stCondLst>
                                  <p:childTnLst>
                                    <p:set>
                                      <p:cBhvr>
                                        <p:cTn id="111" dur="1" fill="hold">
                                          <p:stCondLst>
                                            <p:cond delay="0"/>
                                          </p:stCondLst>
                                        </p:cTn>
                                        <p:tgtEl>
                                          <p:spTgt spid="30"/>
                                        </p:tgtEl>
                                        <p:attrNameLst>
                                          <p:attrName>style.visibility</p:attrName>
                                        </p:attrNameLst>
                                      </p:cBhvr>
                                      <p:to>
                                        <p:strVal val="visible"/>
                                      </p:to>
                                    </p:set>
                                    <p:animEffect transition="in" filter="fade">
                                      <p:cBhvr>
                                        <p:cTn id="112" dur="500"/>
                                        <p:tgtEl>
                                          <p:spTgt spid="30"/>
                                        </p:tgtEl>
                                      </p:cBhvr>
                                    </p:animEffect>
                                  </p:childTnLst>
                                </p:cTn>
                              </p:par>
                              <p:par>
                                <p:cTn id="113" presetID="10" presetClass="entr" presetSubtype="0" fill="hold" grpId="0" nodeType="withEffect">
                                  <p:stCondLst>
                                    <p:cond delay="1320"/>
                                  </p:stCondLst>
                                  <p:childTnLst>
                                    <p:set>
                                      <p:cBhvr>
                                        <p:cTn id="114" dur="1" fill="hold">
                                          <p:stCondLst>
                                            <p:cond delay="0"/>
                                          </p:stCondLst>
                                        </p:cTn>
                                        <p:tgtEl>
                                          <p:spTgt spid="31"/>
                                        </p:tgtEl>
                                        <p:attrNameLst>
                                          <p:attrName>style.visibility</p:attrName>
                                        </p:attrNameLst>
                                      </p:cBhvr>
                                      <p:to>
                                        <p:strVal val="visible"/>
                                      </p:to>
                                    </p:set>
                                    <p:animEffect transition="in" filter="fade">
                                      <p:cBhvr>
                                        <p:cTn id="115" dur="500"/>
                                        <p:tgtEl>
                                          <p:spTgt spid="31"/>
                                        </p:tgtEl>
                                      </p:cBhvr>
                                    </p:animEffect>
                                  </p:childTnLst>
                                </p:cTn>
                              </p:par>
                              <p:par>
                                <p:cTn id="116" presetID="10" presetClass="entr" presetSubtype="0" fill="hold" grpId="0" nodeType="withEffect">
                                  <p:stCondLst>
                                    <p:cond delay="1540"/>
                                  </p:stCondLst>
                                  <p:childTnLst>
                                    <p:set>
                                      <p:cBhvr>
                                        <p:cTn id="117" dur="1" fill="hold">
                                          <p:stCondLst>
                                            <p:cond delay="0"/>
                                          </p:stCondLst>
                                        </p:cTn>
                                        <p:tgtEl>
                                          <p:spTgt spid="32"/>
                                        </p:tgtEl>
                                        <p:attrNameLst>
                                          <p:attrName>style.visibility</p:attrName>
                                        </p:attrNameLst>
                                      </p:cBhvr>
                                      <p:to>
                                        <p:strVal val="visible"/>
                                      </p:to>
                                    </p:set>
                                    <p:animEffect transition="in" filter="fade">
                                      <p:cBhvr>
                                        <p:cTn id="118" dur="500"/>
                                        <p:tgtEl>
                                          <p:spTgt spid="32"/>
                                        </p:tgtEl>
                                      </p:cBhvr>
                                    </p:animEffect>
                                  </p:childTnLst>
                                </p:cTn>
                              </p:par>
                              <p:par>
                                <p:cTn id="119" presetID="10" presetClass="entr" presetSubtype="0" fill="hold" nodeType="withEffect">
                                  <p:stCondLst>
                                    <p:cond delay="1540"/>
                                  </p:stCondLst>
                                  <p:childTnLst>
                                    <p:set>
                                      <p:cBhvr>
                                        <p:cTn id="120" dur="1" fill="hold">
                                          <p:stCondLst>
                                            <p:cond delay="0"/>
                                          </p:stCondLst>
                                        </p:cTn>
                                        <p:tgtEl>
                                          <p:spTgt spid="33"/>
                                        </p:tgtEl>
                                        <p:attrNameLst>
                                          <p:attrName>style.visibility</p:attrName>
                                        </p:attrNameLst>
                                      </p:cBhvr>
                                      <p:to>
                                        <p:strVal val="visible"/>
                                      </p:to>
                                    </p:set>
                                    <p:animEffect transition="in" filter="fade">
                                      <p:cBhvr>
                                        <p:cTn id="121" dur="500"/>
                                        <p:tgtEl>
                                          <p:spTgt spid="33"/>
                                        </p:tgtEl>
                                      </p:cBhvr>
                                    </p:animEffect>
                                  </p:childTnLst>
                                </p:cTn>
                              </p:par>
                              <p:par>
                                <p:cTn id="122" presetID="10" presetClass="entr" presetSubtype="0" fill="hold" grpId="0" nodeType="withEffect">
                                  <p:stCondLst>
                                    <p:cond delay="1540"/>
                                  </p:stCondLst>
                                  <p:childTnLst>
                                    <p:set>
                                      <p:cBhvr>
                                        <p:cTn id="123" dur="1" fill="hold">
                                          <p:stCondLst>
                                            <p:cond delay="0"/>
                                          </p:stCondLst>
                                        </p:cTn>
                                        <p:tgtEl>
                                          <p:spTgt spid="34"/>
                                        </p:tgtEl>
                                        <p:attrNameLst>
                                          <p:attrName>style.visibility</p:attrName>
                                        </p:attrNameLst>
                                      </p:cBhvr>
                                      <p:to>
                                        <p:strVal val="visible"/>
                                      </p:to>
                                    </p:set>
                                    <p:animEffect transition="in" filter="fade">
                                      <p:cBhvr>
                                        <p:cTn id="124" dur="500"/>
                                        <p:tgtEl>
                                          <p:spTgt spid="34"/>
                                        </p:tgtEl>
                                      </p:cBhvr>
                                    </p:animEffect>
                                  </p:childTnLst>
                                </p:cTn>
                              </p:par>
                              <p:par>
                                <p:cTn id="125" presetID="10" presetClass="entr" presetSubtype="0" fill="hold" grpId="0" nodeType="withEffect">
                                  <p:stCondLst>
                                    <p:cond delay="1540"/>
                                  </p:stCondLst>
                                  <p:childTnLst>
                                    <p:set>
                                      <p:cBhvr>
                                        <p:cTn id="126" dur="1" fill="hold">
                                          <p:stCondLst>
                                            <p:cond delay="0"/>
                                          </p:stCondLst>
                                        </p:cTn>
                                        <p:tgtEl>
                                          <p:spTgt spid="35"/>
                                        </p:tgtEl>
                                        <p:attrNameLst>
                                          <p:attrName>style.visibility</p:attrName>
                                        </p:attrNameLst>
                                      </p:cBhvr>
                                      <p:to>
                                        <p:strVal val="visible"/>
                                      </p:to>
                                    </p:set>
                                    <p:animEffect transition="in" filter="fade">
                                      <p:cBhvr>
                                        <p:cTn id="12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1" grpId="0" animBg="1"/>
      <p:bldP spid="12" grpId="0" animBg="1"/>
      <p:bldP spid="13" grpId="0" animBg="1"/>
      <p:bldP spid="15" grpId="0" animBg="1"/>
      <p:bldP spid="16" grpId="0" animBg="1"/>
      <p:bldP spid="17" grpId="0" animBg="1"/>
      <p:bldP spid="19" grpId="0" animBg="1"/>
      <p:bldP spid="20" grpId="0" animBg="1"/>
      <p:bldP spid="22" grpId="0" animBg="1"/>
      <p:bldP spid="23" grpId="0" animBg="1"/>
      <p:bldP spid="24" grpId="0" animBg="1"/>
      <p:bldP spid="26" grpId="0" animBg="1"/>
      <p:bldP spid="27" grpId="0" animBg="1"/>
      <p:bldP spid="28" grpId="0" animBg="1"/>
      <p:bldP spid="30" grpId="0" animBg="1"/>
      <p:bldP spid="31" grpId="0" animBg="1"/>
      <p:bldP spid="32" grpId="0" animBg="1"/>
      <p:bldP spid="34" grpId="0" animBg="1"/>
      <p:bldP spid="3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ring#63"/>
          <p:cNvSpPr/>
          <p:nvPr/>
        </p:nvSpPr>
        <p:spPr>
          <a:xfrm>
            <a:off x="7223760" y="1234440"/>
            <a:ext cx="4389120" cy="4389120"/>
          </a:xfrm>
          <a:prstGeom prst="ellipse">
            <a:avLst/>
          </a:prstGeom>
          <a:solidFill>
            <a:srgbClr val="1BA39C">
              <a:alpha val="20000"/>
            </a:srgbClr>
          </a:solidFill>
          <a:ln/>
        </p:spPr>
      </p:sp>
      <p:sp>
        <p:nvSpPr>
          <p:cNvPr id="3" name="ring#64"/>
          <p:cNvSpPr/>
          <p:nvPr/>
        </p:nvSpPr>
        <p:spPr>
          <a:xfrm>
            <a:off x="7818120" y="1828800"/>
            <a:ext cx="3200400" cy="3200400"/>
          </a:xfrm>
          <a:prstGeom prst="ellipse">
            <a:avLst/>
          </a:prstGeom>
          <a:solidFill>
            <a:srgbClr val="1BA39C">
              <a:alpha val="8000"/>
            </a:srgbClr>
          </a:solidFill>
          <a:ln/>
        </p:spPr>
      </p:sp>
      <p:sp>
        <p:nvSpPr>
          <p:cNvPr id="4" name="divDot"/>
          <p:cNvSpPr/>
          <p:nvPr/>
        </p:nvSpPr>
        <p:spPr>
          <a:xfrm>
            <a:off x="8503920" y="2514600"/>
            <a:ext cx="1828800" cy="1828800"/>
          </a:xfrm>
          <a:prstGeom prst="ellipse">
            <a:avLst/>
          </a:prstGeom>
          <a:solidFill>
            <a:schemeClr val="accent3"/>
          </a:solidFill>
          <a:ln/>
        </p:spPr>
      </p:sp>
      <p:pic>
        <p:nvPicPr>
          <p:cNvPr id="5" name="divDoti" descr="preencoded.png"/>
          <p:cNvPicPr>
            <a:picLocks noChangeAspect="1"/>
          </p:cNvPicPr>
          <p:nvPr/>
        </p:nvPicPr>
        <p:blipFill>
          <a:blip r:embed="rId3"/>
          <a:stretch>
            <a:fillRect/>
          </a:stretch>
        </p:blipFill>
        <p:spPr>
          <a:xfrm>
            <a:off x="8997696" y="3008376"/>
            <a:ext cx="841248" cy="841248"/>
          </a:xfrm>
          <a:prstGeom prst="rect">
            <a:avLst/>
          </a:prstGeom>
        </p:spPr>
      </p:pic>
      <p:sp>
        <p:nvSpPr>
          <p:cNvPr id="6" name="divNum"/>
          <p:cNvSpPr txBox="1"/>
          <p:nvPr/>
        </p:nvSpPr>
        <p:spPr>
          <a:xfrm>
            <a:off x="548640" y="1463040"/>
            <a:ext cx="3657600" cy="1737360"/>
          </a:xfrm>
          <a:prstGeom prst="rect">
            <a:avLst/>
          </a:prstGeom>
          <a:noFill/>
          <a:ln/>
        </p:spPr>
        <p:txBody>
          <a:bodyPr wrap="square" lIns="0" tIns="0" rIns="0" bIns="0" rtlCol="0" anchor="t"/>
          <a:lstStyle/>
          <a:p>
            <a:pPr marL="0" indent="0">
              <a:buNone/>
            </a:pPr>
            <a:r>
              <a:rPr lang="en-US" sz="12000" b="1" dirty="0">
                <a:solidFill>
                  <a:schemeClr val="accent2"/>
                </a:solidFill>
              </a:rPr>
              <a:t>04</a:t>
            </a:r>
            <a:endParaRPr lang="en-US" sz="12000" dirty="0"/>
          </a:p>
        </p:txBody>
      </p:sp>
      <p:sp>
        <p:nvSpPr>
          <p:cNvPr id="7" name="divPart"/>
          <p:cNvSpPr txBox="1"/>
          <p:nvPr/>
        </p:nvSpPr>
        <p:spPr>
          <a:xfrm>
            <a:off x="548640" y="3383280"/>
            <a:ext cx="5486400" cy="320040"/>
          </a:xfrm>
          <a:prstGeom prst="rect">
            <a:avLst/>
          </a:prstGeom>
          <a:noFill/>
          <a:ln/>
        </p:spPr>
        <p:txBody>
          <a:bodyPr wrap="square" lIns="0" tIns="0" rIns="0" bIns="0" rtlCol="0" anchor="t"/>
          <a:lstStyle/>
          <a:p>
            <a:pPr marL="0" indent="0">
              <a:buNone/>
            </a:pPr>
            <a:r>
              <a:rPr lang="en-US" sz="1300" b="1" kern="0" spc="300" dirty="0">
                <a:solidFill>
                  <a:schemeClr val="accent3"/>
                </a:solidFill>
              </a:rPr>
              <a:t>PARTIE 4</a:t>
            </a:r>
            <a:endParaRPr lang="en-US" sz="1300" dirty="0"/>
          </a:p>
        </p:txBody>
      </p:sp>
      <p:sp>
        <p:nvSpPr>
          <p:cNvPr id="8" name="divTtl"/>
          <p:cNvSpPr txBox="1"/>
          <p:nvPr/>
        </p:nvSpPr>
        <p:spPr>
          <a:xfrm>
            <a:off x="548640" y="3749040"/>
            <a:ext cx="6949440" cy="914400"/>
          </a:xfrm>
          <a:prstGeom prst="rect">
            <a:avLst/>
          </a:prstGeom>
          <a:noFill/>
          <a:ln/>
        </p:spPr>
        <p:txBody>
          <a:bodyPr wrap="square" lIns="0" tIns="0" rIns="0" bIns="0" rtlCol="0" anchor="t"/>
          <a:lstStyle/>
          <a:p>
            <a:pPr marL="0" indent="0">
              <a:buNone/>
            </a:pPr>
            <a:r>
              <a:rPr lang="en-US" sz="3400" b="1" dirty="0">
                <a:solidFill>
                  <a:schemeClr val="bg1"/>
                </a:solidFill>
              </a:rPr>
              <a:t>Le service SOAP</a:t>
            </a:r>
            <a:endParaRPr lang="en-US" sz="3400" dirty="0"/>
          </a:p>
        </p:txBody>
      </p:sp>
      <p:sp>
        <p:nvSpPr>
          <p:cNvPr id="9" name="divSub"/>
          <p:cNvSpPr txBox="1"/>
          <p:nvPr/>
        </p:nvSpPr>
        <p:spPr>
          <a:xfrm>
            <a:off x="548640" y="4709160"/>
            <a:ext cx="6949440" cy="548640"/>
          </a:xfrm>
          <a:prstGeom prst="rect">
            <a:avLst/>
          </a:prstGeom>
          <a:noFill/>
          <a:ln/>
        </p:spPr>
        <p:txBody>
          <a:bodyPr wrap="square" lIns="0" tIns="0" rIns="0" bIns="0" rtlCol="0" anchor="t"/>
          <a:lstStyle/>
          <a:p>
            <a:pPr marL="0" indent="0">
              <a:buNone/>
            </a:pPr>
            <a:r>
              <a:rPr lang="en-US" sz="1600" dirty="0">
                <a:solidFill>
                  <a:srgbClr val="C9D3E3"/>
                </a:solidFill>
              </a:rPr>
              <a:t>Contrat WSDL, opérations et erreurs</a:t>
            </a:r>
            <a:endParaRPr lang="en-US" sz="16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ppt_w</p:attrName>
                                        </p:attrNameLst>
                                      </p:cBhvr>
                                      <p:tavLst>
                                        <p:tav tm="0">
                                          <p:val>
                                            <p:strVal val="0"/>
                                          </p:val>
                                        </p:tav>
                                        <p:tav tm="100000">
                                          <p:val>
                                            <p:strVal val="#ppt_w"/>
                                          </p:val>
                                        </p:tav>
                                      </p:tavLst>
                                    </p:anim>
                                    <p:anim calcmode="lin" valueType="num">
                                      <p:cBhvr additive="base">
                                        <p:cTn id="8" dur="500" fill="hold"/>
                                        <p:tgtEl>
                                          <p:spTgt spid="4"/>
                                        </p:tgtEl>
                                        <p:attrNameLst>
                                          <p:attrName>ppt_h</p:attrName>
                                        </p:attrNameLst>
                                      </p:cBhvr>
                                      <p:tavLst>
                                        <p:tav tm="0">
                                          <p:val>
                                            <p:strVal val="0"/>
                                          </p:val>
                                        </p:tav>
                                        <p:tav tm="100000">
                                          <p:val>
                                            <p:strVal val="#ppt_h"/>
                                          </p:val>
                                        </p:tav>
                                      </p:tavLst>
                                    </p:anim>
                                    <p:animEffect transition="in" filter="fade">
                                      <p:cBhvr>
                                        <p:cTn id="9" dur="500"/>
                                        <p:tgtEl>
                                          <p:spTgt spid="4"/>
                                        </p:tgtEl>
                                      </p:cBhvr>
                                    </p:animEffect>
                                  </p:childTnLst>
                                </p:cTn>
                              </p:par>
                              <p:par>
                                <p:cTn id="10" presetID="53" presetClass="entr" presetSubtype="16"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ppt_w</p:attrName>
                                        </p:attrNameLst>
                                      </p:cBhvr>
                                      <p:tavLst>
                                        <p:tav tm="0">
                                          <p:val>
                                            <p:strVal val="0"/>
                                          </p:val>
                                        </p:tav>
                                        <p:tav tm="100000">
                                          <p:val>
                                            <p:strVal val="#ppt_w"/>
                                          </p:val>
                                        </p:tav>
                                      </p:tavLst>
                                    </p:anim>
                                    <p:anim calcmode="lin" valueType="num">
                                      <p:cBhvr additive="base">
                                        <p:cTn id="13" dur="500" fill="hold"/>
                                        <p:tgtEl>
                                          <p:spTgt spid="5"/>
                                        </p:tgtEl>
                                        <p:attrNameLst>
                                          <p:attrName>ppt_h</p:attrName>
                                        </p:attrNameLst>
                                      </p:cBhvr>
                                      <p:tavLst>
                                        <p:tav tm="0">
                                          <p:val>
                                            <p:strVal val="0"/>
                                          </p:val>
                                        </p:tav>
                                        <p:tav tm="100000">
                                          <p:val>
                                            <p:strVal val="#ppt_h"/>
                                          </p:val>
                                        </p:tav>
                                      </p:tavLst>
                                    </p:anim>
                                    <p:animEffect transition="in" filter="fade">
                                      <p:cBhvr>
                                        <p:cTn id="14" dur="500"/>
                                        <p:tgtEl>
                                          <p:spTgt spid="5"/>
                                        </p:tgtEl>
                                      </p:cBhvr>
                                    </p:animEffect>
                                  </p:childTnLst>
                                </p:cTn>
                              </p:par>
                              <p:par>
                                <p:cTn id="15" presetID="42" presetClass="entr" presetSubtype="0" fill="hold" grpId="0" nodeType="withEffect">
                                  <p:stCondLst>
                                    <p:cond delay="22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anim calcmode="lin" valueType="num">
                                      <p:cBhvr additive="base">
                                        <p:cTn id="18" dur="500" fill="hold"/>
                                        <p:tgtEl>
                                          <p:spTgt spid="6"/>
                                        </p:tgtEl>
                                        <p:attrNameLst>
                                          <p:attrName>ppt_x</p:attrName>
                                        </p:attrNameLst>
                                      </p:cBhvr>
                                      <p:tavLst>
                                        <p:tav tm="0">
                                          <p:val>
                                            <p:strVal val="#ppt_x"/>
                                          </p:val>
                                        </p:tav>
                                        <p:tav tm="100000">
                                          <p:val>
                                            <p:strVal val="#ppt_x"/>
                                          </p:val>
                                        </p:tav>
                                      </p:tavLst>
                                    </p:anim>
                                    <p:anim calcmode="lin" valueType="num">
                                      <p:cBhvr additive="base">
                                        <p:cTn id="19" dur="50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44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anim calcmode="lin" valueType="num">
                                      <p:cBhvr additive="base">
                                        <p:cTn id="23" dur="500" fill="hold"/>
                                        <p:tgtEl>
                                          <p:spTgt spid="7"/>
                                        </p:tgtEl>
                                        <p:attrNameLst>
                                          <p:attrName>ppt_x</p:attrName>
                                        </p:attrNameLst>
                                      </p:cBhvr>
                                      <p:tavLst>
                                        <p:tav tm="0">
                                          <p:val>
                                            <p:strVal val="#ppt_x"/>
                                          </p:val>
                                        </p:tav>
                                        <p:tav tm="100000">
                                          <p:val>
                                            <p:strVal val="#ppt_x"/>
                                          </p:val>
                                        </p:tav>
                                      </p:tavLst>
                                    </p:anim>
                                    <p:anim calcmode="lin" valueType="num">
                                      <p:cBhvr additive="base">
                                        <p:cTn id="24" dur="500" fill="hold"/>
                                        <p:tgtEl>
                                          <p:spTgt spid="7"/>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44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anim calcmode="lin" valueType="num">
                                      <p:cBhvr additive="base">
                                        <p:cTn id="28" dur="500" fill="hold"/>
                                        <p:tgtEl>
                                          <p:spTgt spid="8"/>
                                        </p:tgtEl>
                                        <p:attrNameLst>
                                          <p:attrName>ppt_x</p:attrName>
                                        </p:attrNameLst>
                                      </p:cBhvr>
                                      <p:tavLst>
                                        <p:tav tm="0">
                                          <p:val>
                                            <p:strVal val="#ppt_x"/>
                                          </p:val>
                                        </p:tav>
                                        <p:tav tm="100000">
                                          <p:val>
                                            <p:strVal val="#ppt_x"/>
                                          </p:val>
                                        </p:tav>
                                      </p:tavLst>
                                    </p:anim>
                                    <p:anim calcmode="lin" valueType="num">
                                      <p:cBhvr additive="base">
                                        <p:cTn id="29" dur="500" fill="hold"/>
                                        <p:tgtEl>
                                          <p:spTgt spid="8"/>
                                        </p:tgtEl>
                                        <p:attrNameLst>
                                          <p:attrName>ppt_y</p:attrName>
                                        </p:attrNameLst>
                                      </p:cBhvr>
                                      <p:tavLst>
                                        <p:tav tm="0">
                                          <p:val>
                                            <p:strVal val="#ppt_y+.1"/>
                                          </p:val>
                                        </p:tav>
                                        <p:tav tm="100000">
                                          <p:val>
                                            <p:strVal val="#ppt_y"/>
                                          </p:val>
                                        </p:tav>
                                      </p:tavLst>
                                    </p:anim>
                                  </p:childTnLst>
                                </p:cTn>
                              </p:par>
                              <p:par>
                                <p:cTn id="30" presetID="10" presetClass="entr" presetSubtype="0" fill="hold" grpId="0" nodeType="withEffect">
                                  <p:stCondLst>
                                    <p:cond delay="66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749808"/>
            <a:ext cx="11064240" cy="685800"/>
          </a:xfrm>
          <a:prstGeom prst="rect">
            <a:avLst/>
          </a:prstGeom>
          <a:noFill/>
          <a:ln/>
        </p:spPr>
        <p:txBody>
          <a:bodyPr wrap="square" lIns="0" tIns="0" rIns="0" bIns="0" rtlCol="0" anchor="ctr"/>
          <a:lstStyle/>
          <a:p>
            <a:pPr marL="0" indent="0" algn="l">
              <a:buNone/>
            </a:pPr>
            <a:r>
              <a:rPr lang="en-US" sz="3000" b="1" dirty="0">
                <a:solidFill>
                  <a:schemeClr val="tx2"/>
                </a:solidFill>
              </a:rPr>
              <a:t>Trois opérations SOAP</a:t>
            </a:r>
            <a:endParaRPr lang="en-US" sz="3000" dirty="0"/>
          </a:p>
        </p:txBody>
      </p:sp>
      <p:sp>
        <p:nvSpPr>
          <p:cNvPr id="3" name="pill#65"/>
          <p:cNvSpPr/>
          <p:nvPr/>
        </p:nvSpPr>
        <p:spPr>
          <a:xfrm>
            <a:off x="548640" y="384048"/>
            <a:ext cx="1133856" cy="292608"/>
          </a:xfrm>
          <a:prstGeom prst="roundRect">
            <a:avLst>
              <a:gd name="adj" fmla="val 50000"/>
            </a:avLst>
          </a:prstGeom>
          <a:solidFill>
            <a:schemeClr val="accent5"/>
          </a:solidFill>
          <a:ln/>
        </p:spPr>
      </p:sp>
      <p:sp>
        <p:nvSpPr>
          <p:cNvPr id="4" name="pill#65t"/>
          <p:cNvSpPr txBox="1"/>
          <p:nvPr/>
        </p:nvSpPr>
        <p:spPr>
          <a:xfrm>
            <a:off x="548640" y="384048"/>
            <a:ext cx="1133856" cy="292608"/>
          </a:xfrm>
          <a:prstGeom prst="rect">
            <a:avLst/>
          </a:prstGeom>
          <a:noFill/>
          <a:ln/>
        </p:spPr>
        <p:txBody>
          <a:bodyPr wrap="square" lIns="0" tIns="0" rIns="0" bIns="0" rtlCol="0" anchor="ctr"/>
          <a:lstStyle/>
          <a:p>
            <a:pPr marL="0" indent="0" algn="ctr">
              <a:buNone/>
            </a:pPr>
            <a:r>
              <a:rPr lang="en-US" sz="1100" b="1" dirty="0">
                <a:solidFill>
                  <a:schemeClr val="bg1"/>
                </a:solidFill>
              </a:rPr>
              <a:t>Service SOAP</a:t>
            </a:r>
            <a:endParaRPr lang="en-US" sz="1100" dirty="0"/>
          </a:p>
        </p:txBody>
      </p:sp>
      <p:sp>
        <p:nvSpPr>
          <p:cNvPr id="5" name="op#66"/>
          <p:cNvSpPr/>
          <p:nvPr/>
        </p:nvSpPr>
        <p:spPr>
          <a:xfrm>
            <a:off x="548640" y="1737360"/>
            <a:ext cx="3520440" cy="4114800"/>
          </a:xfrm>
          <a:prstGeom prst="roundRect">
            <a:avLst>
              <a:gd name="adj" fmla="val 2597"/>
            </a:avLst>
          </a:prstGeom>
          <a:solidFill>
            <a:schemeClr val="bg1"/>
          </a:solidFill>
          <a:ln w="9525">
            <a:solidFill>
              <a:srgbClr val="E3E8F0"/>
            </a:solidFill>
            <a:prstDash val="solid"/>
          </a:ln>
          <a:effectLst>
            <a:outerShdw blurRad="127000" dist="38100" dir="5400000" algn="bl" rotWithShape="0">
              <a:srgbClr val="0D2340">
                <a:alpha val="12000"/>
              </a:srgbClr>
            </a:outerShdw>
          </a:effectLst>
        </p:spPr>
      </p:sp>
      <p:sp>
        <p:nvSpPr>
          <p:cNvPr id="6" name="op#66d"/>
          <p:cNvSpPr/>
          <p:nvPr/>
        </p:nvSpPr>
        <p:spPr>
          <a:xfrm>
            <a:off x="1847088" y="2057400"/>
            <a:ext cx="914400" cy="914400"/>
          </a:xfrm>
          <a:prstGeom prst="ellipse">
            <a:avLst/>
          </a:prstGeom>
          <a:solidFill>
            <a:schemeClr val="accent4"/>
          </a:solidFill>
          <a:ln/>
        </p:spPr>
      </p:sp>
      <p:pic>
        <p:nvPicPr>
          <p:cNvPr id="7" name="op#66di" descr="preencoded.png"/>
          <p:cNvPicPr>
            <a:picLocks noChangeAspect="1"/>
          </p:cNvPicPr>
          <p:nvPr/>
        </p:nvPicPr>
        <p:blipFill>
          <a:blip r:embed="rId3"/>
          <a:stretch>
            <a:fillRect/>
          </a:stretch>
        </p:blipFill>
        <p:spPr>
          <a:xfrm>
            <a:off x="2093976" y="2304288"/>
            <a:ext cx="420624" cy="420624"/>
          </a:xfrm>
          <a:prstGeom prst="rect">
            <a:avLst/>
          </a:prstGeom>
        </p:spPr>
      </p:pic>
      <p:sp>
        <p:nvSpPr>
          <p:cNvPr id="8" name="op#66k"/>
          <p:cNvSpPr txBox="1"/>
          <p:nvPr/>
        </p:nvSpPr>
        <p:spPr>
          <a:xfrm>
            <a:off x="731520" y="3154680"/>
            <a:ext cx="3154680" cy="320040"/>
          </a:xfrm>
          <a:prstGeom prst="rect">
            <a:avLst/>
          </a:prstGeom>
          <a:noFill/>
          <a:ln/>
        </p:spPr>
        <p:txBody>
          <a:bodyPr wrap="square" lIns="0" tIns="0" rIns="0" bIns="0" rtlCol="0" anchor="t"/>
          <a:lstStyle/>
          <a:p>
            <a:pPr marL="0" indent="0" algn="ctr">
              <a:buNone/>
            </a:pPr>
            <a:r>
              <a:rPr lang="en-US" sz="1200" b="1" kern="0" spc="300" dirty="0">
                <a:solidFill>
                  <a:schemeClr val="accent4"/>
                </a:solidFill>
              </a:rPr>
              <a:t>CONSULTER</a:t>
            </a:r>
            <a:endParaRPr lang="en-US" sz="1200" dirty="0"/>
          </a:p>
        </p:txBody>
      </p:sp>
      <p:sp>
        <p:nvSpPr>
          <p:cNvPr id="9" name="op#66h"/>
          <p:cNvSpPr txBox="1"/>
          <p:nvPr/>
        </p:nvSpPr>
        <p:spPr>
          <a:xfrm>
            <a:off x="731520" y="3474720"/>
            <a:ext cx="3154680" cy="457200"/>
          </a:xfrm>
          <a:prstGeom prst="rect">
            <a:avLst/>
          </a:prstGeom>
          <a:noFill/>
          <a:ln/>
        </p:spPr>
        <p:txBody>
          <a:bodyPr wrap="square" lIns="0" tIns="0" rIns="0" bIns="0" rtlCol="0" anchor="t"/>
          <a:lstStyle/>
          <a:p>
            <a:pPr marL="0" indent="0" algn="ctr">
              <a:buNone/>
            </a:pPr>
            <a:r>
              <a:rPr lang="en-US" sz="1900" b="1" dirty="0">
                <a:solidFill>
                  <a:schemeClr val="tx2"/>
                </a:solidFill>
              </a:rPr>
              <a:t>getEmployeeDetails</a:t>
            </a:r>
            <a:endParaRPr lang="en-US" sz="1900" dirty="0"/>
          </a:p>
        </p:txBody>
      </p:sp>
      <p:sp>
        <p:nvSpPr>
          <p:cNvPr id="10" name="op#66b"/>
          <p:cNvSpPr txBox="1"/>
          <p:nvPr/>
        </p:nvSpPr>
        <p:spPr>
          <a:xfrm>
            <a:off x="868680" y="4069080"/>
            <a:ext cx="2880360" cy="1463040"/>
          </a:xfrm>
          <a:prstGeom prst="rect">
            <a:avLst/>
          </a:prstGeom>
          <a:noFill/>
          <a:ln/>
        </p:spPr>
        <p:txBody>
          <a:bodyPr wrap="square" lIns="0" tIns="0" rIns="0" bIns="0" rtlCol="0" anchor="t"/>
          <a:lstStyle/>
          <a:p>
            <a:pPr marL="0" indent="0" algn="ctr">
              <a:buNone/>
            </a:pPr>
            <a:r>
              <a:rPr lang="en-US" sz="1400" dirty="0">
                <a:solidFill>
                  <a:schemeClr val="tx1"/>
                </a:solidFill>
              </a:rPr>
              <a:t>Entrée : un matricule. Sortie : la fiche complète de l'employé.</a:t>
            </a:r>
            <a:endParaRPr lang="en-US" sz="1400" dirty="0"/>
          </a:p>
        </p:txBody>
      </p:sp>
      <p:sp>
        <p:nvSpPr>
          <p:cNvPr id="11" name="op#67"/>
          <p:cNvSpPr/>
          <p:nvPr/>
        </p:nvSpPr>
        <p:spPr>
          <a:xfrm>
            <a:off x="4315968" y="1737360"/>
            <a:ext cx="3520440" cy="4114800"/>
          </a:xfrm>
          <a:prstGeom prst="roundRect">
            <a:avLst>
              <a:gd name="adj" fmla="val 2597"/>
            </a:avLst>
          </a:prstGeom>
          <a:solidFill>
            <a:schemeClr val="bg1"/>
          </a:solidFill>
          <a:ln w="9525">
            <a:solidFill>
              <a:srgbClr val="E3E8F0"/>
            </a:solidFill>
            <a:prstDash val="solid"/>
          </a:ln>
          <a:effectLst>
            <a:outerShdw blurRad="127000" dist="38100" dir="5400000" algn="bl" rotWithShape="0">
              <a:srgbClr val="0D2340">
                <a:alpha val="12000"/>
              </a:srgbClr>
            </a:outerShdw>
          </a:effectLst>
        </p:spPr>
      </p:sp>
      <p:sp>
        <p:nvSpPr>
          <p:cNvPr id="12" name="op#67d"/>
          <p:cNvSpPr/>
          <p:nvPr/>
        </p:nvSpPr>
        <p:spPr>
          <a:xfrm>
            <a:off x="5614416" y="2057400"/>
            <a:ext cx="914400" cy="914400"/>
          </a:xfrm>
          <a:prstGeom prst="ellipse">
            <a:avLst/>
          </a:prstGeom>
          <a:solidFill>
            <a:schemeClr val="accent3"/>
          </a:solidFill>
          <a:ln/>
        </p:spPr>
      </p:sp>
      <p:pic>
        <p:nvPicPr>
          <p:cNvPr id="13" name="op#67di" descr="preencoded.png"/>
          <p:cNvPicPr>
            <a:picLocks noChangeAspect="1"/>
          </p:cNvPicPr>
          <p:nvPr/>
        </p:nvPicPr>
        <p:blipFill>
          <a:blip r:embed="rId4"/>
          <a:stretch>
            <a:fillRect/>
          </a:stretch>
        </p:blipFill>
        <p:spPr>
          <a:xfrm>
            <a:off x="5861304" y="2304288"/>
            <a:ext cx="420624" cy="420624"/>
          </a:xfrm>
          <a:prstGeom prst="rect">
            <a:avLst/>
          </a:prstGeom>
        </p:spPr>
      </p:pic>
      <p:sp>
        <p:nvSpPr>
          <p:cNvPr id="14" name="op#67k"/>
          <p:cNvSpPr txBox="1"/>
          <p:nvPr/>
        </p:nvSpPr>
        <p:spPr>
          <a:xfrm>
            <a:off x="4498848" y="3154680"/>
            <a:ext cx="3154680" cy="320040"/>
          </a:xfrm>
          <a:prstGeom prst="rect">
            <a:avLst/>
          </a:prstGeom>
          <a:noFill/>
          <a:ln/>
        </p:spPr>
        <p:txBody>
          <a:bodyPr wrap="square" lIns="0" tIns="0" rIns="0" bIns="0" rtlCol="0" anchor="t"/>
          <a:lstStyle/>
          <a:p>
            <a:pPr marL="0" indent="0" algn="ctr">
              <a:buNone/>
            </a:pPr>
            <a:r>
              <a:rPr lang="en-US" sz="1200" b="1" kern="0" spc="300" dirty="0">
                <a:solidFill>
                  <a:schemeClr val="accent3"/>
                </a:solidFill>
              </a:rPr>
              <a:t>CRÉER</a:t>
            </a:r>
            <a:endParaRPr lang="en-US" sz="1200" dirty="0"/>
          </a:p>
        </p:txBody>
      </p:sp>
      <p:sp>
        <p:nvSpPr>
          <p:cNvPr id="15" name="op#67h"/>
          <p:cNvSpPr txBox="1"/>
          <p:nvPr/>
        </p:nvSpPr>
        <p:spPr>
          <a:xfrm>
            <a:off x="4498848" y="3474720"/>
            <a:ext cx="3154680" cy="457200"/>
          </a:xfrm>
          <a:prstGeom prst="rect">
            <a:avLst/>
          </a:prstGeom>
          <a:noFill/>
          <a:ln/>
        </p:spPr>
        <p:txBody>
          <a:bodyPr wrap="square" lIns="0" tIns="0" rIns="0" bIns="0" rtlCol="0" anchor="t"/>
          <a:lstStyle/>
          <a:p>
            <a:pPr marL="0" indent="0" algn="ctr">
              <a:buNone/>
            </a:pPr>
            <a:r>
              <a:rPr lang="en-US" sz="1900" b="1" dirty="0">
                <a:solidFill>
                  <a:schemeClr val="tx2"/>
                </a:solidFill>
              </a:rPr>
              <a:t>createEmployee</a:t>
            </a:r>
            <a:endParaRPr lang="en-US" sz="1900" dirty="0"/>
          </a:p>
        </p:txBody>
      </p:sp>
      <p:sp>
        <p:nvSpPr>
          <p:cNvPr id="16" name="op#67b"/>
          <p:cNvSpPr txBox="1"/>
          <p:nvPr/>
        </p:nvSpPr>
        <p:spPr>
          <a:xfrm>
            <a:off x="4636008" y="4069080"/>
            <a:ext cx="2880360" cy="1463040"/>
          </a:xfrm>
          <a:prstGeom prst="rect">
            <a:avLst/>
          </a:prstGeom>
          <a:noFill/>
          <a:ln/>
        </p:spPr>
        <p:txBody>
          <a:bodyPr wrap="square" lIns="0" tIns="0" rIns="0" bIns="0" rtlCol="0" anchor="t"/>
          <a:lstStyle/>
          <a:p>
            <a:pPr marL="0" indent="0" algn="ctr">
              <a:buNone/>
            </a:pPr>
            <a:r>
              <a:rPr lang="en-US" sz="1400" dirty="0">
                <a:solidFill>
                  <a:schemeClr val="tx1"/>
                </a:solidFill>
              </a:rPr>
              <a:t>Normalise, valide, enregistre la fiche et l'inscrit dans l'outbox.</a:t>
            </a:r>
            <a:endParaRPr lang="en-US" sz="1400" dirty="0"/>
          </a:p>
        </p:txBody>
      </p:sp>
      <p:sp>
        <p:nvSpPr>
          <p:cNvPr id="17" name="op#68"/>
          <p:cNvSpPr/>
          <p:nvPr/>
        </p:nvSpPr>
        <p:spPr>
          <a:xfrm>
            <a:off x="8083296" y="1737360"/>
            <a:ext cx="3520440" cy="4114800"/>
          </a:xfrm>
          <a:prstGeom prst="roundRect">
            <a:avLst>
              <a:gd name="adj" fmla="val 2597"/>
            </a:avLst>
          </a:prstGeom>
          <a:solidFill>
            <a:schemeClr val="bg1"/>
          </a:solidFill>
          <a:ln w="9525">
            <a:solidFill>
              <a:srgbClr val="E3E8F0"/>
            </a:solidFill>
            <a:prstDash val="solid"/>
          </a:ln>
          <a:effectLst>
            <a:outerShdw blurRad="127000" dist="38100" dir="5400000" algn="bl" rotWithShape="0">
              <a:srgbClr val="0D2340">
                <a:alpha val="12000"/>
              </a:srgbClr>
            </a:outerShdw>
          </a:effectLst>
        </p:spPr>
      </p:sp>
      <p:sp>
        <p:nvSpPr>
          <p:cNvPr id="18" name="op#68d"/>
          <p:cNvSpPr/>
          <p:nvPr/>
        </p:nvSpPr>
        <p:spPr>
          <a:xfrm>
            <a:off x="9381744" y="2057400"/>
            <a:ext cx="914400" cy="914400"/>
          </a:xfrm>
          <a:prstGeom prst="ellipse">
            <a:avLst/>
          </a:prstGeom>
          <a:solidFill>
            <a:schemeClr val="accent2"/>
          </a:solidFill>
          <a:ln/>
        </p:spPr>
      </p:sp>
      <p:pic>
        <p:nvPicPr>
          <p:cNvPr id="19" name="op#68di" descr="preencoded.png"/>
          <p:cNvPicPr>
            <a:picLocks noChangeAspect="1"/>
          </p:cNvPicPr>
          <p:nvPr/>
        </p:nvPicPr>
        <p:blipFill>
          <a:blip r:embed="rId5"/>
          <a:stretch>
            <a:fillRect/>
          </a:stretch>
        </p:blipFill>
        <p:spPr>
          <a:xfrm>
            <a:off x="9628632" y="2304288"/>
            <a:ext cx="420624" cy="420624"/>
          </a:xfrm>
          <a:prstGeom prst="rect">
            <a:avLst/>
          </a:prstGeom>
        </p:spPr>
      </p:pic>
      <p:sp>
        <p:nvSpPr>
          <p:cNvPr id="20" name="op#68k"/>
          <p:cNvSpPr txBox="1"/>
          <p:nvPr/>
        </p:nvSpPr>
        <p:spPr>
          <a:xfrm>
            <a:off x="8266176" y="3154680"/>
            <a:ext cx="3154680" cy="320040"/>
          </a:xfrm>
          <a:prstGeom prst="rect">
            <a:avLst/>
          </a:prstGeom>
          <a:noFill/>
          <a:ln/>
        </p:spPr>
        <p:txBody>
          <a:bodyPr wrap="square" lIns="0" tIns="0" rIns="0" bIns="0" rtlCol="0" anchor="t"/>
          <a:lstStyle/>
          <a:p>
            <a:pPr marL="0" indent="0" algn="ctr">
              <a:buNone/>
            </a:pPr>
            <a:r>
              <a:rPr lang="en-US" sz="1200" b="1" kern="0" spc="300" dirty="0">
                <a:solidFill>
                  <a:schemeClr val="accent2"/>
                </a:solidFill>
              </a:rPr>
              <a:t>MODIFIER</a:t>
            </a:r>
            <a:endParaRPr lang="en-US" sz="1200" dirty="0"/>
          </a:p>
        </p:txBody>
      </p:sp>
      <p:sp>
        <p:nvSpPr>
          <p:cNvPr id="21" name="op#68h"/>
          <p:cNvSpPr txBox="1"/>
          <p:nvPr/>
        </p:nvSpPr>
        <p:spPr>
          <a:xfrm>
            <a:off x="8266176" y="3474720"/>
            <a:ext cx="3154680" cy="457200"/>
          </a:xfrm>
          <a:prstGeom prst="rect">
            <a:avLst/>
          </a:prstGeom>
          <a:noFill/>
          <a:ln/>
        </p:spPr>
        <p:txBody>
          <a:bodyPr wrap="square" lIns="0" tIns="0" rIns="0" bIns="0" rtlCol="0" anchor="t"/>
          <a:lstStyle/>
          <a:p>
            <a:pPr marL="0" indent="0" algn="ctr">
              <a:buNone/>
            </a:pPr>
            <a:r>
              <a:rPr lang="en-US" sz="1900" b="1" dirty="0">
                <a:solidFill>
                  <a:schemeClr val="tx2"/>
                </a:solidFill>
              </a:rPr>
              <a:t>updateEmployee</a:t>
            </a:r>
            <a:endParaRPr lang="en-US" sz="1900" dirty="0"/>
          </a:p>
        </p:txBody>
      </p:sp>
      <p:sp>
        <p:nvSpPr>
          <p:cNvPr id="22" name="op#68b"/>
          <p:cNvSpPr txBox="1"/>
          <p:nvPr/>
        </p:nvSpPr>
        <p:spPr>
          <a:xfrm>
            <a:off x="8403336" y="4069080"/>
            <a:ext cx="2880360" cy="1463040"/>
          </a:xfrm>
          <a:prstGeom prst="rect">
            <a:avLst/>
          </a:prstGeom>
          <a:noFill/>
          <a:ln/>
        </p:spPr>
        <p:txBody>
          <a:bodyPr wrap="square" lIns="0" tIns="0" rIns="0" bIns="0" rtlCol="0" anchor="t"/>
          <a:lstStyle/>
          <a:p>
            <a:pPr marL="0" indent="0" algn="ctr">
              <a:buNone/>
            </a:pPr>
            <a:r>
              <a:rPr lang="en-US" sz="1400" dirty="0">
                <a:solidFill>
                  <a:schemeClr val="tx1"/>
                </a:solidFill>
              </a:rPr>
              <a:t>Modification partielle : seuls les champs envoyés changent.</a:t>
            </a:r>
            <a:endParaRPr lang="en-US" sz="1400" dirty="0"/>
          </a:p>
        </p:txBody>
      </p:sp>
      <p:sp>
        <p:nvSpPr>
          <p:cNvPr id="26"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16</a:t>
            </a:fld>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anim calcmode="lin" valueType="num">
                                      <p:cBhvr additive="base">
                                        <p:cTn id="8" dur="500" fill="hold"/>
                                        <p:tgtEl>
                                          <p:spTgt spid="5"/>
                                        </p:tgtEl>
                                        <p:attrNameLst>
                                          <p:attrName>ppt_x</p:attrName>
                                        </p:attrNameLst>
                                      </p:cBhvr>
                                      <p:tavLst>
                                        <p:tav tm="0">
                                          <p:val>
                                            <p:strVal val="#ppt_x"/>
                                          </p:val>
                                        </p:tav>
                                        <p:tav tm="100000">
                                          <p:val>
                                            <p:strVal val="#ppt_x"/>
                                          </p:val>
                                        </p:tav>
                                      </p:tavLst>
                                    </p:anim>
                                    <p:anim calcmode="lin" valueType="num">
                                      <p:cBhvr additive="base">
                                        <p:cTn id="9" dur="5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anim calcmode="lin" valueType="num">
                                      <p:cBhvr additive="base">
                                        <p:cTn id="18" dur="500" fill="hold"/>
                                        <p:tgtEl>
                                          <p:spTgt spid="7"/>
                                        </p:tgtEl>
                                        <p:attrNameLst>
                                          <p:attrName>ppt_x</p:attrName>
                                        </p:attrNameLst>
                                      </p:cBhvr>
                                      <p:tavLst>
                                        <p:tav tm="0">
                                          <p:val>
                                            <p:strVal val="#ppt_x"/>
                                          </p:val>
                                        </p:tav>
                                        <p:tav tm="100000">
                                          <p:val>
                                            <p:strVal val="#ppt_x"/>
                                          </p:val>
                                        </p:tav>
                                      </p:tavLst>
                                    </p:anim>
                                    <p:anim calcmode="lin" valueType="num">
                                      <p:cBhvr additive="base">
                                        <p:cTn id="19" dur="500" fill="hold"/>
                                        <p:tgtEl>
                                          <p:spTgt spid="7"/>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anim calcmode="lin" valueType="num">
                                      <p:cBhvr additive="base">
                                        <p:cTn id="28" dur="500" fill="hold"/>
                                        <p:tgtEl>
                                          <p:spTgt spid="9"/>
                                        </p:tgtEl>
                                        <p:attrNameLst>
                                          <p:attrName>ppt_x</p:attrName>
                                        </p:attrNameLst>
                                      </p:cBhvr>
                                      <p:tavLst>
                                        <p:tav tm="0">
                                          <p:val>
                                            <p:strVal val="#ppt_x"/>
                                          </p:val>
                                        </p:tav>
                                        <p:tav tm="100000">
                                          <p:val>
                                            <p:strVal val="#ppt_x"/>
                                          </p:val>
                                        </p:tav>
                                      </p:tavLst>
                                    </p:anim>
                                    <p:anim calcmode="lin" valueType="num">
                                      <p:cBhvr additive="base">
                                        <p:cTn id="29" dur="500" fill="hold"/>
                                        <p:tgtEl>
                                          <p:spTgt spid="9"/>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anim calcmode="lin" valueType="num">
                                      <p:cBhvr additive="base">
                                        <p:cTn id="33" dur="500" fill="hold"/>
                                        <p:tgtEl>
                                          <p:spTgt spid="10"/>
                                        </p:tgtEl>
                                        <p:attrNameLst>
                                          <p:attrName>ppt_x</p:attrName>
                                        </p:attrNameLst>
                                      </p:cBhvr>
                                      <p:tavLst>
                                        <p:tav tm="0">
                                          <p:val>
                                            <p:strVal val="#ppt_x"/>
                                          </p:val>
                                        </p:tav>
                                        <p:tav tm="100000">
                                          <p:val>
                                            <p:strVal val="#ppt_x"/>
                                          </p:val>
                                        </p:tav>
                                      </p:tavLst>
                                    </p:anim>
                                    <p:anim calcmode="lin" valueType="num">
                                      <p:cBhvr additive="base">
                                        <p:cTn id="34" dur="500" fill="hold"/>
                                        <p:tgtEl>
                                          <p:spTgt spid="10"/>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22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anim calcmode="lin" valueType="num">
                                      <p:cBhvr additive="base">
                                        <p:cTn id="38" dur="500" fill="hold"/>
                                        <p:tgtEl>
                                          <p:spTgt spid="11"/>
                                        </p:tgtEl>
                                        <p:attrNameLst>
                                          <p:attrName>ppt_x</p:attrName>
                                        </p:attrNameLst>
                                      </p:cBhvr>
                                      <p:tavLst>
                                        <p:tav tm="0">
                                          <p:val>
                                            <p:strVal val="#ppt_x"/>
                                          </p:val>
                                        </p:tav>
                                        <p:tav tm="100000">
                                          <p:val>
                                            <p:strVal val="#ppt_x"/>
                                          </p:val>
                                        </p:tav>
                                      </p:tavLst>
                                    </p:anim>
                                    <p:anim calcmode="lin" valueType="num">
                                      <p:cBhvr additive="base">
                                        <p:cTn id="39" dur="500" fill="hold"/>
                                        <p:tgtEl>
                                          <p:spTgt spid="11"/>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22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00"/>
                                        <p:tgtEl>
                                          <p:spTgt spid="12"/>
                                        </p:tgtEl>
                                      </p:cBhvr>
                                    </p:animEffect>
                                    <p:anim calcmode="lin" valueType="num">
                                      <p:cBhvr additive="base">
                                        <p:cTn id="43" dur="500" fill="hold"/>
                                        <p:tgtEl>
                                          <p:spTgt spid="12"/>
                                        </p:tgtEl>
                                        <p:attrNameLst>
                                          <p:attrName>ppt_x</p:attrName>
                                        </p:attrNameLst>
                                      </p:cBhvr>
                                      <p:tavLst>
                                        <p:tav tm="0">
                                          <p:val>
                                            <p:strVal val="#ppt_x"/>
                                          </p:val>
                                        </p:tav>
                                        <p:tav tm="100000">
                                          <p:val>
                                            <p:strVal val="#ppt_x"/>
                                          </p:val>
                                        </p:tav>
                                      </p:tavLst>
                                    </p:anim>
                                    <p:anim calcmode="lin" valueType="num">
                                      <p:cBhvr additive="base">
                                        <p:cTn id="44" dur="500" fill="hold"/>
                                        <p:tgtEl>
                                          <p:spTgt spid="12"/>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22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anim calcmode="lin" valueType="num">
                                      <p:cBhvr additive="base">
                                        <p:cTn id="48" dur="500" fill="hold"/>
                                        <p:tgtEl>
                                          <p:spTgt spid="13"/>
                                        </p:tgtEl>
                                        <p:attrNameLst>
                                          <p:attrName>ppt_x</p:attrName>
                                        </p:attrNameLst>
                                      </p:cBhvr>
                                      <p:tavLst>
                                        <p:tav tm="0">
                                          <p:val>
                                            <p:strVal val="#ppt_x"/>
                                          </p:val>
                                        </p:tav>
                                        <p:tav tm="100000">
                                          <p:val>
                                            <p:strVal val="#ppt_x"/>
                                          </p:val>
                                        </p:tav>
                                      </p:tavLst>
                                    </p:anim>
                                    <p:anim calcmode="lin" valueType="num">
                                      <p:cBhvr additive="base">
                                        <p:cTn id="49" dur="500" fill="hold"/>
                                        <p:tgtEl>
                                          <p:spTgt spid="13"/>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22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500"/>
                                        <p:tgtEl>
                                          <p:spTgt spid="14"/>
                                        </p:tgtEl>
                                      </p:cBhvr>
                                    </p:animEffect>
                                    <p:anim calcmode="lin" valueType="num">
                                      <p:cBhvr additive="base">
                                        <p:cTn id="53" dur="500" fill="hold"/>
                                        <p:tgtEl>
                                          <p:spTgt spid="14"/>
                                        </p:tgtEl>
                                        <p:attrNameLst>
                                          <p:attrName>ppt_x</p:attrName>
                                        </p:attrNameLst>
                                      </p:cBhvr>
                                      <p:tavLst>
                                        <p:tav tm="0">
                                          <p:val>
                                            <p:strVal val="#ppt_x"/>
                                          </p:val>
                                        </p:tav>
                                        <p:tav tm="100000">
                                          <p:val>
                                            <p:strVal val="#ppt_x"/>
                                          </p:val>
                                        </p:tav>
                                      </p:tavLst>
                                    </p:anim>
                                    <p:anim calcmode="lin" valueType="num">
                                      <p:cBhvr additive="base">
                                        <p:cTn id="54" dur="500" fill="hold"/>
                                        <p:tgtEl>
                                          <p:spTgt spid="14"/>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22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500"/>
                                        <p:tgtEl>
                                          <p:spTgt spid="15"/>
                                        </p:tgtEl>
                                      </p:cBhvr>
                                    </p:animEffect>
                                    <p:anim calcmode="lin" valueType="num">
                                      <p:cBhvr additive="base">
                                        <p:cTn id="58" dur="500" fill="hold"/>
                                        <p:tgtEl>
                                          <p:spTgt spid="15"/>
                                        </p:tgtEl>
                                        <p:attrNameLst>
                                          <p:attrName>ppt_x</p:attrName>
                                        </p:attrNameLst>
                                      </p:cBhvr>
                                      <p:tavLst>
                                        <p:tav tm="0">
                                          <p:val>
                                            <p:strVal val="#ppt_x"/>
                                          </p:val>
                                        </p:tav>
                                        <p:tav tm="100000">
                                          <p:val>
                                            <p:strVal val="#ppt_x"/>
                                          </p:val>
                                        </p:tav>
                                      </p:tavLst>
                                    </p:anim>
                                    <p:anim calcmode="lin" valueType="num">
                                      <p:cBhvr additive="base">
                                        <p:cTn id="59" dur="500" fill="hold"/>
                                        <p:tgtEl>
                                          <p:spTgt spid="15"/>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22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500"/>
                                        <p:tgtEl>
                                          <p:spTgt spid="16"/>
                                        </p:tgtEl>
                                      </p:cBhvr>
                                    </p:animEffect>
                                    <p:anim calcmode="lin" valueType="num">
                                      <p:cBhvr additive="base">
                                        <p:cTn id="63" dur="500" fill="hold"/>
                                        <p:tgtEl>
                                          <p:spTgt spid="16"/>
                                        </p:tgtEl>
                                        <p:attrNameLst>
                                          <p:attrName>ppt_x</p:attrName>
                                        </p:attrNameLst>
                                      </p:cBhvr>
                                      <p:tavLst>
                                        <p:tav tm="0">
                                          <p:val>
                                            <p:strVal val="#ppt_x"/>
                                          </p:val>
                                        </p:tav>
                                        <p:tav tm="100000">
                                          <p:val>
                                            <p:strVal val="#ppt_x"/>
                                          </p:val>
                                        </p:tav>
                                      </p:tavLst>
                                    </p:anim>
                                    <p:anim calcmode="lin" valueType="num">
                                      <p:cBhvr additive="base">
                                        <p:cTn id="64" dur="500" fill="hold"/>
                                        <p:tgtEl>
                                          <p:spTgt spid="16"/>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44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500"/>
                                        <p:tgtEl>
                                          <p:spTgt spid="17"/>
                                        </p:tgtEl>
                                      </p:cBhvr>
                                    </p:animEffect>
                                    <p:anim calcmode="lin" valueType="num">
                                      <p:cBhvr additive="base">
                                        <p:cTn id="68" dur="500" fill="hold"/>
                                        <p:tgtEl>
                                          <p:spTgt spid="17"/>
                                        </p:tgtEl>
                                        <p:attrNameLst>
                                          <p:attrName>ppt_x</p:attrName>
                                        </p:attrNameLst>
                                      </p:cBhvr>
                                      <p:tavLst>
                                        <p:tav tm="0">
                                          <p:val>
                                            <p:strVal val="#ppt_x"/>
                                          </p:val>
                                        </p:tav>
                                        <p:tav tm="100000">
                                          <p:val>
                                            <p:strVal val="#ppt_x"/>
                                          </p:val>
                                        </p:tav>
                                      </p:tavLst>
                                    </p:anim>
                                    <p:anim calcmode="lin" valueType="num">
                                      <p:cBhvr additive="base">
                                        <p:cTn id="69" dur="500" fill="hold"/>
                                        <p:tgtEl>
                                          <p:spTgt spid="17"/>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440"/>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500"/>
                                        <p:tgtEl>
                                          <p:spTgt spid="18"/>
                                        </p:tgtEl>
                                      </p:cBhvr>
                                    </p:animEffect>
                                    <p:anim calcmode="lin" valueType="num">
                                      <p:cBhvr additive="base">
                                        <p:cTn id="73" dur="500" fill="hold"/>
                                        <p:tgtEl>
                                          <p:spTgt spid="18"/>
                                        </p:tgtEl>
                                        <p:attrNameLst>
                                          <p:attrName>ppt_x</p:attrName>
                                        </p:attrNameLst>
                                      </p:cBhvr>
                                      <p:tavLst>
                                        <p:tav tm="0">
                                          <p:val>
                                            <p:strVal val="#ppt_x"/>
                                          </p:val>
                                        </p:tav>
                                        <p:tav tm="100000">
                                          <p:val>
                                            <p:strVal val="#ppt_x"/>
                                          </p:val>
                                        </p:tav>
                                      </p:tavLst>
                                    </p:anim>
                                    <p:anim calcmode="lin" valueType="num">
                                      <p:cBhvr additive="base">
                                        <p:cTn id="74" dur="500" fill="hold"/>
                                        <p:tgtEl>
                                          <p:spTgt spid="18"/>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440"/>
                                  </p:stCondLst>
                                  <p:childTnLst>
                                    <p:set>
                                      <p:cBhvr>
                                        <p:cTn id="76" dur="1" fill="hold">
                                          <p:stCondLst>
                                            <p:cond delay="0"/>
                                          </p:stCondLst>
                                        </p:cTn>
                                        <p:tgtEl>
                                          <p:spTgt spid="19"/>
                                        </p:tgtEl>
                                        <p:attrNameLst>
                                          <p:attrName>style.visibility</p:attrName>
                                        </p:attrNameLst>
                                      </p:cBhvr>
                                      <p:to>
                                        <p:strVal val="visible"/>
                                      </p:to>
                                    </p:set>
                                    <p:animEffect transition="in" filter="fade">
                                      <p:cBhvr>
                                        <p:cTn id="77" dur="500"/>
                                        <p:tgtEl>
                                          <p:spTgt spid="19"/>
                                        </p:tgtEl>
                                      </p:cBhvr>
                                    </p:animEffect>
                                    <p:anim calcmode="lin" valueType="num">
                                      <p:cBhvr additive="base">
                                        <p:cTn id="78" dur="500" fill="hold"/>
                                        <p:tgtEl>
                                          <p:spTgt spid="19"/>
                                        </p:tgtEl>
                                        <p:attrNameLst>
                                          <p:attrName>ppt_x</p:attrName>
                                        </p:attrNameLst>
                                      </p:cBhvr>
                                      <p:tavLst>
                                        <p:tav tm="0">
                                          <p:val>
                                            <p:strVal val="#ppt_x"/>
                                          </p:val>
                                        </p:tav>
                                        <p:tav tm="100000">
                                          <p:val>
                                            <p:strVal val="#ppt_x"/>
                                          </p:val>
                                        </p:tav>
                                      </p:tavLst>
                                    </p:anim>
                                    <p:anim calcmode="lin" valueType="num">
                                      <p:cBhvr additive="base">
                                        <p:cTn id="79" dur="500" fill="hold"/>
                                        <p:tgtEl>
                                          <p:spTgt spid="19"/>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440"/>
                                  </p:stCondLst>
                                  <p:childTnLst>
                                    <p:set>
                                      <p:cBhvr>
                                        <p:cTn id="81" dur="1" fill="hold">
                                          <p:stCondLst>
                                            <p:cond delay="0"/>
                                          </p:stCondLst>
                                        </p:cTn>
                                        <p:tgtEl>
                                          <p:spTgt spid="20"/>
                                        </p:tgtEl>
                                        <p:attrNameLst>
                                          <p:attrName>style.visibility</p:attrName>
                                        </p:attrNameLst>
                                      </p:cBhvr>
                                      <p:to>
                                        <p:strVal val="visible"/>
                                      </p:to>
                                    </p:set>
                                    <p:animEffect transition="in" filter="fade">
                                      <p:cBhvr>
                                        <p:cTn id="82" dur="500"/>
                                        <p:tgtEl>
                                          <p:spTgt spid="20"/>
                                        </p:tgtEl>
                                      </p:cBhvr>
                                    </p:animEffect>
                                    <p:anim calcmode="lin" valueType="num">
                                      <p:cBhvr additive="base">
                                        <p:cTn id="83" dur="500" fill="hold"/>
                                        <p:tgtEl>
                                          <p:spTgt spid="20"/>
                                        </p:tgtEl>
                                        <p:attrNameLst>
                                          <p:attrName>ppt_x</p:attrName>
                                        </p:attrNameLst>
                                      </p:cBhvr>
                                      <p:tavLst>
                                        <p:tav tm="0">
                                          <p:val>
                                            <p:strVal val="#ppt_x"/>
                                          </p:val>
                                        </p:tav>
                                        <p:tav tm="100000">
                                          <p:val>
                                            <p:strVal val="#ppt_x"/>
                                          </p:val>
                                        </p:tav>
                                      </p:tavLst>
                                    </p:anim>
                                    <p:anim calcmode="lin" valueType="num">
                                      <p:cBhvr additive="base">
                                        <p:cTn id="84" dur="500" fill="hold"/>
                                        <p:tgtEl>
                                          <p:spTgt spid="20"/>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440"/>
                                  </p:stCondLst>
                                  <p:childTnLst>
                                    <p:set>
                                      <p:cBhvr>
                                        <p:cTn id="86" dur="1" fill="hold">
                                          <p:stCondLst>
                                            <p:cond delay="0"/>
                                          </p:stCondLst>
                                        </p:cTn>
                                        <p:tgtEl>
                                          <p:spTgt spid="21"/>
                                        </p:tgtEl>
                                        <p:attrNameLst>
                                          <p:attrName>style.visibility</p:attrName>
                                        </p:attrNameLst>
                                      </p:cBhvr>
                                      <p:to>
                                        <p:strVal val="visible"/>
                                      </p:to>
                                    </p:set>
                                    <p:animEffect transition="in" filter="fade">
                                      <p:cBhvr>
                                        <p:cTn id="87" dur="500"/>
                                        <p:tgtEl>
                                          <p:spTgt spid="21"/>
                                        </p:tgtEl>
                                      </p:cBhvr>
                                    </p:animEffect>
                                    <p:anim calcmode="lin" valueType="num">
                                      <p:cBhvr additive="base">
                                        <p:cTn id="88" dur="500" fill="hold"/>
                                        <p:tgtEl>
                                          <p:spTgt spid="21"/>
                                        </p:tgtEl>
                                        <p:attrNameLst>
                                          <p:attrName>ppt_x</p:attrName>
                                        </p:attrNameLst>
                                      </p:cBhvr>
                                      <p:tavLst>
                                        <p:tav tm="0">
                                          <p:val>
                                            <p:strVal val="#ppt_x"/>
                                          </p:val>
                                        </p:tav>
                                        <p:tav tm="100000">
                                          <p:val>
                                            <p:strVal val="#ppt_x"/>
                                          </p:val>
                                        </p:tav>
                                      </p:tavLst>
                                    </p:anim>
                                    <p:anim calcmode="lin" valueType="num">
                                      <p:cBhvr additive="base">
                                        <p:cTn id="89" dur="500" fill="hold"/>
                                        <p:tgtEl>
                                          <p:spTgt spid="21"/>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440"/>
                                  </p:stCondLst>
                                  <p:childTnLst>
                                    <p:set>
                                      <p:cBhvr>
                                        <p:cTn id="91" dur="1" fill="hold">
                                          <p:stCondLst>
                                            <p:cond delay="0"/>
                                          </p:stCondLst>
                                        </p:cTn>
                                        <p:tgtEl>
                                          <p:spTgt spid="22"/>
                                        </p:tgtEl>
                                        <p:attrNameLst>
                                          <p:attrName>style.visibility</p:attrName>
                                        </p:attrNameLst>
                                      </p:cBhvr>
                                      <p:to>
                                        <p:strVal val="visible"/>
                                      </p:to>
                                    </p:set>
                                    <p:animEffect transition="in" filter="fade">
                                      <p:cBhvr>
                                        <p:cTn id="92" dur="500"/>
                                        <p:tgtEl>
                                          <p:spTgt spid="22"/>
                                        </p:tgtEl>
                                      </p:cBhvr>
                                    </p:animEffect>
                                    <p:anim calcmode="lin" valueType="num">
                                      <p:cBhvr additive="base">
                                        <p:cTn id="93" dur="500" fill="hold"/>
                                        <p:tgtEl>
                                          <p:spTgt spid="22"/>
                                        </p:tgtEl>
                                        <p:attrNameLst>
                                          <p:attrName>ppt_x</p:attrName>
                                        </p:attrNameLst>
                                      </p:cBhvr>
                                      <p:tavLst>
                                        <p:tav tm="0">
                                          <p:val>
                                            <p:strVal val="#ppt_x"/>
                                          </p:val>
                                        </p:tav>
                                        <p:tav tm="100000">
                                          <p:val>
                                            <p:strVal val="#ppt_x"/>
                                          </p:val>
                                        </p:tav>
                                      </p:tavLst>
                                    </p:anim>
                                    <p:anim calcmode="lin" valueType="num">
                                      <p:cBhvr additive="base">
                                        <p:cTn id="94" dur="5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0" grpId="0" animBg="1"/>
      <p:bldP spid="11" grpId="0" animBg="1"/>
      <p:bldP spid="12" grpId="0" animBg="1"/>
      <p:bldP spid="14" grpId="0" animBg="1"/>
      <p:bldP spid="15" grpId="0" animBg="1"/>
      <p:bldP spid="16" grpId="0" animBg="1"/>
      <p:bldP spid="17" grpId="0" animBg="1"/>
      <p:bldP spid="18" grpId="0" animBg="1"/>
      <p:bldP spid="20" grpId="0" animBg="1"/>
      <p:bldP spid="21" grpId="0" animBg="1"/>
      <p:bldP spid="2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749808"/>
            <a:ext cx="11064240" cy="685800"/>
          </a:xfrm>
          <a:prstGeom prst="rect">
            <a:avLst/>
          </a:prstGeom>
          <a:noFill/>
          <a:ln/>
        </p:spPr>
        <p:txBody>
          <a:bodyPr wrap="square" lIns="0" tIns="0" rIns="0" bIns="0" rtlCol="0" anchor="ctr"/>
          <a:lstStyle/>
          <a:p>
            <a:pPr marL="0" indent="0" algn="l">
              <a:buNone/>
            </a:pPr>
            <a:r>
              <a:rPr lang="en-US" sz="3000" b="1" dirty="0">
                <a:solidFill>
                  <a:schemeClr val="tx2"/>
                </a:solidFill>
              </a:rPr>
              <a:t>Contrat WSDL et exemple d'appel</a:t>
            </a:r>
            <a:endParaRPr lang="en-US" sz="3000" dirty="0"/>
          </a:p>
        </p:txBody>
      </p:sp>
      <p:sp>
        <p:nvSpPr>
          <p:cNvPr id="3" name="pill#69"/>
          <p:cNvSpPr/>
          <p:nvPr/>
        </p:nvSpPr>
        <p:spPr>
          <a:xfrm>
            <a:off x="548640" y="384048"/>
            <a:ext cx="1133856" cy="292608"/>
          </a:xfrm>
          <a:prstGeom prst="roundRect">
            <a:avLst>
              <a:gd name="adj" fmla="val 50000"/>
            </a:avLst>
          </a:prstGeom>
          <a:solidFill>
            <a:schemeClr val="accent5"/>
          </a:solidFill>
          <a:ln/>
        </p:spPr>
      </p:sp>
      <p:sp>
        <p:nvSpPr>
          <p:cNvPr id="4" name="pill#69t"/>
          <p:cNvSpPr txBox="1"/>
          <p:nvPr/>
        </p:nvSpPr>
        <p:spPr>
          <a:xfrm>
            <a:off x="548640" y="384048"/>
            <a:ext cx="1133856" cy="292608"/>
          </a:xfrm>
          <a:prstGeom prst="rect">
            <a:avLst/>
          </a:prstGeom>
          <a:noFill/>
          <a:ln/>
        </p:spPr>
        <p:txBody>
          <a:bodyPr wrap="square" lIns="0" tIns="0" rIns="0" bIns="0" rtlCol="0" anchor="ctr"/>
          <a:lstStyle/>
          <a:p>
            <a:pPr marL="0" indent="0" algn="ctr">
              <a:buNone/>
            </a:pPr>
            <a:r>
              <a:rPr lang="en-US" sz="1100" b="1" dirty="0">
                <a:solidFill>
                  <a:schemeClr val="bg1"/>
                </a:solidFill>
              </a:rPr>
              <a:t>Service SOAP</a:t>
            </a:r>
            <a:endParaRPr lang="en-US" sz="1100" dirty="0"/>
          </a:p>
        </p:txBody>
      </p:sp>
      <p:sp>
        <p:nvSpPr>
          <p:cNvPr id="5" name="code"/>
          <p:cNvSpPr/>
          <p:nvPr/>
        </p:nvSpPr>
        <p:spPr>
          <a:xfrm>
            <a:off x="548640" y="1691640"/>
            <a:ext cx="6583680" cy="4297680"/>
          </a:xfrm>
          <a:prstGeom prst="roundRect">
            <a:avLst>
              <a:gd name="adj" fmla="val 2128"/>
            </a:avLst>
          </a:prstGeom>
          <a:solidFill>
            <a:srgbClr val="101A2E"/>
          </a:solidFill>
          <a:ln/>
        </p:spPr>
      </p:sp>
      <p:sp>
        <p:nvSpPr>
          <p:cNvPr id="6" name="codeT"/>
          <p:cNvSpPr txBox="1"/>
          <p:nvPr/>
        </p:nvSpPr>
        <p:spPr>
          <a:xfrm>
            <a:off x="822960" y="1920240"/>
            <a:ext cx="6126480" cy="3840480"/>
          </a:xfrm>
          <a:prstGeom prst="rect">
            <a:avLst/>
          </a:prstGeom>
          <a:noFill/>
          <a:ln/>
        </p:spPr>
        <p:txBody>
          <a:bodyPr wrap="square" lIns="0" tIns="0" rIns="0" bIns="0" rtlCol="0" anchor="t"/>
          <a:lstStyle/>
          <a:p>
            <a:pPr marL="0" indent="0">
              <a:buNone/>
            </a:pPr>
            <a:r>
              <a:rPr lang="en-US" sz="1300" dirty="0">
                <a:solidFill>
                  <a:srgbClr val="7FB4FF"/>
                </a:solidFill>
                <a:latin typeface="Courier New" pitchFamily="34" charset="0"/>
                <a:ea typeface="Courier New" pitchFamily="34" charset="-122"/>
                <a:cs typeface="Courier New" pitchFamily="34" charset="-120"/>
              </a:rPr>
              <a:t>&lt;soapenv:Envelope </a:t>
            </a:r>
            <a:r>
              <a:rPr lang="en-US" sz="1300" dirty="0">
                <a:solidFill>
                  <a:srgbClr val="9AA8C2"/>
                </a:solidFill>
                <a:latin typeface="Courier New" pitchFamily="34" charset="0"/>
                <a:ea typeface="Courier New" pitchFamily="34" charset="-122"/>
                <a:cs typeface="Courier New" pitchFamily="34" charset="-120"/>
              </a:rPr>
              <a:t>xmlns:emp=</a:t>
            </a:r>
            <a:r>
              <a:rPr lang="en-US" sz="1300" dirty="0">
                <a:solidFill>
                  <a:srgbClr val="F2B66D"/>
                </a:solidFill>
                <a:latin typeface="Courier New" pitchFamily="34" charset="0"/>
                <a:ea typeface="Courier New" pitchFamily="34" charset="-122"/>
                <a:cs typeface="Courier New" pitchFamily="34" charset="-120"/>
              </a:rPr>
              <a:t>"…/employes/v1"</a:t>
            </a:r>
            <a:r>
              <a:rPr lang="en-US" sz="1300" dirty="0">
                <a:solidFill>
                  <a:srgbClr val="7FB4FF"/>
                </a:solidFill>
                <a:latin typeface="Courier New" pitchFamily="34" charset="0"/>
                <a:ea typeface="Courier New" pitchFamily="34" charset="-122"/>
                <a:cs typeface="Courier New" pitchFamily="34" charset="-120"/>
              </a:rPr>
              <a:t>&gt;</a:t>
            </a:r>
            <a:endParaRPr lang="en-US" sz="1300" dirty="0"/>
          </a:p>
          <a:p>
            <a:pPr marL="0" indent="0">
              <a:buNone/>
            </a:pPr>
            <a:r>
              <a:rPr lang="en-US" sz="1300" dirty="0">
                <a:solidFill>
                  <a:srgbClr val="7FB4FF"/>
                </a:solidFill>
                <a:latin typeface="Courier New" pitchFamily="34" charset="0"/>
                <a:ea typeface="Courier New" pitchFamily="34" charset="-122"/>
                <a:cs typeface="Courier New" pitchFamily="34" charset="-120"/>
              </a:rPr>
              <a:t>  &lt;soapenv:Body&gt;</a:t>
            </a:r>
            <a:endParaRPr lang="en-US" sz="1300" dirty="0"/>
          </a:p>
          <a:p>
            <a:pPr marL="0" indent="0">
              <a:buNone/>
            </a:pPr>
            <a:r>
              <a:rPr lang="en-US" sz="1300" dirty="0">
                <a:solidFill>
                  <a:srgbClr val="5FD3C6"/>
                </a:solidFill>
                <a:latin typeface="Courier New" pitchFamily="34" charset="0"/>
                <a:ea typeface="Courier New" pitchFamily="34" charset="-122"/>
                <a:cs typeface="Courier New" pitchFamily="34" charset="-120"/>
              </a:rPr>
              <a:t>    &lt;emp:updateEmployeeRequest&gt;</a:t>
            </a:r>
            <a:endParaRPr lang="en-US" sz="1300" dirty="0"/>
          </a:p>
          <a:p>
            <a:pPr marL="0" indent="0">
              <a:buNone/>
            </a:pPr>
            <a:r>
              <a:rPr lang="en-US" sz="1300" dirty="0">
                <a:solidFill>
                  <a:srgbClr val="5FD3C6"/>
                </a:solidFill>
                <a:latin typeface="Courier New" pitchFamily="34" charset="0"/>
                <a:ea typeface="Courier New" pitchFamily="34" charset="-122"/>
                <a:cs typeface="Courier New" pitchFamily="34" charset="-120"/>
              </a:rPr>
              <a:t>      &lt;emp:matricule&gt;</a:t>
            </a:r>
            <a:r>
              <a:rPr lang="en-US" sz="1300" dirty="0">
                <a:solidFill>
                  <a:srgbClr val="FFFFFF"/>
                </a:solidFill>
                <a:latin typeface="Courier New" pitchFamily="34" charset="0"/>
                <a:ea typeface="Courier New" pitchFamily="34" charset="-122"/>
                <a:cs typeface="Courier New" pitchFamily="34" charset="-120"/>
              </a:rPr>
              <a:t>EMP-0002</a:t>
            </a:r>
            <a:r>
              <a:rPr lang="en-US" sz="1300" dirty="0">
                <a:solidFill>
                  <a:srgbClr val="5FD3C6"/>
                </a:solidFill>
                <a:latin typeface="Courier New" pitchFamily="34" charset="0"/>
                <a:ea typeface="Courier New" pitchFamily="34" charset="-122"/>
                <a:cs typeface="Courier New" pitchFamily="34" charset="-120"/>
              </a:rPr>
              <a:t>&lt;/emp:matricule&gt;</a:t>
            </a:r>
            <a:endParaRPr lang="en-US" sz="1300" dirty="0"/>
          </a:p>
          <a:p>
            <a:pPr marL="0" indent="0">
              <a:buNone/>
            </a:pPr>
            <a:r>
              <a:rPr lang="en-US" sz="1300" dirty="0">
                <a:solidFill>
                  <a:srgbClr val="5FD3C6"/>
                </a:solidFill>
                <a:latin typeface="Courier New" pitchFamily="34" charset="0"/>
                <a:ea typeface="Courier New" pitchFamily="34" charset="-122"/>
                <a:cs typeface="Courier New" pitchFamily="34" charset="-120"/>
              </a:rPr>
              <a:t>      &lt;emp:changes&gt;</a:t>
            </a:r>
            <a:endParaRPr lang="en-US" sz="1300" dirty="0"/>
          </a:p>
          <a:p>
            <a:pPr marL="0" indent="0">
              <a:buNone/>
            </a:pPr>
            <a:r>
              <a:rPr lang="en-US" sz="1300" dirty="0">
                <a:solidFill>
                  <a:srgbClr val="5FD3C6"/>
                </a:solidFill>
                <a:latin typeface="Courier New" pitchFamily="34" charset="0"/>
                <a:ea typeface="Courier New" pitchFamily="34" charset="-122"/>
                <a:cs typeface="Courier New" pitchFamily="34" charset="-120"/>
              </a:rPr>
              <a:t>        &lt;emp:poste&gt;</a:t>
            </a:r>
            <a:r>
              <a:rPr lang="en-US" sz="1300" dirty="0">
                <a:solidFill>
                  <a:srgbClr val="FFFFFF"/>
                </a:solidFill>
                <a:latin typeface="Courier New" pitchFamily="34" charset="0"/>
                <a:ea typeface="Courier New" pitchFamily="34" charset="-122"/>
                <a:cs typeface="Courier New" pitchFamily="34" charset="-120"/>
              </a:rPr>
              <a:t>Responsable infra</a:t>
            </a:r>
            <a:r>
              <a:rPr lang="en-US" sz="1300" dirty="0">
                <a:solidFill>
                  <a:srgbClr val="5FD3C6"/>
                </a:solidFill>
                <a:latin typeface="Courier New" pitchFamily="34" charset="0"/>
                <a:ea typeface="Courier New" pitchFamily="34" charset="-122"/>
                <a:cs typeface="Courier New" pitchFamily="34" charset="-120"/>
              </a:rPr>
              <a:t>&lt;/emp:poste&gt;</a:t>
            </a:r>
            <a:endParaRPr lang="en-US" sz="1300" dirty="0"/>
          </a:p>
          <a:p>
            <a:pPr marL="0" indent="0">
              <a:buNone/>
            </a:pPr>
            <a:r>
              <a:rPr lang="en-US" sz="1300" dirty="0">
                <a:solidFill>
                  <a:srgbClr val="5FD3C6"/>
                </a:solidFill>
                <a:latin typeface="Courier New" pitchFamily="34" charset="0"/>
                <a:ea typeface="Courier New" pitchFamily="34" charset="-122"/>
                <a:cs typeface="Courier New" pitchFamily="34" charset="-120"/>
              </a:rPr>
              <a:t>        &lt;emp:salaire&gt;</a:t>
            </a:r>
            <a:r>
              <a:rPr lang="en-US" sz="1300" dirty="0">
                <a:solidFill>
                  <a:srgbClr val="FFFFFF"/>
                </a:solidFill>
                <a:latin typeface="Courier New" pitchFamily="34" charset="0"/>
                <a:ea typeface="Courier New" pitchFamily="34" charset="-122"/>
                <a:cs typeface="Courier New" pitchFamily="34" charset="-120"/>
              </a:rPr>
              <a:t>850000.00</a:t>
            </a:r>
            <a:r>
              <a:rPr lang="en-US" sz="1300" dirty="0">
                <a:solidFill>
                  <a:srgbClr val="5FD3C6"/>
                </a:solidFill>
                <a:latin typeface="Courier New" pitchFamily="34" charset="0"/>
                <a:ea typeface="Courier New" pitchFamily="34" charset="-122"/>
                <a:cs typeface="Courier New" pitchFamily="34" charset="-120"/>
              </a:rPr>
              <a:t>&lt;/emp:salaire&gt;</a:t>
            </a:r>
            <a:endParaRPr lang="en-US" sz="1300" dirty="0"/>
          </a:p>
          <a:p>
            <a:pPr marL="0" indent="0">
              <a:buNone/>
            </a:pPr>
            <a:r>
              <a:rPr lang="en-US" sz="1300" dirty="0">
                <a:solidFill>
                  <a:srgbClr val="5FD3C6"/>
                </a:solidFill>
                <a:latin typeface="Courier New" pitchFamily="34" charset="0"/>
                <a:ea typeface="Courier New" pitchFamily="34" charset="-122"/>
                <a:cs typeface="Courier New" pitchFamily="34" charset="-120"/>
              </a:rPr>
              <a:t>      &lt;/emp:changes&gt;</a:t>
            </a:r>
            <a:endParaRPr lang="en-US" sz="1300" dirty="0"/>
          </a:p>
          <a:p>
            <a:pPr marL="0" indent="0">
              <a:buNone/>
            </a:pPr>
            <a:r>
              <a:rPr lang="en-US" sz="1300" dirty="0">
                <a:solidFill>
                  <a:srgbClr val="5FD3C6"/>
                </a:solidFill>
                <a:latin typeface="Courier New" pitchFamily="34" charset="0"/>
                <a:ea typeface="Courier New" pitchFamily="34" charset="-122"/>
                <a:cs typeface="Courier New" pitchFamily="34" charset="-120"/>
              </a:rPr>
              <a:t>    &lt;/emp:updateEmployeeRequest&gt;</a:t>
            </a:r>
            <a:endParaRPr lang="en-US" sz="1300" dirty="0"/>
          </a:p>
          <a:p>
            <a:pPr marL="0" indent="0">
              <a:buNone/>
            </a:pPr>
            <a:r>
              <a:rPr lang="en-US" sz="1300" dirty="0">
                <a:solidFill>
                  <a:srgbClr val="7FB4FF"/>
                </a:solidFill>
                <a:latin typeface="Courier New" pitchFamily="34" charset="0"/>
                <a:ea typeface="Courier New" pitchFamily="34" charset="-122"/>
                <a:cs typeface="Courier New" pitchFamily="34" charset="-120"/>
              </a:rPr>
              <a:t>  &lt;/soapenv:Body&gt;</a:t>
            </a:r>
            <a:endParaRPr lang="en-US" sz="1300" dirty="0"/>
          </a:p>
          <a:p>
            <a:pPr marL="0" indent="0">
              <a:buNone/>
            </a:pPr>
            <a:r>
              <a:rPr lang="en-US" sz="1300" dirty="0">
                <a:solidFill>
                  <a:srgbClr val="7FB4FF"/>
                </a:solidFill>
                <a:latin typeface="Courier New" pitchFamily="34" charset="0"/>
                <a:ea typeface="Courier New" pitchFamily="34" charset="-122"/>
                <a:cs typeface="Courier New" pitchFamily="34" charset="-120"/>
              </a:rPr>
              <a:t>&lt;/soapenv:Envelope&gt;</a:t>
            </a:r>
            <a:endParaRPr lang="en-US" sz="1300" dirty="0"/>
          </a:p>
        </p:txBody>
      </p:sp>
      <p:sp>
        <p:nvSpPr>
          <p:cNvPr id="7" name="pt#70o"/>
          <p:cNvSpPr/>
          <p:nvPr/>
        </p:nvSpPr>
        <p:spPr>
          <a:xfrm>
            <a:off x="7498080" y="1810512"/>
            <a:ext cx="384048" cy="384048"/>
          </a:xfrm>
          <a:prstGeom prst="ellipse">
            <a:avLst/>
          </a:prstGeom>
          <a:solidFill>
            <a:schemeClr val="accent5"/>
          </a:solidFill>
          <a:ln/>
        </p:spPr>
      </p:sp>
      <p:sp>
        <p:nvSpPr>
          <p:cNvPr id="8" name="pt#70n"/>
          <p:cNvSpPr txBox="1"/>
          <p:nvPr/>
        </p:nvSpPr>
        <p:spPr>
          <a:xfrm>
            <a:off x="7498080" y="1810512"/>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9" name="pt#70t"/>
          <p:cNvSpPr txBox="1"/>
          <p:nvPr/>
        </p:nvSpPr>
        <p:spPr>
          <a:xfrm>
            <a:off x="8046720" y="1737360"/>
            <a:ext cx="3566160" cy="960120"/>
          </a:xfrm>
          <a:prstGeom prst="rect">
            <a:avLst/>
          </a:prstGeom>
          <a:noFill/>
          <a:ln/>
        </p:spPr>
        <p:txBody>
          <a:bodyPr wrap="square" lIns="0" tIns="0" rIns="0" bIns="0" rtlCol="0" anchor="t"/>
          <a:lstStyle/>
          <a:p>
            <a:pPr marL="0" indent="0">
              <a:buNone/>
            </a:pPr>
            <a:r>
              <a:rPr lang="en-US" sz="1600" b="1" dirty="0">
                <a:solidFill>
                  <a:schemeClr val="tx2"/>
                </a:solidFill>
              </a:rPr>
              <a:t>Contract-first</a:t>
            </a:r>
            <a:endParaRPr lang="en-US" sz="1300" dirty="0"/>
          </a:p>
          <a:p>
            <a:pPr marL="0" indent="0">
              <a:buNone/>
            </a:pPr>
            <a:r>
              <a:rPr lang="en-US" sz="1300" dirty="0">
                <a:solidFill>
                  <a:schemeClr val="tx1"/>
                </a:solidFill>
              </a:rPr>
              <a:t>Le WSDL est écrit d'abord ; le code Java en est généré.</a:t>
            </a:r>
            <a:endParaRPr lang="en-US" sz="1300" dirty="0"/>
          </a:p>
        </p:txBody>
      </p:sp>
      <p:sp>
        <p:nvSpPr>
          <p:cNvPr id="10" name="pt#71o"/>
          <p:cNvSpPr/>
          <p:nvPr/>
        </p:nvSpPr>
        <p:spPr>
          <a:xfrm>
            <a:off x="7498080" y="2889504"/>
            <a:ext cx="384048" cy="384048"/>
          </a:xfrm>
          <a:prstGeom prst="ellipse">
            <a:avLst/>
          </a:prstGeom>
          <a:solidFill>
            <a:schemeClr val="accent5"/>
          </a:solidFill>
          <a:ln/>
        </p:spPr>
      </p:sp>
      <p:sp>
        <p:nvSpPr>
          <p:cNvPr id="11" name="pt#71n"/>
          <p:cNvSpPr txBox="1"/>
          <p:nvPr/>
        </p:nvSpPr>
        <p:spPr>
          <a:xfrm>
            <a:off x="7498080" y="2889504"/>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2" name="pt#71t"/>
          <p:cNvSpPr txBox="1"/>
          <p:nvPr/>
        </p:nvSpPr>
        <p:spPr>
          <a:xfrm>
            <a:off x="8046720" y="2816352"/>
            <a:ext cx="3566160" cy="960120"/>
          </a:xfrm>
          <a:prstGeom prst="rect">
            <a:avLst/>
          </a:prstGeom>
          <a:noFill/>
          <a:ln/>
        </p:spPr>
        <p:txBody>
          <a:bodyPr wrap="square" lIns="0" tIns="0" rIns="0" bIns="0" rtlCol="0" anchor="t"/>
          <a:lstStyle/>
          <a:p>
            <a:pPr marL="0" indent="0">
              <a:buNone/>
            </a:pPr>
            <a:r>
              <a:rPr lang="en-US" sz="1600" b="1" dirty="0">
                <a:solidFill>
                  <a:schemeClr val="tx2"/>
                </a:solidFill>
              </a:rPr>
              <a:t>Publié tel quel</a:t>
            </a:r>
            <a:endParaRPr lang="en-US" sz="1300" dirty="0"/>
          </a:p>
          <a:p>
            <a:pPr marL="0" indent="0">
              <a:buNone/>
            </a:pPr>
            <a:r>
              <a:rPr lang="en-US" sz="1300" dirty="0">
                <a:solidFill>
                  <a:schemeClr val="tx1"/>
                </a:solidFill>
              </a:rPr>
              <a:t>localhost:8080/services/EmployeeService?wsdl</a:t>
            </a:r>
            <a:endParaRPr lang="en-US" sz="1300" dirty="0"/>
          </a:p>
        </p:txBody>
      </p:sp>
      <p:sp>
        <p:nvSpPr>
          <p:cNvPr id="13" name="pt#72o"/>
          <p:cNvSpPr/>
          <p:nvPr/>
        </p:nvSpPr>
        <p:spPr>
          <a:xfrm>
            <a:off x="7498080" y="3968496"/>
            <a:ext cx="384048" cy="384048"/>
          </a:xfrm>
          <a:prstGeom prst="ellipse">
            <a:avLst/>
          </a:prstGeom>
          <a:solidFill>
            <a:schemeClr val="accent5"/>
          </a:solidFill>
          <a:ln/>
        </p:spPr>
      </p:sp>
      <p:sp>
        <p:nvSpPr>
          <p:cNvPr id="14" name="pt#72n"/>
          <p:cNvSpPr txBox="1"/>
          <p:nvPr/>
        </p:nvSpPr>
        <p:spPr>
          <a:xfrm>
            <a:off x="7498080" y="3968496"/>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5" name="pt#72t"/>
          <p:cNvSpPr txBox="1"/>
          <p:nvPr/>
        </p:nvSpPr>
        <p:spPr>
          <a:xfrm>
            <a:off x="8046720" y="3895344"/>
            <a:ext cx="3566160" cy="960120"/>
          </a:xfrm>
          <a:prstGeom prst="rect">
            <a:avLst/>
          </a:prstGeom>
          <a:noFill/>
          <a:ln/>
        </p:spPr>
        <p:txBody>
          <a:bodyPr wrap="square" lIns="0" tIns="0" rIns="0" bIns="0" rtlCol="0" anchor="t"/>
          <a:lstStyle/>
          <a:p>
            <a:pPr marL="0" indent="0">
              <a:buNone/>
            </a:pPr>
            <a:r>
              <a:rPr lang="en-US" sz="1600" b="1" dirty="0">
                <a:solidFill>
                  <a:schemeClr val="tx2"/>
                </a:solidFill>
              </a:rPr>
              <a:t>Transaction unique</a:t>
            </a:r>
            <a:endParaRPr lang="en-US" sz="1300" dirty="0"/>
          </a:p>
          <a:p>
            <a:pPr marL="0" indent="0">
              <a:buNone/>
            </a:pPr>
            <a:r>
              <a:rPr lang="en-US" sz="1300" dirty="0">
                <a:solidFill>
                  <a:schemeClr val="tx1"/>
                </a:solidFill>
              </a:rPr>
              <a:t>La modification et l'outbox sont enregistrées ensemble.</a:t>
            </a:r>
            <a:endParaRPr lang="en-US" sz="1300" dirty="0"/>
          </a:p>
        </p:txBody>
      </p:sp>
      <p:sp>
        <p:nvSpPr>
          <p:cNvPr id="16" name="pt#73o"/>
          <p:cNvSpPr/>
          <p:nvPr/>
        </p:nvSpPr>
        <p:spPr>
          <a:xfrm>
            <a:off x="7498080" y="5047488"/>
            <a:ext cx="384048" cy="384048"/>
          </a:xfrm>
          <a:prstGeom prst="ellipse">
            <a:avLst/>
          </a:prstGeom>
          <a:solidFill>
            <a:schemeClr val="accent5"/>
          </a:solidFill>
          <a:ln/>
        </p:spPr>
      </p:sp>
      <p:sp>
        <p:nvSpPr>
          <p:cNvPr id="17" name="pt#73n"/>
          <p:cNvSpPr txBox="1"/>
          <p:nvPr/>
        </p:nvSpPr>
        <p:spPr>
          <a:xfrm>
            <a:off x="7498080" y="5047488"/>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8" name="pt#73t"/>
          <p:cNvSpPr txBox="1"/>
          <p:nvPr/>
        </p:nvSpPr>
        <p:spPr>
          <a:xfrm>
            <a:off x="8046720" y="4974336"/>
            <a:ext cx="3566160" cy="960120"/>
          </a:xfrm>
          <a:prstGeom prst="rect">
            <a:avLst/>
          </a:prstGeom>
          <a:noFill/>
          <a:ln/>
        </p:spPr>
        <p:txBody>
          <a:bodyPr wrap="square" lIns="0" tIns="0" rIns="0" bIns="0" rtlCol="0" anchor="t"/>
          <a:lstStyle/>
          <a:p>
            <a:pPr marL="0" indent="0">
              <a:buNone/>
            </a:pPr>
            <a:r>
              <a:rPr lang="en-US" sz="1600" b="1" dirty="0">
                <a:solidFill>
                  <a:schemeClr val="tx2"/>
                </a:solidFill>
              </a:rPr>
              <a:t>Mesuré</a:t>
            </a:r>
            <a:endParaRPr lang="en-US" sz="1300" dirty="0"/>
          </a:p>
          <a:p>
            <a:pPr marL="0" indent="0">
              <a:buNone/>
            </a:pPr>
            <a:r>
              <a:rPr lang="en-US" sz="1300" dirty="0">
                <a:solidFill>
                  <a:schemeClr val="tx1"/>
                </a:solidFill>
              </a:rPr>
              <a:t>Chaque appel produit des métriques lues par Netdata.</a:t>
            </a:r>
            <a:endParaRPr lang="en-US" sz="1300" dirty="0"/>
          </a:p>
        </p:txBody>
      </p:sp>
      <p:sp>
        <p:nvSpPr>
          <p:cNvPr id="26"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17</a:t>
            </a:fld>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42" presetClass="entr" presetSubtype="0" fill="hold" grpId="0" nodeType="withEffect">
                                  <p:stCondLst>
                                    <p:cond delay="22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anim calcmode="lin" valueType="num">
                                      <p:cBhvr additive="base">
                                        <p:cTn id="14" dur="500" fill="hold"/>
                                        <p:tgtEl>
                                          <p:spTgt spid="7"/>
                                        </p:tgtEl>
                                        <p:attrNameLst>
                                          <p:attrName>ppt_x</p:attrName>
                                        </p:attrNameLst>
                                      </p:cBhvr>
                                      <p:tavLst>
                                        <p:tav tm="0">
                                          <p:val>
                                            <p:strVal val="#ppt_x"/>
                                          </p:val>
                                        </p:tav>
                                        <p:tav tm="100000">
                                          <p:val>
                                            <p:strVal val="#ppt_x"/>
                                          </p:val>
                                        </p:tav>
                                      </p:tavLst>
                                    </p:anim>
                                    <p:anim calcmode="lin" valueType="num">
                                      <p:cBhvr additive="base">
                                        <p:cTn id="15" dur="500" fill="hold"/>
                                        <p:tgtEl>
                                          <p:spTgt spid="7"/>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22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22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anim calcmode="lin" valueType="num">
                                      <p:cBhvr additive="base">
                                        <p:cTn id="24" dur="500" fill="hold"/>
                                        <p:tgtEl>
                                          <p:spTgt spid="9"/>
                                        </p:tgtEl>
                                        <p:attrNameLst>
                                          <p:attrName>ppt_x</p:attrName>
                                        </p:attrNameLst>
                                      </p:cBhvr>
                                      <p:tavLst>
                                        <p:tav tm="0">
                                          <p:val>
                                            <p:strVal val="#ppt_x"/>
                                          </p:val>
                                        </p:tav>
                                        <p:tav tm="100000">
                                          <p:val>
                                            <p:strVal val="#ppt_x"/>
                                          </p:val>
                                        </p:tav>
                                      </p:tavLst>
                                    </p:anim>
                                    <p:anim calcmode="lin" valueType="num">
                                      <p:cBhvr additive="base">
                                        <p:cTn id="25" dur="500" fill="hold"/>
                                        <p:tgtEl>
                                          <p:spTgt spid="9"/>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44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anim calcmode="lin" valueType="num">
                                      <p:cBhvr additive="base">
                                        <p:cTn id="29" dur="500" fill="hold"/>
                                        <p:tgtEl>
                                          <p:spTgt spid="10"/>
                                        </p:tgtEl>
                                        <p:attrNameLst>
                                          <p:attrName>ppt_x</p:attrName>
                                        </p:attrNameLst>
                                      </p:cBhvr>
                                      <p:tavLst>
                                        <p:tav tm="0">
                                          <p:val>
                                            <p:strVal val="#ppt_x"/>
                                          </p:val>
                                        </p:tav>
                                        <p:tav tm="100000">
                                          <p:val>
                                            <p:strVal val="#ppt_x"/>
                                          </p:val>
                                        </p:tav>
                                      </p:tavLst>
                                    </p:anim>
                                    <p:anim calcmode="lin" valueType="num">
                                      <p:cBhvr additive="base">
                                        <p:cTn id="30" dur="500" fill="hold"/>
                                        <p:tgtEl>
                                          <p:spTgt spid="10"/>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44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anim calcmode="lin" valueType="num">
                                      <p:cBhvr additive="base">
                                        <p:cTn id="34" dur="500" fill="hold"/>
                                        <p:tgtEl>
                                          <p:spTgt spid="11"/>
                                        </p:tgtEl>
                                        <p:attrNameLst>
                                          <p:attrName>ppt_x</p:attrName>
                                        </p:attrNameLst>
                                      </p:cBhvr>
                                      <p:tavLst>
                                        <p:tav tm="0">
                                          <p:val>
                                            <p:strVal val="#ppt_x"/>
                                          </p:val>
                                        </p:tav>
                                        <p:tav tm="100000">
                                          <p:val>
                                            <p:strVal val="#ppt_x"/>
                                          </p:val>
                                        </p:tav>
                                      </p:tavLst>
                                    </p:anim>
                                    <p:anim calcmode="lin" valueType="num">
                                      <p:cBhvr additive="base">
                                        <p:cTn id="35" dur="500" fill="hold"/>
                                        <p:tgtEl>
                                          <p:spTgt spid="11"/>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44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anim calcmode="lin" valueType="num">
                                      <p:cBhvr additive="base">
                                        <p:cTn id="39" dur="500" fill="hold"/>
                                        <p:tgtEl>
                                          <p:spTgt spid="12"/>
                                        </p:tgtEl>
                                        <p:attrNameLst>
                                          <p:attrName>ppt_x</p:attrName>
                                        </p:attrNameLst>
                                      </p:cBhvr>
                                      <p:tavLst>
                                        <p:tav tm="0">
                                          <p:val>
                                            <p:strVal val="#ppt_x"/>
                                          </p:val>
                                        </p:tav>
                                        <p:tav tm="100000">
                                          <p:val>
                                            <p:strVal val="#ppt_x"/>
                                          </p:val>
                                        </p:tav>
                                      </p:tavLst>
                                    </p:anim>
                                    <p:anim calcmode="lin" valueType="num">
                                      <p:cBhvr additive="base">
                                        <p:cTn id="40" dur="500" fill="hold"/>
                                        <p:tgtEl>
                                          <p:spTgt spid="12"/>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66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500"/>
                                        <p:tgtEl>
                                          <p:spTgt spid="13"/>
                                        </p:tgtEl>
                                      </p:cBhvr>
                                    </p:animEffect>
                                    <p:anim calcmode="lin" valueType="num">
                                      <p:cBhvr additive="base">
                                        <p:cTn id="44" dur="500" fill="hold"/>
                                        <p:tgtEl>
                                          <p:spTgt spid="13"/>
                                        </p:tgtEl>
                                        <p:attrNameLst>
                                          <p:attrName>ppt_x</p:attrName>
                                        </p:attrNameLst>
                                      </p:cBhvr>
                                      <p:tavLst>
                                        <p:tav tm="0">
                                          <p:val>
                                            <p:strVal val="#ppt_x"/>
                                          </p:val>
                                        </p:tav>
                                        <p:tav tm="100000">
                                          <p:val>
                                            <p:strVal val="#ppt_x"/>
                                          </p:val>
                                        </p:tav>
                                      </p:tavLst>
                                    </p:anim>
                                    <p:anim calcmode="lin" valueType="num">
                                      <p:cBhvr additive="base">
                                        <p:cTn id="45" dur="500" fill="hold"/>
                                        <p:tgtEl>
                                          <p:spTgt spid="13"/>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660"/>
                                  </p:stCondLst>
                                  <p:childTnLst>
                                    <p:set>
                                      <p:cBhvr>
                                        <p:cTn id="47" dur="1" fill="hold">
                                          <p:stCondLst>
                                            <p:cond delay="0"/>
                                          </p:stCondLst>
                                        </p:cTn>
                                        <p:tgtEl>
                                          <p:spTgt spid="14"/>
                                        </p:tgtEl>
                                        <p:attrNameLst>
                                          <p:attrName>style.visibility</p:attrName>
                                        </p:attrNameLst>
                                      </p:cBhvr>
                                      <p:to>
                                        <p:strVal val="visible"/>
                                      </p:to>
                                    </p:set>
                                    <p:animEffect transition="in" filter="fade">
                                      <p:cBhvr>
                                        <p:cTn id="48" dur="500"/>
                                        <p:tgtEl>
                                          <p:spTgt spid="14"/>
                                        </p:tgtEl>
                                      </p:cBhvr>
                                    </p:animEffect>
                                    <p:anim calcmode="lin" valueType="num">
                                      <p:cBhvr additive="base">
                                        <p:cTn id="49" dur="500" fill="hold"/>
                                        <p:tgtEl>
                                          <p:spTgt spid="14"/>
                                        </p:tgtEl>
                                        <p:attrNameLst>
                                          <p:attrName>ppt_x</p:attrName>
                                        </p:attrNameLst>
                                      </p:cBhvr>
                                      <p:tavLst>
                                        <p:tav tm="0">
                                          <p:val>
                                            <p:strVal val="#ppt_x"/>
                                          </p:val>
                                        </p:tav>
                                        <p:tav tm="100000">
                                          <p:val>
                                            <p:strVal val="#ppt_x"/>
                                          </p:val>
                                        </p:tav>
                                      </p:tavLst>
                                    </p:anim>
                                    <p:anim calcmode="lin" valueType="num">
                                      <p:cBhvr additive="base">
                                        <p:cTn id="50" dur="500" fill="hold"/>
                                        <p:tgtEl>
                                          <p:spTgt spid="14"/>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660"/>
                                  </p:stCondLst>
                                  <p:childTnLst>
                                    <p:set>
                                      <p:cBhvr>
                                        <p:cTn id="52" dur="1" fill="hold">
                                          <p:stCondLst>
                                            <p:cond delay="0"/>
                                          </p:stCondLst>
                                        </p:cTn>
                                        <p:tgtEl>
                                          <p:spTgt spid="15"/>
                                        </p:tgtEl>
                                        <p:attrNameLst>
                                          <p:attrName>style.visibility</p:attrName>
                                        </p:attrNameLst>
                                      </p:cBhvr>
                                      <p:to>
                                        <p:strVal val="visible"/>
                                      </p:to>
                                    </p:set>
                                    <p:animEffect transition="in" filter="fade">
                                      <p:cBhvr>
                                        <p:cTn id="53" dur="500"/>
                                        <p:tgtEl>
                                          <p:spTgt spid="15"/>
                                        </p:tgtEl>
                                      </p:cBhvr>
                                    </p:animEffect>
                                    <p:anim calcmode="lin" valueType="num">
                                      <p:cBhvr additive="base">
                                        <p:cTn id="54" dur="500" fill="hold"/>
                                        <p:tgtEl>
                                          <p:spTgt spid="15"/>
                                        </p:tgtEl>
                                        <p:attrNameLst>
                                          <p:attrName>ppt_x</p:attrName>
                                        </p:attrNameLst>
                                      </p:cBhvr>
                                      <p:tavLst>
                                        <p:tav tm="0">
                                          <p:val>
                                            <p:strVal val="#ppt_x"/>
                                          </p:val>
                                        </p:tav>
                                        <p:tav tm="100000">
                                          <p:val>
                                            <p:strVal val="#ppt_x"/>
                                          </p:val>
                                        </p:tav>
                                      </p:tavLst>
                                    </p:anim>
                                    <p:anim calcmode="lin" valueType="num">
                                      <p:cBhvr additive="base">
                                        <p:cTn id="55" dur="500" fill="hold"/>
                                        <p:tgtEl>
                                          <p:spTgt spid="15"/>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88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00"/>
                                        <p:tgtEl>
                                          <p:spTgt spid="16"/>
                                        </p:tgtEl>
                                      </p:cBhvr>
                                    </p:animEffect>
                                    <p:anim calcmode="lin" valueType="num">
                                      <p:cBhvr additive="base">
                                        <p:cTn id="59" dur="500" fill="hold"/>
                                        <p:tgtEl>
                                          <p:spTgt spid="16"/>
                                        </p:tgtEl>
                                        <p:attrNameLst>
                                          <p:attrName>ppt_x</p:attrName>
                                        </p:attrNameLst>
                                      </p:cBhvr>
                                      <p:tavLst>
                                        <p:tav tm="0">
                                          <p:val>
                                            <p:strVal val="#ppt_x"/>
                                          </p:val>
                                        </p:tav>
                                        <p:tav tm="100000">
                                          <p:val>
                                            <p:strVal val="#ppt_x"/>
                                          </p:val>
                                        </p:tav>
                                      </p:tavLst>
                                    </p:anim>
                                    <p:anim calcmode="lin" valueType="num">
                                      <p:cBhvr additive="base">
                                        <p:cTn id="60" dur="500" fill="hold"/>
                                        <p:tgtEl>
                                          <p:spTgt spid="16"/>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880"/>
                                  </p:stCondLst>
                                  <p:childTnLst>
                                    <p:set>
                                      <p:cBhvr>
                                        <p:cTn id="62" dur="1" fill="hold">
                                          <p:stCondLst>
                                            <p:cond delay="0"/>
                                          </p:stCondLst>
                                        </p:cTn>
                                        <p:tgtEl>
                                          <p:spTgt spid="17"/>
                                        </p:tgtEl>
                                        <p:attrNameLst>
                                          <p:attrName>style.visibility</p:attrName>
                                        </p:attrNameLst>
                                      </p:cBhvr>
                                      <p:to>
                                        <p:strVal val="visible"/>
                                      </p:to>
                                    </p:set>
                                    <p:animEffect transition="in" filter="fade">
                                      <p:cBhvr>
                                        <p:cTn id="63" dur="500"/>
                                        <p:tgtEl>
                                          <p:spTgt spid="17"/>
                                        </p:tgtEl>
                                      </p:cBhvr>
                                    </p:animEffect>
                                    <p:anim calcmode="lin" valueType="num">
                                      <p:cBhvr additive="base">
                                        <p:cTn id="64" dur="500" fill="hold"/>
                                        <p:tgtEl>
                                          <p:spTgt spid="17"/>
                                        </p:tgtEl>
                                        <p:attrNameLst>
                                          <p:attrName>ppt_x</p:attrName>
                                        </p:attrNameLst>
                                      </p:cBhvr>
                                      <p:tavLst>
                                        <p:tav tm="0">
                                          <p:val>
                                            <p:strVal val="#ppt_x"/>
                                          </p:val>
                                        </p:tav>
                                        <p:tav tm="100000">
                                          <p:val>
                                            <p:strVal val="#ppt_x"/>
                                          </p:val>
                                        </p:tav>
                                      </p:tavLst>
                                    </p:anim>
                                    <p:anim calcmode="lin" valueType="num">
                                      <p:cBhvr additive="base">
                                        <p:cTn id="65" dur="500" fill="hold"/>
                                        <p:tgtEl>
                                          <p:spTgt spid="17"/>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880"/>
                                  </p:stCondLst>
                                  <p:childTnLst>
                                    <p:set>
                                      <p:cBhvr>
                                        <p:cTn id="67" dur="1" fill="hold">
                                          <p:stCondLst>
                                            <p:cond delay="0"/>
                                          </p:stCondLst>
                                        </p:cTn>
                                        <p:tgtEl>
                                          <p:spTgt spid="18"/>
                                        </p:tgtEl>
                                        <p:attrNameLst>
                                          <p:attrName>style.visibility</p:attrName>
                                        </p:attrNameLst>
                                      </p:cBhvr>
                                      <p:to>
                                        <p:strVal val="visible"/>
                                      </p:to>
                                    </p:set>
                                    <p:animEffect transition="in" filter="fade">
                                      <p:cBhvr>
                                        <p:cTn id="68" dur="500"/>
                                        <p:tgtEl>
                                          <p:spTgt spid="18"/>
                                        </p:tgtEl>
                                      </p:cBhvr>
                                    </p:animEffect>
                                    <p:anim calcmode="lin" valueType="num">
                                      <p:cBhvr additive="base">
                                        <p:cTn id="69" dur="500" fill="hold"/>
                                        <p:tgtEl>
                                          <p:spTgt spid="18"/>
                                        </p:tgtEl>
                                        <p:attrNameLst>
                                          <p:attrName>ppt_x</p:attrName>
                                        </p:attrNameLst>
                                      </p:cBhvr>
                                      <p:tavLst>
                                        <p:tav tm="0">
                                          <p:val>
                                            <p:strVal val="#ppt_x"/>
                                          </p:val>
                                        </p:tav>
                                        <p:tav tm="100000">
                                          <p:val>
                                            <p:strVal val="#ppt_x"/>
                                          </p:val>
                                        </p:tav>
                                      </p:tavLst>
                                    </p:anim>
                                    <p:anim calcmode="lin" valueType="num">
                                      <p:cBhvr additive="base">
                                        <p:cTn id="70" dur="5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749808"/>
            <a:ext cx="11064240" cy="685800"/>
          </a:xfrm>
          <a:prstGeom prst="rect">
            <a:avLst/>
          </a:prstGeom>
          <a:noFill/>
          <a:ln/>
        </p:spPr>
        <p:txBody>
          <a:bodyPr wrap="square" lIns="0" tIns="0" rIns="0" bIns="0" rtlCol="0" anchor="ctr"/>
          <a:lstStyle/>
          <a:p>
            <a:pPr marL="0" indent="0" algn="l">
              <a:buNone/>
            </a:pPr>
            <a:r>
              <a:rPr lang="en-US" sz="3000" b="1" dirty="0">
                <a:solidFill>
                  <a:schemeClr val="tx2"/>
                </a:solidFill>
              </a:rPr>
              <a:t>Gestion des erreurs SOAP</a:t>
            </a:r>
            <a:endParaRPr lang="en-US" sz="3000" dirty="0"/>
          </a:p>
        </p:txBody>
      </p:sp>
      <p:sp>
        <p:nvSpPr>
          <p:cNvPr id="3" name="pill#74"/>
          <p:cNvSpPr/>
          <p:nvPr/>
        </p:nvSpPr>
        <p:spPr>
          <a:xfrm>
            <a:off x="548640" y="384048"/>
            <a:ext cx="1133856" cy="292608"/>
          </a:xfrm>
          <a:prstGeom prst="roundRect">
            <a:avLst>
              <a:gd name="adj" fmla="val 50000"/>
            </a:avLst>
          </a:prstGeom>
          <a:solidFill>
            <a:schemeClr val="accent5"/>
          </a:solidFill>
          <a:ln/>
        </p:spPr>
      </p:sp>
      <p:sp>
        <p:nvSpPr>
          <p:cNvPr id="4" name="pill#74t"/>
          <p:cNvSpPr txBox="1"/>
          <p:nvPr/>
        </p:nvSpPr>
        <p:spPr>
          <a:xfrm>
            <a:off x="548640" y="384048"/>
            <a:ext cx="1133856" cy="292608"/>
          </a:xfrm>
          <a:prstGeom prst="rect">
            <a:avLst/>
          </a:prstGeom>
          <a:noFill/>
          <a:ln/>
        </p:spPr>
        <p:txBody>
          <a:bodyPr wrap="square" lIns="0" tIns="0" rIns="0" bIns="0" rtlCol="0" anchor="ctr"/>
          <a:lstStyle/>
          <a:p>
            <a:pPr marL="0" indent="0" algn="ctr">
              <a:buNone/>
            </a:pPr>
            <a:r>
              <a:rPr lang="en-US" sz="1100" b="1" dirty="0">
                <a:solidFill>
                  <a:schemeClr val="bg1"/>
                </a:solidFill>
              </a:rPr>
              <a:t>Service SOAP</a:t>
            </a:r>
            <a:endParaRPr lang="en-US" sz="1100" dirty="0"/>
          </a:p>
        </p:txBody>
      </p:sp>
      <p:sp>
        <p:nvSpPr>
          <p:cNvPr id="5" name="ft#75"/>
          <p:cNvSpPr/>
          <p:nvPr/>
        </p:nvSpPr>
        <p:spPr>
          <a:xfrm>
            <a:off x="548640" y="1737360"/>
            <a:ext cx="5394960" cy="1874520"/>
          </a:xfrm>
          <a:prstGeom prst="roundRect">
            <a:avLst>
              <a:gd name="adj" fmla="val 4878"/>
            </a:avLst>
          </a:prstGeom>
          <a:solidFill>
            <a:schemeClr val="bg2"/>
          </a:solidFill>
          <a:ln/>
        </p:spPr>
      </p:sp>
      <p:sp>
        <p:nvSpPr>
          <p:cNvPr id="6" name="ft#75d"/>
          <p:cNvSpPr/>
          <p:nvPr/>
        </p:nvSpPr>
        <p:spPr>
          <a:xfrm>
            <a:off x="822960" y="2057400"/>
            <a:ext cx="777240" cy="777240"/>
          </a:xfrm>
          <a:prstGeom prst="ellipse">
            <a:avLst/>
          </a:prstGeom>
          <a:solidFill>
            <a:schemeClr val="accent4"/>
          </a:solidFill>
          <a:ln/>
        </p:spPr>
      </p:sp>
      <p:pic>
        <p:nvPicPr>
          <p:cNvPr id="7" name="ft#75di" descr="preencoded.png"/>
          <p:cNvPicPr>
            <a:picLocks noChangeAspect="1"/>
          </p:cNvPicPr>
          <p:nvPr/>
        </p:nvPicPr>
        <p:blipFill>
          <a:blip r:embed="rId3"/>
          <a:stretch>
            <a:fillRect/>
          </a:stretch>
        </p:blipFill>
        <p:spPr>
          <a:xfrm>
            <a:off x="1032815" y="2267255"/>
            <a:ext cx="357530" cy="357530"/>
          </a:xfrm>
          <a:prstGeom prst="rect">
            <a:avLst/>
          </a:prstGeom>
        </p:spPr>
      </p:pic>
      <p:sp>
        <p:nvSpPr>
          <p:cNvPr id="8" name="ft#75h"/>
          <p:cNvSpPr txBox="1"/>
          <p:nvPr/>
        </p:nvSpPr>
        <p:spPr>
          <a:xfrm>
            <a:off x="1828800" y="2011680"/>
            <a:ext cx="3931920" cy="411480"/>
          </a:xfrm>
          <a:prstGeom prst="rect">
            <a:avLst/>
          </a:prstGeom>
          <a:noFill/>
          <a:ln/>
        </p:spPr>
        <p:txBody>
          <a:bodyPr wrap="square" lIns="0" tIns="0" rIns="0" bIns="0" rtlCol="0" anchor="t"/>
          <a:lstStyle/>
          <a:p>
            <a:pPr marL="0" indent="0">
              <a:buNone/>
            </a:pPr>
            <a:r>
              <a:rPr lang="en-US" sz="1800" b="1" dirty="0">
                <a:solidFill>
                  <a:schemeClr val="tx2"/>
                </a:solidFill>
                <a:latin typeface="Courier New" pitchFamily="34" charset="0"/>
                <a:ea typeface="Courier New" pitchFamily="34" charset="-122"/>
                <a:cs typeface="Courier New" pitchFamily="34" charset="-120"/>
              </a:rPr>
              <a:t>EMPLOYEE_NOT_FOUND</a:t>
            </a:r>
            <a:endParaRPr lang="en-US" sz="1800" dirty="0"/>
          </a:p>
        </p:txBody>
      </p:sp>
      <p:sp>
        <p:nvSpPr>
          <p:cNvPr id="9" name="ft#75c"/>
          <p:cNvSpPr txBox="1"/>
          <p:nvPr/>
        </p:nvSpPr>
        <p:spPr>
          <a:xfrm>
            <a:off x="1828800" y="2450592"/>
            <a:ext cx="3931920" cy="320040"/>
          </a:xfrm>
          <a:prstGeom prst="rect">
            <a:avLst/>
          </a:prstGeom>
          <a:noFill/>
          <a:ln/>
        </p:spPr>
        <p:txBody>
          <a:bodyPr wrap="square" lIns="0" tIns="0" rIns="0" bIns="0" rtlCol="0" anchor="t"/>
          <a:lstStyle/>
          <a:p>
            <a:pPr marL="0" indent="0">
              <a:buNone/>
            </a:pPr>
            <a:r>
              <a:rPr lang="en-US" sz="1300" b="1" dirty="0">
                <a:solidFill>
                  <a:schemeClr val="accent4"/>
                </a:solidFill>
              </a:rPr>
              <a:t>soap:Client</a:t>
            </a:r>
            <a:endParaRPr lang="en-US" sz="1300" dirty="0"/>
          </a:p>
        </p:txBody>
      </p:sp>
      <p:sp>
        <p:nvSpPr>
          <p:cNvPr id="10" name="ft#75b"/>
          <p:cNvSpPr txBox="1"/>
          <p:nvPr/>
        </p:nvSpPr>
        <p:spPr>
          <a:xfrm>
            <a:off x="1828800" y="2788920"/>
            <a:ext cx="3931920" cy="685800"/>
          </a:xfrm>
          <a:prstGeom prst="rect">
            <a:avLst/>
          </a:prstGeom>
          <a:noFill/>
          <a:ln/>
        </p:spPr>
        <p:txBody>
          <a:bodyPr wrap="square" lIns="0" tIns="0" rIns="0" bIns="0" rtlCol="0" anchor="t"/>
          <a:lstStyle/>
          <a:p>
            <a:pPr marL="0" indent="0">
              <a:buNone/>
            </a:pPr>
            <a:r>
              <a:rPr lang="en-US" sz="1400" dirty="0">
                <a:solidFill>
                  <a:schemeClr val="tx1"/>
                </a:solidFill>
              </a:rPr>
              <a:t>Matricule inexistant</a:t>
            </a:r>
            <a:endParaRPr lang="en-US" sz="1400" dirty="0"/>
          </a:p>
        </p:txBody>
      </p:sp>
      <p:sp>
        <p:nvSpPr>
          <p:cNvPr id="11" name="ft#76"/>
          <p:cNvSpPr/>
          <p:nvPr/>
        </p:nvSpPr>
        <p:spPr>
          <a:xfrm>
            <a:off x="6217920" y="1737360"/>
            <a:ext cx="5394960" cy="1874520"/>
          </a:xfrm>
          <a:prstGeom prst="roundRect">
            <a:avLst>
              <a:gd name="adj" fmla="val 4878"/>
            </a:avLst>
          </a:prstGeom>
          <a:solidFill>
            <a:schemeClr val="bg2"/>
          </a:solidFill>
          <a:ln/>
        </p:spPr>
      </p:sp>
      <p:sp>
        <p:nvSpPr>
          <p:cNvPr id="12" name="ft#76d"/>
          <p:cNvSpPr/>
          <p:nvPr/>
        </p:nvSpPr>
        <p:spPr>
          <a:xfrm>
            <a:off x="6492240" y="2057400"/>
            <a:ext cx="777240" cy="777240"/>
          </a:xfrm>
          <a:prstGeom prst="ellipse">
            <a:avLst/>
          </a:prstGeom>
          <a:solidFill>
            <a:schemeClr val="accent2"/>
          </a:solidFill>
          <a:ln/>
        </p:spPr>
      </p:sp>
      <p:pic>
        <p:nvPicPr>
          <p:cNvPr id="13" name="ft#76di" descr="preencoded.png"/>
          <p:cNvPicPr>
            <a:picLocks noChangeAspect="1"/>
          </p:cNvPicPr>
          <p:nvPr/>
        </p:nvPicPr>
        <p:blipFill>
          <a:blip r:embed="rId4"/>
          <a:stretch>
            <a:fillRect/>
          </a:stretch>
        </p:blipFill>
        <p:spPr>
          <a:xfrm>
            <a:off x="6702095" y="2267255"/>
            <a:ext cx="357530" cy="357530"/>
          </a:xfrm>
          <a:prstGeom prst="rect">
            <a:avLst/>
          </a:prstGeom>
        </p:spPr>
      </p:pic>
      <p:sp>
        <p:nvSpPr>
          <p:cNvPr id="14" name="ft#76h"/>
          <p:cNvSpPr txBox="1"/>
          <p:nvPr/>
        </p:nvSpPr>
        <p:spPr>
          <a:xfrm>
            <a:off x="7498080" y="2011680"/>
            <a:ext cx="3931920" cy="411480"/>
          </a:xfrm>
          <a:prstGeom prst="rect">
            <a:avLst/>
          </a:prstGeom>
          <a:noFill/>
          <a:ln/>
        </p:spPr>
        <p:txBody>
          <a:bodyPr wrap="square" lIns="0" tIns="0" rIns="0" bIns="0" rtlCol="0" anchor="t"/>
          <a:lstStyle/>
          <a:p>
            <a:pPr marL="0" indent="0">
              <a:buNone/>
            </a:pPr>
            <a:r>
              <a:rPr lang="en-US" sz="1800" b="1" dirty="0">
                <a:solidFill>
                  <a:schemeClr val="tx2"/>
                </a:solidFill>
                <a:latin typeface="Courier New" pitchFamily="34" charset="0"/>
                <a:ea typeface="Courier New" pitchFamily="34" charset="-122"/>
                <a:cs typeface="Courier New" pitchFamily="34" charset="-120"/>
              </a:rPr>
              <a:t>VALIDATION_ERROR</a:t>
            </a:r>
            <a:endParaRPr lang="en-US" sz="1800" dirty="0"/>
          </a:p>
        </p:txBody>
      </p:sp>
      <p:sp>
        <p:nvSpPr>
          <p:cNvPr id="15" name="ft#76c"/>
          <p:cNvSpPr txBox="1"/>
          <p:nvPr/>
        </p:nvSpPr>
        <p:spPr>
          <a:xfrm>
            <a:off x="7498080" y="2450592"/>
            <a:ext cx="3931920" cy="320040"/>
          </a:xfrm>
          <a:prstGeom prst="rect">
            <a:avLst/>
          </a:prstGeom>
          <a:noFill/>
          <a:ln/>
        </p:spPr>
        <p:txBody>
          <a:bodyPr wrap="square" lIns="0" tIns="0" rIns="0" bIns="0" rtlCol="0" anchor="t"/>
          <a:lstStyle/>
          <a:p>
            <a:pPr marL="0" indent="0">
              <a:buNone/>
            </a:pPr>
            <a:r>
              <a:rPr lang="en-US" sz="1300" b="1" dirty="0">
                <a:solidFill>
                  <a:schemeClr val="accent2"/>
                </a:solidFill>
              </a:rPr>
              <a:t>soap:Client</a:t>
            </a:r>
            <a:endParaRPr lang="en-US" sz="1300" dirty="0"/>
          </a:p>
        </p:txBody>
      </p:sp>
      <p:sp>
        <p:nvSpPr>
          <p:cNvPr id="16" name="ft#76b"/>
          <p:cNvSpPr txBox="1"/>
          <p:nvPr/>
        </p:nvSpPr>
        <p:spPr>
          <a:xfrm>
            <a:off x="7498080" y="2788920"/>
            <a:ext cx="3931920" cy="685800"/>
          </a:xfrm>
          <a:prstGeom prst="rect">
            <a:avLst/>
          </a:prstGeom>
          <a:noFill/>
          <a:ln/>
        </p:spPr>
        <p:txBody>
          <a:bodyPr wrap="square" lIns="0" tIns="0" rIns="0" bIns="0" rtlCol="0" anchor="t"/>
          <a:lstStyle/>
          <a:p>
            <a:pPr marL="0" indent="0">
              <a:buNone/>
            </a:pPr>
            <a:r>
              <a:rPr lang="en-US" sz="1400" dirty="0">
                <a:solidFill>
                  <a:schemeClr val="tx1"/>
                </a:solidFill>
              </a:rPr>
              <a:t>Données invalides, avec la liste des champs en erreur</a:t>
            </a:r>
            <a:endParaRPr lang="en-US" sz="1400" dirty="0"/>
          </a:p>
        </p:txBody>
      </p:sp>
      <p:sp>
        <p:nvSpPr>
          <p:cNvPr id="17" name="ft#77"/>
          <p:cNvSpPr/>
          <p:nvPr/>
        </p:nvSpPr>
        <p:spPr>
          <a:xfrm>
            <a:off x="548640" y="3886200"/>
            <a:ext cx="5394960" cy="1874520"/>
          </a:xfrm>
          <a:prstGeom prst="roundRect">
            <a:avLst>
              <a:gd name="adj" fmla="val 4878"/>
            </a:avLst>
          </a:prstGeom>
          <a:solidFill>
            <a:schemeClr val="bg2"/>
          </a:solidFill>
          <a:ln/>
        </p:spPr>
      </p:sp>
      <p:sp>
        <p:nvSpPr>
          <p:cNvPr id="18" name="ft#77d"/>
          <p:cNvSpPr/>
          <p:nvPr/>
        </p:nvSpPr>
        <p:spPr>
          <a:xfrm>
            <a:off x="822960" y="4206240"/>
            <a:ext cx="777240" cy="777240"/>
          </a:xfrm>
          <a:prstGeom prst="ellipse">
            <a:avLst/>
          </a:prstGeom>
          <a:solidFill>
            <a:schemeClr val="accent3"/>
          </a:solidFill>
          <a:ln/>
        </p:spPr>
      </p:sp>
      <p:pic>
        <p:nvPicPr>
          <p:cNvPr id="19" name="ft#77di" descr="preencoded.png"/>
          <p:cNvPicPr>
            <a:picLocks noChangeAspect="1"/>
          </p:cNvPicPr>
          <p:nvPr/>
        </p:nvPicPr>
        <p:blipFill>
          <a:blip r:embed="rId5"/>
          <a:stretch>
            <a:fillRect/>
          </a:stretch>
        </p:blipFill>
        <p:spPr>
          <a:xfrm>
            <a:off x="1032815" y="4416095"/>
            <a:ext cx="357530" cy="357530"/>
          </a:xfrm>
          <a:prstGeom prst="rect">
            <a:avLst/>
          </a:prstGeom>
        </p:spPr>
      </p:pic>
      <p:sp>
        <p:nvSpPr>
          <p:cNvPr id="20" name="ft#77h"/>
          <p:cNvSpPr txBox="1"/>
          <p:nvPr/>
        </p:nvSpPr>
        <p:spPr>
          <a:xfrm>
            <a:off x="1828800" y="4160520"/>
            <a:ext cx="3931920" cy="411480"/>
          </a:xfrm>
          <a:prstGeom prst="rect">
            <a:avLst/>
          </a:prstGeom>
          <a:noFill/>
          <a:ln/>
        </p:spPr>
        <p:txBody>
          <a:bodyPr wrap="square" lIns="0" tIns="0" rIns="0" bIns="0" rtlCol="0" anchor="t"/>
          <a:lstStyle/>
          <a:p>
            <a:pPr marL="0" indent="0">
              <a:buNone/>
            </a:pPr>
            <a:r>
              <a:rPr lang="en-US" sz="1800" b="1" dirty="0">
                <a:solidFill>
                  <a:schemeClr val="tx2"/>
                </a:solidFill>
                <a:latin typeface="Courier New" pitchFamily="34" charset="0"/>
                <a:ea typeface="Courier New" pitchFamily="34" charset="-122"/>
                <a:cs typeface="Courier New" pitchFamily="34" charset="-120"/>
              </a:rPr>
              <a:t>DUPLICATE_EMPLOYEE</a:t>
            </a:r>
            <a:endParaRPr lang="en-US" sz="1800" dirty="0"/>
          </a:p>
        </p:txBody>
      </p:sp>
      <p:sp>
        <p:nvSpPr>
          <p:cNvPr id="21" name="ft#77c"/>
          <p:cNvSpPr txBox="1"/>
          <p:nvPr/>
        </p:nvSpPr>
        <p:spPr>
          <a:xfrm>
            <a:off x="1828800" y="4599432"/>
            <a:ext cx="3931920" cy="320040"/>
          </a:xfrm>
          <a:prstGeom prst="rect">
            <a:avLst/>
          </a:prstGeom>
          <a:noFill/>
          <a:ln/>
        </p:spPr>
        <p:txBody>
          <a:bodyPr wrap="square" lIns="0" tIns="0" rIns="0" bIns="0" rtlCol="0" anchor="t"/>
          <a:lstStyle/>
          <a:p>
            <a:pPr marL="0" indent="0">
              <a:buNone/>
            </a:pPr>
            <a:r>
              <a:rPr lang="en-US" sz="1300" b="1" dirty="0">
                <a:solidFill>
                  <a:schemeClr val="accent3"/>
                </a:solidFill>
              </a:rPr>
              <a:t>soap:Client</a:t>
            </a:r>
            <a:endParaRPr lang="en-US" sz="1300" dirty="0"/>
          </a:p>
        </p:txBody>
      </p:sp>
      <p:sp>
        <p:nvSpPr>
          <p:cNvPr id="22" name="ft#77b"/>
          <p:cNvSpPr txBox="1"/>
          <p:nvPr/>
        </p:nvSpPr>
        <p:spPr>
          <a:xfrm>
            <a:off x="1828800" y="4937760"/>
            <a:ext cx="3931920" cy="685800"/>
          </a:xfrm>
          <a:prstGeom prst="rect">
            <a:avLst/>
          </a:prstGeom>
          <a:noFill/>
          <a:ln/>
        </p:spPr>
        <p:txBody>
          <a:bodyPr wrap="square" lIns="0" tIns="0" rIns="0" bIns="0" rtlCol="0" anchor="t"/>
          <a:lstStyle/>
          <a:p>
            <a:pPr marL="0" indent="0">
              <a:buNone/>
            </a:pPr>
            <a:r>
              <a:rPr lang="en-US" sz="1400" dirty="0">
                <a:solidFill>
                  <a:schemeClr val="tx1"/>
                </a:solidFill>
              </a:rPr>
              <a:t>Matricule ou email déjà utilisé</a:t>
            </a:r>
            <a:endParaRPr lang="en-US" sz="1400" dirty="0"/>
          </a:p>
        </p:txBody>
      </p:sp>
      <p:sp>
        <p:nvSpPr>
          <p:cNvPr id="23" name="ft#78"/>
          <p:cNvSpPr/>
          <p:nvPr/>
        </p:nvSpPr>
        <p:spPr>
          <a:xfrm>
            <a:off x="6217920" y="3886200"/>
            <a:ext cx="5394960" cy="1874520"/>
          </a:xfrm>
          <a:prstGeom prst="roundRect">
            <a:avLst>
              <a:gd name="adj" fmla="val 4878"/>
            </a:avLst>
          </a:prstGeom>
          <a:solidFill>
            <a:schemeClr val="bg2"/>
          </a:solidFill>
          <a:ln/>
        </p:spPr>
      </p:sp>
      <p:sp>
        <p:nvSpPr>
          <p:cNvPr id="24" name="ft#78d"/>
          <p:cNvSpPr/>
          <p:nvPr/>
        </p:nvSpPr>
        <p:spPr>
          <a:xfrm>
            <a:off x="6492240" y="4206240"/>
            <a:ext cx="777240" cy="777240"/>
          </a:xfrm>
          <a:prstGeom prst="ellipse">
            <a:avLst/>
          </a:prstGeom>
          <a:solidFill>
            <a:schemeClr val="accent5"/>
          </a:solidFill>
          <a:ln/>
        </p:spPr>
      </p:sp>
      <p:pic>
        <p:nvPicPr>
          <p:cNvPr id="25" name="ft#78di" descr="preencoded.png"/>
          <p:cNvPicPr>
            <a:picLocks noChangeAspect="1"/>
          </p:cNvPicPr>
          <p:nvPr/>
        </p:nvPicPr>
        <p:blipFill>
          <a:blip r:embed="rId6"/>
          <a:stretch>
            <a:fillRect/>
          </a:stretch>
        </p:blipFill>
        <p:spPr>
          <a:xfrm>
            <a:off x="6702095" y="4416095"/>
            <a:ext cx="357530" cy="357530"/>
          </a:xfrm>
          <a:prstGeom prst="rect">
            <a:avLst/>
          </a:prstGeom>
        </p:spPr>
      </p:pic>
      <p:sp>
        <p:nvSpPr>
          <p:cNvPr id="26" name="ft#78h"/>
          <p:cNvSpPr txBox="1"/>
          <p:nvPr/>
        </p:nvSpPr>
        <p:spPr>
          <a:xfrm>
            <a:off x="7498080" y="4160520"/>
            <a:ext cx="3931920" cy="411480"/>
          </a:xfrm>
          <a:prstGeom prst="rect">
            <a:avLst/>
          </a:prstGeom>
          <a:noFill/>
          <a:ln/>
        </p:spPr>
        <p:txBody>
          <a:bodyPr wrap="square" lIns="0" tIns="0" rIns="0" bIns="0" rtlCol="0" anchor="t"/>
          <a:lstStyle/>
          <a:p>
            <a:pPr marL="0" indent="0">
              <a:buNone/>
            </a:pPr>
            <a:r>
              <a:rPr lang="en-US" sz="1800" b="1" dirty="0">
                <a:solidFill>
                  <a:schemeClr val="tx2"/>
                </a:solidFill>
                <a:latin typeface="Courier New" pitchFamily="34" charset="0"/>
                <a:ea typeface="Courier New" pitchFamily="34" charset="-122"/>
                <a:cs typeface="Courier New" pitchFamily="34" charset="-120"/>
              </a:rPr>
              <a:t>DATA_ACCESS_ERROR</a:t>
            </a:r>
            <a:endParaRPr lang="en-US" sz="1800" dirty="0"/>
          </a:p>
        </p:txBody>
      </p:sp>
      <p:sp>
        <p:nvSpPr>
          <p:cNvPr id="27" name="ft#78c"/>
          <p:cNvSpPr txBox="1"/>
          <p:nvPr/>
        </p:nvSpPr>
        <p:spPr>
          <a:xfrm>
            <a:off x="7498080" y="4599432"/>
            <a:ext cx="3931920" cy="320040"/>
          </a:xfrm>
          <a:prstGeom prst="rect">
            <a:avLst/>
          </a:prstGeom>
          <a:noFill/>
          <a:ln/>
        </p:spPr>
        <p:txBody>
          <a:bodyPr wrap="square" lIns="0" tIns="0" rIns="0" bIns="0" rtlCol="0" anchor="t"/>
          <a:lstStyle/>
          <a:p>
            <a:pPr marL="0" indent="0">
              <a:buNone/>
            </a:pPr>
            <a:r>
              <a:rPr lang="en-US" sz="1300" b="1" dirty="0">
                <a:solidFill>
                  <a:schemeClr val="accent5"/>
                </a:solidFill>
              </a:rPr>
              <a:t>soap:Server</a:t>
            </a:r>
            <a:endParaRPr lang="en-US" sz="1300" dirty="0"/>
          </a:p>
        </p:txBody>
      </p:sp>
      <p:sp>
        <p:nvSpPr>
          <p:cNvPr id="28" name="ft#78b"/>
          <p:cNvSpPr txBox="1"/>
          <p:nvPr/>
        </p:nvSpPr>
        <p:spPr>
          <a:xfrm>
            <a:off x="7498080" y="4937760"/>
            <a:ext cx="3931920" cy="685800"/>
          </a:xfrm>
          <a:prstGeom prst="rect">
            <a:avLst/>
          </a:prstGeom>
          <a:noFill/>
          <a:ln/>
        </p:spPr>
        <p:txBody>
          <a:bodyPr wrap="square" lIns="0" tIns="0" rIns="0" bIns="0" rtlCol="0" anchor="t"/>
          <a:lstStyle/>
          <a:p>
            <a:pPr marL="0" indent="0">
              <a:buNone/>
            </a:pPr>
            <a:r>
              <a:rPr lang="en-US" sz="1400" dirty="0">
                <a:solidFill>
                  <a:schemeClr val="tx1"/>
                </a:solidFill>
              </a:rPr>
              <a:t>Base indisponible, le client peut réessayer</a:t>
            </a:r>
            <a:endParaRPr lang="en-US" sz="1400" dirty="0"/>
          </a:p>
        </p:txBody>
      </p:sp>
      <p:sp>
        <p:nvSpPr>
          <p:cNvPr id="29"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18</a:t>
            </a:fld>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anim calcmode="lin" valueType="num">
                                      <p:cBhvr additive="base">
                                        <p:cTn id="8" dur="500" fill="hold"/>
                                        <p:tgtEl>
                                          <p:spTgt spid="5"/>
                                        </p:tgtEl>
                                        <p:attrNameLst>
                                          <p:attrName>ppt_x</p:attrName>
                                        </p:attrNameLst>
                                      </p:cBhvr>
                                      <p:tavLst>
                                        <p:tav tm="0">
                                          <p:val>
                                            <p:strVal val="#ppt_x"/>
                                          </p:val>
                                        </p:tav>
                                        <p:tav tm="100000">
                                          <p:val>
                                            <p:strVal val="#ppt_x"/>
                                          </p:val>
                                        </p:tav>
                                      </p:tavLst>
                                    </p:anim>
                                    <p:anim calcmode="lin" valueType="num">
                                      <p:cBhvr additive="base">
                                        <p:cTn id="9" dur="5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anim calcmode="lin" valueType="num">
                                      <p:cBhvr additive="base">
                                        <p:cTn id="18" dur="500" fill="hold"/>
                                        <p:tgtEl>
                                          <p:spTgt spid="7"/>
                                        </p:tgtEl>
                                        <p:attrNameLst>
                                          <p:attrName>ppt_x</p:attrName>
                                        </p:attrNameLst>
                                      </p:cBhvr>
                                      <p:tavLst>
                                        <p:tav tm="0">
                                          <p:val>
                                            <p:strVal val="#ppt_x"/>
                                          </p:val>
                                        </p:tav>
                                        <p:tav tm="100000">
                                          <p:val>
                                            <p:strVal val="#ppt_x"/>
                                          </p:val>
                                        </p:tav>
                                      </p:tavLst>
                                    </p:anim>
                                    <p:anim calcmode="lin" valueType="num">
                                      <p:cBhvr additive="base">
                                        <p:cTn id="19" dur="500" fill="hold"/>
                                        <p:tgtEl>
                                          <p:spTgt spid="7"/>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anim calcmode="lin" valueType="num">
                                      <p:cBhvr additive="base">
                                        <p:cTn id="28" dur="500" fill="hold"/>
                                        <p:tgtEl>
                                          <p:spTgt spid="9"/>
                                        </p:tgtEl>
                                        <p:attrNameLst>
                                          <p:attrName>ppt_x</p:attrName>
                                        </p:attrNameLst>
                                      </p:cBhvr>
                                      <p:tavLst>
                                        <p:tav tm="0">
                                          <p:val>
                                            <p:strVal val="#ppt_x"/>
                                          </p:val>
                                        </p:tav>
                                        <p:tav tm="100000">
                                          <p:val>
                                            <p:strVal val="#ppt_x"/>
                                          </p:val>
                                        </p:tav>
                                      </p:tavLst>
                                    </p:anim>
                                    <p:anim calcmode="lin" valueType="num">
                                      <p:cBhvr additive="base">
                                        <p:cTn id="29" dur="500" fill="hold"/>
                                        <p:tgtEl>
                                          <p:spTgt spid="9"/>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anim calcmode="lin" valueType="num">
                                      <p:cBhvr additive="base">
                                        <p:cTn id="33" dur="500" fill="hold"/>
                                        <p:tgtEl>
                                          <p:spTgt spid="10"/>
                                        </p:tgtEl>
                                        <p:attrNameLst>
                                          <p:attrName>ppt_x</p:attrName>
                                        </p:attrNameLst>
                                      </p:cBhvr>
                                      <p:tavLst>
                                        <p:tav tm="0">
                                          <p:val>
                                            <p:strVal val="#ppt_x"/>
                                          </p:val>
                                        </p:tav>
                                        <p:tav tm="100000">
                                          <p:val>
                                            <p:strVal val="#ppt_x"/>
                                          </p:val>
                                        </p:tav>
                                      </p:tavLst>
                                    </p:anim>
                                    <p:anim calcmode="lin" valueType="num">
                                      <p:cBhvr additive="base">
                                        <p:cTn id="34" dur="500" fill="hold"/>
                                        <p:tgtEl>
                                          <p:spTgt spid="10"/>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22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anim calcmode="lin" valueType="num">
                                      <p:cBhvr additive="base">
                                        <p:cTn id="38" dur="500" fill="hold"/>
                                        <p:tgtEl>
                                          <p:spTgt spid="11"/>
                                        </p:tgtEl>
                                        <p:attrNameLst>
                                          <p:attrName>ppt_x</p:attrName>
                                        </p:attrNameLst>
                                      </p:cBhvr>
                                      <p:tavLst>
                                        <p:tav tm="0">
                                          <p:val>
                                            <p:strVal val="#ppt_x"/>
                                          </p:val>
                                        </p:tav>
                                        <p:tav tm="100000">
                                          <p:val>
                                            <p:strVal val="#ppt_x"/>
                                          </p:val>
                                        </p:tav>
                                      </p:tavLst>
                                    </p:anim>
                                    <p:anim calcmode="lin" valueType="num">
                                      <p:cBhvr additive="base">
                                        <p:cTn id="39" dur="500" fill="hold"/>
                                        <p:tgtEl>
                                          <p:spTgt spid="11"/>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22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00"/>
                                        <p:tgtEl>
                                          <p:spTgt spid="12"/>
                                        </p:tgtEl>
                                      </p:cBhvr>
                                    </p:animEffect>
                                    <p:anim calcmode="lin" valueType="num">
                                      <p:cBhvr additive="base">
                                        <p:cTn id="43" dur="500" fill="hold"/>
                                        <p:tgtEl>
                                          <p:spTgt spid="12"/>
                                        </p:tgtEl>
                                        <p:attrNameLst>
                                          <p:attrName>ppt_x</p:attrName>
                                        </p:attrNameLst>
                                      </p:cBhvr>
                                      <p:tavLst>
                                        <p:tav tm="0">
                                          <p:val>
                                            <p:strVal val="#ppt_x"/>
                                          </p:val>
                                        </p:tav>
                                        <p:tav tm="100000">
                                          <p:val>
                                            <p:strVal val="#ppt_x"/>
                                          </p:val>
                                        </p:tav>
                                      </p:tavLst>
                                    </p:anim>
                                    <p:anim calcmode="lin" valueType="num">
                                      <p:cBhvr additive="base">
                                        <p:cTn id="44" dur="500" fill="hold"/>
                                        <p:tgtEl>
                                          <p:spTgt spid="12"/>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22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anim calcmode="lin" valueType="num">
                                      <p:cBhvr additive="base">
                                        <p:cTn id="48" dur="500" fill="hold"/>
                                        <p:tgtEl>
                                          <p:spTgt spid="13"/>
                                        </p:tgtEl>
                                        <p:attrNameLst>
                                          <p:attrName>ppt_x</p:attrName>
                                        </p:attrNameLst>
                                      </p:cBhvr>
                                      <p:tavLst>
                                        <p:tav tm="0">
                                          <p:val>
                                            <p:strVal val="#ppt_x"/>
                                          </p:val>
                                        </p:tav>
                                        <p:tav tm="100000">
                                          <p:val>
                                            <p:strVal val="#ppt_x"/>
                                          </p:val>
                                        </p:tav>
                                      </p:tavLst>
                                    </p:anim>
                                    <p:anim calcmode="lin" valueType="num">
                                      <p:cBhvr additive="base">
                                        <p:cTn id="49" dur="500" fill="hold"/>
                                        <p:tgtEl>
                                          <p:spTgt spid="13"/>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22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500"/>
                                        <p:tgtEl>
                                          <p:spTgt spid="14"/>
                                        </p:tgtEl>
                                      </p:cBhvr>
                                    </p:animEffect>
                                    <p:anim calcmode="lin" valueType="num">
                                      <p:cBhvr additive="base">
                                        <p:cTn id="53" dur="500" fill="hold"/>
                                        <p:tgtEl>
                                          <p:spTgt spid="14"/>
                                        </p:tgtEl>
                                        <p:attrNameLst>
                                          <p:attrName>ppt_x</p:attrName>
                                        </p:attrNameLst>
                                      </p:cBhvr>
                                      <p:tavLst>
                                        <p:tav tm="0">
                                          <p:val>
                                            <p:strVal val="#ppt_x"/>
                                          </p:val>
                                        </p:tav>
                                        <p:tav tm="100000">
                                          <p:val>
                                            <p:strVal val="#ppt_x"/>
                                          </p:val>
                                        </p:tav>
                                      </p:tavLst>
                                    </p:anim>
                                    <p:anim calcmode="lin" valueType="num">
                                      <p:cBhvr additive="base">
                                        <p:cTn id="54" dur="500" fill="hold"/>
                                        <p:tgtEl>
                                          <p:spTgt spid="14"/>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22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500"/>
                                        <p:tgtEl>
                                          <p:spTgt spid="15"/>
                                        </p:tgtEl>
                                      </p:cBhvr>
                                    </p:animEffect>
                                    <p:anim calcmode="lin" valueType="num">
                                      <p:cBhvr additive="base">
                                        <p:cTn id="58" dur="500" fill="hold"/>
                                        <p:tgtEl>
                                          <p:spTgt spid="15"/>
                                        </p:tgtEl>
                                        <p:attrNameLst>
                                          <p:attrName>ppt_x</p:attrName>
                                        </p:attrNameLst>
                                      </p:cBhvr>
                                      <p:tavLst>
                                        <p:tav tm="0">
                                          <p:val>
                                            <p:strVal val="#ppt_x"/>
                                          </p:val>
                                        </p:tav>
                                        <p:tav tm="100000">
                                          <p:val>
                                            <p:strVal val="#ppt_x"/>
                                          </p:val>
                                        </p:tav>
                                      </p:tavLst>
                                    </p:anim>
                                    <p:anim calcmode="lin" valueType="num">
                                      <p:cBhvr additive="base">
                                        <p:cTn id="59" dur="500" fill="hold"/>
                                        <p:tgtEl>
                                          <p:spTgt spid="15"/>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22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500"/>
                                        <p:tgtEl>
                                          <p:spTgt spid="16"/>
                                        </p:tgtEl>
                                      </p:cBhvr>
                                    </p:animEffect>
                                    <p:anim calcmode="lin" valueType="num">
                                      <p:cBhvr additive="base">
                                        <p:cTn id="63" dur="500" fill="hold"/>
                                        <p:tgtEl>
                                          <p:spTgt spid="16"/>
                                        </p:tgtEl>
                                        <p:attrNameLst>
                                          <p:attrName>ppt_x</p:attrName>
                                        </p:attrNameLst>
                                      </p:cBhvr>
                                      <p:tavLst>
                                        <p:tav tm="0">
                                          <p:val>
                                            <p:strVal val="#ppt_x"/>
                                          </p:val>
                                        </p:tav>
                                        <p:tav tm="100000">
                                          <p:val>
                                            <p:strVal val="#ppt_x"/>
                                          </p:val>
                                        </p:tav>
                                      </p:tavLst>
                                    </p:anim>
                                    <p:anim calcmode="lin" valueType="num">
                                      <p:cBhvr additive="base">
                                        <p:cTn id="64" dur="500" fill="hold"/>
                                        <p:tgtEl>
                                          <p:spTgt spid="16"/>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44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500"/>
                                        <p:tgtEl>
                                          <p:spTgt spid="17"/>
                                        </p:tgtEl>
                                      </p:cBhvr>
                                    </p:animEffect>
                                    <p:anim calcmode="lin" valueType="num">
                                      <p:cBhvr additive="base">
                                        <p:cTn id="68" dur="500" fill="hold"/>
                                        <p:tgtEl>
                                          <p:spTgt spid="17"/>
                                        </p:tgtEl>
                                        <p:attrNameLst>
                                          <p:attrName>ppt_x</p:attrName>
                                        </p:attrNameLst>
                                      </p:cBhvr>
                                      <p:tavLst>
                                        <p:tav tm="0">
                                          <p:val>
                                            <p:strVal val="#ppt_x"/>
                                          </p:val>
                                        </p:tav>
                                        <p:tav tm="100000">
                                          <p:val>
                                            <p:strVal val="#ppt_x"/>
                                          </p:val>
                                        </p:tav>
                                      </p:tavLst>
                                    </p:anim>
                                    <p:anim calcmode="lin" valueType="num">
                                      <p:cBhvr additive="base">
                                        <p:cTn id="69" dur="500" fill="hold"/>
                                        <p:tgtEl>
                                          <p:spTgt spid="17"/>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440"/>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500"/>
                                        <p:tgtEl>
                                          <p:spTgt spid="18"/>
                                        </p:tgtEl>
                                      </p:cBhvr>
                                    </p:animEffect>
                                    <p:anim calcmode="lin" valueType="num">
                                      <p:cBhvr additive="base">
                                        <p:cTn id="73" dur="500" fill="hold"/>
                                        <p:tgtEl>
                                          <p:spTgt spid="18"/>
                                        </p:tgtEl>
                                        <p:attrNameLst>
                                          <p:attrName>ppt_x</p:attrName>
                                        </p:attrNameLst>
                                      </p:cBhvr>
                                      <p:tavLst>
                                        <p:tav tm="0">
                                          <p:val>
                                            <p:strVal val="#ppt_x"/>
                                          </p:val>
                                        </p:tav>
                                        <p:tav tm="100000">
                                          <p:val>
                                            <p:strVal val="#ppt_x"/>
                                          </p:val>
                                        </p:tav>
                                      </p:tavLst>
                                    </p:anim>
                                    <p:anim calcmode="lin" valueType="num">
                                      <p:cBhvr additive="base">
                                        <p:cTn id="74" dur="500" fill="hold"/>
                                        <p:tgtEl>
                                          <p:spTgt spid="18"/>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440"/>
                                  </p:stCondLst>
                                  <p:childTnLst>
                                    <p:set>
                                      <p:cBhvr>
                                        <p:cTn id="76" dur="1" fill="hold">
                                          <p:stCondLst>
                                            <p:cond delay="0"/>
                                          </p:stCondLst>
                                        </p:cTn>
                                        <p:tgtEl>
                                          <p:spTgt spid="19"/>
                                        </p:tgtEl>
                                        <p:attrNameLst>
                                          <p:attrName>style.visibility</p:attrName>
                                        </p:attrNameLst>
                                      </p:cBhvr>
                                      <p:to>
                                        <p:strVal val="visible"/>
                                      </p:to>
                                    </p:set>
                                    <p:animEffect transition="in" filter="fade">
                                      <p:cBhvr>
                                        <p:cTn id="77" dur="500"/>
                                        <p:tgtEl>
                                          <p:spTgt spid="19"/>
                                        </p:tgtEl>
                                      </p:cBhvr>
                                    </p:animEffect>
                                    <p:anim calcmode="lin" valueType="num">
                                      <p:cBhvr additive="base">
                                        <p:cTn id="78" dur="500" fill="hold"/>
                                        <p:tgtEl>
                                          <p:spTgt spid="19"/>
                                        </p:tgtEl>
                                        <p:attrNameLst>
                                          <p:attrName>ppt_x</p:attrName>
                                        </p:attrNameLst>
                                      </p:cBhvr>
                                      <p:tavLst>
                                        <p:tav tm="0">
                                          <p:val>
                                            <p:strVal val="#ppt_x"/>
                                          </p:val>
                                        </p:tav>
                                        <p:tav tm="100000">
                                          <p:val>
                                            <p:strVal val="#ppt_x"/>
                                          </p:val>
                                        </p:tav>
                                      </p:tavLst>
                                    </p:anim>
                                    <p:anim calcmode="lin" valueType="num">
                                      <p:cBhvr additive="base">
                                        <p:cTn id="79" dur="500" fill="hold"/>
                                        <p:tgtEl>
                                          <p:spTgt spid="19"/>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440"/>
                                  </p:stCondLst>
                                  <p:childTnLst>
                                    <p:set>
                                      <p:cBhvr>
                                        <p:cTn id="81" dur="1" fill="hold">
                                          <p:stCondLst>
                                            <p:cond delay="0"/>
                                          </p:stCondLst>
                                        </p:cTn>
                                        <p:tgtEl>
                                          <p:spTgt spid="20"/>
                                        </p:tgtEl>
                                        <p:attrNameLst>
                                          <p:attrName>style.visibility</p:attrName>
                                        </p:attrNameLst>
                                      </p:cBhvr>
                                      <p:to>
                                        <p:strVal val="visible"/>
                                      </p:to>
                                    </p:set>
                                    <p:animEffect transition="in" filter="fade">
                                      <p:cBhvr>
                                        <p:cTn id="82" dur="500"/>
                                        <p:tgtEl>
                                          <p:spTgt spid="20"/>
                                        </p:tgtEl>
                                      </p:cBhvr>
                                    </p:animEffect>
                                    <p:anim calcmode="lin" valueType="num">
                                      <p:cBhvr additive="base">
                                        <p:cTn id="83" dur="500" fill="hold"/>
                                        <p:tgtEl>
                                          <p:spTgt spid="20"/>
                                        </p:tgtEl>
                                        <p:attrNameLst>
                                          <p:attrName>ppt_x</p:attrName>
                                        </p:attrNameLst>
                                      </p:cBhvr>
                                      <p:tavLst>
                                        <p:tav tm="0">
                                          <p:val>
                                            <p:strVal val="#ppt_x"/>
                                          </p:val>
                                        </p:tav>
                                        <p:tav tm="100000">
                                          <p:val>
                                            <p:strVal val="#ppt_x"/>
                                          </p:val>
                                        </p:tav>
                                      </p:tavLst>
                                    </p:anim>
                                    <p:anim calcmode="lin" valueType="num">
                                      <p:cBhvr additive="base">
                                        <p:cTn id="84" dur="500" fill="hold"/>
                                        <p:tgtEl>
                                          <p:spTgt spid="20"/>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440"/>
                                  </p:stCondLst>
                                  <p:childTnLst>
                                    <p:set>
                                      <p:cBhvr>
                                        <p:cTn id="86" dur="1" fill="hold">
                                          <p:stCondLst>
                                            <p:cond delay="0"/>
                                          </p:stCondLst>
                                        </p:cTn>
                                        <p:tgtEl>
                                          <p:spTgt spid="21"/>
                                        </p:tgtEl>
                                        <p:attrNameLst>
                                          <p:attrName>style.visibility</p:attrName>
                                        </p:attrNameLst>
                                      </p:cBhvr>
                                      <p:to>
                                        <p:strVal val="visible"/>
                                      </p:to>
                                    </p:set>
                                    <p:animEffect transition="in" filter="fade">
                                      <p:cBhvr>
                                        <p:cTn id="87" dur="500"/>
                                        <p:tgtEl>
                                          <p:spTgt spid="21"/>
                                        </p:tgtEl>
                                      </p:cBhvr>
                                    </p:animEffect>
                                    <p:anim calcmode="lin" valueType="num">
                                      <p:cBhvr additive="base">
                                        <p:cTn id="88" dur="500" fill="hold"/>
                                        <p:tgtEl>
                                          <p:spTgt spid="21"/>
                                        </p:tgtEl>
                                        <p:attrNameLst>
                                          <p:attrName>ppt_x</p:attrName>
                                        </p:attrNameLst>
                                      </p:cBhvr>
                                      <p:tavLst>
                                        <p:tav tm="0">
                                          <p:val>
                                            <p:strVal val="#ppt_x"/>
                                          </p:val>
                                        </p:tav>
                                        <p:tav tm="100000">
                                          <p:val>
                                            <p:strVal val="#ppt_x"/>
                                          </p:val>
                                        </p:tav>
                                      </p:tavLst>
                                    </p:anim>
                                    <p:anim calcmode="lin" valueType="num">
                                      <p:cBhvr additive="base">
                                        <p:cTn id="89" dur="500" fill="hold"/>
                                        <p:tgtEl>
                                          <p:spTgt spid="21"/>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440"/>
                                  </p:stCondLst>
                                  <p:childTnLst>
                                    <p:set>
                                      <p:cBhvr>
                                        <p:cTn id="91" dur="1" fill="hold">
                                          <p:stCondLst>
                                            <p:cond delay="0"/>
                                          </p:stCondLst>
                                        </p:cTn>
                                        <p:tgtEl>
                                          <p:spTgt spid="22"/>
                                        </p:tgtEl>
                                        <p:attrNameLst>
                                          <p:attrName>style.visibility</p:attrName>
                                        </p:attrNameLst>
                                      </p:cBhvr>
                                      <p:to>
                                        <p:strVal val="visible"/>
                                      </p:to>
                                    </p:set>
                                    <p:animEffect transition="in" filter="fade">
                                      <p:cBhvr>
                                        <p:cTn id="92" dur="500"/>
                                        <p:tgtEl>
                                          <p:spTgt spid="22"/>
                                        </p:tgtEl>
                                      </p:cBhvr>
                                    </p:animEffect>
                                    <p:anim calcmode="lin" valueType="num">
                                      <p:cBhvr additive="base">
                                        <p:cTn id="93" dur="500" fill="hold"/>
                                        <p:tgtEl>
                                          <p:spTgt spid="22"/>
                                        </p:tgtEl>
                                        <p:attrNameLst>
                                          <p:attrName>ppt_x</p:attrName>
                                        </p:attrNameLst>
                                      </p:cBhvr>
                                      <p:tavLst>
                                        <p:tav tm="0">
                                          <p:val>
                                            <p:strVal val="#ppt_x"/>
                                          </p:val>
                                        </p:tav>
                                        <p:tav tm="100000">
                                          <p:val>
                                            <p:strVal val="#ppt_x"/>
                                          </p:val>
                                        </p:tav>
                                      </p:tavLst>
                                    </p:anim>
                                    <p:anim calcmode="lin" valueType="num">
                                      <p:cBhvr additive="base">
                                        <p:cTn id="94" dur="500" fill="hold"/>
                                        <p:tgtEl>
                                          <p:spTgt spid="22"/>
                                        </p:tgtEl>
                                        <p:attrNameLst>
                                          <p:attrName>ppt_y</p:attrName>
                                        </p:attrNameLst>
                                      </p:cBhvr>
                                      <p:tavLst>
                                        <p:tav tm="0">
                                          <p:val>
                                            <p:strVal val="#ppt_y+.1"/>
                                          </p:val>
                                        </p:tav>
                                        <p:tav tm="100000">
                                          <p:val>
                                            <p:strVal val="#ppt_y"/>
                                          </p:val>
                                        </p:tav>
                                      </p:tavLst>
                                    </p:anim>
                                  </p:childTnLst>
                                </p:cTn>
                              </p:par>
                              <p:par>
                                <p:cTn id="95" presetID="42" presetClass="entr" presetSubtype="0" fill="hold" grpId="0" nodeType="withEffect">
                                  <p:stCondLst>
                                    <p:cond delay="660"/>
                                  </p:stCondLst>
                                  <p:childTnLst>
                                    <p:set>
                                      <p:cBhvr>
                                        <p:cTn id="96" dur="1" fill="hold">
                                          <p:stCondLst>
                                            <p:cond delay="0"/>
                                          </p:stCondLst>
                                        </p:cTn>
                                        <p:tgtEl>
                                          <p:spTgt spid="23"/>
                                        </p:tgtEl>
                                        <p:attrNameLst>
                                          <p:attrName>style.visibility</p:attrName>
                                        </p:attrNameLst>
                                      </p:cBhvr>
                                      <p:to>
                                        <p:strVal val="visible"/>
                                      </p:to>
                                    </p:set>
                                    <p:animEffect transition="in" filter="fade">
                                      <p:cBhvr>
                                        <p:cTn id="97" dur="500"/>
                                        <p:tgtEl>
                                          <p:spTgt spid="23"/>
                                        </p:tgtEl>
                                      </p:cBhvr>
                                    </p:animEffect>
                                    <p:anim calcmode="lin" valueType="num">
                                      <p:cBhvr additive="base">
                                        <p:cTn id="98" dur="500" fill="hold"/>
                                        <p:tgtEl>
                                          <p:spTgt spid="23"/>
                                        </p:tgtEl>
                                        <p:attrNameLst>
                                          <p:attrName>ppt_x</p:attrName>
                                        </p:attrNameLst>
                                      </p:cBhvr>
                                      <p:tavLst>
                                        <p:tav tm="0">
                                          <p:val>
                                            <p:strVal val="#ppt_x"/>
                                          </p:val>
                                        </p:tav>
                                        <p:tav tm="100000">
                                          <p:val>
                                            <p:strVal val="#ppt_x"/>
                                          </p:val>
                                        </p:tav>
                                      </p:tavLst>
                                    </p:anim>
                                    <p:anim calcmode="lin" valueType="num">
                                      <p:cBhvr additive="base">
                                        <p:cTn id="99" dur="500" fill="hold"/>
                                        <p:tgtEl>
                                          <p:spTgt spid="23"/>
                                        </p:tgtEl>
                                        <p:attrNameLst>
                                          <p:attrName>ppt_y</p:attrName>
                                        </p:attrNameLst>
                                      </p:cBhvr>
                                      <p:tavLst>
                                        <p:tav tm="0">
                                          <p:val>
                                            <p:strVal val="#ppt_y+.1"/>
                                          </p:val>
                                        </p:tav>
                                        <p:tav tm="100000">
                                          <p:val>
                                            <p:strVal val="#ppt_y"/>
                                          </p:val>
                                        </p:tav>
                                      </p:tavLst>
                                    </p:anim>
                                  </p:childTnLst>
                                </p:cTn>
                              </p:par>
                              <p:par>
                                <p:cTn id="100" presetID="42" presetClass="entr" presetSubtype="0" fill="hold" grpId="0" nodeType="withEffect">
                                  <p:stCondLst>
                                    <p:cond delay="660"/>
                                  </p:stCondLst>
                                  <p:childTnLst>
                                    <p:set>
                                      <p:cBhvr>
                                        <p:cTn id="101" dur="1" fill="hold">
                                          <p:stCondLst>
                                            <p:cond delay="0"/>
                                          </p:stCondLst>
                                        </p:cTn>
                                        <p:tgtEl>
                                          <p:spTgt spid="24"/>
                                        </p:tgtEl>
                                        <p:attrNameLst>
                                          <p:attrName>style.visibility</p:attrName>
                                        </p:attrNameLst>
                                      </p:cBhvr>
                                      <p:to>
                                        <p:strVal val="visible"/>
                                      </p:to>
                                    </p:set>
                                    <p:animEffect transition="in" filter="fade">
                                      <p:cBhvr>
                                        <p:cTn id="102" dur="500"/>
                                        <p:tgtEl>
                                          <p:spTgt spid="24"/>
                                        </p:tgtEl>
                                      </p:cBhvr>
                                    </p:animEffect>
                                    <p:anim calcmode="lin" valueType="num">
                                      <p:cBhvr additive="base">
                                        <p:cTn id="103" dur="500" fill="hold"/>
                                        <p:tgtEl>
                                          <p:spTgt spid="24"/>
                                        </p:tgtEl>
                                        <p:attrNameLst>
                                          <p:attrName>ppt_x</p:attrName>
                                        </p:attrNameLst>
                                      </p:cBhvr>
                                      <p:tavLst>
                                        <p:tav tm="0">
                                          <p:val>
                                            <p:strVal val="#ppt_x"/>
                                          </p:val>
                                        </p:tav>
                                        <p:tav tm="100000">
                                          <p:val>
                                            <p:strVal val="#ppt_x"/>
                                          </p:val>
                                        </p:tav>
                                      </p:tavLst>
                                    </p:anim>
                                    <p:anim calcmode="lin" valueType="num">
                                      <p:cBhvr additive="base">
                                        <p:cTn id="104" dur="500" fill="hold"/>
                                        <p:tgtEl>
                                          <p:spTgt spid="24"/>
                                        </p:tgtEl>
                                        <p:attrNameLst>
                                          <p:attrName>ppt_y</p:attrName>
                                        </p:attrNameLst>
                                      </p:cBhvr>
                                      <p:tavLst>
                                        <p:tav tm="0">
                                          <p:val>
                                            <p:strVal val="#ppt_y+.1"/>
                                          </p:val>
                                        </p:tav>
                                        <p:tav tm="100000">
                                          <p:val>
                                            <p:strVal val="#ppt_y"/>
                                          </p:val>
                                        </p:tav>
                                      </p:tavLst>
                                    </p:anim>
                                  </p:childTnLst>
                                </p:cTn>
                              </p:par>
                              <p:par>
                                <p:cTn id="105" presetID="42" presetClass="entr" presetSubtype="0" fill="hold" nodeType="withEffect">
                                  <p:stCondLst>
                                    <p:cond delay="660"/>
                                  </p:stCondLst>
                                  <p:childTnLst>
                                    <p:set>
                                      <p:cBhvr>
                                        <p:cTn id="106" dur="1" fill="hold">
                                          <p:stCondLst>
                                            <p:cond delay="0"/>
                                          </p:stCondLst>
                                        </p:cTn>
                                        <p:tgtEl>
                                          <p:spTgt spid="25"/>
                                        </p:tgtEl>
                                        <p:attrNameLst>
                                          <p:attrName>style.visibility</p:attrName>
                                        </p:attrNameLst>
                                      </p:cBhvr>
                                      <p:to>
                                        <p:strVal val="visible"/>
                                      </p:to>
                                    </p:set>
                                    <p:animEffect transition="in" filter="fade">
                                      <p:cBhvr>
                                        <p:cTn id="107" dur="500"/>
                                        <p:tgtEl>
                                          <p:spTgt spid="25"/>
                                        </p:tgtEl>
                                      </p:cBhvr>
                                    </p:animEffect>
                                    <p:anim calcmode="lin" valueType="num">
                                      <p:cBhvr additive="base">
                                        <p:cTn id="108" dur="500" fill="hold"/>
                                        <p:tgtEl>
                                          <p:spTgt spid="25"/>
                                        </p:tgtEl>
                                        <p:attrNameLst>
                                          <p:attrName>ppt_x</p:attrName>
                                        </p:attrNameLst>
                                      </p:cBhvr>
                                      <p:tavLst>
                                        <p:tav tm="0">
                                          <p:val>
                                            <p:strVal val="#ppt_x"/>
                                          </p:val>
                                        </p:tav>
                                        <p:tav tm="100000">
                                          <p:val>
                                            <p:strVal val="#ppt_x"/>
                                          </p:val>
                                        </p:tav>
                                      </p:tavLst>
                                    </p:anim>
                                    <p:anim calcmode="lin" valueType="num">
                                      <p:cBhvr additive="base">
                                        <p:cTn id="109" dur="500" fill="hold"/>
                                        <p:tgtEl>
                                          <p:spTgt spid="25"/>
                                        </p:tgtEl>
                                        <p:attrNameLst>
                                          <p:attrName>ppt_y</p:attrName>
                                        </p:attrNameLst>
                                      </p:cBhvr>
                                      <p:tavLst>
                                        <p:tav tm="0">
                                          <p:val>
                                            <p:strVal val="#ppt_y+.1"/>
                                          </p:val>
                                        </p:tav>
                                        <p:tav tm="100000">
                                          <p:val>
                                            <p:strVal val="#ppt_y"/>
                                          </p:val>
                                        </p:tav>
                                      </p:tavLst>
                                    </p:anim>
                                  </p:childTnLst>
                                </p:cTn>
                              </p:par>
                              <p:par>
                                <p:cTn id="110" presetID="42" presetClass="entr" presetSubtype="0" fill="hold" grpId="0" nodeType="withEffect">
                                  <p:stCondLst>
                                    <p:cond delay="660"/>
                                  </p:stCondLst>
                                  <p:childTnLst>
                                    <p:set>
                                      <p:cBhvr>
                                        <p:cTn id="111" dur="1" fill="hold">
                                          <p:stCondLst>
                                            <p:cond delay="0"/>
                                          </p:stCondLst>
                                        </p:cTn>
                                        <p:tgtEl>
                                          <p:spTgt spid="26"/>
                                        </p:tgtEl>
                                        <p:attrNameLst>
                                          <p:attrName>style.visibility</p:attrName>
                                        </p:attrNameLst>
                                      </p:cBhvr>
                                      <p:to>
                                        <p:strVal val="visible"/>
                                      </p:to>
                                    </p:set>
                                    <p:animEffect transition="in" filter="fade">
                                      <p:cBhvr>
                                        <p:cTn id="112" dur="500"/>
                                        <p:tgtEl>
                                          <p:spTgt spid="26"/>
                                        </p:tgtEl>
                                      </p:cBhvr>
                                    </p:animEffect>
                                    <p:anim calcmode="lin" valueType="num">
                                      <p:cBhvr additive="base">
                                        <p:cTn id="113" dur="500" fill="hold"/>
                                        <p:tgtEl>
                                          <p:spTgt spid="26"/>
                                        </p:tgtEl>
                                        <p:attrNameLst>
                                          <p:attrName>ppt_x</p:attrName>
                                        </p:attrNameLst>
                                      </p:cBhvr>
                                      <p:tavLst>
                                        <p:tav tm="0">
                                          <p:val>
                                            <p:strVal val="#ppt_x"/>
                                          </p:val>
                                        </p:tav>
                                        <p:tav tm="100000">
                                          <p:val>
                                            <p:strVal val="#ppt_x"/>
                                          </p:val>
                                        </p:tav>
                                      </p:tavLst>
                                    </p:anim>
                                    <p:anim calcmode="lin" valueType="num">
                                      <p:cBhvr additive="base">
                                        <p:cTn id="114" dur="500" fill="hold"/>
                                        <p:tgtEl>
                                          <p:spTgt spid="26"/>
                                        </p:tgtEl>
                                        <p:attrNameLst>
                                          <p:attrName>ppt_y</p:attrName>
                                        </p:attrNameLst>
                                      </p:cBhvr>
                                      <p:tavLst>
                                        <p:tav tm="0">
                                          <p:val>
                                            <p:strVal val="#ppt_y+.1"/>
                                          </p:val>
                                        </p:tav>
                                        <p:tav tm="100000">
                                          <p:val>
                                            <p:strVal val="#ppt_y"/>
                                          </p:val>
                                        </p:tav>
                                      </p:tavLst>
                                    </p:anim>
                                  </p:childTnLst>
                                </p:cTn>
                              </p:par>
                              <p:par>
                                <p:cTn id="115" presetID="42" presetClass="entr" presetSubtype="0" fill="hold" grpId="0" nodeType="withEffect">
                                  <p:stCondLst>
                                    <p:cond delay="660"/>
                                  </p:stCondLst>
                                  <p:childTnLst>
                                    <p:set>
                                      <p:cBhvr>
                                        <p:cTn id="116" dur="1" fill="hold">
                                          <p:stCondLst>
                                            <p:cond delay="0"/>
                                          </p:stCondLst>
                                        </p:cTn>
                                        <p:tgtEl>
                                          <p:spTgt spid="27"/>
                                        </p:tgtEl>
                                        <p:attrNameLst>
                                          <p:attrName>style.visibility</p:attrName>
                                        </p:attrNameLst>
                                      </p:cBhvr>
                                      <p:to>
                                        <p:strVal val="visible"/>
                                      </p:to>
                                    </p:set>
                                    <p:animEffect transition="in" filter="fade">
                                      <p:cBhvr>
                                        <p:cTn id="117" dur="500"/>
                                        <p:tgtEl>
                                          <p:spTgt spid="27"/>
                                        </p:tgtEl>
                                      </p:cBhvr>
                                    </p:animEffect>
                                    <p:anim calcmode="lin" valueType="num">
                                      <p:cBhvr additive="base">
                                        <p:cTn id="118" dur="500" fill="hold"/>
                                        <p:tgtEl>
                                          <p:spTgt spid="27"/>
                                        </p:tgtEl>
                                        <p:attrNameLst>
                                          <p:attrName>ppt_x</p:attrName>
                                        </p:attrNameLst>
                                      </p:cBhvr>
                                      <p:tavLst>
                                        <p:tav tm="0">
                                          <p:val>
                                            <p:strVal val="#ppt_x"/>
                                          </p:val>
                                        </p:tav>
                                        <p:tav tm="100000">
                                          <p:val>
                                            <p:strVal val="#ppt_x"/>
                                          </p:val>
                                        </p:tav>
                                      </p:tavLst>
                                    </p:anim>
                                    <p:anim calcmode="lin" valueType="num">
                                      <p:cBhvr additive="base">
                                        <p:cTn id="119" dur="500" fill="hold"/>
                                        <p:tgtEl>
                                          <p:spTgt spid="27"/>
                                        </p:tgtEl>
                                        <p:attrNameLst>
                                          <p:attrName>ppt_y</p:attrName>
                                        </p:attrNameLst>
                                      </p:cBhvr>
                                      <p:tavLst>
                                        <p:tav tm="0">
                                          <p:val>
                                            <p:strVal val="#ppt_y+.1"/>
                                          </p:val>
                                        </p:tav>
                                        <p:tav tm="100000">
                                          <p:val>
                                            <p:strVal val="#ppt_y"/>
                                          </p:val>
                                        </p:tav>
                                      </p:tavLst>
                                    </p:anim>
                                  </p:childTnLst>
                                </p:cTn>
                              </p:par>
                              <p:par>
                                <p:cTn id="120" presetID="42" presetClass="entr" presetSubtype="0" fill="hold" grpId="0" nodeType="withEffect">
                                  <p:stCondLst>
                                    <p:cond delay="660"/>
                                  </p:stCondLst>
                                  <p:childTnLst>
                                    <p:set>
                                      <p:cBhvr>
                                        <p:cTn id="121" dur="1" fill="hold">
                                          <p:stCondLst>
                                            <p:cond delay="0"/>
                                          </p:stCondLst>
                                        </p:cTn>
                                        <p:tgtEl>
                                          <p:spTgt spid="28"/>
                                        </p:tgtEl>
                                        <p:attrNameLst>
                                          <p:attrName>style.visibility</p:attrName>
                                        </p:attrNameLst>
                                      </p:cBhvr>
                                      <p:to>
                                        <p:strVal val="visible"/>
                                      </p:to>
                                    </p:set>
                                    <p:animEffect transition="in" filter="fade">
                                      <p:cBhvr>
                                        <p:cTn id="122" dur="500"/>
                                        <p:tgtEl>
                                          <p:spTgt spid="28"/>
                                        </p:tgtEl>
                                      </p:cBhvr>
                                    </p:animEffect>
                                    <p:anim calcmode="lin" valueType="num">
                                      <p:cBhvr additive="base">
                                        <p:cTn id="123" dur="500" fill="hold"/>
                                        <p:tgtEl>
                                          <p:spTgt spid="28"/>
                                        </p:tgtEl>
                                        <p:attrNameLst>
                                          <p:attrName>ppt_x</p:attrName>
                                        </p:attrNameLst>
                                      </p:cBhvr>
                                      <p:tavLst>
                                        <p:tav tm="0">
                                          <p:val>
                                            <p:strVal val="#ppt_x"/>
                                          </p:val>
                                        </p:tav>
                                        <p:tav tm="100000">
                                          <p:val>
                                            <p:strVal val="#ppt_x"/>
                                          </p:val>
                                        </p:tav>
                                      </p:tavLst>
                                    </p:anim>
                                    <p:anim calcmode="lin" valueType="num">
                                      <p:cBhvr additive="base">
                                        <p:cTn id="124" dur="5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0" grpId="0" animBg="1"/>
      <p:bldP spid="11" grpId="0" animBg="1"/>
      <p:bldP spid="12" grpId="0" animBg="1"/>
      <p:bldP spid="14" grpId="0" animBg="1"/>
      <p:bldP spid="15" grpId="0" animBg="1"/>
      <p:bldP spid="16" grpId="0" animBg="1"/>
      <p:bldP spid="17" grpId="0" animBg="1"/>
      <p:bldP spid="18" grpId="0" animBg="1"/>
      <p:bldP spid="20" grpId="0" animBg="1"/>
      <p:bldP spid="21" grpId="0" animBg="1"/>
      <p:bldP spid="22" grpId="0" animBg="1"/>
      <p:bldP spid="23" grpId="0" animBg="1"/>
      <p:bldP spid="24" grpId="0" animBg="1"/>
      <p:bldP spid="26" grpId="0" animBg="1"/>
      <p:bldP spid="27" grpId="0" animBg="1"/>
      <p:bldP spid="2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ring#79"/>
          <p:cNvSpPr/>
          <p:nvPr/>
        </p:nvSpPr>
        <p:spPr>
          <a:xfrm>
            <a:off x="7223760" y="1234440"/>
            <a:ext cx="4389120" cy="4389120"/>
          </a:xfrm>
          <a:prstGeom prst="ellipse">
            <a:avLst/>
          </a:prstGeom>
          <a:solidFill>
            <a:srgbClr val="1BA39C">
              <a:alpha val="20000"/>
            </a:srgbClr>
          </a:solidFill>
          <a:ln/>
        </p:spPr>
      </p:sp>
      <p:sp>
        <p:nvSpPr>
          <p:cNvPr id="3" name="ring#80"/>
          <p:cNvSpPr/>
          <p:nvPr/>
        </p:nvSpPr>
        <p:spPr>
          <a:xfrm>
            <a:off x="7818120" y="1828800"/>
            <a:ext cx="3200400" cy="3200400"/>
          </a:xfrm>
          <a:prstGeom prst="ellipse">
            <a:avLst/>
          </a:prstGeom>
          <a:solidFill>
            <a:srgbClr val="1BA39C">
              <a:alpha val="8000"/>
            </a:srgbClr>
          </a:solidFill>
          <a:ln/>
        </p:spPr>
      </p:sp>
      <p:sp>
        <p:nvSpPr>
          <p:cNvPr id="4" name="divDot"/>
          <p:cNvSpPr/>
          <p:nvPr/>
        </p:nvSpPr>
        <p:spPr>
          <a:xfrm>
            <a:off x="8503920" y="2514600"/>
            <a:ext cx="1828800" cy="1828800"/>
          </a:xfrm>
          <a:prstGeom prst="ellipse">
            <a:avLst/>
          </a:prstGeom>
          <a:solidFill>
            <a:schemeClr val="accent3"/>
          </a:solidFill>
          <a:ln/>
        </p:spPr>
      </p:sp>
      <p:pic>
        <p:nvPicPr>
          <p:cNvPr id="5" name="divDoti" descr="preencoded.png"/>
          <p:cNvPicPr>
            <a:picLocks noChangeAspect="1"/>
          </p:cNvPicPr>
          <p:nvPr/>
        </p:nvPicPr>
        <p:blipFill>
          <a:blip r:embed="rId3"/>
          <a:stretch>
            <a:fillRect/>
          </a:stretch>
        </p:blipFill>
        <p:spPr>
          <a:xfrm>
            <a:off x="8997696" y="3008376"/>
            <a:ext cx="841248" cy="841248"/>
          </a:xfrm>
          <a:prstGeom prst="rect">
            <a:avLst/>
          </a:prstGeom>
        </p:spPr>
      </p:pic>
      <p:sp>
        <p:nvSpPr>
          <p:cNvPr id="6" name="divNum"/>
          <p:cNvSpPr txBox="1"/>
          <p:nvPr/>
        </p:nvSpPr>
        <p:spPr>
          <a:xfrm>
            <a:off x="548640" y="1463040"/>
            <a:ext cx="3657600" cy="1737360"/>
          </a:xfrm>
          <a:prstGeom prst="rect">
            <a:avLst/>
          </a:prstGeom>
          <a:noFill/>
          <a:ln/>
        </p:spPr>
        <p:txBody>
          <a:bodyPr wrap="square" lIns="0" tIns="0" rIns="0" bIns="0" rtlCol="0" anchor="t"/>
          <a:lstStyle/>
          <a:p>
            <a:pPr marL="0" indent="0">
              <a:buNone/>
            </a:pPr>
            <a:r>
              <a:rPr lang="en-US" sz="12000" b="1" dirty="0">
                <a:solidFill>
                  <a:schemeClr val="accent2"/>
                </a:solidFill>
              </a:rPr>
              <a:t>05</a:t>
            </a:r>
            <a:endParaRPr lang="en-US" sz="12000" dirty="0"/>
          </a:p>
        </p:txBody>
      </p:sp>
      <p:sp>
        <p:nvSpPr>
          <p:cNvPr id="7" name="divPart"/>
          <p:cNvSpPr txBox="1"/>
          <p:nvPr/>
        </p:nvSpPr>
        <p:spPr>
          <a:xfrm>
            <a:off x="548640" y="3383280"/>
            <a:ext cx="5486400" cy="320040"/>
          </a:xfrm>
          <a:prstGeom prst="rect">
            <a:avLst/>
          </a:prstGeom>
          <a:noFill/>
          <a:ln/>
        </p:spPr>
        <p:txBody>
          <a:bodyPr wrap="square" lIns="0" tIns="0" rIns="0" bIns="0" rtlCol="0" anchor="t"/>
          <a:lstStyle/>
          <a:p>
            <a:pPr marL="0" indent="0">
              <a:buNone/>
            </a:pPr>
            <a:r>
              <a:rPr lang="en-US" sz="1300" b="1" kern="0" spc="300" dirty="0">
                <a:solidFill>
                  <a:schemeClr val="accent3"/>
                </a:solidFill>
              </a:rPr>
              <a:t>PARTIE 5</a:t>
            </a:r>
            <a:endParaRPr lang="en-US" sz="1300" dirty="0"/>
          </a:p>
        </p:txBody>
      </p:sp>
      <p:sp>
        <p:nvSpPr>
          <p:cNvPr id="8" name="divTtl"/>
          <p:cNvSpPr txBox="1"/>
          <p:nvPr/>
        </p:nvSpPr>
        <p:spPr>
          <a:xfrm>
            <a:off x="548640" y="3749040"/>
            <a:ext cx="6949440" cy="914400"/>
          </a:xfrm>
          <a:prstGeom prst="rect">
            <a:avLst/>
          </a:prstGeom>
          <a:noFill/>
          <a:ln/>
        </p:spPr>
        <p:txBody>
          <a:bodyPr wrap="square" lIns="0" tIns="0" rIns="0" bIns="0" rtlCol="0" anchor="t"/>
          <a:lstStyle/>
          <a:p>
            <a:pPr marL="0" indent="0">
              <a:buNone/>
            </a:pPr>
            <a:r>
              <a:rPr lang="en-US" sz="3400" b="1" dirty="0">
                <a:solidFill>
                  <a:schemeClr val="bg1"/>
                </a:solidFill>
              </a:rPr>
              <a:t>Supervision et tests</a:t>
            </a:r>
            <a:endParaRPr lang="en-US" sz="3400" dirty="0"/>
          </a:p>
        </p:txBody>
      </p:sp>
      <p:sp>
        <p:nvSpPr>
          <p:cNvPr id="9" name="divSub"/>
          <p:cNvSpPr txBox="1"/>
          <p:nvPr/>
        </p:nvSpPr>
        <p:spPr>
          <a:xfrm>
            <a:off x="548640" y="4709160"/>
            <a:ext cx="6949440" cy="548640"/>
          </a:xfrm>
          <a:prstGeom prst="rect">
            <a:avLst/>
          </a:prstGeom>
          <a:noFill/>
          <a:ln/>
        </p:spPr>
        <p:txBody>
          <a:bodyPr wrap="square" lIns="0" tIns="0" rIns="0" bIns="0" rtlCol="0" anchor="t"/>
          <a:lstStyle/>
          <a:p>
            <a:pPr marL="0" indent="0">
              <a:buNone/>
            </a:pPr>
            <a:r>
              <a:rPr lang="en-US" sz="1600" dirty="0">
                <a:solidFill>
                  <a:srgbClr val="C9D3E3"/>
                </a:solidFill>
              </a:rPr>
              <a:t>Netdata, SoapUI, JUnit et test de bout en bout</a:t>
            </a:r>
            <a:endParaRPr lang="en-US" sz="16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ppt_w</p:attrName>
                                        </p:attrNameLst>
                                      </p:cBhvr>
                                      <p:tavLst>
                                        <p:tav tm="0">
                                          <p:val>
                                            <p:strVal val="0"/>
                                          </p:val>
                                        </p:tav>
                                        <p:tav tm="100000">
                                          <p:val>
                                            <p:strVal val="#ppt_w"/>
                                          </p:val>
                                        </p:tav>
                                      </p:tavLst>
                                    </p:anim>
                                    <p:anim calcmode="lin" valueType="num">
                                      <p:cBhvr additive="base">
                                        <p:cTn id="8" dur="500" fill="hold"/>
                                        <p:tgtEl>
                                          <p:spTgt spid="4"/>
                                        </p:tgtEl>
                                        <p:attrNameLst>
                                          <p:attrName>ppt_h</p:attrName>
                                        </p:attrNameLst>
                                      </p:cBhvr>
                                      <p:tavLst>
                                        <p:tav tm="0">
                                          <p:val>
                                            <p:strVal val="0"/>
                                          </p:val>
                                        </p:tav>
                                        <p:tav tm="100000">
                                          <p:val>
                                            <p:strVal val="#ppt_h"/>
                                          </p:val>
                                        </p:tav>
                                      </p:tavLst>
                                    </p:anim>
                                    <p:animEffect transition="in" filter="fade">
                                      <p:cBhvr>
                                        <p:cTn id="9" dur="500"/>
                                        <p:tgtEl>
                                          <p:spTgt spid="4"/>
                                        </p:tgtEl>
                                      </p:cBhvr>
                                    </p:animEffect>
                                  </p:childTnLst>
                                </p:cTn>
                              </p:par>
                              <p:par>
                                <p:cTn id="10" presetID="53" presetClass="entr" presetSubtype="16"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ppt_w</p:attrName>
                                        </p:attrNameLst>
                                      </p:cBhvr>
                                      <p:tavLst>
                                        <p:tav tm="0">
                                          <p:val>
                                            <p:strVal val="0"/>
                                          </p:val>
                                        </p:tav>
                                        <p:tav tm="100000">
                                          <p:val>
                                            <p:strVal val="#ppt_w"/>
                                          </p:val>
                                        </p:tav>
                                      </p:tavLst>
                                    </p:anim>
                                    <p:anim calcmode="lin" valueType="num">
                                      <p:cBhvr additive="base">
                                        <p:cTn id="13" dur="500" fill="hold"/>
                                        <p:tgtEl>
                                          <p:spTgt spid="5"/>
                                        </p:tgtEl>
                                        <p:attrNameLst>
                                          <p:attrName>ppt_h</p:attrName>
                                        </p:attrNameLst>
                                      </p:cBhvr>
                                      <p:tavLst>
                                        <p:tav tm="0">
                                          <p:val>
                                            <p:strVal val="0"/>
                                          </p:val>
                                        </p:tav>
                                        <p:tav tm="100000">
                                          <p:val>
                                            <p:strVal val="#ppt_h"/>
                                          </p:val>
                                        </p:tav>
                                      </p:tavLst>
                                    </p:anim>
                                    <p:animEffect transition="in" filter="fade">
                                      <p:cBhvr>
                                        <p:cTn id="14" dur="500"/>
                                        <p:tgtEl>
                                          <p:spTgt spid="5"/>
                                        </p:tgtEl>
                                      </p:cBhvr>
                                    </p:animEffect>
                                  </p:childTnLst>
                                </p:cTn>
                              </p:par>
                              <p:par>
                                <p:cTn id="15" presetID="42" presetClass="entr" presetSubtype="0" fill="hold" grpId="0" nodeType="withEffect">
                                  <p:stCondLst>
                                    <p:cond delay="22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anim calcmode="lin" valueType="num">
                                      <p:cBhvr additive="base">
                                        <p:cTn id="18" dur="500" fill="hold"/>
                                        <p:tgtEl>
                                          <p:spTgt spid="6"/>
                                        </p:tgtEl>
                                        <p:attrNameLst>
                                          <p:attrName>ppt_x</p:attrName>
                                        </p:attrNameLst>
                                      </p:cBhvr>
                                      <p:tavLst>
                                        <p:tav tm="0">
                                          <p:val>
                                            <p:strVal val="#ppt_x"/>
                                          </p:val>
                                        </p:tav>
                                        <p:tav tm="100000">
                                          <p:val>
                                            <p:strVal val="#ppt_x"/>
                                          </p:val>
                                        </p:tav>
                                      </p:tavLst>
                                    </p:anim>
                                    <p:anim calcmode="lin" valueType="num">
                                      <p:cBhvr additive="base">
                                        <p:cTn id="19" dur="50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44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anim calcmode="lin" valueType="num">
                                      <p:cBhvr additive="base">
                                        <p:cTn id="23" dur="500" fill="hold"/>
                                        <p:tgtEl>
                                          <p:spTgt spid="7"/>
                                        </p:tgtEl>
                                        <p:attrNameLst>
                                          <p:attrName>ppt_x</p:attrName>
                                        </p:attrNameLst>
                                      </p:cBhvr>
                                      <p:tavLst>
                                        <p:tav tm="0">
                                          <p:val>
                                            <p:strVal val="#ppt_x"/>
                                          </p:val>
                                        </p:tav>
                                        <p:tav tm="100000">
                                          <p:val>
                                            <p:strVal val="#ppt_x"/>
                                          </p:val>
                                        </p:tav>
                                      </p:tavLst>
                                    </p:anim>
                                    <p:anim calcmode="lin" valueType="num">
                                      <p:cBhvr additive="base">
                                        <p:cTn id="24" dur="500" fill="hold"/>
                                        <p:tgtEl>
                                          <p:spTgt spid="7"/>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44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anim calcmode="lin" valueType="num">
                                      <p:cBhvr additive="base">
                                        <p:cTn id="28" dur="500" fill="hold"/>
                                        <p:tgtEl>
                                          <p:spTgt spid="8"/>
                                        </p:tgtEl>
                                        <p:attrNameLst>
                                          <p:attrName>ppt_x</p:attrName>
                                        </p:attrNameLst>
                                      </p:cBhvr>
                                      <p:tavLst>
                                        <p:tav tm="0">
                                          <p:val>
                                            <p:strVal val="#ppt_x"/>
                                          </p:val>
                                        </p:tav>
                                        <p:tav tm="100000">
                                          <p:val>
                                            <p:strVal val="#ppt_x"/>
                                          </p:val>
                                        </p:tav>
                                      </p:tavLst>
                                    </p:anim>
                                    <p:anim calcmode="lin" valueType="num">
                                      <p:cBhvr additive="base">
                                        <p:cTn id="29" dur="500" fill="hold"/>
                                        <p:tgtEl>
                                          <p:spTgt spid="8"/>
                                        </p:tgtEl>
                                        <p:attrNameLst>
                                          <p:attrName>ppt_y</p:attrName>
                                        </p:attrNameLst>
                                      </p:cBhvr>
                                      <p:tavLst>
                                        <p:tav tm="0">
                                          <p:val>
                                            <p:strVal val="#ppt_y+.1"/>
                                          </p:val>
                                        </p:tav>
                                        <p:tav tm="100000">
                                          <p:val>
                                            <p:strVal val="#ppt_y"/>
                                          </p:val>
                                        </p:tav>
                                      </p:tavLst>
                                    </p:anim>
                                  </p:childTnLst>
                                </p:cTn>
                              </p:par>
                              <p:par>
                                <p:cTn id="30" presetID="10" presetClass="entr" presetSubtype="0" fill="hold" grpId="0" nodeType="withEffect">
                                  <p:stCondLst>
                                    <p:cond delay="66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749808"/>
            <a:ext cx="11064240" cy="685800"/>
          </a:xfrm>
          <a:prstGeom prst="rect">
            <a:avLst/>
          </a:prstGeom>
          <a:noFill/>
          <a:ln/>
        </p:spPr>
        <p:txBody>
          <a:bodyPr wrap="square" lIns="0" tIns="0" rIns="0" bIns="0" rtlCol="0" anchor="ctr"/>
          <a:lstStyle/>
          <a:p>
            <a:pPr marL="0" indent="0" algn="l">
              <a:buNone/>
            </a:pPr>
            <a:r>
              <a:rPr lang="en-US" sz="3000" b="1" dirty="0">
                <a:solidFill>
                  <a:schemeClr val="tx2"/>
                </a:solidFill>
              </a:rPr>
              <a:t>Supervision avec Netdata</a:t>
            </a:r>
            <a:endParaRPr lang="en-US" sz="3000" dirty="0"/>
          </a:p>
        </p:txBody>
      </p:sp>
      <p:sp>
        <p:nvSpPr>
          <p:cNvPr id="3" name="pill#81"/>
          <p:cNvSpPr/>
          <p:nvPr/>
        </p:nvSpPr>
        <p:spPr>
          <a:xfrm>
            <a:off x="548640" y="384048"/>
            <a:ext cx="1056132" cy="292608"/>
          </a:xfrm>
          <a:prstGeom prst="roundRect">
            <a:avLst>
              <a:gd name="adj" fmla="val 50000"/>
            </a:avLst>
          </a:prstGeom>
          <a:solidFill>
            <a:schemeClr val="accent3"/>
          </a:solidFill>
          <a:ln/>
        </p:spPr>
      </p:sp>
      <p:sp>
        <p:nvSpPr>
          <p:cNvPr id="4" name="pill#81t"/>
          <p:cNvSpPr txBox="1"/>
          <p:nvPr/>
        </p:nvSpPr>
        <p:spPr>
          <a:xfrm>
            <a:off x="548640" y="384048"/>
            <a:ext cx="1056132" cy="292608"/>
          </a:xfrm>
          <a:prstGeom prst="rect">
            <a:avLst/>
          </a:prstGeom>
          <a:noFill/>
          <a:ln/>
        </p:spPr>
        <p:txBody>
          <a:bodyPr wrap="square" lIns="0" tIns="0" rIns="0" bIns="0" rtlCol="0" anchor="ctr"/>
          <a:lstStyle/>
          <a:p>
            <a:pPr marL="0" indent="0" algn="ctr">
              <a:buNone/>
            </a:pPr>
            <a:r>
              <a:rPr lang="en-US" sz="1100" b="1" dirty="0">
                <a:solidFill>
                  <a:schemeClr val="bg1"/>
                </a:solidFill>
              </a:rPr>
              <a:t>Supervision</a:t>
            </a:r>
            <a:endParaRPr lang="en-US" sz="1100" dirty="0"/>
          </a:p>
        </p:txBody>
      </p:sp>
      <p:sp>
        <p:nvSpPr>
          <p:cNvPr id="5" name="shotBg"/>
          <p:cNvSpPr/>
          <p:nvPr/>
        </p:nvSpPr>
        <p:spPr>
          <a:xfrm>
            <a:off x="475488" y="1618488"/>
            <a:ext cx="7095744" cy="4315968"/>
          </a:xfrm>
          <a:prstGeom prst="roundRect">
            <a:avLst>
              <a:gd name="adj" fmla="val 2119"/>
            </a:avLst>
          </a:prstGeom>
          <a:solidFill>
            <a:srgbClr val="0B1220"/>
          </a:solidFill>
          <a:ln/>
          <a:effectLst>
            <a:outerShdw blurRad="127000" dist="38100" dir="5400000" algn="bl" rotWithShape="0">
              <a:srgbClr val="0D2340">
                <a:alpha val="12000"/>
              </a:srgbClr>
            </a:outerShdw>
          </a:effectLst>
        </p:spPr>
      </p:sp>
      <p:pic>
        <p:nvPicPr>
          <p:cNvPr id="6" name="shot" descr="/home/claude/employee-soap-service/docs/img/netdata-soap.png"/>
          <p:cNvPicPr>
            <a:picLocks noChangeAspect="1"/>
          </p:cNvPicPr>
          <p:nvPr/>
        </p:nvPicPr>
        <p:blipFill>
          <a:blip r:embed="rId3"/>
          <a:stretch>
            <a:fillRect/>
          </a:stretch>
        </p:blipFill>
        <p:spPr>
          <a:xfrm>
            <a:off x="548640" y="1691640"/>
            <a:ext cx="6949440" cy="4169664"/>
          </a:xfrm>
          <a:prstGeom prst="rect">
            <a:avLst/>
          </a:prstGeom>
        </p:spPr>
      </p:pic>
      <p:sp>
        <p:nvSpPr>
          <p:cNvPr id="7" name="nd#82d"/>
          <p:cNvSpPr/>
          <p:nvPr/>
        </p:nvSpPr>
        <p:spPr>
          <a:xfrm>
            <a:off x="7909560" y="1691640"/>
            <a:ext cx="640080" cy="640080"/>
          </a:xfrm>
          <a:prstGeom prst="ellipse">
            <a:avLst/>
          </a:prstGeom>
          <a:solidFill>
            <a:schemeClr val="accent3"/>
          </a:solidFill>
          <a:ln/>
        </p:spPr>
      </p:sp>
      <p:pic>
        <p:nvPicPr>
          <p:cNvPr id="8" name="nd#82di" descr="preencoded.png"/>
          <p:cNvPicPr>
            <a:picLocks noChangeAspect="1"/>
          </p:cNvPicPr>
          <p:nvPr/>
        </p:nvPicPr>
        <p:blipFill>
          <a:blip r:embed="rId4"/>
          <a:stretch>
            <a:fillRect/>
          </a:stretch>
        </p:blipFill>
        <p:spPr>
          <a:xfrm>
            <a:off x="8082382" y="1864462"/>
            <a:ext cx="294437" cy="294437"/>
          </a:xfrm>
          <a:prstGeom prst="rect">
            <a:avLst/>
          </a:prstGeom>
        </p:spPr>
      </p:pic>
      <p:sp>
        <p:nvSpPr>
          <p:cNvPr id="9" name="nd#82t"/>
          <p:cNvSpPr txBox="1"/>
          <p:nvPr/>
        </p:nvSpPr>
        <p:spPr>
          <a:xfrm>
            <a:off x="8686800" y="1664208"/>
            <a:ext cx="2926080" cy="868680"/>
          </a:xfrm>
          <a:prstGeom prst="rect">
            <a:avLst/>
          </a:prstGeom>
          <a:noFill/>
          <a:ln/>
        </p:spPr>
        <p:txBody>
          <a:bodyPr wrap="square" lIns="0" tIns="0" rIns="0" bIns="0" rtlCol="0" anchor="t"/>
          <a:lstStyle/>
          <a:p>
            <a:pPr marL="0" indent="0">
              <a:buNone/>
            </a:pPr>
            <a:r>
              <a:rPr lang="en-US" sz="1600" b="1" dirty="0">
                <a:solidFill>
                  <a:schemeClr val="tx2"/>
                </a:solidFill>
              </a:rPr>
              <a:t>Hôte et conteneurs</a:t>
            </a:r>
            <a:endParaRPr lang="en-US" sz="1300" dirty="0"/>
          </a:p>
          <a:p>
            <a:pPr marL="0" indent="0">
              <a:buNone/>
            </a:pPr>
            <a:r>
              <a:rPr lang="en-US" sz="1300" dirty="0">
                <a:solidFill>
                  <a:schemeClr val="tx1"/>
                </a:solidFill>
              </a:rPr>
              <a:t>CPU, mémoire, réseau, disque</a:t>
            </a:r>
            <a:endParaRPr lang="en-US" sz="1300" dirty="0"/>
          </a:p>
        </p:txBody>
      </p:sp>
      <p:sp>
        <p:nvSpPr>
          <p:cNvPr id="10" name="nd#83d"/>
          <p:cNvSpPr/>
          <p:nvPr/>
        </p:nvSpPr>
        <p:spPr>
          <a:xfrm>
            <a:off x="7909560" y="2761488"/>
            <a:ext cx="640080" cy="640080"/>
          </a:xfrm>
          <a:prstGeom prst="ellipse">
            <a:avLst/>
          </a:prstGeom>
          <a:solidFill>
            <a:schemeClr val="accent3"/>
          </a:solidFill>
          <a:ln/>
        </p:spPr>
      </p:sp>
      <p:pic>
        <p:nvPicPr>
          <p:cNvPr id="11" name="nd#83di" descr="preencoded.png"/>
          <p:cNvPicPr>
            <a:picLocks noChangeAspect="1"/>
          </p:cNvPicPr>
          <p:nvPr/>
        </p:nvPicPr>
        <p:blipFill>
          <a:blip r:embed="rId5"/>
          <a:stretch>
            <a:fillRect/>
          </a:stretch>
        </p:blipFill>
        <p:spPr>
          <a:xfrm>
            <a:off x="8082382" y="2934310"/>
            <a:ext cx="294437" cy="294437"/>
          </a:xfrm>
          <a:prstGeom prst="rect">
            <a:avLst/>
          </a:prstGeom>
        </p:spPr>
      </p:pic>
      <p:sp>
        <p:nvSpPr>
          <p:cNvPr id="12" name="nd#83t"/>
          <p:cNvSpPr txBox="1"/>
          <p:nvPr/>
        </p:nvSpPr>
        <p:spPr>
          <a:xfrm>
            <a:off x="8686800" y="2734056"/>
            <a:ext cx="2926080" cy="868680"/>
          </a:xfrm>
          <a:prstGeom prst="rect">
            <a:avLst/>
          </a:prstGeom>
          <a:noFill/>
          <a:ln/>
        </p:spPr>
        <p:txBody>
          <a:bodyPr wrap="square" lIns="0" tIns="0" rIns="0" bIns="0" rtlCol="0" anchor="t"/>
          <a:lstStyle/>
          <a:p>
            <a:pPr marL="0" indent="0">
              <a:buNone/>
            </a:pPr>
            <a:r>
              <a:rPr lang="en-US" sz="1600" b="1" dirty="0">
                <a:solidFill>
                  <a:schemeClr val="tx2"/>
                </a:solidFill>
              </a:rPr>
              <a:t>MySQL et PostgreSQL</a:t>
            </a:r>
            <a:endParaRPr lang="en-US" sz="1300" dirty="0"/>
          </a:p>
          <a:p>
            <a:pPr marL="0" indent="0">
              <a:buNone/>
            </a:pPr>
            <a:r>
              <a:rPr lang="en-US" sz="1300" dirty="0">
                <a:solidFill>
                  <a:schemeClr val="tx1"/>
                </a:solidFill>
              </a:rPr>
              <a:t>requêtes, connexions, tables</a:t>
            </a:r>
            <a:endParaRPr lang="en-US" sz="1300" dirty="0"/>
          </a:p>
        </p:txBody>
      </p:sp>
      <p:sp>
        <p:nvSpPr>
          <p:cNvPr id="13" name="nd#84d"/>
          <p:cNvSpPr/>
          <p:nvPr/>
        </p:nvSpPr>
        <p:spPr>
          <a:xfrm>
            <a:off x="7909560" y="3831336"/>
            <a:ext cx="640080" cy="640080"/>
          </a:xfrm>
          <a:prstGeom prst="ellipse">
            <a:avLst/>
          </a:prstGeom>
          <a:solidFill>
            <a:schemeClr val="accent3"/>
          </a:solidFill>
          <a:ln/>
        </p:spPr>
      </p:sp>
      <p:pic>
        <p:nvPicPr>
          <p:cNvPr id="14" name="nd#84di" descr="preencoded.png"/>
          <p:cNvPicPr>
            <a:picLocks noChangeAspect="1"/>
          </p:cNvPicPr>
          <p:nvPr/>
        </p:nvPicPr>
        <p:blipFill>
          <a:blip r:embed="rId6"/>
          <a:stretch>
            <a:fillRect/>
          </a:stretch>
        </p:blipFill>
        <p:spPr>
          <a:xfrm>
            <a:off x="8082382" y="4004158"/>
            <a:ext cx="294437" cy="294437"/>
          </a:xfrm>
          <a:prstGeom prst="rect">
            <a:avLst/>
          </a:prstGeom>
        </p:spPr>
      </p:pic>
      <p:sp>
        <p:nvSpPr>
          <p:cNvPr id="15" name="nd#84t"/>
          <p:cNvSpPr txBox="1"/>
          <p:nvPr/>
        </p:nvSpPr>
        <p:spPr>
          <a:xfrm>
            <a:off x="8686800" y="3803904"/>
            <a:ext cx="2926080" cy="868680"/>
          </a:xfrm>
          <a:prstGeom prst="rect">
            <a:avLst/>
          </a:prstGeom>
          <a:noFill/>
          <a:ln/>
        </p:spPr>
        <p:txBody>
          <a:bodyPr wrap="square" lIns="0" tIns="0" rIns="0" bIns="0" rtlCol="0" anchor="t"/>
          <a:lstStyle/>
          <a:p>
            <a:pPr marL="0" indent="0">
              <a:buNone/>
            </a:pPr>
            <a:r>
              <a:rPr lang="en-US" sz="1600" b="1" dirty="0">
                <a:solidFill>
                  <a:schemeClr val="tx2"/>
                </a:solidFill>
              </a:rPr>
              <a:t>Service SOAP</a:t>
            </a:r>
            <a:endParaRPr lang="en-US" sz="1300" dirty="0"/>
          </a:p>
          <a:p>
            <a:pPr marL="0" indent="0">
              <a:buNone/>
            </a:pPr>
            <a:r>
              <a:rPr lang="en-US" sz="1300" dirty="0">
                <a:solidFill>
                  <a:schemeClr val="tx1"/>
                </a:solidFill>
              </a:rPr>
              <a:t>appels par opération, erreurs, durée</a:t>
            </a:r>
            <a:endParaRPr lang="en-US" sz="1300" dirty="0"/>
          </a:p>
        </p:txBody>
      </p:sp>
      <p:sp>
        <p:nvSpPr>
          <p:cNvPr id="16" name="nd#85d"/>
          <p:cNvSpPr/>
          <p:nvPr/>
        </p:nvSpPr>
        <p:spPr>
          <a:xfrm>
            <a:off x="7909560" y="4901184"/>
            <a:ext cx="640080" cy="640080"/>
          </a:xfrm>
          <a:prstGeom prst="ellipse">
            <a:avLst/>
          </a:prstGeom>
          <a:solidFill>
            <a:schemeClr val="accent5"/>
          </a:solidFill>
          <a:ln/>
        </p:spPr>
      </p:sp>
      <p:pic>
        <p:nvPicPr>
          <p:cNvPr id="17" name="nd#85di" descr="preencoded.png"/>
          <p:cNvPicPr>
            <a:picLocks noChangeAspect="1"/>
          </p:cNvPicPr>
          <p:nvPr/>
        </p:nvPicPr>
        <p:blipFill>
          <a:blip r:embed="rId7"/>
          <a:stretch>
            <a:fillRect/>
          </a:stretch>
        </p:blipFill>
        <p:spPr>
          <a:xfrm>
            <a:off x="8082382" y="5074006"/>
            <a:ext cx="294437" cy="294437"/>
          </a:xfrm>
          <a:prstGeom prst="rect">
            <a:avLst/>
          </a:prstGeom>
        </p:spPr>
      </p:pic>
      <p:sp>
        <p:nvSpPr>
          <p:cNvPr id="18" name="nd#85t"/>
          <p:cNvSpPr txBox="1"/>
          <p:nvPr/>
        </p:nvSpPr>
        <p:spPr>
          <a:xfrm>
            <a:off x="8686800" y="4873752"/>
            <a:ext cx="2926080" cy="868680"/>
          </a:xfrm>
          <a:prstGeom prst="rect">
            <a:avLst/>
          </a:prstGeom>
          <a:noFill/>
          <a:ln/>
        </p:spPr>
        <p:txBody>
          <a:bodyPr wrap="square" lIns="0" tIns="0" rIns="0" bIns="0" rtlCol="0" anchor="t"/>
          <a:lstStyle/>
          <a:p>
            <a:pPr marL="0" indent="0">
              <a:buNone/>
            </a:pPr>
            <a:r>
              <a:rPr lang="en-US" sz="1600" b="1" dirty="0">
                <a:solidFill>
                  <a:schemeClr val="tx2"/>
                </a:solidFill>
              </a:rPr>
              <a:t>Alerte</a:t>
            </a:r>
            <a:endParaRPr lang="en-US" sz="1300" dirty="0"/>
          </a:p>
          <a:p>
            <a:pPr marL="0" indent="0">
              <a:buNone/>
            </a:pPr>
            <a:r>
              <a:rPr lang="en-US" sz="1300" dirty="0">
                <a:solidFill>
                  <a:schemeClr val="tx1"/>
                </a:solidFill>
              </a:rPr>
              <a:t>CRITICAL si le service ne répond plus</a:t>
            </a:r>
            <a:endParaRPr lang="en-US" sz="1300" dirty="0"/>
          </a:p>
        </p:txBody>
      </p:sp>
      <p:sp>
        <p:nvSpPr>
          <p:cNvPr id="26"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20</a:t>
            </a:fld>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ppt_w</p:attrName>
                                        </p:attrNameLst>
                                      </p:cBhvr>
                                      <p:tavLst>
                                        <p:tav tm="0">
                                          <p:val>
                                            <p:strVal val="0"/>
                                          </p:val>
                                        </p:tav>
                                        <p:tav tm="100000">
                                          <p:val>
                                            <p:strVal val="#ppt_w"/>
                                          </p:val>
                                        </p:tav>
                                      </p:tavLst>
                                    </p:anim>
                                    <p:anim calcmode="lin" valueType="num">
                                      <p:cBhvr additive="base">
                                        <p:cTn id="8" dur="500" fill="hold"/>
                                        <p:tgtEl>
                                          <p:spTgt spid="5"/>
                                        </p:tgtEl>
                                        <p:attrNameLst>
                                          <p:attrName>ppt_h</p:attrName>
                                        </p:attrNameLst>
                                      </p:cBhvr>
                                      <p:tavLst>
                                        <p:tav tm="0">
                                          <p:val>
                                            <p:strVal val="0"/>
                                          </p:val>
                                        </p:tav>
                                        <p:tav tm="100000">
                                          <p:val>
                                            <p:strVal val="#ppt_h"/>
                                          </p:val>
                                        </p:tav>
                                      </p:tavLst>
                                    </p:anim>
                                    <p:animEffect transition="in" filter="fade">
                                      <p:cBhvr>
                                        <p:cTn id="9" dur="500"/>
                                        <p:tgtEl>
                                          <p:spTgt spid="5"/>
                                        </p:tgtEl>
                                      </p:cBhvr>
                                    </p:animEffect>
                                  </p:childTnLst>
                                </p:cTn>
                              </p:par>
                              <p:par>
                                <p:cTn id="10" presetID="53" presetClass="entr" presetSubtype="16" fill="hold"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ppt_w</p:attrName>
                                        </p:attrNameLst>
                                      </p:cBhvr>
                                      <p:tavLst>
                                        <p:tav tm="0">
                                          <p:val>
                                            <p:strVal val="0"/>
                                          </p:val>
                                        </p:tav>
                                        <p:tav tm="100000">
                                          <p:val>
                                            <p:strVal val="#ppt_w"/>
                                          </p:val>
                                        </p:tav>
                                      </p:tavLst>
                                    </p:anim>
                                    <p:anim calcmode="lin" valueType="num">
                                      <p:cBhvr additive="base">
                                        <p:cTn id="13" dur="500" fill="hold"/>
                                        <p:tgtEl>
                                          <p:spTgt spid="6"/>
                                        </p:tgtEl>
                                        <p:attrNameLst>
                                          <p:attrName>ppt_h</p:attrName>
                                        </p:attrNameLst>
                                      </p:cBhvr>
                                      <p:tavLst>
                                        <p:tav tm="0">
                                          <p:val>
                                            <p:strVal val="0"/>
                                          </p:val>
                                        </p:tav>
                                        <p:tav tm="100000">
                                          <p:val>
                                            <p:strVal val="#ppt_h"/>
                                          </p:val>
                                        </p:tav>
                                      </p:tavLst>
                                    </p:anim>
                                    <p:animEffect transition="in" filter="fade">
                                      <p:cBhvr>
                                        <p:cTn id="14" dur="500"/>
                                        <p:tgtEl>
                                          <p:spTgt spid="6"/>
                                        </p:tgtEl>
                                      </p:cBhvr>
                                    </p:animEffect>
                                  </p:childTnLst>
                                </p:cTn>
                              </p:par>
                              <p:par>
                                <p:cTn id="15" presetID="42" presetClass="entr" presetSubtype="0" fill="hold" grpId="0" nodeType="withEffect">
                                  <p:stCondLst>
                                    <p:cond delay="22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anim calcmode="lin" valueType="num">
                                      <p:cBhvr additive="base">
                                        <p:cTn id="18" dur="500" fill="hold"/>
                                        <p:tgtEl>
                                          <p:spTgt spid="7"/>
                                        </p:tgtEl>
                                        <p:attrNameLst>
                                          <p:attrName>ppt_x</p:attrName>
                                        </p:attrNameLst>
                                      </p:cBhvr>
                                      <p:tavLst>
                                        <p:tav tm="0">
                                          <p:val>
                                            <p:strVal val="#ppt_x"/>
                                          </p:val>
                                        </p:tav>
                                        <p:tav tm="100000">
                                          <p:val>
                                            <p:strVal val="#ppt_x"/>
                                          </p:val>
                                        </p:tav>
                                      </p:tavLst>
                                    </p:anim>
                                    <p:anim calcmode="lin" valueType="num">
                                      <p:cBhvr additive="base">
                                        <p:cTn id="19" dur="500" fill="hold"/>
                                        <p:tgtEl>
                                          <p:spTgt spid="7"/>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22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22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anim calcmode="lin" valueType="num">
                                      <p:cBhvr additive="base">
                                        <p:cTn id="28" dur="500" fill="hold"/>
                                        <p:tgtEl>
                                          <p:spTgt spid="9"/>
                                        </p:tgtEl>
                                        <p:attrNameLst>
                                          <p:attrName>ppt_x</p:attrName>
                                        </p:attrNameLst>
                                      </p:cBhvr>
                                      <p:tavLst>
                                        <p:tav tm="0">
                                          <p:val>
                                            <p:strVal val="#ppt_x"/>
                                          </p:val>
                                        </p:tav>
                                        <p:tav tm="100000">
                                          <p:val>
                                            <p:strVal val="#ppt_x"/>
                                          </p:val>
                                        </p:tav>
                                      </p:tavLst>
                                    </p:anim>
                                    <p:anim calcmode="lin" valueType="num">
                                      <p:cBhvr additive="base">
                                        <p:cTn id="29" dur="500" fill="hold"/>
                                        <p:tgtEl>
                                          <p:spTgt spid="9"/>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44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anim calcmode="lin" valueType="num">
                                      <p:cBhvr additive="base">
                                        <p:cTn id="33" dur="500" fill="hold"/>
                                        <p:tgtEl>
                                          <p:spTgt spid="10"/>
                                        </p:tgtEl>
                                        <p:attrNameLst>
                                          <p:attrName>ppt_x</p:attrName>
                                        </p:attrNameLst>
                                      </p:cBhvr>
                                      <p:tavLst>
                                        <p:tav tm="0">
                                          <p:val>
                                            <p:strVal val="#ppt_x"/>
                                          </p:val>
                                        </p:tav>
                                        <p:tav tm="100000">
                                          <p:val>
                                            <p:strVal val="#ppt_x"/>
                                          </p:val>
                                        </p:tav>
                                      </p:tavLst>
                                    </p:anim>
                                    <p:anim calcmode="lin" valueType="num">
                                      <p:cBhvr additive="base">
                                        <p:cTn id="34" dur="500" fill="hold"/>
                                        <p:tgtEl>
                                          <p:spTgt spid="10"/>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44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anim calcmode="lin" valueType="num">
                                      <p:cBhvr additive="base">
                                        <p:cTn id="38" dur="500" fill="hold"/>
                                        <p:tgtEl>
                                          <p:spTgt spid="11"/>
                                        </p:tgtEl>
                                        <p:attrNameLst>
                                          <p:attrName>ppt_x</p:attrName>
                                        </p:attrNameLst>
                                      </p:cBhvr>
                                      <p:tavLst>
                                        <p:tav tm="0">
                                          <p:val>
                                            <p:strVal val="#ppt_x"/>
                                          </p:val>
                                        </p:tav>
                                        <p:tav tm="100000">
                                          <p:val>
                                            <p:strVal val="#ppt_x"/>
                                          </p:val>
                                        </p:tav>
                                      </p:tavLst>
                                    </p:anim>
                                    <p:anim calcmode="lin" valueType="num">
                                      <p:cBhvr additive="base">
                                        <p:cTn id="39" dur="500" fill="hold"/>
                                        <p:tgtEl>
                                          <p:spTgt spid="11"/>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44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00"/>
                                        <p:tgtEl>
                                          <p:spTgt spid="12"/>
                                        </p:tgtEl>
                                      </p:cBhvr>
                                    </p:animEffect>
                                    <p:anim calcmode="lin" valueType="num">
                                      <p:cBhvr additive="base">
                                        <p:cTn id="43" dur="500" fill="hold"/>
                                        <p:tgtEl>
                                          <p:spTgt spid="12"/>
                                        </p:tgtEl>
                                        <p:attrNameLst>
                                          <p:attrName>ppt_x</p:attrName>
                                        </p:attrNameLst>
                                      </p:cBhvr>
                                      <p:tavLst>
                                        <p:tav tm="0">
                                          <p:val>
                                            <p:strVal val="#ppt_x"/>
                                          </p:val>
                                        </p:tav>
                                        <p:tav tm="100000">
                                          <p:val>
                                            <p:strVal val="#ppt_x"/>
                                          </p:val>
                                        </p:tav>
                                      </p:tavLst>
                                    </p:anim>
                                    <p:anim calcmode="lin" valueType="num">
                                      <p:cBhvr additive="base">
                                        <p:cTn id="44" dur="500" fill="hold"/>
                                        <p:tgtEl>
                                          <p:spTgt spid="12"/>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66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anim calcmode="lin" valueType="num">
                                      <p:cBhvr additive="base">
                                        <p:cTn id="48" dur="500" fill="hold"/>
                                        <p:tgtEl>
                                          <p:spTgt spid="13"/>
                                        </p:tgtEl>
                                        <p:attrNameLst>
                                          <p:attrName>ppt_x</p:attrName>
                                        </p:attrNameLst>
                                      </p:cBhvr>
                                      <p:tavLst>
                                        <p:tav tm="0">
                                          <p:val>
                                            <p:strVal val="#ppt_x"/>
                                          </p:val>
                                        </p:tav>
                                        <p:tav tm="100000">
                                          <p:val>
                                            <p:strVal val="#ppt_x"/>
                                          </p:val>
                                        </p:tav>
                                      </p:tavLst>
                                    </p:anim>
                                    <p:anim calcmode="lin" valueType="num">
                                      <p:cBhvr additive="base">
                                        <p:cTn id="49" dur="500" fill="hold"/>
                                        <p:tgtEl>
                                          <p:spTgt spid="13"/>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66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500"/>
                                        <p:tgtEl>
                                          <p:spTgt spid="14"/>
                                        </p:tgtEl>
                                      </p:cBhvr>
                                    </p:animEffect>
                                    <p:anim calcmode="lin" valueType="num">
                                      <p:cBhvr additive="base">
                                        <p:cTn id="53" dur="500" fill="hold"/>
                                        <p:tgtEl>
                                          <p:spTgt spid="14"/>
                                        </p:tgtEl>
                                        <p:attrNameLst>
                                          <p:attrName>ppt_x</p:attrName>
                                        </p:attrNameLst>
                                      </p:cBhvr>
                                      <p:tavLst>
                                        <p:tav tm="0">
                                          <p:val>
                                            <p:strVal val="#ppt_x"/>
                                          </p:val>
                                        </p:tav>
                                        <p:tav tm="100000">
                                          <p:val>
                                            <p:strVal val="#ppt_x"/>
                                          </p:val>
                                        </p:tav>
                                      </p:tavLst>
                                    </p:anim>
                                    <p:anim calcmode="lin" valueType="num">
                                      <p:cBhvr additive="base">
                                        <p:cTn id="54" dur="500" fill="hold"/>
                                        <p:tgtEl>
                                          <p:spTgt spid="14"/>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66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500"/>
                                        <p:tgtEl>
                                          <p:spTgt spid="15"/>
                                        </p:tgtEl>
                                      </p:cBhvr>
                                    </p:animEffect>
                                    <p:anim calcmode="lin" valueType="num">
                                      <p:cBhvr additive="base">
                                        <p:cTn id="58" dur="500" fill="hold"/>
                                        <p:tgtEl>
                                          <p:spTgt spid="15"/>
                                        </p:tgtEl>
                                        <p:attrNameLst>
                                          <p:attrName>ppt_x</p:attrName>
                                        </p:attrNameLst>
                                      </p:cBhvr>
                                      <p:tavLst>
                                        <p:tav tm="0">
                                          <p:val>
                                            <p:strVal val="#ppt_x"/>
                                          </p:val>
                                        </p:tav>
                                        <p:tav tm="100000">
                                          <p:val>
                                            <p:strVal val="#ppt_x"/>
                                          </p:val>
                                        </p:tav>
                                      </p:tavLst>
                                    </p:anim>
                                    <p:anim calcmode="lin" valueType="num">
                                      <p:cBhvr additive="base">
                                        <p:cTn id="59" dur="500" fill="hold"/>
                                        <p:tgtEl>
                                          <p:spTgt spid="15"/>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88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500"/>
                                        <p:tgtEl>
                                          <p:spTgt spid="16"/>
                                        </p:tgtEl>
                                      </p:cBhvr>
                                    </p:animEffect>
                                    <p:anim calcmode="lin" valueType="num">
                                      <p:cBhvr additive="base">
                                        <p:cTn id="63" dur="500" fill="hold"/>
                                        <p:tgtEl>
                                          <p:spTgt spid="16"/>
                                        </p:tgtEl>
                                        <p:attrNameLst>
                                          <p:attrName>ppt_x</p:attrName>
                                        </p:attrNameLst>
                                      </p:cBhvr>
                                      <p:tavLst>
                                        <p:tav tm="0">
                                          <p:val>
                                            <p:strVal val="#ppt_x"/>
                                          </p:val>
                                        </p:tav>
                                        <p:tav tm="100000">
                                          <p:val>
                                            <p:strVal val="#ppt_x"/>
                                          </p:val>
                                        </p:tav>
                                      </p:tavLst>
                                    </p:anim>
                                    <p:anim calcmode="lin" valueType="num">
                                      <p:cBhvr additive="base">
                                        <p:cTn id="64" dur="500" fill="hold"/>
                                        <p:tgtEl>
                                          <p:spTgt spid="16"/>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88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500"/>
                                        <p:tgtEl>
                                          <p:spTgt spid="17"/>
                                        </p:tgtEl>
                                      </p:cBhvr>
                                    </p:animEffect>
                                    <p:anim calcmode="lin" valueType="num">
                                      <p:cBhvr additive="base">
                                        <p:cTn id="68" dur="500" fill="hold"/>
                                        <p:tgtEl>
                                          <p:spTgt spid="17"/>
                                        </p:tgtEl>
                                        <p:attrNameLst>
                                          <p:attrName>ppt_x</p:attrName>
                                        </p:attrNameLst>
                                      </p:cBhvr>
                                      <p:tavLst>
                                        <p:tav tm="0">
                                          <p:val>
                                            <p:strVal val="#ppt_x"/>
                                          </p:val>
                                        </p:tav>
                                        <p:tav tm="100000">
                                          <p:val>
                                            <p:strVal val="#ppt_x"/>
                                          </p:val>
                                        </p:tav>
                                      </p:tavLst>
                                    </p:anim>
                                    <p:anim calcmode="lin" valueType="num">
                                      <p:cBhvr additive="base">
                                        <p:cTn id="69" dur="500" fill="hold"/>
                                        <p:tgtEl>
                                          <p:spTgt spid="17"/>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880"/>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500"/>
                                        <p:tgtEl>
                                          <p:spTgt spid="18"/>
                                        </p:tgtEl>
                                      </p:cBhvr>
                                    </p:animEffect>
                                    <p:anim calcmode="lin" valueType="num">
                                      <p:cBhvr additive="base">
                                        <p:cTn id="73" dur="500" fill="hold"/>
                                        <p:tgtEl>
                                          <p:spTgt spid="18"/>
                                        </p:tgtEl>
                                        <p:attrNameLst>
                                          <p:attrName>ppt_x</p:attrName>
                                        </p:attrNameLst>
                                      </p:cBhvr>
                                      <p:tavLst>
                                        <p:tav tm="0">
                                          <p:val>
                                            <p:strVal val="#ppt_x"/>
                                          </p:val>
                                        </p:tav>
                                        <p:tav tm="100000">
                                          <p:val>
                                            <p:strVal val="#ppt_x"/>
                                          </p:val>
                                        </p:tav>
                                      </p:tavLst>
                                    </p:anim>
                                    <p:anim calcmode="lin" valueType="num">
                                      <p:cBhvr additive="base">
                                        <p:cTn id="74" dur="5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9" grpId="0" animBg="1"/>
      <p:bldP spid="10" grpId="0" animBg="1"/>
      <p:bldP spid="12" grpId="0" animBg="1"/>
      <p:bldP spid="13" grpId="0" animBg="1"/>
      <p:bldP spid="15" grpId="0" animBg="1"/>
      <p:bldP spid="16" grpId="0" animBg="1"/>
      <p:bldP spid="1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749808"/>
            <a:ext cx="11064240" cy="685800"/>
          </a:xfrm>
          <a:prstGeom prst="rect">
            <a:avLst/>
          </a:prstGeom>
          <a:noFill/>
          <a:ln/>
        </p:spPr>
        <p:txBody>
          <a:bodyPr wrap="square" lIns="0" tIns="0" rIns="0" bIns="0" rtlCol="0" anchor="ctr"/>
          <a:lstStyle/>
          <a:p>
            <a:pPr marL="0" indent="0" algn="l">
              <a:buNone/>
            </a:pPr>
            <a:r>
              <a:rPr lang="en-US" sz="3000" b="1" dirty="0">
                <a:solidFill>
                  <a:schemeClr val="tx2"/>
                </a:solidFill>
              </a:rPr>
              <a:t>Des tests à tous les niveaux</a:t>
            </a:r>
            <a:endParaRPr lang="en-US" sz="3000" dirty="0"/>
          </a:p>
        </p:txBody>
      </p:sp>
      <p:sp>
        <p:nvSpPr>
          <p:cNvPr id="3" name="pill#86"/>
          <p:cNvSpPr/>
          <p:nvPr/>
        </p:nvSpPr>
        <p:spPr>
          <a:xfrm>
            <a:off x="548640" y="384048"/>
            <a:ext cx="589788" cy="292608"/>
          </a:xfrm>
          <a:prstGeom prst="roundRect">
            <a:avLst>
              <a:gd name="adj" fmla="val 50000"/>
            </a:avLst>
          </a:prstGeom>
          <a:solidFill>
            <a:schemeClr val="accent3"/>
          </a:solidFill>
          <a:ln/>
        </p:spPr>
      </p:sp>
      <p:sp>
        <p:nvSpPr>
          <p:cNvPr id="4" name="pill#86t"/>
          <p:cNvSpPr txBox="1"/>
          <p:nvPr/>
        </p:nvSpPr>
        <p:spPr>
          <a:xfrm>
            <a:off x="548640" y="384048"/>
            <a:ext cx="589788" cy="292608"/>
          </a:xfrm>
          <a:prstGeom prst="rect">
            <a:avLst/>
          </a:prstGeom>
          <a:noFill/>
          <a:ln/>
        </p:spPr>
        <p:txBody>
          <a:bodyPr wrap="square" lIns="0" tIns="0" rIns="0" bIns="0" rtlCol="0" anchor="ctr"/>
          <a:lstStyle/>
          <a:p>
            <a:pPr marL="0" indent="0" algn="ctr">
              <a:buNone/>
            </a:pPr>
            <a:r>
              <a:rPr lang="en-US" sz="1100" b="1" dirty="0">
                <a:solidFill>
                  <a:schemeClr val="bg1"/>
                </a:solidFill>
              </a:rPr>
              <a:t>Tests</a:t>
            </a:r>
            <a:endParaRPr lang="en-US" sz="1100" dirty="0"/>
          </a:p>
        </p:txBody>
      </p:sp>
      <p:sp>
        <p:nvSpPr>
          <p:cNvPr id="5" name="ts#87"/>
          <p:cNvSpPr/>
          <p:nvPr/>
        </p:nvSpPr>
        <p:spPr>
          <a:xfrm>
            <a:off x="548640" y="1737360"/>
            <a:ext cx="3520440" cy="3657600"/>
          </a:xfrm>
          <a:prstGeom prst="roundRect">
            <a:avLst>
              <a:gd name="adj" fmla="val 2597"/>
            </a:avLst>
          </a:prstGeom>
          <a:solidFill>
            <a:schemeClr val="bg1"/>
          </a:solidFill>
          <a:ln w="9525">
            <a:solidFill>
              <a:srgbClr val="E3E8F0"/>
            </a:solidFill>
            <a:prstDash val="solid"/>
          </a:ln>
          <a:effectLst>
            <a:outerShdw blurRad="127000" dist="38100" dir="5400000" algn="bl" rotWithShape="0">
              <a:srgbClr val="0D2340">
                <a:alpha val="12000"/>
              </a:srgbClr>
            </a:outerShdw>
          </a:effectLst>
        </p:spPr>
      </p:sp>
      <p:pic>
        <p:nvPicPr>
          <p:cNvPr id="6" name="ts#87i" descr="preencoded.png"/>
          <p:cNvPicPr>
            <a:picLocks noChangeAspect="1"/>
          </p:cNvPicPr>
          <p:nvPr/>
        </p:nvPicPr>
        <p:blipFill>
          <a:blip r:embed="rId3"/>
          <a:stretch>
            <a:fillRect/>
          </a:stretch>
        </p:blipFill>
        <p:spPr>
          <a:xfrm>
            <a:off x="822960" y="2011680"/>
            <a:ext cx="457200" cy="457200"/>
          </a:xfrm>
          <a:prstGeom prst="rect">
            <a:avLst/>
          </a:prstGeom>
        </p:spPr>
      </p:pic>
      <p:sp>
        <p:nvSpPr>
          <p:cNvPr id="7" name="ts#87n"/>
          <p:cNvSpPr txBox="1"/>
          <p:nvPr/>
        </p:nvSpPr>
        <p:spPr>
          <a:xfrm>
            <a:off x="548640" y="2514600"/>
            <a:ext cx="3520440" cy="1188720"/>
          </a:xfrm>
          <a:prstGeom prst="rect">
            <a:avLst/>
          </a:prstGeom>
          <a:noFill/>
          <a:ln/>
        </p:spPr>
        <p:txBody>
          <a:bodyPr wrap="square" lIns="0" tIns="0" rIns="0" bIns="0" rtlCol="0" anchor="ctr"/>
          <a:lstStyle/>
          <a:p>
            <a:pPr marL="0" indent="0" algn="ctr">
              <a:buNone/>
            </a:pPr>
            <a:r>
              <a:rPr lang="en-US" sz="6000" b="1" dirty="0">
                <a:solidFill>
                  <a:schemeClr val="accent4"/>
                </a:solidFill>
              </a:rPr>
              <a:t>15/15</a:t>
            </a:r>
            <a:endParaRPr lang="en-US" sz="6000" dirty="0"/>
          </a:p>
        </p:txBody>
      </p:sp>
      <p:sp>
        <p:nvSpPr>
          <p:cNvPr id="8" name="ts#87h"/>
          <p:cNvSpPr txBox="1"/>
          <p:nvPr/>
        </p:nvSpPr>
        <p:spPr>
          <a:xfrm>
            <a:off x="731520" y="3794760"/>
            <a:ext cx="3154680" cy="457200"/>
          </a:xfrm>
          <a:prstGeom prst="rect">
            <a:avLst/>
          </a:prstGeom>
          <a:noFill/>
          <a:ln/>
        </p:spPr>
        <p:txBody>
          <a:bodyPr wrap="square" lIns="0" tIns="0" rIns="0" bIns="0" rtlCol="0" anchor="t"/>
          <a:lstStyle/>
          <a:p>
            <a:pPr marL="0" indent="0" algn="ctr">
              <a:buNone/>
            </a:pPr>
            <a:r>
              <a:rPr lang="en-US" sz="1900" b="1" dirty="0">
                <a:solidFill>
                  <a:schemeClr val="tx2"/>
                </a:solidFill>
              </a:rPr>
              <a:t>Tests JUnit</a:t>
            </a:r>
            <a:endParaRPr lang="en-US" sz="1900" dirty="0"/>
          </a:p>
        </p:txBody>
      </p:sp>
      <p:sp>
        <p:nvSpPr>
          <p:cNvPr id="9" name="ts#87b"/>
          <p:cNvSpPr txBox="1"/>
          <p:nvPr/>
        </p:nvSpPr>
        <p:spPr>
          <a:xfrm>
            <a:off x="822960" y="4297680"/>
            <a:ext cx="2971800" cy="822960"/>
          </a:xfrm>
          <a:prstGeom prst="rect">
            <a:avLst/>
          </a:prstGeom>
          <a:noFill/>
          <a:ln/>
        </p:spPr>
        <p:txBody>
          <a:bodyPr wrap="square" lIns="0" tIns="0" rIns="0" bIns="0" rtlCol="0" anchor="t"/>
          <a:lstStyle/>
          <a:p>
            <a:pPr marL="0" indent="0" algn="ctr">
              <a:buNone/>
            </a:pPr>
            <a:r>
              <a:rPr lang="en-US" sz="1400" dirty="0">
                <a:solidFill>
                  <a:schemeClr val="tx1"/>
                </a:solidFill>
              </a:rPr>
              <a:t>règles de validation et vrais appels SOAP</a:t>
            </a:r>
            <a:endParaRPr lang="en-US" sz="1400" dirty="0"/>
          </a:p>
        </p:txBody>
      </p:sp>
      <p:sp>
        <p:nvSpPr>
          <p:cNvPr id="10" name="ts#88"/>
          <p:cNvSpPr/>
          <p:nvPr/>
        </p:nvSpPr>
        <p:spPr>
          <a:xfrm>
            <a:off x="4315968" y="1737360"/>
            <a:ext cx="3520440" cy="3657600"/>
          </a:xfrm>
          <a:prstGeom prst="roundRect">
            <a:avLst>
              <a:gd name="adj" fmla="val 2597"/>
            </a:avLst>
          </a:prstGeom>
          <a:solidFill>
            <a:schemeClr val="bg1"/>
          </a:solidFill>
          <a:ln w="9525">
            <a:solidFill>
              <a:srgbClr val="E3E8F0"/>
            </a:solidFill>
            <a:prstDash val="solid"/>
          </a:ln>
          <a:effectLst>
            <a:outerShdw blurRad="127000" dist="38100" dir="5400000" algn="bl" rotWithShape="0">
              <a:srgbClr val="0D2340">
                <a:alpha val="12000"/>
              </a:srgbClr>
            </a:outerShdw>
          </a:effectLst>
        </p:spPr>
      </p:sp>
      <p:pic>
        <p:nvPicPr>
          <p:cNvPr id="11" name="ts#88i" descr="preencoded.png"/>
          <p:cNvPicPr>
            <a:picLocks noChangeAspect="1"/>
          </p:cNvPicPr>
          <p:nvPr/>
        </p:nvPicPr>
        <p:blipFill>
          <a:blip r:embed="rId4"/>
          <a:stretch>
            <a:fillRect/>
          </a:stretch>
        </p:blipFill>
        <p:spPr>
          <a:xfrm>
            <a:off x="4590288" y="2011680"/>
            <a:ext cx="457200" cy="457200"/>
          </a:xfrm>
          <a:prstGeom prst="rect">
            <a:avLst/>
          </a:prstGeom>
        </p:spPr>
      </p:pic>
      <p:sp>
        <p:nvSpPr>
          <p:cNvPr id="12" name="ts#88n"/>
          <p:cNvSpPr txBox="1"/>
          <p:nvPr/>
        </p:nvSpPr>
        <p:spPr>
          <a:xfrm>
            <a:off x="4315968" y="2514600"/>
            <a:ext cx="3520440" cy="1188720"/>
          </a:xfrm>
          <a:prstGeom prst="rect">
            <a:avLst/>
          </a:prstGeom>
          <a:noFill/>
          <a:ln/>
        </p:spPr>
        <p:txBody>
          <a:bodyPr wrap="square" lIns="0" tIns="0" rIns="0" bIns="0" rtlCol="0" anchor="ctr"/>
          <a:lstStyle/>
          <a:p>
            <a:pPr marL="0" indent="0" algn="ctr">
              <a:buNone/>
            </a:pPr>
            <a:r>
              <a:rPr lang="en-US" sz="6000" b="1" dirty="0">
                <a:solidFill>
                  <a:schemeClr val="accent2"/>
                </a:solidFill>
              </a:rPr>
              <a:t>54/54</a:t>
            </a:r>
            <a:endParaRPr lang="en-US" sz="6000" dirty="0"/>
          </a:p>
        </p:txBody>
      </p:sp>
      <p:sp>
        <p:nvSpPr>
          <p:cNvPr id="13" name="ts#88h"/>
          <p:cNvSpPr txBox="1"/>
          <p:nvPr/>
        </p:nvSpPr>
        <p:spPr>
          <a:xfrm>
            <a:off x="4498848" y="3794760"/>
            <a:ext cx="3154680" cy="457200"/>
          </a:xfrm>
          <a:prstGeom prst="rect">
            <a:avLst/>
          </a:prstGeom>
          <a:noFill/>
          <a:ln/>
        </p:spPr>
        <p:txBody>
          <a:bodyPr wrap="square" lIns="0" tIns="0" rIns="0" bIns="0" rtlCol="0" anchor="t"/>
          <a:lstStyle/>
          <a:p>
            <a:pPr marL="0" indent="0" algn="ctr">
              <a:buNone/>
            </a:pPr>
            <a:r>
              <a:rPr lang="en-US" sz="1900" b="1" dirty="0">
                <a:solidFill>
                  <a:schemeClr val="tx2"/>
                </a:solidFill>
              </a:rPr>
              <a:t>Assertions SoapUI</a:t>
            </a:r>
            <a:endParaRPr lang="en-US" sz="1900" dirty="0"/>
          </a:p>
        </p:txBody>
      </p:sp>
      <p:sp>
        <p:nvSpPr>
          <p:cNvPr id="14" name="ts#88b"/>
          <p:cNvSpPr txBox="1"/>
          <p:nvPr/>
        </p:nvSpPr>
        <p:spPr>
          <a:xfrm>
            <a:off x="4590288" y="4297680"/>
            <a:ext cx="2971800" cy="822960"/>
          </a:xfrm>
          <a:prstGeom prst="rect">
            <a:avLst/>
          </a:prstGeom>
          <a:noFill/>
          <a:ln/>
        </p:spPr>
        <p:txBody>
          <a:bodyPr wrap="square" lIns="0" tIns="0" rIns="0" bIns="0" rtlCol="0" anchor="t"/>
          <a:lstStyle/>
          <a:p>
            <a:pPr marL="0" indent="0" algn="ctr">
              <a:buNone/>
            </a:pPr>
            <a:r>
              <a:rPr lang="en-US" sz="1400" dirty="0">
                <a:solidFill>
                  <a:schemeClr val="tx1"/>
                </a:solidFill>
              </a:rPr>
              <a:t>4 scénarios, 12 requêtes</a:t>
            </a:r>
            <a:endParaRPr lang="en-US" sz="1400" dirty="0"/>
          </a:p>
        </p:txBody>
      </p:sp>
      <p:sp>
        <p:nvSpPr>
          <p:cNvPr id="15" name="ts#89"/>
          <p:cNvSpPr/>
          <p:nvPr/>
        </p:nvSpPr>
        <p:spPr>
          <a:xfrm>
            <a:off x="8083296" y="1737360"/>
            <a:ext cx="3520440" cy="3657600"/>
          </a:xfrm>
          <a:prstGeom prst="roundRect">
            <a:avLst>
              <a:gd name="adj" fmla="val 2597"/>
            </a:avLst>
          </a:prstGeom>
          <a:solidFill>
            <a:schemeClr val="bg1"/>
          </a:solidFill>
          <a:ln w="9525">
            <a:solidFill>
              <a:srgbClr val="E3E8F0"/>
            </a:solidFill>
            <a:prstDash val="solid"/>
          </a:ln>
          <a:effectLst>
            <a:outerShdw blurRad="127000" dist="38100" dir="5400000" algn="bl" rotWithShape="0">
              <a:srgbClr val="0D2340">
                <a:alpha val="12000"/>
              </a:srgbClr>
            </a:outerShdw>
          </a:effectLst>
        </p:spPr>
      </p:sp>
      <p:pic>
        <p:nvPicPr>
          <p:cNvPr id="16" name="ts#89i" descr="preencoded.png"/>
          <p:cNvPicPr>
            <a:picLocks noChangeAspect="1"/>
          </p:cNvPicPr>
          <p:nvPr/>
        </p:nvPicPr>
        <p:blipFill>
          <a:blip r:embed="rId5"/>
          <a:stretch>
            <a:fillRect/>
          </a:stretch>
        </p:blipFill>
        <p:spPr>
          <a:xfrm>
            <a:off x="8357616" y="2011680"/>
            <a:ext cx="457200" cy="457200"/>
          </a:xfrm>
          <a:prstGeom prst="rect">
            <a:avLst/>
          </a:prstGeom>
        </p:spPr>
      </p:pic>
      <p:sp>
        <p:nvSpPr>
          <p:cNvPr id="17" name="ts#89n"/>
          <p:cNvSpPr txBox="1"/>
          <p:nvPr/>
        </p:nvSpPr>
        <p:spPr>
          <a:xfrm>
            <a:off x="8083296" y="2514600"/>
            <a:ext cx="3520440" cy="1188720"/>
          </a:xfrm>
          <a:prstGeom prst="rect">
            <a:avLst/>
          </a:prstGeom>
          <a:noFill/>
          <a:ln/>
        </p:spPr>
        <p:txBody>
          <a:bodyPr wrap="square" lIns="0" tIns="0" rIns="0" bIns="0" rtlCol="0" anchor="ctr"/>
          <a:lstStyle/>
          <a:p>
            <a:pPr marL="0" indent="0" algn="ctr">
              <a:buNone/>
            </a:pPr>
            <a:r>
              <a:rPr lang="en-US" sz="6000" b="1" dirty="0">
                <a:solidFill>
                  <a:schemeClr val="accent3"/>
                </a:solidFill>
              </a:rPr>
              <a:t>23/23</a:t>
            </a:r>
            <a:endParaRPr lang="en-US" sz="6000" dirty="0"/>
          </a:p>
        </p:txBody>
      </p:sp>
      <p:sp>
        <p:nvSpPr>
          <p:cNvPr id="18" name="ts#89h"/>
          <p:cNvSpPr txBox="1"/>
          <p:nvPr/>
        </p:nvSpPr>
        <p:spPr>
          <a:xfrm>
            <a:off x="8266176" y="3794760"/>
            <a:ext cx="3154680" cy="457200"/>
          </a:xfrm>
          <a:prstGeom prst="rect">
            <a:avLst/>
          </a:prstGeom>
          <a:noFill/>
          <a:ln/>
        </p:spPr>
        <p:txBody>
          <a:bodyPr wrap="square" lIns="0" tIns="0" rIns="0" bIns="0" rtlCol="0" anchor="t"/>
          <a:lstStyle/>
          <a:p>
            <a:pPr marL="0" indent="0" algn="ctr">
              <a:buNone/>
            </a:pPr>
            <a:r>
              <a:rPr lang="en-US" sz="1900" b="1" dirty="0">
                <a:solidFill>
                  <a:schemeClr val="tx2"/>
                </a:solidFill>
              </a:rPr>
              <a:t>Bout en bout</a:t>
            </a:r>
            <a:endParaRPr lang="en-US" sz="1900" dirty="0"/>
          </a:p>
        </p:txBody>
      </p:sp>
      <p:sp>
        <p:nvSpPr>
          <p:cNvPr id="19" name="ts#89b"/>
          <p:cNvSpPr txBox="1"/>
          <p:nvPr/>
        </p:nvSpPr>
        <p:spPr>
          <a:xfrm>
            <a:off x="8357616" y="4297680"/>
            <a:ext cx="2971800" cy="822960"/>
          </a:xfrm>
          <a:prstGeom prst="rect">
            <a:avLst/>
          </a:prstGeom>
          <a:noFill/>
          <a:ln/>
        </p:spPr>
        <p:txBody>
          <a:bodyPr wrap="square" lIns="0" tIns="0" rIns="0" bIns="0" rtlCol="0" anchor="t"/>
          <a:lstStyle/>
          <a:p>
            <a:pPr marL="0" indent="0" algn="ctr">
              <a:buNone/>
            </a:pPr>
            <a:r>
              <a:rPr lang="en-US" sz="1400" dirty="0">
                <a:solidFill>
                  <a:schemeClr val="tx1"/>
                </a:solidFill>
              </a:rPr>
              <a:t>de MySQL à MySQL, avec Netdata</a:t>
            </a:r>
            <a:endParaRPr lang="en-US" sz="1400" dirty="0"/>
          </a:p>
        </p:txBody>
      </p:sp>
      <p:sp>
        <p:nvSpPr>
          <p:cNvPr id="20" name="zeroFail"/>
          <p:cNvSpPr/>
          <p:nvPr/>
        </p:nvSpPr>
        <p:spPr>
          <a:xfrm>
            <a:off x="548640" y="5715000"/>
            <a:ext cx="4398264" cy="292608"/>
          </a:xfrm>
          <a:prstGeom prst="roundRect">
            <a:avLst>
              <a:gd name="adj" fmla="val 50000"/>
            </a:avLst>
          </a:prstGeom>
          <a:solidFill>
            <a:schemeClr val="accent3"/>
          </a:solidFill>
          <a:ln/>
        </p:spPr>
      </p:sp>
      <p:sp>
        <p:nvSpPr>
          <p:cNvPr id="21" name="zeroFailt"/>
          <p:cNvSpPr txBox="1"/>
          <p:nvPr/>
        </p:nvSpPr>
        <p:spPr>
          <a:xfrm>
            <a:off x="548640" y="5715000"/>
            <a:ext cx="4398264" cy="292608"/>
          </a:xfrm>
          <a:prstGeom prst="rect">
            <a:avLst/>
          </a:prstGeom>
          <a:noFill/>
          <a:ln/>
        </p:spPr>
        <p:txBody>
          <a:bodyPr wrap="square" lIns="0" tIns="0" rIns="0" bIns="0" rtlCol="0" anchor="ctr"/>
          <a:lstStyle/>
          <a:p>
            <a:pPr marL="0" indent="0" algn="ctr">
              <a:buNone/>
            </a:pPr>
            <a:r>
              <a:rPr lang="en-US" sz="1100" b="1" dirty="0">
                <a:solidFill>
                  <a:schemeClr val="bg1"/>
                </a:solidFill>
              </a:rPr>
              <a:t>0 échec, après une réinstallation complète depuis zéro</a:t>
            </a:r>
            <a:endParaRPr lang="en-US" sz="1100" dirty="0"/>
          </a:p>
        </p:txBody>
      </p:sp>
      <p:sp>
        <p:nvSpPr>
          <p:cNvPr id="26"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21</a:t>
            </a:fld>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ppt_w</p:attrName>
                                        </p:attrNameLst>
                                      </p:cBhvr>
                                      <p:tavLst>
                                        <p:tav tm="0">
                                          <p:val>
                                            <p:strVal val="0"/>
                                          </p:val>
                                        </p:tav>
                                        <p:tav tm="100000">
                                          <p:val>
                                            <p:strVal val="#ppt_w"/>
                                          </p:val>
                                        </p:tav>
                                      </p:tavLst>
                                    </p:anim>
                                    <p:anim calcmode="lin" valueType="num">
                                      <p:cBhvr additive="base">
                                        <p:cTn id="8" dur="500" fill="hold"/>
                                        <p:tgtEl>
                                          <p:spTgt spid="5"/>
                                        </p:tgtEl>
                                        <p:attrNameLst>
                                          <p:attrName>ppt_h</p:attrName>
                                        </p:attrNameLst>
                                      </p:cBhvr>
                                      <p:tavLst>
                                        <p:tav tm="0">
                                          <p:val>
                                            <p:strVal val="0"/>
                                          </p:val>
                                        </p:tav>
                                        <p:tav tm="100000">
                                          <p:val>
                                            <p:strVal val="#ppt_h"/>
                                          </p:val>
                                        </p:tav>
                                      </p:tavLst>
                                    </p:anim>
                                    <p:animEffect transition="in" filter="fade">
                                      <p:cBhvr>
                                        <p:cTn id="9" dur="500"/>
                                        <p:tgtEl>
                                          <p:spTgt spid="5"/>
                                        </p:tgtEl>
                                      </p:cBhvr>
                                    </p:animEffect>
                                  </p:childTnLst>
                                </p:cTn>
                              </p:par>
                              <p:par>
                                <p:cTn id="10" presetID="53" presetClass="entr" presetSubtype="16" fill="hold"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ppt_w</p:attrName>
                                        </p:attrNameLst>
                                      </p:cBhvr>
                                      <p:tavLst>
                                        <p:tav tm="0">
                                          <p:val>
                                            <p:strVal val="0"/>
                                          </p:val>
                                        </p:tav>
                                        <p:tav tm="100000">
                                          <p:val>
                                            <p:strVal val="#ppt_w"/>
                                          </p:val>
                                        </p:tav>
                                      </p:tavLst>
                                    </p:anim>
                                    <p:anim calcmode="lin" valueType="num">
                                      <p:cBhvr additive="base">
                                        <p:cTn id="13" dur="500" fill="hold"/>
                                        <p:tgtEl>
                                          <p:spTgt spid="6"/>
                                        </p:tgtEl>
                                        <p:attrNameLst>
                                          <p:attrName>ppt_h</p:attrName>
                                        </p:attrNameLst>
                                      </p:cBhvr>
                                      <p:tavLst>
                                        <p:tav tm="0">
                                          <p:val>
                                            <p:strVal val="0"/>
                                          </p:val>
                                        </p:tav>
                                        <p:tav tm="100000">
                                          <p:val>
                                            <p:strVal val="#ppt_h"/>
                                          </p:val>
                                        </p:tav>
                                      </p:tavLst>
                                    </p:anim>
                                    <p:animEffect transition="in" filter="fade">
                                      <p:cBhvr>
                                        <p:cTn id="14" dur="500"/>
                                        <p:tgtEl>
                                          <p:spTgt spid="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ppt_w</p:attrName>
                                        </p:attrNameLst>
                                      </p:cBhvr>
                                      <p:tavLst>
                                        <p:tav tm="0">
                                          <p:val>
                                            <p:strVal val="0"/>
                                          </p:val>
                                        </p:tav>
                                        <p:tav tm="100000">
                                          <p:val>
                                            <p:strVal val="#ppt_w"/>
                                          </p:val>
                                        </p:tav>
                                      </p:tavLst>
                                    </p:anim>
                                    <p:anim calcmode="lin" valueType="num">
                                      <p:cBhvr additive="base">
                                        <p:cTn id="18" dur="500" fill="hold"/>
                                        <p:tgtEl>
                                          <p:spTgt spid="7"/>
                                        </p:tgtEl>
                                        <p:attrNameLst>
                                          <p:attrName>ppt_h</p:attrName>
                                        </p:attrNameLst>
                                      </p:cBhvr>
                                      <p:tavLst>
                                        <p:tav tm="0">
                                          <p:val>
                                            <p:strVal val="0"/>
                                          </p:val>
                                        </p:tav>
                                        <p:tav tm="100000">
                                          <p:val>
                                            <p:strVal val="#ppt_h"/>
                                          </p:val>
                                        </p:tav>
                                      </p:tavLst>
                                    </p:anim>
                                    <p:animEffect transition="in" filter="fade">
                                      <p:cBhvr>
                                        <p:cTn id="19" dur="500"/>
                                        <p:tgtEl>
                                          <p:spTgt spid="7"/>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additive="base">
                                        <p:cTn id="22" dur="500" fill="hold"/>
                                        <p:tgtEl>
                                          <p:spTgt spid="8"/>
                                        </p:tgtEl>
                                        <p:attrNameLst>
                                          <p:attrName>ppt_w</p:attrName>
                                        </p:attrNameLst>
                                      </p:cBhvr>
                                      <p:tavLst>
                                        <p:tav tm="0">
                                          <p:val>
                                            <p:strVal val="0"/>
                                          </p:val>
                                        </p:tav>
                                        <p:tav tm="100000">
                                          <p:val>
                                            <p:strVal val="#ppt_w"/>
                                          </p:val>
                                        </p:tav>
                                      </p:tavLst>
                                    </p:anim>
                                    <p:anim calcmode="lin" valueType="num">
                                      <p:cBhvr additive="base">
                                        <p:cTn id="23" dur="500" fill="hold"/>
                                        <p:tgtEl>
                                          <p:spTgt spid="8"/>
                                        </p:tgtEl>
                                        <p:attrNameLst>
                                          <p:attrName>ppt_h</p:attrName>
                                        </p:attrNameLst>
                                      </p:cBhvr>
                                      <p:tavLst>
                                        <p:tav tm="0">
                                          <p:val>
                                            <p:strVal val="0"/>
                                          </p:val>
                                        </p:tav>
                                        <p:tav tm="100000">
                                          <p:val>
                                            <p:strVal val="#ppt_h"/>
                                          </p:val>
                                        </p:tav>
                                      </p:tavLst>
                                    </p:anim>
                                    <p:animEffect transition="in" filter="fade">
                                      <p:cBhvr>
                                        <p:cTn id="24" dur="500"/>
                                        <p:tgtEl>
                                          <p:spTgt spid="8"/>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ppt_w</p:attrName>
                                        </p:attrNameLst>
                                      </p:cBhvr>
                                      <p:tavLst>
                                        <p:tav tm="0">
                                          <p:val>
                                            <p:strVal val="0"/>
                                          </p:val>
                                        </p:tav>
                                        <p:tav tm="100000">
                                          <p:val>
                                            <p:strVal val="#ppt_w"/>
                                          </p:val>
                                        </p:tav>
                                      </p:tavLst>
                                    </p:anim>
                                    <p:anim calcmode="lin" valueType="num">
                                      <p:cBhvr additive="base">
                                        <p:cTn id="28" dur="500" fill="hold"/>
                                        <p:tgtEl>
                                          <p:spTgt spid="9"/>
                                        </p:tgtEl>
                                        <p:attrNameLst>
                                          <p:attrName>ppt_h</p:attrName>
                                        </p:attrNameLst>
                                      </p:cBhvr>
                                      <p:tavLst>
                                        <p:tav tm="0">
                                          <p:val>
                                            <p:strVal val="0"/>
                                          </p:val>
                                        </p:tav>
                                        <p:tav tm="100000">
                                          <p:val>
                                            <p:strVal val="#ppt_h"/>
                                          </p:val>
                                        </p:tav>
                                      </p:tavLst>
                                    </p:anim>
                                    <p:animEffect transition="in" filter="fade">
                                      <p:cBhvr>
                                        <p:cTn id="29" dur="500"/>
                                        <p:tgtEl>
                                          <p:spTgt spid="9"/>
                                        </p:tgtEl>
                                      </p:cBhvr>
                                    </p:animEffect>
                                  </p:childTnLst>
                                </p:cTn>
                              </p:par>
                              <p:par>
                                <p:cTn id="30" presetID="53" presetClass="entr" presetSubtype="16" fill="hold" grpId="0" nodeType="withEffect">
                                  <p:stCondLst>
                                    <p:cond delay="220"/>
                                  </p:stCondLst>
                                  <p:childTnLst>
                                    <p:set>
                                      <p:cBhvr>
                                        <p:cTn id="31" dur="1" fill="hold">
                                          <p:stCondLst>
                                            <p:cond delay="0"/>
                                          </p:stCondLst>
                                        </p:cTn>
                                        <p:tgtEl>
                                          <p:spTgt spid="10"/>
                                        </p:tgtEl>
                                        <p:attrNameLst>
                                          <p:attrName>style.visibility</p:attrName>
                                        </p:attrNameLst>
                                      </p:cBhvr>
                                      <p:to>
                                        <p:strVal val="visible"/>
                                      </p:to>
                                    </p:set>
                                    <p:anim calcmode="lin" valueType="num">
                                      <p:cBhvr additive="base">
                                        <p:cTn id="32" dur="500" fill="hold"/>
                                        <p:tgtEl>
                                          <p:spTgt spid="10"/>
                                        </p:tgtEl>
                                        <p:attrNameLst>
                                          <p:attrName>ppt_w</p:attrName>
                                        </p:attrNameLst>
                                      </p:cBhvr>
                                      <p:tavLst>
                                        <p:tav tm="0">
                                          <p:val>
                                            <p:strVal val="0"/>
                                          </p:val>
                                        </p:tav>
                                        <p:tav tm="100000">
                                          <p:val>
                                            <p:strVal val="#ppt_w"/>
                                          </p:val>
                                        </p:tav>
                                      </p:tavLst>
                                    </p:anim>
                                    <p:anim calcmode="lin" valueType="num">
                                      <p:cBhvr additive="base">
                                        <p:cTn id="33" dur="500" fill="hold"/>
                                        <p:tgtEl>
                                          <p:spTgt spid="10"/>
                                        </p:tgtEl>
                                        <p:attrNameLst>
                                          <p:attrName>ppt_h</p:attrName>
                                        </p:attrNameLst>
                                      </p:cBhvr>
                                      <p:tavLst>
                                        <p:tav tm="0">
                                          <p:val>
                                            <p:strVal val="0"/>
                                          </p:val>
                                        </p:tav>
                                        <p:tav tm="100000">
                                          <p:val>
                                            <p:strVal val="#ppt_h"/>
                                          </p:val>
                                        </p:tav>
                                      </p:tavLst>
                                    </p:anim>
                                    <p:animEffect transition="in" filter="fade">
                                      <p:cBhvr>
                                        <p:cTn id="34" dur="500"/>
                                        <p:tgtEl>
                                          <p:spTgt spid="10"/>
                                        </p:tgtEl>
                                      </p:cBhvr>
                                    </p:animEffect>
                                  </p:childTnLst>
                                </p:cTn>
                              </p:par>
                              <p:par>
                                <p:cTn id="35" presetID="53" presetClass="entr" presetSubtype="16" fill="hold" nodeType="withEffect">
                                  <p:stCondLst>
                                    <p:cond delay="220"/>
                                  </p:stCondLst>
                                  <p:childTnLst>
                                    <p:set>
                                      <p:cBhvr>
                                        <p:cTn id="36" dur="1" fill="hold">
                                          <p:stCondLst>
                                            <p:cond delay="0"/>
                                          </p:stCondLst>
                                        </p:cTn>
                                        <p:tgtEl>
                                          <p:spTgt spid="11"/>
                                        </p:tgtEl>
                                        <p:attrNameLst>
                                          <p:attrName>style.visibility</p:attrName>
                                        </p:attrNameLst>
                                      </p:cBhvr>
                                      <p:to>
                                        <p:strVal val="visible"/>
                                      </p:to>
                                    </p:set>
                                    <p:anim calcmode="lin" valueType="num">
                                      <p:cBhvr additive="base">
                                        <p:cTn id="37" dur="500" fill="hold"/>
                                        <p:tgtEl>
                                          <p:spTgt spid="11"/>
                                        </p:tgtEl>
                                        <p:attrNameLst>
                                          <p:attrName>ppt_w</p:attrName>
                                        </p:attrNameLst>
                                      </p:cBhvr>
                                      <p:tavLst>
                                        <p:tav tm="0">
                                          <p:val>
                                            <p:strVal val="0"/>
                                          </p:val>
                                        </p:tav>
                                        <p:tav tm="100000">
                                          <p:val>
                                            <p:strVal val="#ppt_w"/>
                                          </p:val>
                                        </p:tav>
                                      </p:tavLst>
                                    </p:anim>
                                    <p:anim calcmode="lin" valueType="num">
                                      <p:cBhvr additive="base">
                                        <p:cTn id="38" dur="500" fill="hold"/>
                                        <p:tgtEl>
                                          <p:spTgt spid="11"/>
                                        </p:tgtEl>
                                        <p:attrNameLst>
                                          <p:attrName>ppt_h</p:attrName>
                                        </p:attrNameLst>
                                      </p:cBhvr>
                                      <p:tavLst>
                                        <p:tav tm="0">
                                          <p:val>
                                            <p:strVal val="0"/>
                                          </p:val>
                                        </p:tav>
                                        <p:tav tm="100000">
                                          <p:val>
                                            <p:strVal val="#ppt_h"/>
                                          </p:val>
                                        </p:tav>
                                      </p:tavLst>
                                    </p:anim>
                                    <p:animEffect transition="in" filter="fade">
                                      <p:cBhvr>
                                        <p:cTn id="39" dur="500"/>
                                        <p:tgtEl>
                                          <p:spTgt spid="11"/>
                                        </p:tgtEl>
                                      </p:cBhvr>
                                    </p:animEffect>
                                  </p:childTnLst>
                                </p:cTn>
                              </p:par>
                              <p:par>
                                <p:cTn id="40" presetID="53" presetClass="entr" presetSubtype="16" fill="hold" grpId="0" nodeType="withEffect">
                                  <p:stCondLst>
                                    <p:cond delay="220"/>
                                  </p:stCondLst>
                                  <p:childTnLst>
                                    <p:set>
                                      <p:cBhvr>
                                        <p:cTn id="41" dur="1" fill="hold">
                                          <p:stCondLst>
                                            <p:cond delay="0"/>
                                          </p:stCondLst>
                                        </p:cTn>
                                        <p:tgtEl>
                                          <p:spTgt spid="12"/>
                                        </p:tgtEl>
                                        <p:attrNameLst>
                                          <p:attrName>style.visibility</p:attrName>
                                        </p:attrNameLst>
                                      </p:cBhvr>
                                      <p:to>
                                        <p:strVal val="visible"/>
                                      </p:to>
                                    </p:set>
                                    <p:anim calcmode="lin" valueType="num">
                                      <p:cBhvr additive="base">
                                        <p:cTn id="42" dur="500" fill="hold"/>
                                        <p:tgtEl>
                                          <p:spTgt spid="12"/>
                                        </p:tgtEl>
                                        <p:attrNameLst>
                                          <p:attrName>ppt_w</p:attrName>
                                        </p:attrNameLst>
                                      </p:cBhvr>
                                      <p:tavLst>
                                        <p:tav tm="0">
                                          <p:val>
                                            <p:strVal val="0"/>
                                          </p:val>
                                        </p:tav>
                                        <p:tav tm="100000">
                                          <p:val>
                                            <p:strVal val="#ppt_w"/>
                                          </p:val>
                                        </p:tav>
                                      </p:tavLst>
                                    </p:anim>
                                    <p:anim calcmode="lin" valueType="num">
                                      <p:cBhvr additive="base">
                                        <p:cTn id="43" dur="500" fill="hold"/>
                                        <p:tgtEl>
                                          <p:spTgt spid="12"/>
                                        </p:tgtEl>
                                        <p:attrNameLst>
                                          <p:attrName>ppt_h</p:attrName>
                                        </p:attrNameLst>
                                      </p:cBhvr>
                                      <p:tavLst>
                                        <p:tav tm="0">
                                          <p:val>
                                            <p:strVal val="0"/>
                                          </p:val>
                                        </p:tav>
                                        <p:tav tm="100000">
                                          <p:val>
                                            <p:strVal val="#ppt_h"/>
                                          </p:val>
                                        </p:tav>
                                      </p:tavLst>
                                    </p:anim>
                                    <p:animEffect transition="in" filter="fade">
                                      <p:cBhvr>
                                        <p:cTn id="44" dur="500"/>
                                        <p:tgtEl>
                                          <p:spTgt spid="12"/>
                                        </p:tgtEl>
                                      </p:cBhvr>
                                    </p:animEffect>
                                  </p:childTnLst>
                                </p:cTn>
                              </p:par>
                              <p:par>
                                <p:cTn id="45" presetID="53" presetClass="entr" presetSubtype="16" fill="hold" grpId="0" nodeType="withEffect">
                                  <p:stCondLst>
                                    <p:cond delay="220"/>
                                  </p:stCondLst>
                                  <p:childTnLst>
                                    <p:set>
                                      <p:cBhvr>
                                        <p:cTn id="46" dur="1" fill="hold">
                                          <p:stCondLst>
                                            <p:cond delay="0"/>
                                          </p:stCondLst>
                                        </p:cTn>
                                        <p:tgtEl>
                                          <p:spTgt spid="13"/>
                                        </p:tgtEl>
                                        <p:attrNameLst>
                                          <p:attrName>style.visibility</p:attrName>
                                        </p:attrNameLst>
                                      </p:cBhvr>
                                      <p:to>
                                        <p:strVal val="visible"/>
                                      </p:to>
                                    </p:set>
                                    <p:anim calcmode="lin" valueType="num">
                                      <p:cBhvr additive="base">
                                        <p:cTn id="47" dur="500" fill="hold"/>
                                        <p:tgtEl>
                                          <p:spTgt spid="13"/>
                                        </p:tgtEl>
                                        <p:attrNameLst>
                                          <p:attrName>ppt_w</p:attrName>
                                        </p:attrNameLst>
                                      </p:cBhvr>
                                      <p:tavLst>
                                        <p:tav tm="0">
                                          <p:val>
                                            <p:strVal val="0"/>
                                          </p:val>
                                        </p:tav>
                                        <p:tav tm="100000">
                                          <p:val>
                                            <p:strVal val="#ppt_w"/>
                                          </p:val>
                                        </p:tav>
                                      </p:tavLst>
                                    </p:anim>
                                    <p:anim calcmode="lin" valueType="num">
                                      <p:cBhvr additive="base">
                                        <p:cTn id="48" dur="500" fill="hold"/>
                                        <p:tgtEl>
                                          <p:spTgt spid="13"/>
                                        </p:tgtEl>
                                        <p:attrNameLst>
                                          <p:attrName>ppt_h</p:attrName>
                                        </p:attrNameLst>
                                      </p:cBhvr>
                                      <p:tavLst>
                                        <p:tav tm="0">
                                          <p:val>
                                            <p:strVal val="0"/>
                                          </p:val>
                                        </p:tav>
                                        <p:tav tm="100000">
                                          <p:val>
                                            <p:strVal val="#ppt_h"/>
                                          </p:val>
                                        </p:tav>
                                      </p:tavLst>
                                    </p:anim>
                                    <p:animEffect transition="in" filter="fade">
                                      <p:cBhvr>
                                        <p:cTn id="49" dur="500"/>
                                        <p:tgtEl>
                                          <p:spTgt spid="13"/>
                                        </p:tgtEl>
                                      </p:cBhvr>
                                    </p:animEffect>
                                  </p:childTnLst>
                                </p:cTn>
                              </p:par>
                              <p:par>
                                <p:cTn id="50" presetID="53" presetClass="entr" presetSubtype="16" fill="hold" grpId="0" nodeType="withEffect">
                                  <p:stCondLst>
                                    <p:cond delay="220"/>
                                  </p:stCondLst>
                                  <p:childTnLst>
                                    <p:set>
                                      <p:cBhvr>
                                        <p:cTn id="51" dur="1" fill="hold">
                                          <p:stCondLst>
                                            <p:cond delay="0"/>
                                          </p:stCondLst>
                                        </p:cTn>
                                        <p:tgtEl>
                                          <p:spTgt spid="14"/>
                                        </p:tgtEl>
                                        <p:attrNameLst>
                                          <p:attrName>style.visibility</p:attrName>
                                        </p:attrNameLst>
                                      </p:cBhvr>
                                      <p:to>
                                        <p:strVal val="visible"/>
                                      </p:to>
                                    </p:set>
                                    <p:anim calcmode="lin" valueType="num">
                                      <p:cBhvr additive="base">
                                        <p:cTn id="52" dur="500" fill="hold"/>
                                        <p:tgtEl>
                                          <p:spTgt spid="14"/>
                                        </p:tgtEl>
                                        <p:attrNameLst>
                                          <p:attrName>ppt_w</p:attrName>
                                        </p:attrNameLst>
                                      </p:cBhvr>
                                      <p:tavLst>
                                        <p:tav tm="0">
                                          <p:val>
                                            <p:strVal val="0"/>
                                          </p:val>
                                        </p:tav>
                                        <p:tav tm="100000">
                                          <p:val>
                                            <p:strVal val="#ppt_w"/>
                                          </p:val>
                                        </p:tav>
                                      </p:tavLst>
                                    </p:anim>
                                    <p:anim calcmode="lin" valueType="num">
                                      <p:cBhvr additive="base">
                                        <p:cTn id="53" dur="500" fill="hold"/>
                                        <p:tgtEl>
                                          <p:spTgt spid="14"/>
                                        </p:tgtEl>
                                        <p:attrNameLst>
                                          <p:attrName>ppt_h</p:attrName>
                                        </p:attrNameLst>
                                      </p:cBhvr>
                                      <p:tavLst>
                                        <p:tav tm="0">
                                          <p:val>
                                            <p:strVal val="0"/>
                                          </p:val>
                                        </p:tav>
                                        <p:tav tm="100000">
                                          <p:val>
                                            <p:strVal val="#ppt_h"/>
                                          </p:val>
                                        </p:tav>
                                      </p:tavLst>
                                    </p:anim>
                                    <p:animEffect transition="in" filter="fade">
                                      <p:cBhvr>
                                        <p:cTn id="54" dur="500"/>
                                        <p:tgtEl>
                                          <p:spTgt spid="14"/>
                                        </p:tgtEl>
                                      </p:cBhvr>
                                    </p:animEffect>
                                  </p:childTnLst>
                                </p:cTn>
                              </p:par>
                              <p:par>
                                <p:cTn id="55" presetID="53" presetClass="entr" presetSubtype="16" fill="hold" grpId="0" nodeType="withEffect">
                                  <p:stCondLst>
                                    <p:cond delay="440"/>
                                  </p:stCondLst>
                                  <p:childTnLst>
                                    <p:set>
                                      <p:cBhvr>
                                        <p:cTn id="56" dur="1" fill="hold">
                                          <p:stCondLst>
                                            <p:cond delay="0"/>
                                          </p:stCondLst>
                                        </p:cTn>
                                        <p:tgtEl>
                                          <p:spTgt spid="15"/>
                                        </p:tgtEl>
                                        <p:attrNameLst>
                                          <p:attrName>style.visibility</p:attrName>
                                        </p:attrNameLst>
                                      </p:cBhvr>
                                      <p:to>
                                        <p:strVal val="visible"/>
                                      </p:to>
                                    </p:set>
                                    <p:anim calcmode="lin" valueType="num">
                                      <p:cBhvr additive="base">
                                        <p:cTn id="57" dur="500" fill="hold"/>
                                        <p:tgtEl>
                                          <p:spTgt spid="15"/>
                                        </p:tgtEl>
                                        <p:attrNameLst>
                                          <p:attrName>ppt_w</p:attrName>
                                        </p:attrNameLst>
                                      </p:cBhvr>
                                      <p:tavLst>
                                        <p:tav tm="0">
                                          <p:val>
                                            <p:strVal val="0"/>
                                          </p:val>
                                        </p:tav>
                                        <p:tav tm="100000">
                                          <p:val>
                                            <p:strVal val="#ppt_w"/>
                                          </p:val>
                                        </p:tav>
                                      </p:tavLst>
                                    </p:anim>
                                    <p:anim calcmode="lin" valueType="num">
                                      <p:cBhvr additive="base">
                                        <p:cTn id="58" dur="500" fill="hold"/>
                                        <p:tgtEl>
                                          <p:spTgt spid="15"/>
                                        </p:tgtEl>
                                        <p:attrNameLst>
                                          <p:attrName>ppt_h</p:attrName>
                                        </p:attrNameLst>
                                      </p:cBhvr>
                                      <p:tavLst>
                                        <p:tav tm="0">
                                          <p:val>
                                            <p:strVal val="0"/>
                                          </p:val>
                                        </p:tav>
                                        <p:tav tm="100000">
                                          <p:val>
                                            <p:strVal val="#ppt_h"/>
                                          </p:val>
                                        </p:tav>
                                      </p:tavLst>
                                    </p:anim>
                                    <p:animEffect transition="in" filter="fade">
                                      <p:cBhvr>
                                        <p:cTn id="59" dur="500"/>
                                        <p:tgtEl>
                                          <p:spTgt spid="15"/>
                                        </p:tgtEl>
                                      </p:cBhvr>
                                    </p:animEffect>
                                  </p:childTnLst>
                                </p:cTn>
                              </p:par>
                              <p:par>
                                <p:cTn id="60" presetID="53" presetClass="entr" presetSubtype="16" fill="hold" nodeType="withEffect">
                                  <p:stCondLst>
                                    <p:cond delay="440"/>
                                  </p:stCondLst>
                                  <p:childTnLst>
                                    <p:set>
                                      <p:cBhvr>
                                        <p:cTn id="61" dur="1" fill="hold">
                                          <p:stCondLst>
                                            <p:cond delay="0"/>
                                          </p:stCondLst>
                                        </p:cTn>
                                        <p:tgtEl>
                                          <p:spTgt spid="16"/>
                                        </p:tgtEl>
                                        <p:attrNameLst>
                                          <p:attrName>style.visibility</p:attrName>
                                        </p:attrNameLst>
                                      </p:cBhvr>
                                      <p:to>
                                        <p:strVal val="visible"/>
                                      </p:to>
                                    </p:set>
                                    <p:anim calcmode="lin" valueType="num">
                                      <p:cBhvr additive="base">
                                        <p:cTn id="62" dur="500" fill="hold"/>
                                        <p:tgtEl>
                                          <p:spTgt spid="16"/>
                                        </p:tgtEl>
                                        <p:attrNameLst>
                                          <p:attrName>ppt_w</p:attrName>
                                        </p:attrNameLst>
                                      </p:cBhvr>
                                      <p:tavLst>
                                        <p:tav tm="0">
                                          <p:val>
                                            <p:strVal val="0"/>
                                          </p:val>
                                        </p:tav>
                                        <p:tav tm="100000">
                                          <p:val>
                                            <p:strVal val="#ppt_w"/>
                                          </p:val>
                                        </p:tav>
                                      </p:tavLst>
                                    </p:anim>
                                    <p:anim calcmode="lin" valueType="num">
                                      <p:cBhvr additive="base">
                                        <p:cTn id="63" dur="500" fill="hold"/>
                                        <p:tgtEl>
                                          <p:spTgt spid="16"/>
                                        </p:tgtEl>
                                        <p:attrNameLst>
                                          <p:attrName>ppt_h</p:attrName>
                                        </p:attrNameLst>
                                      </p:cBhvr>
                                      <p:tavLst>
                                        <p:tav tm="0">
                                          <p:val>
                                            <p:strVal val="0"/>
                                          </p:val>
                                        </p:tav>
                                        <p:tav tm="100000">
                                          <p:val>
                                            <p:strVal val="#ppt_h"/>
                                          </p:val>
                                        </p:tav>
                                      </p:tavLst>
                                    </p:anim>
                                    <p:animEffect transition="in" filter="fade">
                                      <p:cBhvr>
                                        <p:cTn id="64" dur="500"/>
                                        <p:tgtEl>
                                          <p:spTgt spid="16"/>
                                        </p:tgtEl>
                                      </p:cBhvr>
                                    </p:animEffect>
                                  </p:childTnLst>
                                </p:cTn>
                              </p:par>
                              <p:par>
                                <p:cTn id="65" presetID="53" presetClass="entr" presetSubtype="16" fill="hold" grpId="0" nodeType="withEffect">
                                  <p:stCondLst>
                                    <p:cond delay="440"/>
                                  </p:stCondLst>
                                  <p:childTnLst>
                                    <p:set>
                                      <p:cBhvr>
                                        <p:cTn id="66" dur="1" fill="hold">
                                          <p:stCondLst>
                                            <p:cond delay="0"/>
                                          </p:stCondLst>
                                        </p:cTn>
                                        <p:tgtEl>
                                          <p:spTgt spid="17"/>
                                        </p:tgtEl>
                                        <p:attrNameLst>
                                          <p:attrName>style.visibility</p:attrName>
                                        </p:attrNameLst>
                                      </p:cBhvr>
                                      <p:to>
                                        <p:strVal val="visible"/>
                                      </p:to>
                                    </p:set>
                                    <p:anim calcmode="lin" valueType="num">
                                      <p:cBhvr additive="base">
                                        <p:cTn id="67" dur="500" fill="hold"/>
                                        <p:tgtEl>
                                          <p:spTgt spid="17"/>
                                        </p:tgtEl>
                                        <p:attrNameLst>
                                          <p:attrName>ppt_w</p:attrName>
                                        </p:attrNameLst>
                                      </p:cBhvr>
                                      <p:tavLst>
                                        <p:tav tm="0">
                                          <p:val>
                                            <p:strVal val="0"/>
                                          </p:val>
                                        </p:tav>
                                        <p:tav tm="100000">
                                          <p:val>
                                            <p:strVal val="#ppt_w"/>
                                          </p:val>
                                        </p:tav>
                                      </p:tavLst>
                                    </p:anim>
                                    <p:anim calcmode="lin" valueType="num">
                                      <p:cBhvr additive="base">
                                        <p:cTn id="68" dur="500" fill="hold"/>
                                        <p:tgtEl>
                                          <p:spTgt spid="17"/>
                                        </p:tgtEl>
                                        <p:attrNameLst>
                                          <p:attrName>ppt_h</p:attrName>
                                        </p:attrNameLst>
                                      </p:cBhvr>
                                      <p:tavLst>
                                        <p:tav tm="0">
                                          <p:val>
                                            <p:strVal val="0"/>
                                          </p:val>
                                        </p:tav>
                                        <p:tav tm="100000">
                                          <p:val>
                                            <p:strVal val="#ppt_h"/>
                                          </p:val>
                                        </p:tav>
                                      </p:tavLst>
                                    </p:anim>
                                    <p:animEffect transition="in" filter="fade">
                                      <p:cBhvr>
                                        <p:cTn id="69" dur="500"/>
                                        <p:tgtEl>
                                          <p:spTgt spid="17"/>
                                        </p:tgtEl>
                                      </p:cBhvr>
                                    </p:animEffect>
                                  </p:childTnLst>
                                </p:cTn>
                              </p:par>
                              <p:par>
                                <p:cTn id="70" presetID="53" presetClass="entr" presetSubtype="16" fill="hold" grpId="0" nodeType="withEffect">
                                  <p:stCondLst>
                                    <p:cond delay="440"/>
                                  </p:stCondLst>
                                  <p:childTnLst>
                                    <p:set>
                                      <p:cBhvr>
                                        <p:cTn id="71" dur="1" fill="hold">
                                          <p:stCondLst>
                                            <p:cond delay="0"/>
                                          </p:stCondLst>
                                        </p:cTn>
                                        <p:tgtEl>
                                          <p:spTgt spid="18"/>
                                        </p:tgtEl>
                                        <p:attrNameLst>
                                          <p:attrName>style.visibility</p:attrName>
                                        </p:attrNameLst>
                                      </p:cBhvr>
                                      <p:to>
                                        <p:strVal val="visible"/>
                                      </p:to>
                                    </p:set>
                                    <p:anim calcmode="lin" valueType="num">
                                      <p:cBhvr additive="base">
                                        <p:cTn id="72" dur="500" fill="hold"/>
                                        <p:tgtEl>
                                          <p:spTgt spid="18"/>
                                        </p:tgtEl>
                                        <p:attrNameLst>
                                          <p:attrName>ppt_w</p:attrName>
                                        </p:attrNameLst>
                                      </p:cBhvr>
                                      <p:tavLst>
                                        <p:tav tm="0">
                                          <p:val>
                                            <p:strVal val="0"/>
                                          </p:val>
                                        </p:tav>
                                        <p:tav tm="100000">
                                          <p:val>
                                            <p:strVal val="#ppt_w"/>
                                          </p:val>
                                        </p:tav>
                                      </p:tavLst>
                                    </p:anim>
                                    <p:anim calcmode="lin" valueType="num">
                                      <p:cBhvr additive="base">
                                        <p:cTn id="73" dur="500" fill="hold"/>
                                        <p:tgtEl>
                                          <p:spTgt spid="18"/>
                                        </p:tgtEl>
                                        <p:attrNameLst>
                                          <p:attrName>ppt_h</p:attrName>
                                        </p:attrNameLst>
                                      </p:cBhvr>
                                      <p:tavLst>
                                        <p:tav tm="0">
                                          <p:val>
                                            <p:strVal val="0"/>
                                          </p:val>
                                        </p:tav>
                                        <p:tav tm="100000">
                                          <p:val>
                                            <p:strVal val="#ppt_h"/>
                                          </p:val>
                                        </p:tav>
                                      </p:tavLst>
                                    </p:anim>
                                    <p:animEffect transition="in" filter="fade">
                                      <p:cBhvr>
                                        <p:cTn id="74" dur="500"/>
                                        <p:tgtEl>
                                          <p:spTgt spid="18"/>
                                        </p:tgtEl>
                                      </p:cBhvr>
                                    </p:animEffect>
                                  </p:childTnLst>
                                </p:cTn>
                              </p:par>
                              <p:par>
                                <p:cTn id="75" presetID="53" presetClass="entr" presetSubtype="16" fill="hold" grpId="0" nodeType="withEffect">
                                  <p:stCondLst>
                                    <p:cond delay="440"/>
                                  </p:stCondLst>
                                  <p:childTnLst>
                                    <p:set>
                                      <p:cBhvr>
                                        <p:cTn id="76" dur="1" fill="hold">
                                          <p:stCondLst>
                                            <p:cond delay="0"/>
                                          </p:stCondLst>
                                        </p:cTn>
                                        <p:tgtEl>
                                          <p:spTgt spid="19"/>
                                        </p:tgtEl>
                                        <p:attrNameLst>
                                          <p:attrName>style.visibility</p:attrName>
                                        </p:attrNameLst>
                                      </p:cBhvr>
                                      <p:to>
                                        <p:strVal val="visible"/>
                                      </p:to>
                                    </p:set>
                                    <p:anim calcmode="lin" valueType="num">
                                      <p:cBhvr additive="base">
                                        <p:cTn id="77" dur="500" fill="hold"/>
                                        <p:tgtEl>
                                          <p:spTgt spid="19"/>
                                        </p:tgtEl>
                                        <p:attrNameLst>
                                          <p:attrName>ppt_w</p:attrName>
                                        </p:attrNameLst>
                                      </p:cBhvr>
                                      <p:tavLst>
                                        <p:tav tm="0">
                                          <p:val>
                                            <p:strVal val="0"/>
                                          </p:val>
                                        </p:tav>
                                        <p:tav tm="100000">
                                          <p:val>
                                            <p:strVal val="#ppt_w"/>
                                          </p:val>
                                        </p:tav>
                                      </p:tavLst>
                                    </p:anim>
                                    <p:anim calcmode="lin" valueType="num">
                                      <p:cBhvr additive="base">
                                        <p:cTn id="78" dur="500" fill="hold"/>
                                        <p:tgtEl>
                                          <p:spTgt spid="19"/>
                                        </p:tgtEl>
                                        <p:attrNameLst>
                                          <p:attrName>ppt_h</p:attrName>
                                        </p:attrNameLst>
                                      </p:cBhvr>
                                      <p:tavLst>
                                        <p:tav tm="0">
                                          <p:val>
                                            <p:strVal val="0"/>
                                          </p:val>
                                        </p:tav>
                                        <p:tav tm="100000">
                                          <p:val>
                                            <p:strVal val="#ppt_h"/>
                                          </p:val>
                                        </p:tav>
                                      </p:tavLst>
                                    </p:anim>
                                    <p:animEffect transition="in" filter="fade">
                                      <p:cBhvr>
                                        <p:cTn id="79" dur="500"/>
                                        <p:tgtEl>
                                          <p:spTgt spid="19"/>
                                        </p:tgtEl>
                                      </p:cBhvr>
                                    </p:animEffect>
                                  </p:childTnLst>
                                </p:cTn>
                              </p:par>
                              <p:par>
                                <p:cTn id="80" presetID="10" presetClass="entr" presetSubtype="0" fill="hold" grpId="0" nodeType="withEffect">
                                  <p:stCondLst>
                                    <p:cond delay="660"/>
                                  </p:stCondLst>
                                  <p:childTnLst>
                                    <p:set>
                                      <p:cBhvr>
                                        <p:cTn id="81" dur="1" fill="hold">
                                          <p:stCondLst>
                                            <p:cond delay="0"/>
                                          </p:stCondLst>
                                        </p:cTn>
                                        <p:tgtEl>
                                          <p:spTgt spid="20"/>
                                        </p:tgtEl>
                                        <p:attrNameLst>
                                          <p:attrName>style.visibility</p:attrName>
                                        </p:attrNameLst>
                                      </p:cBhvr>
                                      <p:to>
                                        <p:strVal val="visible"/>
                                      </p:to>
                                    </p:set>
                                    <p:animEffect transition="in" filter="fade">
                                      <p:cBhvr>
                                        <p:cTn id="82" dur="500"/>
                                        <p:tgtEl>
                                          <p:spTgt spid="20"/>
                                        </p:tgtEl>
                                      </p:cBhvr>
                                    </p:animEffect>
                                  </p:childTnLst>
                                </p:cTn>
                              </p:par>
                              <p:par>
                                <p:cTn id="83" presetID="10" presetClass="entr" presetSubtype="0" fill="hold" grpId="0" nodeType="withEffect">
                                  <p:stCondLst>
                                    <p:cond delay="660"/>
                                  </p:stCondLst>
                                  <p:childTnLst>
                                    <p:set>
                                      <p:cBhvr>
                                        <p:cTn id="84" dur="1" fill="hold">
                                          <p:stCondLst>
                                            <p:cond delay="0"/>
                                          </p:stCondLst>
                                        </p:cTn>
                                        <p:tgtEl>
                                          <p:spTgt spid="21"/>
                                        </p:tgtEl>
                                        <p:attrNameLst>
                                          <p:attrName>style.visibility</p:attrName>
                                        </p:attrNameLst>
                                      </p:cBhvr>
                                      <p:to>
                                        <p:strVal val="visible"/>
                                      </p:to>
                                    </p:set>
                                    <p:animEffect transition="in" filter="fade">
                                      <p:cBhvr>
                                        <p:cTn id="8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P spid="20" grpId="0" animBg="1"/>
      <p:bldP spid="21"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749808"/>
            <a:ext cx="11064240" cy="685800"/>
          </a:xfrm>
          <a:prstGeom prst="rect">
            <a:avLst/>
          </a:prstGeom>
          <a:noFill/>
          <a:ln/>
        </p:spPr>
        <p:txBody>
          <a:bodyPr wrap="square" lIns="0" tIns="0" rIns="0" bIns="0" rtlCol="0" anchor="ctr"/>
          <a:lstStyle/>
          <a:p>
            <a:pPr marL="0" indent="0" algn="l">
              <a:buNone/>
            </a:pPr>
            <a:r>
              <a:rPr lang="en-US" sz="3000" b="1" dirty="0">
                <a:solidFill>
                  <a:schemeClr val="tx2"/>
                </a:solidFill>
              </a:rPr>
              <a:t>Scénario de démonstration</a:t>
            </a:r>
            <a:endParaRPr lang="en-US" sz="3000" dirty="0"/>
          </a:p>
        </p:txBody>
      </p:sp>
      <p:sp>
        <p:nvSpPr>
          <p:cNvPr id="3" name="pill#90"/>
          <p:cNvSpPr/>
          <p:nvPr/>
        </p:nvSpPr>
        <p:spPr>
          <a:xfrm>
            <a:off x="548640" y="384048"/>
            <a:ext cx="589788" cy="292608"/>
          </a:xfrm>
          <a:prstGeom prst="roundRect">
            <a:avLst>
              <a:gd name="adj" fmla="val 50000"/>
            </a:avLst>
          </a:prstGeom>
          <a:solidFill>
            <a:schemeClr val="accent3"/>
          </a:solidFill>
          <a:ln/>
        </p:spPr>
      </p:sp>
      <p:sp>
        <p:nvSpPr>
          <p:cNvPr id="4" name="pill#90t"/>
          <p:cNvSpPr txBox="1"/>
          <p:nvPr/>
        </p:nvSpPr>
        <p:spPr>
          <a:xfrm>
            <a:off x="548640" y="384048"/>
            <a:ext cx="589788" cy="292608"/>
          </a:xfrm>
          <a:prstGeom prst="rect">
            <a:avLst/>
          </a:prstGeom>
          <a:noFill/>
          <a:ln/>
        </p:spPr>
        <p:txBody>
          <a:bodyPr wrap="square" lIns="0" tIns="0" rIns="0" bIns="0" rtlCol="0" anchor="ctr"/>
          <a:lstStyle/>
          <a:p>
            <a:pPr marL="0" indent="0" algn="ctr">
              <a:buNone/>
            </a:pPr>
            <a:r>
              <a:rPr lang="en-US" sz="1100" b="1" dirty="0">
                <a:solidFill>
                  <a:schemeClr val="bg1"/>
                </a:solidFill>
              </a:rPr>
              <a:t>Tests</a:t>
            </a:r>
            <a:endParaRPr lang="en-US" sz="1100" dirty="0"/>
          </a:p>
        </p:txBody>
      </p:sp>
      <p:sp>
        <p:nvSpPr>
          <p:cNvPr id="5" name="tl"/>
          <p:cNvSpPr/>
          <p:nvPr/>
        </p:nvSpPr>
        <p:spPr>
          <a:xfrm>
            <a:off x="868680" y="1920240"/>
            <a:ext cx="10424160" cy="0"/>
          </a:xfrm>
          <a:prstGeom prst="line">
            <a:avLst/>
          </a:prstGeom>
          <a:noFill/>
          <a:ln w="38100">
            <a:solidFill>
              <a:srgbClr val="D5DCE8"/>
            </a:solidFill>
            <a:prstDash val="solid"/>
          </a:ln>
        </p:spPr>
      </p:sp>
      <p:sp>
        <p:nvSpPr>
          <p:cNvPr id="6" name="dm#91o"/>
          <p:cNvSpPr/>
          <p:nvPr/>
        </p:nvSpPr>
        <p:spPr>
          <a:xfrm>
            <a:off x="594360" y="1600200"/>
            <a:ext cx="640080" cy="640080"/>
          </a:xfrm>
          <a:prstGeom prst="ellipse">
            <a:avLst/>
          </a:prstGeom>
          <a:solidFill>
            <a:schemeClr val="accent3"/>
          </a:solidFill>
          <a:ln w="38100">
            <a:solidFill>
              <a:srgbClr val="FFFFFF"/>
            </a:solidFill>
            <a:prstDash val="solid"/>
          </a:ln>
        </p:spPr>
      </p:sp>
      <p:sp>
        <p:nvSpPr>
          <p:cNvPr id="7" name="dm#91n"/>
          <p:cNvSpPr txBox="1"/>
          <p:nvPr/>
        </p:nvSpPr>
        <p:spPr>
          <a:xfrm>
            <a:off x="594360" y="1600200"/>
            <a:ext cx="640080" cy="64008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8" name="dm#91"/>
          <p:cNvSpPr/>
          <p:nvPr/>
        </p:nvSpPr>
        <p:spPr>
          <a:xfrm>
            <a:off x="502920" y="2514600"/>
            <a:ext cx="1298448" cy="2377440"/>
          </a:xfrm>
          <a:prstGeom prst="roundRect">
            <a:avLst>
              <a:gd name="adj" fmla="val 7042"/>
            </a:avLst>
          </a:prstGeom>
          <a:solidFill>
            <a:schemeClr val="bg2"/>
          </a:solidFill>
          <a:ln/>
        </p:spPr>
      </p:sp>
      <p:sp>
        <p:nvSpPr>
          <p:cNvPr id="9" name="dm#91t"/>
          <p:cNvSpPr txBox="1"/>
          <p:nvPr/>
        </p:nvSpPr>
        <p:spPr>
          <a:xfrm>
            <a:off x="576072" y="2651760"/>
            <a:ext cx="1170432" cy="2103120"/>
          </a:xfrm>
          <a:prstGeom prst="rect">
            <a:avLst/>
          </a:prstGeom>
          <a:noFill/>
          <a:ln/>
        </p:spPr>
        <p:txBody>
          <a:bodyPr wrap="square" lIns="0" tIns="0" rIns="0" bIns="0" rtlCol="0" anchor="t">
            <a:normAutofit/>
          </a:bodyPr>
          <a:lstStyle/>
          <a:p>
            <a:pPr marL="0" indent="0">
              <a:buNone/>
            </a:pPr>
            <a:r>
              <a:rPr lang="en-US" sz="1200" dirty="0">
                <a:solidFill>
                  <a:schemeClr val="tx1"/>
                </a:solidFill>
              </a:rPr>
              <a:t>Ajouter un employé « mal saisi » dans MySQL</a:t>
            </a:r>
            <a:endParaRPr lang="en-US" sz="1200" dirty="0"/>
          </a:p>
        </p:txBody>
      </p:sp>
      <p:sp>
        <p:nvSpPr>
          <p:cNvPr id="10" name="dm#92o"/>
          <p:cNvSpPr/>
          <p:nvPr/>
        </p:nvSpPr>
        <p:spPr>
          <a:xfrm>
            <a:off x="1993392" y="1600200"/>
            <a:ext cx="640080" cy="640080"/>
          </a:xfrm>
          <a:prstGeom prst="ellipse">
            <a:avLst/>
          </a:prstGeom>
          <a:solidFill>
            <a:schemeClr val="accent3"/>
          </a:solidFill>
          <a:ln w="38100">
            <a:solidFill>
              <a:srgbClr val="FFFFFF"/>
            </a:solidFill>
            <a:prstDash val="solid"/>
          </a:ln>
        </p:spPr>
      </p:sp>
      <p:sp>
        <p:nvSpPr>
          <p:cNvPr id="11" name="dm#92n"/>
          <p:cNvSpPr txBox="1"/>
          <p:nvPr/>
        </p:nvSpPr>
        <p:spPr>
          <a:xfrm>
            <a:off x="1993392" y="1600200"/>
            <a:ext cx="640080" cy="64008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2" name="dm#92"/>
          <p:cNvSpPr/>
          <p:nvPr/>
        </p:nvSpPr>
        <p:spPr>
          <a:xfrm>
            <a:off x="1901952" y="2514600"/>
            <a:ext cx="1298448" cy="2377440"/>
          </a:xfrm>
          <a:prstGeom prst="roundRect">
            <a:avLst>
              <a:gd name="adj" fmla="val 7042"/>
            </a:avLst>
          </a:prstGeom>
          <a:solidFill>
            <a:schemeClr val="bg2"/>
          </a:solidFill>
          <a:ln/>
        </p:spPr>
      </p:sp>
      <p:sp>
        <p:nvSpPr>
          <p:cNvPr id="13" name="dm#92t"/>
          <p:cNvSpPr txBox="1"/>
          <p:nvPr/>
        </p:nvSpPr>
        <p:spPr>
          <a:xfrm>
            <a:off x="1975104" y="2651760"/>
            <a:ext cx="1170432" cy="2103120"/>
          </a:xfrm>
          <a:prstGeom prst="rect">
            <a:avLst/>
          </a:prstGeom>
          <a:noFill/>
          <a:ln/>
        </p:spPr>
        <p:txBody>
          <a:bodyPr wrap="square" lIns="0" tIns="0" rIns="0" bIns="0" rtlCol="0" anchor="t">
            <a:normAutofit/>
          </a:bodyPr>
          <a:lstStyle/>
          <a:p>
            <a:pPr marL="0" indent="0">
              <a:buNone/>
            </a:pPr>
            <a:r>
              <a:rPr lang="en-US" sz="1200" dirty="0">
                <a:solidFill>
                  <a:schemeClr val="tx1"/>
                </a:solidFill>
              </a:rPr>
              <a:t>Job aller : fiche propre dans PostgreSQL</a:t>
            </a:r>
            <a:endParaRPr lang="en-US" sz="1200" dirty="0"/>
          </a:p>
        </p:txBody>
      </p:sp>
      <p:sp>
        <p:nvSpPr>
          <p:cNvPr id="14" name="dm#93o"/>
          <p:cNvSpPr/>
          <p:nvPr/>
        </p:nvSpPr>
        <p:spPr>
          <a:xfrm>
            <a:off x="3392424" y="1600200"/>
            <a:ext cx="640080" cy="640080"/>
          </a:xfrm>
          <a:prstGeom prst="ellipse">
            <a:avLst/>
          </a:prstGeom>
          <a:solidFill>
            <a:schemeClr val="accent3"/>
          </a:solidFill>
          <a:ln w="38100">
            <a:solidFill>
              <a:srgbClr val="FFFFFF"/>
            </a:solidFill>
            <a:prstDash val="solid"/>
          </a:ln>
        </p:spPr>
      </p:sp>
      <p:sp>
        <p:nvSpPr>
          <p:cNvPr id="15" name="dm#93n"/>
          <p:cNvSpPr txBox="1"/>
          <p:nvPr/>
        </p:nvSpPr>
        <p:spPr>
          <a:xfrm>
            <a:off x="3392424" y="1600200"/>
            <a:ext cx="640080" cy="64008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6" name="dm#93"/>
          <p:cNvSpPr/>
          <p:nvPr/>
        </p:nvSpPr>
        <p:spPr>
          <a:xfrm>
            <a:off x="3300984" y="2514600"/>
            <a:ext cx="1298448" cy="2377440"/>
          </a:xfrm>
          <a:prstGeom prst="roundRect">
            <a:avLst>
              <a:gd name="adj" fmla="val 7042"/>
            </a:avLst>
          </a:prstGeom>
          <a:solidFill>
            <a:schemeClr val="bg2"/>
          </a:solidFill>
          <a:ln/>
        </p:spPr>
      </p:sp>
      <p:sp>
        <p:nvSpPr>
          <p:cNvPr id="17" name="dm#93t"/>
          <p:cNvSpPr txBox="1"/>
          <p:nvPr/>
        </p:nvSpPr>
        <p:spPr>
          <a:xfrm>
            <a:off x="3374136" y="2651760"/>
            <a:ext cx="1170432" cy="2103120"/>
          </a:xfrm>
          <a:prstGeom prst="rect">
            <a:avLst/>
          </a:prstGeom>
          <a:noFill/>
          <a:ln/>
        </p:spPr>
        <p:txBody>
          <a:bodyPr wrap="square" lIns="0" tIns="0" rIns="0" bIns="0" rtlCol="0" anchor="t">
            <a:normAutofit/>
          </a:bodyPr>
          <a:lstStyle/>
          <a:p>
            <a:pPr marL="0" indent="0">
              <a:buNone/>
            </a:pPr>
            <a:r>
              <a:rPr lang="en-US" sz="1200" dirty="0">
                <a:solidFill>
                  <a:schemeClr val="tx1"/>
                </a:solidFill>
              </a:rPr>
              <a:t>getEmployee­Details renvoie la fiche</a:t>
            </a:r>
            <a:endParaRPr lang="en-US" sz="1200" dirty="0"/>
          </a:p>
        </p:txBody>
      </p:sp>
      <p:sp>
        <p:nvSpPr>
          <p:cNvPr id="18" name="dm#94o"/>
          <p:cNvSpPr/>
          <p:nvPr/>
        </p:nvSpPr>
        <p:spPr>
          <a:xfrm>
            <a:off x="4791456" y="1600200"/>
            <a:ext cx="640080" cy="640080"/>
          </a:xfrm>
          <a:prstGeom prst="ellipse">
            <a:avLst/>
          </a:prstGeom>
          <a:solidFill>
            <a:schemeClr val="accent3"/>
          </a:solidFill>
          <a:ln w="38100">
            <a:solidFill>
              <a:srgbClr val="FFFFFF"/>
            </a:solidFill>
            <a:prstDash val="solid"/>
          </a:ln>
        </p:spPr>
      </p:sp>
      <p:sp>
        <p:nvSpPr>
          <p:cNvPr id="19" name="dm#94n"/>
          <p:cNvSpPr txBox="1"/>
          <p:nvPr/>
        </p:nvSpPr>
        <p:spPr>
          <a:xfrm>
            <a:off x="4791456" y="1600200"/>
            <a:ext cx="640080" cy="640080"/>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20" name="dm#94"/>
          <p:cNvSpPr/>
          <p:nvPr/>
        </p:nvSpPr>
        <p:spPr>
          <a:xfrm>
            <a:off x="4700016" y="2514600"/>
            <a:ext cx="1298448" cy="2377440"/>
          </a:xfrm>
          <a:prstGeom prst="roundRect">
            <a:avLst>
              <a:gd name="adj" fmla="val 7042"/>
            </a:avLst>
          </a:prstGeom>
          <a:solidFill>
            <a:schemeClr val="bg2"/>
          </a:solidFill>
          <a:ln/>
        </p:spPr>
      </p:sp>
      <p:sp>
        <p:nvSpPr>
          <p:cNvPr id="21" name="dm#94t"/>
          <p:cNvSpPr txBox="1"/>
          <p:nvPr/>
        </p:nvSpPr>
        <p:spPr>
          <a:xfrm>
            <a:off x="4773168" y="2651760"/>
            <a:ext cx="1170432" cy="2103120"/>
          </a:xfrm>
          <a:prstGeom prst="rect">
            <a:avLst/>
          </a:prstGeom>
          <a:noFill/>
          <a:ln/>
        </p:spPr>
        <p:txBody>
          <a:bodyPr wrap="square" lIns="0" tIns="0" rIns="0" bIns="0" rtlCol="0" anchor="t">
            <a:normAutofit/>
          </a:bodyPr>
          <a:lstStyle/>
          <a:p>
            <a:pPr marL="0" indent="0">
              <a:buNone/>
            </a:pPr>
            <a:r>
              <a:rPr lang="en-US" sz="1200" dirty="0">
                <a:solidFill>
                  <a:schemeClr val="tx1"/>
                </a:solidFill>
              </a:rPr>
              <a:t>updateEmployee change poste et salaire</a:t>
            </a:r>
            <a:endParaRPr lang="en-US" sz="1200" dirty="0"/>
          </a:p>
        </p:txBody>
      </p:sp>
      <p:sp>
        <p:nvSpPr>
          <p:cNvPr id="22" name="dm#95o"/>
          <p:cNvSpPr/>
          <p:nvPr/>
        </p:nvSpPr>
        <p:spPr>
          <a:xfrm>
            <a:off x="6190488" y="1600200"/>
            <a:ext cx="640080" cy="640080"/>
          </a:xfrm>
          <a:prstGeom prst="ellipse">
            <a:avLst/>
          </a:prstGeom>
          <a:solidFill>
            <a:schemeClr val="accent3"/>
          </a:solidFill>
          <a:ln w="38100">
            <a:solidFill>
              <a:srgbClr val="FFFFFF"/>
            </a:solidFill>
            <a:prstDash val="solid"/>
          </a:ln>
        </p:spPr>
      </p:sp>
      <p:sp>
        <p:nvSpPr>
          <p:cNvPr id="23" name="dm#95n"/>
          <p:cNvSpPr txBox="1"/>
          <p:nvPr/>
        </p:nvSpPr>
        <p:spPr>
          <a:xfrm>
            <a:off x="6190488" y="1600200"/>
            <a:ext cx="640080" cy="640080"/>
          </a:xfrm>
          <a:prstGeom prst="rect">
            <a:avLst/>
          </a:prstGeom>
          <a:noFill/>
          <a:ln/>
        </p:spPr>
        <p:txBody>
          <a:bodyPr wrap="square" lIns="0" tIns="0" rIns="0" bIns="0" rtlCol="0" anchor="ctr"/>
          <a:lstStyle/>
          <a:p>
            <a:pPr marL="0" indent="0" algn="ctr">
              <a:buNone/>
            </a:pPr>
            <a:r>
              <a:rPr lang="en-US" sz="1800" b="1" dirty="0">
                <a:solidFill>
                  <a:schemeClr val="bg1"/>
                </a:solidFill>
              </a:rPr>
              <a:t>5</a:t>
            </a:r>
            <a:endParaRPr lang="en-US" sz="1800" dirty="0"/>
          </a:p>
        </p:txBody>
      </p:sp>
      <p:sp>
        <p:nvSpPr>
          <p:cNvPr id="24" name="dm#95"/>
          <p:cNvSpPr/>
          <p:nvPr/>
        </p:nvSpPr>
        <p:spPr>
          <a:xfrm>
            <a:off x="6099048" y="2514600"/>
            <a:ext cx="1298448" cy="2377440"/>
          </a:xfrm>
          <a:prstGeom prst="roundRect">
            <a:avLst>
              <a:gd name="adj" fmla="val 7042"/>
            </a:avLst>
          </a:prstGeom>
          <a:solidFill>
            <a:schemeClr val="bg2"/>
          </a:solidFill>
          <a:ln/>
        </p:spPr>
      </p:sp>
      <p:sp>
        <p:nvSpPr>
          <p:cNvPr id="25" name="dm#95t"/>
          <p:cNvSpPr txBox="1"/>
          <p:nvPr/>
        </p:nvSpPr>
        <p:spPr>
          <a:xfrm>
            <a:off x="6172200" y="2651760"/>
            <a:ext cx="1170432" cy="2103120"/>
          </a:xfrm>
          <a:prstGeom prst="rect">
            <a:avLst/>
          </a:prstGeom>
          <a:noFill/>
          <a:ln/>
        </p:spPr>
        <p:txBody>
          <a:bodyPr wrap="square" lIns="0" tIns="0" rIns="0" bIns="0" rtlCol="0" anchor="t">
            <a:normAutofit/>
          </a:bodyPr>
          <a:lstStyle/>
          <a:p>
            <a:pPr marL="0" indent="0">
              <a:buNone/>
            </a:pPr>
            <a:r>
              <a:rPr lang="en-US" sz="1200" dirty="0">
                <a:solidFill>
                  <a:schemeClr val="tx1"/>
                </a:solidFill>
              </a:rPr>
              <a:t>Job retour : MySQL est mis à jour</a:t>
            </a:r>
            <a:endParaRPr lang="en-US" sz="1200" dirty="0"/>
          </a:p>
        </p:txBody>
      </p:sp>
      <p:sp>
        <p:nvSpPr>
          <p:cNvPr id="26" name="dm#96o"/>
          <p:cNvSpPr/>
          <p:nvPr/>
        </p:nvSpPr>
        <p:spPr>
          <a:xfrm>
            <a:off x="7589520" y="1600200"/>
            <a:ext cx="640080" cy="640080"/>
          </a:xfrm>
          <a:prstGeom prst="ellipse">
            <a:avLst/>
          </a:prstGeom>
          <a:solidFill>
            <a:schemeClr val="accent3"/>
          </a:solidFill>
          <a:ln w="38100">
            <a:solidFill>
              <a:srgbClr val="FFFFFF"/>
            </a:solidFill>
            <a:prstDash val="solid"/>
          </a:ln>
        </p:spPr>
      </p:sp>
      <p:sp>
        <p:nvSpPr>
          <p:cNvPr id="27" name="dm#96n"/>
          <p:cNvSpPr txBox="1"/>
          <p:nvPr/>
        </p:nvSpPr>
        <p:spPr>
          <a:xfrm>
            <a:off x="7589520" y="1600200"/>
            <a:ext cx="640080" cy="640080"/>
          </a:xfrm>
          <a:prstGeom prst="rect">
            <a:avLst/>
          </a:prstGeom>
          <a:noFill/>
          <a:ln/>
        </p:spPr>
        <p:txBody>
          <a:bodyPr wrap="square" lIns="0" tIns="0" rIns="0" bIns="0" rtlCol="0" anchor="ctr"/>
          <a:lstStyle/>
          <a:p>
            <a:pPr marL="0" indent="0" algn="ctr">
              <a:buNone/>
            </a:pPr>
            <a:r>
              <a:rPr lang="en-US" sz="1800" b="1" dirty="0">
                <a:solidFill>
                  <a:schemeClr val="bg1"/>
                </a:solidFill>
              </a:rPr>
              <a:t>6</a:t>
            </a:r>
            <a:endParaRPr lang="en-US" sz="1800" dirty="0"/>
          </a:p>
        </p:txBody>
      </p:sp>
      <p:sp>
        <p:nvSpPr>
          <p:cNvPr id="28" name="dm#96"/>
          <p:cNvSpPr/>
          <p:nvPr/>
        </p:nvSpPr>
        <p:spPr>
          <a:xfrm>
            <a:off x="7498080" y="2514600"/>
            <a:ext cx="1298448" cy="2377440"/>
          </a:xfrm>
          <a:prstGeom prst="roundRect">
            <a:avLst>
              <a:gd name="adj" fmla="val 7042"/>
            </a:avLst>
          </a:prstGeom>
          <a:solidFill>
            <a:schemeClr val="bg2"/>
          </a:solidFill>
          <a:ln/>
        </p:spPr>
      </p:sp>
      <p:sp>
        <p:nvSpPr>
          <p:cNvPr id="29" name="dm#96t"/>
          <p:cNvSpPr txBox="1"/>
          <p:nvPr/>
        </p:nvSpPr>
        <p:spPr>
          <a:xfrm>
            <a:off x="7571232" y="2651760"/>
            <a:ext cx="1170432" cy="2103120"/>
          </a:xfrm>
          <a:prstGeom prst="rect">
            <a:avLst/>
          </a:prstGeom>
          <a:noFill/>
          <a:ln/>
        </p:spPr>
        <p:txBody>
          <a:bodyPr wrap="square" lIns="0" tIns="0" rIns="0" bIns="0" rtlCol="0" anchor="t">
            <a:normAutofit/>
          </a:bodyPr>
          <a:lstStyle/>
          <a:p>
            <a:pPr marL="0" indent="0">
              <a:buNone/>
            </a:pPr>
            <a:r>
              <a:rPr lang="en-US" sz="1200" dirty="0">
                <a:solidFill>
                  <a:schemeClr val="tx1"/>
                </a:solidFill>
              </a:rPr>
              <a:t>Job aller relancé : la valeur SOAP est gardée</a:t>
            </a:r>
            <a:endParaRPr lang="en-US" sz="1200" dirty="0"/>
          </a:p>
        </p:txBody>
      </p:sp>
      <p:sp>
        <p:nvSpPr>
          <p:cNvPr id="30" name="dm#97o"/>
          <p:cNvSpPr/>
          <p:nvPr/>
        </p:nvSpPr>
        <p:spPr>
          <a:xfrm>
            <a:off x="8988552" y="1600200"/>
            <a:ext cx="640080" cy="640080"/>
          </a:xfrm>
          <a:prstGeom prst="ellipse">
            <a:avLst/>
          </a:prstGeom>
          <a:solidFill>
            <a:schemeClr val="accent2"/>
          </a:solidFill>
          <a:ln w="38100">
            <a:solidFill>
              <a:srgbClr val="FFFFFF"/>
            </a:solidFill>
            <a:prstDash val="solid"/>
          </a:ln>
        </p:spPr>
      </p:sp>
      <p:sp>
        <p:nvSpPr>
          <p:cNvPr id="31" name="dm#97n"/>
          <p:cNvSpPr txBox="1"/>
          <p:nvPr/>
        </p:nvSpPr>
        <p:spPr>
          <a:xfrm>
            <a:off x="8988552" y="1600200"/>
            <a:ext cx="640080" cy="640080"/>
          </a:xfrm>
          <a:prstGeom prst="rect">
            <a:avLst/>
          </a:prstGeom>
          <a:noFill/>
          <a:ln/>
        </p:spPr>
        <p:txBody>
          <a:bodyPr wrap="square" lIns="0" tIns="0" rIns="0" bIns="0" rtlCol="0" anchor="ctr"/>
          <a:lstStyle/>
          <a:p>
            <a:pPr marL="0" indent="0" algn="ctr">
              <a:buNone/>
            </a:pPr>
            <a:r>
              <a:rPr lang="en-US" sz="1800" b="1" dirty="0">
                <a:solidFill>
                  <a:schemeClr val="bg1"/>
                </a:solidFill>
              </a:rPr>
              <a:t>7</a:t>
            </a:r>
            <a:endParaRPr lang="en-US" sz="1800" dirty="0"/>
          </a:p>
        </p:txBody>
      </p:sp>
      <p:sp>
        <p:nvSpPr>
          <p:cNvPr id="32" name="dm#97"/>
          <p:cNvSpPr/>
          <p:nvPr/>
        </p:nvSpPr>
        <p:spPr>
          <a:xfrm>
            <a:off x="8897112" y="2514600"/>
            <a:ext cx="1298448" cy="2377440"/>
          </a:xfrm>
          <a:prstGeom prst="roundRect">
            <a:avLst>
              <a:gd name="adj" fmla="val 7042"/>
            </a:avLst>
          </a:prstGeom>
          <a:solidFill>
            <a:schemeClr val="bg2"/>
          </a:solidFill>
          <a:ln/>
        </p:spPr>
      </p:sp>
      <p:sp>
        <p:nvSpPr>
          <p:cNvPr id="33" name="dm#97t"/>
          <p:cNvSpPr txBox="1"/>
          <p:nvPr/>
        </p:nvSpPr>
        <p:spPr>
          <a:xfrm>
            <a:off x="8970264" y="2651760"/>
            <a:ext cx="1170432" cy="2103120"/>
          </a:xfrm>
          <a:prstGeom prst="rect">
            <a:avLst/>
          </a:prstGeom>
          <a:noFill/>
          <a:ln/>
        </p:spPr>
        <p:txBody>
          <a:bodyPr wrap="square" lIns="0" tIns="0" rIns="0" bIns="0" rtlCol="0" anchor="t">
            <a:normAutofit/>
          </a:bodyPr>
          <a:lstStyle/>
          <a:p>
            <a:pPr marL="0" indent="0">
              <a:buNone/>
            </a:pPr>
            <a:r>
              <a:rPr lang="en-US" sz="1200" dirty="0">
                <a:solidFill>
                  <a:schemeClr val="tx1"/>
                </a:solidFill>
              </a:rPr>
              <a:t>Erreurs : inexistant, invalide, doublon, base arrêtée</a:t>
            </a:r>
            <a:endParaRPr lang="en-US" sz="1200" dirty="0"/>
          </a:p>
        </p:txBody>
      </p:sp>
      <p:sp>
        <p:nvSpPr>
          <p:cNvPr id="34" name="dm#98o"/>
          <p:cNvSpPr/>
          <p:nvPr/>
        </p:nvSpPr>
        <p:spPr>
          <a:xfrm>
            <a:off x="10387584" y="1600200"/>
            <a:ext cx="640080" cy="640080"/>
          </a:xfrm>
          <a:prstGeom prst="ellipse">
            <a:avLst/>
          </a:prstGeom>
          <a:solidFill>
            <a:schemeClr val="accent2"/>
          </a:solidFill>
          <a:ln w="38100">
            <a:solidFill>
              <a:srgbClr val="FFFFFF"/>
            </a:solidFill>
            <a:prstDash val="solid"/>
          </a:ln>
        </p:spPr>
      </p:sp>
      <p:sp>
        <p:nvSpPr>
          <p:cNvPr id="35" name="dm#98n"/>
          <p:cNvSpPr txBox="1"/>
          <p:nvPr/>
        </p:nvSpPr>
        <p:spPr>
          <a:xfrm>
            <a:off x="10387584" y="1600200"/>
            <a:ext cx="640080" cy="640080"/>
          </a:xfrm>
          <a:prstGeom prst="rect">
            <a:avLst/>
          </a:prstGeom>
          <a:noFill/>
          <a:ln/>
        </p:spPr>
        <p:txBody>
          <a:bodyPr wrap="square" lIns="0" tIns="0" rIns="0" bIns="0" rtlCol="0" anchor="ctr"/>
          <a:lstStyle/>
          <a:p>
            <a:pPr marL="0" indent="0" algn="ctr">
              <a:buNone/>
            </a:pPr>
            <a:r>
              <a:rPr lang="en-US" sz="1800" b="1" dirty="0">
                <a:solidFill>
                  <a:schemeClr val="bg1"/>
                </a:solidFill>
              </a:rPr>
              <a:t>8</a:t>
            </a:r>
            <a:endParaRPr lang="en-US" sz="1800" dirty="0"/>
          </a:p>
        </p:txBody>
      </p:sp>
      <p:sp>
        <p:nvSpPr>
          <p:cNvPr id="36" name="dm#98"/>
          <p:cNvSpPr/>
          <p:nvPr/>
        </p:nvSpPr>
        <p:spPr>
          <a:xfrm>
            <a:off x="10296144" y="2514600"/>
            <a:ext cx="1298448" cy="2377440"/>
          </a:xfrm>
          <a:prstGeom prst="roundRect">
            <a:avLst>
              <a:gd name="adj" fmla="val 7042"/>
            </a:avLst>
          </a:prstGeom>
          <a:solidFill>
            <a:schemeClr val="bg2"/>
          </a:solidFill>
          <a:ln/>
        </p:spPr>
      </p:sp>
      <p:sp>
        <p:nvSpPr>
          <p:cNvPr id="37" name="dm#98t"/>
          <p:cNvSpPr txBox="1"/>
          <p:nvPr/>
        </p:nvSpPr>
        <p:spPr>
          <a:xfrm>
            <a:off x="10369296" y="2651760"/>
            <a:ext cx="1170432" cy="2103120"/>
          </a:xfrm>
          <a:prstGeom prst="rect">
            <a:avLst/>
          </a:prstGeom>
          <a:noFill/>
          <a:ln/>
        </p:spPr>
        <p:txBody>
          <a:bodyPr wrap="square" lIns="0" tIns="0" rIns="0" bIns="0" rtlCol="0" anchor="t">
            <a:normAutofit/>
          </a:bodyPr>
          <a:lstStyle/>
          <a:p>
            <a:pPr marL="0" indent="0">
              <a:buNone/>
            </a:pPr>
            <a:r>
              <a:rPr lang="en-US" sz="1200" dirty="0">
                <a:solidFill>
                  <a:schemeClr val="tx1"/>
                </a:solidFill>
              </a:rPr>
              <a:t>Netdata affiche les appels et l'alerte</a:t>
            </a:r>
            <a:endParaRPr lang="en-US" sz="1200" dirty="0"/>
          </a:p>
        </p:txBody>
      </p:sp>
      <p:sp>
        <p:nvSpPr>
          <p:cNvPr id="38" name="dmNote"/>
          <p:cNvSpPr txBox="1"/>
          <p:nvPr/>
        </p:nvSpPr>
        <p:spPr>
          <a:xfrm>
            <a:off x="548640" y="5486400"/>
            <a:ext cx="11064240" cy="365760"/>
          </a:xfrm>
          <a:prstGeom prst="rect">
            <a:avLst/>
          </a:prstGeom>
          <a:noFill/>
          <a:ln/>
        </p:spPr>
        <p:txBody>
          <a:bodyPr wrap="square" lIns="0" tIns="0" rIns="0" bIns="0" rtlCol="0" anchor="t"/>
          <a:lstStyle/>
          <a:p>
            <a:pPr marL="0" indent="0">
              <a:buNone/>
            </a:pPr>
            <a:r>
              <a:rPr lang="en-US" sz="1400" i="1" dirty="0">
                <a:solidFill>
                  <a:schemeClr val="accent3"/>
                </a:solidFill>
              </a:rPr>
              <a:t>Tout ce scénario est automatisé dans tests/e2e/e2e.sh et peut être lancé en direct.</a:t>
            </a:r>
            <a:endParaRPr lang="en-US" sz="1400" dirty="0"/>
          </a:p>
        </p:txBody>
      </p:sp>
      <p:sp>
        <p:nvSpPr>
          <p:cNvPr id="39"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22</a:t>
            </a:fld>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par>
                                <p:cTn id="8" presetID="42" presetClass="entr" presetSubtype="0" fill="hold" grpId="0" nodeType="withEffect">
                                  <p:stCondLst>
                                    <p:cond delay="22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ppt_y+.1"/>
                                          </p:val>
                                        </p:tav>
                                        <p:tav tm="100000">
                                          <p:val>
                                            <p:strVal val="#ppt_y"/>
                                          </p:val>
                                        </p:tav>
                                      </p:tavLst>
                                    </p:anim>
                                  </p:childTnLst>
                                </p:cTn>
                              </p:par>
                              <p:par>
                                <p:cTn id="13" presetID="42" presetClass="entr" presetSubtype="0" fill="hold" grpId="0" nodeType="withEffect">
                                  <p:stCondLst>
                                    <p:cond delay="22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anim calcmode="lin" valueType="num">
                                      <p:cBhvr additive="base">
                                        <p:cTn id="16" dur="500" fill="hold"/>
                                        <p:tgtEl>
                                          <p:spTgt spid="7"/>
                                        </p:tgtEl>
                                        <p:attrNameLst>
                                          <p:attrName>ppt_x</p:attrName>
                                        </p:attrNameLst>
                                      </p:cBhvr>
                                      <p:tavLst>
                                        <p:tav tm="0">
                                          <p:val>
                                            <p:strVal val="#ppt_x"/>
                                          </p:val>
                                        </p:tav>
                                        <p:tav tm="100000">
                                          <p:val>
                                            <p:strVal val="#ppt_x"/>
                                          </p:val>
                                        </p:tav>
                                      </p:tavLst>
                                    </p:anim>
                                    <p:anim calcmode="lin" valueType="num">
                                      <p:cBhvr additive="base">
                                        <p:cTn id="17" dur="500" fill="hold"/>
                                        <p:tgtEl>
                                          <p:spTgt spid="7"/>
                                        </p:tgtEl>
                                        <p:attrNameLst>
                                          <p:attrName>ppt_y</p:attrName>
                                        </p:attrNameLst>
                                      </p:cBhvr>
                                      <p:tavLst>
                                        <p:tav tm="0">
                                          <p:val>
                                            <p:strVal val="#ppt_y+.1"/>
                                          </p:val>
                                        </p:tav>
                                        <p:tav tm="100000">
                                          <p:val>
                                            <p:strVal val="#ppt_y"/>
                                          </p:val>
                                        </p:tav>
                                      </p:tavLst>
                                    </p:anim>
                                  </p:childTnLst>
                                </p:cTn>
                              </p:par>
                              <p:par>
                                <p:cTn id="18" presetID="42" presetClass="entr" presetSubtype="0" fill="hold" grpId="0" nodeType="withEffect">
                                  <p:stCondLst>
                                    <p:cond delay="22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anim calcmode="lin" valueType="num">
                                      <p:cBhvr additive="base">
                                        <p:cTn id="21" dur="500" fill="hold"/>
                                        <p:tgtEl>
                                          <p:spTgt spid="8"/>
                                        </p:tgtEl>
                                        <p:attrNameLst>
                                          <p:attrName>ppt_x</p:attrName>
                                        </p:attrNameLst>
                                      </p:cBhvr>
                                      <p:tavLst>
                                        <p:tav tm="0">
                                          <p:val>
                                            <p:strVal val="#ppt_x"/>
                                          </p:val>
                                        </p:tav>
                                        <p:tav tm="100000">
                                          <p:val>
                                            <p:strVal val="#ppt_x"/>
                                          </p:val>
                                        </p:tav>
                                      </p:tavLst>
                                    </p:anim>
                                    <p:anim calcmode="lin" valueType="num">
                                      <p:cBhvr additive="base">
                                        <p:cTn id="22" dur="500" fill="hold"/>
                                        <p:tgtEl>
                                          <p:spTgt spid="8"/>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22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anim calcmode="lin" valueType="num">
                                      <p:cBhvr additive="base">
                                        <p:cTn id="26" dur="500" fill="hold"/>
                                        <p:tgtEl>
                                          <p:spTgt spid="9"/>
                                        </p:tgtEl>
                                        <p:attrNameLst>
                                          <p:attrName>ppt_x</p:attrName>
                                        </p:attrNameLst>
                                      </p:cBhvr>
                                      <p:tavLst>
                                        <p:tav tm="0">
                                          <p:val>
                                            <p:strVal val="#ppt_x"/>
                                          </p:val>
                                        </p:tav>
                                        <p:tav tm="100000">
                                          <p:val>
                                            <p:strVal val="#ppt_x"/>
                                          </p:val>
                                        </p:tav>
                                      </p:tavLst>
                                    </p:anim>
                                    <p:anim calcmode="lin" valueType="num">
                                      <p:cBhvr additive="base">
                                        <p:cTn id="27" dur="500" fill="hold"/>
                                        <p:tgtEl>
                                          <p:spTgt spid="9"/>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44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ppt_y+.1"/>
                                          </p:val>
                                        </p:tav>
                                        <p:tav tm="100000">
                                          <p:val>
                                            <p:strVal val="#ppt_y"/>
                                          </p:val>
                                        </p:tav>
                                      </p:tavLst>
                                    </p:anim>
                                  </p:childTnLst>
                                </p:cTn>
                              </p:par>
                              <p:par>
                                <p:cTn id="33" presetID="42" presetClass="entr" presetSubtype="0" fill="hold" grpId="0" nodeType="withEffect">
                                  <p:stCondLst>
                                    <p:cond delay="44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anim calcmode="lin" valueType="num">
                                      <p:cBhvr additive="base">
                                        <p:cTn id="36" dur="500" fill="hold"/>
                                        <p:tgtEl>
                                          <p:spTgt spid="11"/>
                                        </p:tgtEl>
                                        <p:attrNameLst>
                                          <p:attrName>ppt_x</p:attrName>
                                        </p:attrNameLst>
                                      </p:cBhvr>
                                      <p:tavLst>
                                        <p:tav tm="0">
                                          <p:val>
                                            <p:strVal val="#ppt_x"/>
                                          </p:val>
                                        </p:tav>
                                        <p:tav tm="100000">
                                          <p:val>
                                            <p:strVal val="#ppt_x"/>
                                          </p:val>
                                        </p:tav>
                                      </p:tavLst>
                                    </p:anim>
                                    <p:anim calcmode="lin" valueType="num">
                                      <p:cBhvr additive="base">
                                        <p:cTn id="37" dur="500" fill="hold"/>
                                        <p:tgtEl>
                                          <p:spTgt spid="11"/>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44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500"/>
                                        <p:tgtEl>
                                          <p:spTgt spid="12"/>
                                        </p:tgtEl>
                                      </p:cBhvr>
                                    </p:animEffect>
                                    <p:anim calcmode="lin" valueType="num">
                                      <p:cBhvr additive="base">
                                        <p:cTn id="41" dur="500" fill="hold"/>
                                        <p:tgtEl>
                                          <p:spTgt spid="12"/>
                                        </p:tgtEl>
                                        <p:attrNameLst>
                                          <p:attrName>ppt_x</p:attrName>
                                        </p:attrNameLst>
                                      </p:cBhvr>
                                      <p:tavLst>
                                        <p:tav tm="0">
                                          <p:val>
                                            <p:strVal val="#ppt_x"/>
                                          </p:val>
                                        </p:tav>
                                        <p:tav tm="100000">
                                          <p:val>
                                            <p:strVal val="#ppt_x"/>
                                          </p:val>
                                        </p:tav>
                                      </p:tavLst>
                                    </p:anim>
                                    <p:anim calcmode="lin" valueType="num">
                                      <p:cBhvr additive="base">
                                        <p:cTn id="42" dur="500" fill="hold"/>
                                        <p:tgtEl>
                                          <p:spTgt spid="12"/>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44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500"/>
                                        <p:tgtEl>
                                          <p:spTgt spid="13"/>
                                        </p:tgtEl>
                                      </p:cBhvr>
                                    </p:animEffect>
                                    <p:anim calcmode="lin" valueType="num">
                                      <p:cBhvr additive="base">
                                        <p:cTn id="46" dur="500" fill="hold"/>
                                        <p:tgtEl>
                                          <p:spTgt spid="13"/>
                                        </p:tgtEl>
                                        <p:attrNameLst>
                                          <p:attrName>ppt_x</p:attrName>
                                        </p:attrNameLst>
                                      </p:cBhvr>
                                      <p:tavLst>
                                        <p:tav tm="0">
                                          <p:val>
                                            <p:strVal val="#ppt_x"/>
                                          </p:val>
                                        </p:tav>
                                        <p:tav tm="100000">
                                          <p:val>
                                            <p:strVal val="#ppt_x"/>
                                          </p:val>
                                        </p:tav>
                                      </p:tavLst>
                                    </p:anim>
                                    <p:anim calcmode="lin" valueType="num">
                                      <p:cBhvr additive="base">
                                        <p:cTn id="47" dur="500" fill="hold"/>
                                        <p:tgtEl>
                                          <p:spTgt spid="13"/>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66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00"/>
                                        <p:tgtEl>
                                          <p:spTgt spid="14"/>
                                        </p:tgtEl>
                                      </p:cBhvr>
                                    </p:animEffect>
                                    <p:anim calcmode="lin" valueType="num">
                                      <p:cBhvr additive="base">
                                        <p:cTn id="51" dur="500" fill="hold"/>
                                        <p:tgtEl>
                                          <p:spTgt spid="14"/>
                                        </p:tgtEl>
                                        <p:attrNameLst>
                                          <p:attrName>ppt_x</p:attrName>
                                        </p:attrNameLst>
                                      </p:cBhvr>
                                      <p:tavLst>
                                        <p:tav tm="0">
                                          <p:val>
                                            <p:strVal val="#ppt_x"/>
                                          </p:val>
                                        </p:tav>
                                        <p:tav tm="100000">
                                          <p:val>
                                            <p:strVal val="#ppt_x"/>
                                          </p:val>
                                        </p:tav>
                                      </p:tavLst>
                                    </p:anim>
                                    <p:anim calcmode="lin" valueType="num">
                                      <p:cBhvr additive="base">
                                        <p:cTn id="52" dur="500" fill="hold"/>
                                        <p:tgtEl>
                                          <p:spTgt spid="14"/>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66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500"/>
                                        <p:tgtEl>
                                          <p:spTgt spid="15"/>
                                        </p:tgtEl>
                                      </p:cBhvr>
                                    </p:animEffect>
                                    <p:anim calcmode="lin" valueType="num">
                                      <p:cBhvr additive="base">
                                        <p:cTn id="56" dur="500" fill="hold"/>
                                        <p:tgtEl>
                                          <p:spTgt spid="15"/>
                                        </p:tgtEl>
                                        <p:attrNameLst>
                                          <p:attrName>ppt_x</p:attrName>
                                        </p:attrNameLst>
                                      </p:cBhvr>
                                      <p:tavLst>
                                        <p:tav tm="0">
                                          <p:val>
                                            <p:strVal val="#ppt_x"/>
                                          </p:val>
                                        </p:tav>
                                        <p:tav tm="100000">
                                          <p:val>
                                            <p:strVal val="#ppt_x"/>
                                          </p:val>
                                        </p:tav>
                                      </p:tavLst>
                                    </p:anim>
                                    <p:anim calcmode="lin" valueType="num">
                                      <p:cBhvr additive="base">
                                        <p:cTn id="57" dur="500" fill="hold"/>
                                        <p:tgtEl>
                                          <p:spTgt spid="15"/>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660"/>
                                  </p:stCondLst>
                                  <p:childTnLst>
                                    <p:set>
                                      <p:cBhvr>
                                        <p:cTn id="59" dur="1" fill="hold">
                                          <p:stCondLst>
                                            <p:cond delay="0"/>
                                          </p:stCondLst>
                                        </p:cTn>
                                        <p:tgtEl>
                                          <p:spTgt spid="16"/>
                                        </p:tgtEl>
                                        <p:attrNameLst>
                                          <p:attrName>style.visibility</p:attrName>
                                        </p:attrNameLst>
                                      </p:cBhvr>
                                      <p:to>
                                        <p:strVal val="visible"/>
                                      </p:to>
                                    </p:set>
                                    <p:animEffect transition="in" filter="fade">
                                      <p:cBhvr>
                                        <p:cTn id="60" dur="500"/>
                                        <p:tgtEl>
                                          <p:spTgt spid="16"/>
                                        </p:tgtEl>
                                      </p:cBhvr>
                                    </p:animEffect>
                                    <p:anim calcmode="lin" valueType="num">
                                      <p:cBhvr additive="base">
                                        <p:cTn id="61" dur="500" fill="hold"/>
                                        <p:tgtEl>
                                          <p:spTgt spid="16"/>
                                        </p:tgtEl>
                                        <p:attrNameLst>
                                          <p:attrName>ppt_x</p:attrName>
                                        </p:attrNameLst>
                                      </p:cBhvr>
                                      <p:tavLst>
                                        <p:tav tm="0">
                                          <p:val>
                                            <p:strVal val="#ppt_x"/>
                                          </p:val>
                                        </p:tav>
                                        <p:tav tm="100000">
                                          <p:val>
                                            <p:strVal val="#ppt_x"/>
                                          </p:val>
                                        </p:tav>
                                      </p:tavLst>
                                    </p:anim>
                                    <p:anim calcmode="lin" valueType="num">
                                      <p:cBhvr additive="base">
                                        <p:cTn id="62" dur="500" fill="hold"/>
                                        <p:tgtEl>
                                          <p:spTgt spid="16"/>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660"/>
                                  </p:stCondLst>
                                  <p:childTnLst>
                                    <p:set>
                                      <p:cBhvr>
                                        <p:cTn id="64" dur="1" fill="hold">
                                          <p:stCondLst>
                                            <p:cond delay="0"/>
                                          </p:stCondLst>
                                        </p:cTn>
                                        <p:tgtEl>
                                          <p:spTgt spid="17"/>
                                        </p:tgtEl>
                                        <p:attrNameLst>
                                          <p:attrName>style.visibility</p:attrName>
                                        </p:attrNameLst>
                                      </p:cBhvr>
                                      <p:to>
                                        <p:strVal val="visible"/>
                                      </p:to>
                                    </p:set>
                                    <p:animEffect transition="in" filter="fade">
                                      <p:cBhvr>
                                        <p:cTn id="65" dur="500"/>
                                        <p:tgtEl>
                                          <p:spTgt spid="17"/>
                                        </p:tgtEl>
                                      </p:cBhvr>
                                    </p:animEffect>
                                    <p:anim calcmode="lin" valueType="num">
                                      <p:cBhvr additive="base">
                                        <p:cTn id="66" dur="500" fill="hold"/>
                                        <p:tgtEl>
                                          <p:spTgt spid="17"/>
                                        </p:tgtEl>
                                        <p:attrNameLst>
                                          <p:attrName>ppt_x</p:attrName>
                                        </p:attrNameLst>
                                      </p:cBhvr>
                                      <p:tavLst>
                                        <p:tav tm="0">
                                          <p:val>
                                            <p:strVal val="#ppt_x"/>
                                          </p:val>
                                        </p:tav>
                                        <p:tav tm="100000">
                                          <p:val>
                                            <p:strVal val="#ppt_x"/>
                                          </p:val>
                                        </p:tav>
                                      </p:tavLst>
                                    </p:anim>
                                    <p:anim calcmode="lin" valueType="num">
                                      <p:cBhvr additive="base">
                                        <p:cTn id="67" dur="500" fill="hold"/>
                                        <p:tgtEl>
                                          <p:spTgt spid="17"/>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880"/>
                                  </p:stCondLst>
                                  <p:childTnLst>
                                    <p:set>
                                      <p:cBhvr>
                                        <p:cTn id="69" dur="1" fill="hold">
                                          <p:stCondLst>
                                            <p:cond delay="0"/>
                                          </p:stCondLst>
                                        </p:cTn>
                                        <p:tgtEl>
                                          <p:spTgt spid="18"/>
                                        </p:tgtEl>
                                        <p:attrNameLst>
                                          <p:attrName>style.visibility</p:attrName>
                                        </p:attrNameLst>
                                      </p:cBhvr>
                                      <p:to>
                                        <p:strVal val="visible"/>
                                      </p:to>
                                    </p:set>
                                    <p:animEffect transition="in" filter="fade">
                                      <p:cBhvr>
                                        <p:cTn id="70" dur="500"/>
                                        <p:tgtEl>
                                          <p:spTgt spid="18"/>
                                        </p:tgtEl>
                                      </p:cBhvr>
                                    </p:animEffect>
                                    <p:anim calcmode="lin" valueType="num">
                                      <p:cBhvr additive="base">
                                        <p:cTn id="71" dur="500" fill="hold"/>
                                        <p:tgtEl>
                                          <p:spTgt spid="18"/>
                                        </p:tgtEl>
                                        <p:attrNameLst>
                                          <p:attrName>ppt_x</p:attrName>
                                        </p:attrNameLst>
                                      </p:cBhvr>
                                      <p:tavLst>
                                        <p:tav tm="0">
                                          <p:val>
                                            <p:strVal val="#ppt_x"/>
                                          </p:val>
                                        </p:tav>
                                        <p:tav tm="100000">
                                          <p:val>
                                            <p:strVal val="#ppt_x"/>
                                          </p:val>
                                        </p:tav>
                                      </p:tavLst>
                                    </p:anim>
                                    <p:anim calcmode="lin" valueType="num">
                                      <p:cBhvr additive="base">
                                        <p:cTn id="72" dur="500" fill="hold"/>
                                        <p:tgtEl>
                                          <p:spTgt spid="18"/>
                                        </p:tgtEl>
                                        <p:attrNameLst>
                                          <p:attrName>ppt_y</p:attrName>
                                        </p:attrNameLst>
                                      </p:cBhvr>
                                      <p:tavLst>
                                        <p:tav tm="0">
                                          <p:val>
                                            <p:strVal val="#ppt_y+.1"/>
                                          </p:val>
                                        </p:tav>
                                        <p:tav tm="100000">
                                          <p:val>
                                            <p:strVal val="#ppt_y"/>
                                          </p:val>
                                        </p:tav>
                                      </p:tavLst>
                                    </p:anim>
                                  </p:childTnLst>
                                </p:cTn>
                              </p:par>
                              <p:par>
                                <p:cTn id="73" presetID="42" presetClass="entr" presetSubtype="0" fill="hold" grpId="0" nodeType="withEffect">
                                  <p:stCondLst>
                                    <p:cond delay="880"/>
                                  </p:stCondLst>
                                  <p:childTnLst>
                                    <p:set>
                                      <p:cBhvr>
                                        <p:cTn id="74" dur="1" fill="hold">
                                          <p:stCondLst>
                                            <p:cond delay="0"/>
                                          </p:stCondLst>
                                        </p:cTn>
                                        <p:tgtEl>
                                          <p:spTgt spid="19"/>
                                        </p:tgtEl>
                                        <p:attrNameLst>
                                          <p:attrName>style.visibility</p:attrName>
                                        </p:attrNameLst>
                                      </p:cBhvr>
                                      <p:to>
                                        <p:strVal val="visible"/>
                                      </p:to>
                                    </p:set>
                                    <p:animEffect transition="in" filter="fade">
                                      <p:cBhvr>
                                        <p:cTn id="75" dur="500"/>
                                        <p:tgtEl>
                                          <p:spTgt spid="19"/>
                                        </p:tgtEl>
                                      </p:cBhvr>
                                    </p:animEffect>
                                    <p:anim calcmode="lin" valueType="num">
                                      <p:cBhvr additive="base">
                                        <p:cTn id="76" dur="500" fill="hold"/>
                                        <p:tgtEl>
                                          <p:spTgt spid="19"/>
                                        </p:tgtEl>
                                        <p:attrNameLst>
                                          <p:attrName>ppt_x</p:attrName>
                                        </p:attrNameLst>
                                      </p:cBhvr>
                                      <p:tavLst>
                                        <p:tav tm="0">
                                          <p:val>
                                            <p:strVal val="#ppt_x"/>
                                          </p:val>
                                        </p:tav>
                                        <p:tav tm="100000">
                                          <p:val>
                                            <p:strVal val="#ppt_x"/>
                                          </p:val>
                                        </p:tav>
                                      </p:tavLst>
                                    </p:anim>
                                    <p:anim calcmode="lin" valueType="num">
                                      <p:cBhvr additive="base">
                                        <p:cTn id="77" dur="500" fill="hold"/>
                                        <p:tgtEl>
                                          <p:spTgt spid="19"/>
                                        </p:tgtEl>
                                        <p:attrNameLst>
                                          <p:attrName>ppt_y</p:attrName>
                                        </p:attrNameLst>
                                      </p:cBhvr>
                                      <p:tavLst>
                                        <p:tav tm="0">
                                          <p:val>
                                            <p:strVal val="#ppt_y+.1"/>
                                          </p:val>
                                        </p:tav>
                                        <p:tav tm="100000">
                                          <p:val>
                                            <p:strVal val="#ppt_y"/>
                                          </p:val>
                                        </p:tav>
                                      </p:tavLst>
                                    </p:anim>
                                  </p:childTnLst>
                                </p:cTn>
                              </p:par>
                              <p:par>
                                <p:cTn id="78" presetID="42" presetClass="entr" presetSubtype="0" fill="hold" grpId="0" nodeType="withEffect">
                                  <p:stCondLst>
                                    <p:cond delay="880"/>
                                  </p:stCondLst>
                                  <p:childTnLst>
                                    <p:set>
                                      <p:cBhvr>
                                        <p:cTn id="79" dur="1" fill="hold">
                                          <p:stCondLst>
                                            <p:cond delay="0"/>
                                          </p:stCondLst>
                                        </p:cTn>
                                        <p:tgtEl>
                                          <p:spTgt spid="20"/>
                                        </p:tgtEl>
                                        <p:attrNameLst>
                                          <p:attrName>style.visibility</p:attrName>
                                        </p:attrNameLst>
                                      </p:cBhvr>
                                      <p:to>
                                        <p:strVal val="visible"/>
                                      </p:to>
                                    </p:set>
                                    <p:animEffect transition="in" filter="fade">
                                      <p:cBhvr>
                                        <p:cTn id="80" dur="500"/>
                                        <p:tgtEl>
                                          <p:spTgt spid="20"/>
                                        </p:tgtEl>
                                      </p:cBhvr>
                                    </p:animEffect>
                                    <p:anim calcmode="lin" valueType="num">
                                      <p:cBhvr additive="base">
                                        <p:cTn id="81" dur="500" fill="hold"/>
                                        <p:tgtEl>
                                          <p:spTgt spid="20"/>
                                        </p:tgtEl>
                                        <p:attrNameLst>
                                          <p:attrName>ppt_x</p:attrName>
                                        </p:attrNameLst>
                                      </p:cBhvr>
                                      <p:tavLst>
                                        <p:tav tm="0">
                                          <p:val>
                                            <p:strVal val="#ppt_x"/>
                                          </p:val>
                                        </p:tav>
                                        <p:tav tm="100000">
                                          <p:val>
                                            <p:strVal val="#ppt_x"/>
                                          </p:val>
                                        </p:tav>
                                      </p:tavLst>
                                    </p:anim>
                                    <p:anim calcmode="lin" valueType="num">
                                      <p:cBhvr additive="base">
                                        <p:cTn id="82" dur="500" fill="hold"/>
                                        <p:tgtEl>
                                          <p:spTgt spid="20"/>
                                        </p:tgtEl>
                                        <p:attrNameLst>
                                          <p:attrName>ppt_y</p:attrName>
                                        </p:attrNameLst>
                                      </p:cBhvr>
                                      <p:tavLst>
                                        <p:tav tm="0">
                                          <p:val>
                                            <p:strVal val="#ppt_y+.1"/>
                                          </p:val>
                                        </p:tav>
                                        <p:tav tm="100000">
                                          <p:val>
                                            <p:strVal val="#ppt_y"/>
                                          </p:val>
                                        </p:tav>
                                      </p:tavLst>
                                    </p:anim>
                                  </p:childTnLst>
                                </p:cTn>
                              </p:par>
                              <p:par>
                                <p:cTn id="83" presetID="42" presetClass="entr" presetSubtype="0" fill="hold" grpId="0" nodeType="withEffect">
                                  <p:stCondLst>
                                    <p:cond delay="880"/>
                                  </p:stCondLst>
                                  <p:childTnLst>
                                    <p:set>
                                      <p:cBhvr>
                                        <p:cTn id="84" dur="1" fill="hold">
                                          <p:stCondLst>
                                            <p:cond delay="0"/>
                                          </p:stCondLst>
                                        </p:cTn>
                                        <p:tgtEl>
                                          <p:spTgt spid="21"/>
                                        </p:tgtEl>
                                        <p:attrNameLst>
                                          <p:attrName>style.visibility</p:attrName>
                                        </p:attrNameLst>
                                      </p:cBhvr>
                                      <p:to>
                                        <p:strVal val="visible"/>
                                      </p:to>
                                    </p:set>
                                    <p:animEffect transition="in" filter="fade">
                                      <p:cBhvr>
                                        <p:cTn id="85" dur="500"/>
                                        <p:tgtEl>
                                          <p:spTgt spid="21"/>
                                        </p:tgtEl>
                                      </p:cBhvr>
                                    </p:animEffect>
                                    <p:anim calcmode="lin" valueType="num">
                                      <p:cBhvr additive="base">
                                        <p:cTn id="86" dur="500" fill="hold"/>
                                        <p:tgtEl>
                                          <p:spTgt spid="21"/>
                                        </p:tgtEl>
                                        <p:attrNameLst>
                                          <p:attrName>ppt_x</p:attrName>
                                        </p:attrNameLst>
                                      </p:cBhvr>
                                      <p:tavLst>
                                        <p:tav tm="0">
                                          <p:val>
                                            <p:strVal val="#ppt_x"/>
                                          </p:val>
                                        </p:tav>
                                        <p:tav tm="100000">
                                          <p:val>
                                            <p:strVal val="#ppt_x"/>
                                          </p:val>
                                        </p:tav>
                                      </p:tavLst>
                                    </p:anim>
                                    <p:anim calcmode="lin" valueType="num">
                                      <p:cBhvr additive="base">
                                        <p:cTn id="87" dur="500" fill="hold"/>
                                        <p:tgtEl>
                                          <p:spTgt spid="21"/>
                                        </p:tgtEl>
                                        <p:attrNameLst>
                                          <p:attrName>ppt_y</p:attrName>
                                        </p:attrNameLst>
                                      </p:cBhvr>
                                      <p:tavLst>
                                        <p:tav tm="0">
                                          <p:val>
                                            <p:strVal val="#ppt_y+.1"/>
                                          </p:val>
                                        </p:tav>
                                        <p:tav tm="100000">
                                          <p:val>
                                            <p:strVal val="#ppt_y"/>
                                          </p:val>
                                        </p:tav>
                                      </p:tavLst>
                                    </p:anim>
                                  </p:childTnLst>
                                </p:cTn>
                              </p:par>
                              <p:par>
                                <p:cTn id="88" presetID="42" presetClass="entr" presetSubtype="0" fill="hold" grpId="0" nodeType="withEffect">
                                  <p:stCondLst>
                                    <p:cond delay="1100"/>
                                  </p:stCondLst>
                                  <p:childTnLst>
                                    <p:set>
                                      <p:cBhvr>
                                        <p:cTn id="89" dur="1" fill="hold">
                                          <p:stCondLst>
                                            <p:cond delay="0"/>
                                          </p:stCondLst>
                                        </p:cTn>
                                        <p:tgtEl>
                                          <p:spTgt spid="22"/>
                                        </p:tgtEl>
                                        <p:attrNameLst>
                                          <p:attrName>style.visibility</p:attrName>
                                        </p:attrNameLst>
                                      </p:cBhvr>
                                      <p:to>
                                        <p:strVal val="visible"/>
                                      </p:to>
                                    </p:set>
                                    <p:animEffect transition="in" filter="fade">
                                      <p:cBhvr>
                                        <p:cTn id="90" dur="500"/>
                                        <p:tgtEl>
                                          <p:spTgt spid="22"/>
                                        </p:tgtEl>
                                      </p:cBhvr>
                                    </p:animEffect>
                                    <p:anim calcmode="lin" valueType="num">
                                      <p:cBhvr additive="base">
                                        <p:cTn id="91" dur="500" fill="hold"/>
                                        <p:tgtEl>
                                          <p:spTgt spid="22"/>
                                        </p:tgtEl>
                                        <p:attrNameLst>
                                          <p:attrName>ppt_x</p:attrName>
                                        </p:attrNameLst>
                                      </p:cBhvr>
                                      <p:tavLst>
                                        <p:tav tm="0">
                                          <p:val>
                                            <p:strVal val="#ppt_x"/>
                                          </p:val>
                                        </p:tav>
                                        <p:tav tm="100000">
                                          <p:val>
                                            <p:strVal val="#ppt_x"/>
                                          </p:val>
                                        </p:tav>
                                      </p:tavLst>
                                    </p:anim>
                                    <p:anim calcmode="lin" valueType="num">
                                      <p:cBhvr additive="base">
                                        <p:cTn id="92" dur="500" fill="hold"/>
                                        <p:tgtEl>
                                          <p:spTgt spid="22"/>
                                        </p:tgtEl>
                                        <p:attrNameLst>
                                          <p:attrName>ppt_y</p:attrName>
                                        </p:attrNameLst>
                                      </p:cBhvr>
                                      <p:tavLst>
                                        <p:tav tm="0">
                                          <p:val>
                                            <p:strVal val="#ppt_y+.1"/>
                                          </p:val>
                                        </p:tav>
                                        <p:tav tm="100000">
                                          <p:val>
                                            <p:strVal val="#ppt_y"/>
                                          </p:val>
                                        </p:tav>
                                      </p:tavLst>
                                    </p:anim>
                                  </p:childTnLst>
                                </p:cTn>
                              </p:par>
                              <p:par>
                                <p:cTn id="93" presetID="42" presetClass="entr" presetSubtype="0" fill="hold" grpId="0" nodeType="withEffect">
                                  <p:stCondLst>
                                    <p:cond delay="1100"/>
                                  </p:stCondLst>
                                  <p:childTnLst>
                                    <p:set>
                                      <p:cBhvr>
                                        <p:cTn id="94" dur="1" fill="hold">
                                          <p:stCondLst>
                                            <p:cond delay="0"/>
                                          </p:stCondLst>
                                        </p:cTn>
                                        <p:tgtEl>
                                          <p:spTgt spid="23"/>
                                        </p:tgtEl>
                                        <p:attrNameLst>
                                          <p:attrName>style.visibility</p:attrName>
                                        </p:attrNameLst>
                                      </p:cBhvr>
                                      <p:to>
                                        <p:strVal val="visible"/>
                                      </p:to>
                                    </p:set>
                                    <p:animEffect transition="in" filter="fade">
                                      <p:cBhvr>
                                        <p:cTn id="95" dur="500"/>
                                        <p:tgtEl>
                                          <p:spTgt spid="23"/>
                                        </p:tgtEl>
                                      </p:cBhvr>
                                    </p:animEffect>
                                    <p:anim calcmode="lin" valueType="num">
                                      <p:cBhvr additive="base">
                                        <p:cTn id="96" dur="500" fill="hold"/>
                                        <p:tgtEl>
                                          <p:spTgt spid="23"/>
                                        </p:tgtEl>
                                        <p:attrNameLst>
                                          <p:attrName>ppt_x</p:attrName>
                                        </p:attrNameLst>
                                      </p:cBhvr>
                                      <p:tavLst>
                                        <p:tav tm="0">
                                          <p:val>
                                            <p:strVal val="#ppt_x"/>
                                          </p:val>
                                        </p:tav>
                                        <p:tav tm="100000">
                                          <p:val>
                                            <p:strVal val="#ppt_x"/>
                                          </p:val>
                                        </p:tav>
                                      </p:tavLst>
                                    </p:anim>
                                    <p:anim calcmode="lin" valueType="num">
                                      <p:cBhvr additive="base">
                                        <p:cTn id="97" dur="500" fill="hold"/>
                                        <p:tgtEl>
                                          <p:spTgt spid="23"/>
                                        </p:tgtEl>
                                        <p:attrNameLst>
                                          <p:attrName>ppt_y</p:attrName>
                                        </p:attrNameLst>
                                      </p:cBhvr>
                                      <p:tavLst>
                                        <p:tav tm="0">
                                          <p:val>
                                            <p:strVal val="#ppt_y+.1"/>
                                          </p:val>
                                        </p:tav>
                                        <p:tav tm="100000">
                                          <p:val>
                                            <p:strVal val="#ppt_y"/>
                                          </p:val>
                                        </p:tav>
                                      </p:tavLst>
                                    </p:anim>
                                  </p:childTnLst>
                                </p:cTn>
                              </p:par>
                              <p:par>
                                <p:cTn id="98" presetID="42" presetClass="entr" presetSubtype="0" fill="hold" grpId="0" nodeType="withEffect">
                                  <p:stCondLst>
                                    <p:cond delay="1100"/>
                                  </p:stCondLst>
                                  <p:childTnLst>
                                    <p:set>
                                      <p:cBhvr>
                                        <p:cTn id="99" dur="1" fill="hold">
                                          <p:stCondLst>
                                            <p:cond delay="0"/>
                                          </p:stCondLst>
                                        </p:cTn>
                                        <p:tgtEl>
                                          <p:spTgt spid="24"/>
                                        </p:tgtEl>
                                        <p:attrNameLst>
                                          <p:attrName>style.visibility</p:attrName>
                                        </p:attrNameLst>
                                      </p:cBhvr>
                                      <p:to>
                                        <p:strVal val="visible"/>
                                      </p:to>
                                    </p:set>
                                    <p:animEffect transition="in" filter="fade">
                                      <p:cBhvr>
                                        <p:cTn id="100" dur="500"/>
                                        <p:tgtEl>
                                          <p:spTgt spid="24"/>
                                        </p:tgtEl>
                                      </p:cBhvr>
                                    </p:animEffect>
                                    <p:anim calcmode="lin" valueType="num">
                                      <p:cBhvr additive="base">
                                        <p:cTn id="101" dur="500" fill="hold"/>
                                        <p:tgtEl>
                                          <p:spTgt spid="24"/>
                                        </p:tgtEl>
                                        <p:attrNameLst>
                                          <p:attrName>ppt_x</p:attrName>
                                        </p:attrNameLst>
                                      </p:cBhvr>
                                      <p:tavLst>
                                        <p:tav tm="0">
                                          <p:val>
                                            <p:strVal val="#ppt_x"/>
                                          </p:val>
                                        </p:tav>
                                        <p:tav tm="100000">
                                          <p:val>
                                            <p:strVal val="#ppt_x"/>
                                          </p:val>
                                        </p:tav>
                                      </p:tavLst>
                                    </p:anim>
                                    <p:anim calcmode="lin" valueType="num">
                                      <p:cBhvr additive="base">
                                        <p:cTn id="102" dur="500" fill="hold"/>
                                        <p:tgtEl>
                                          <p:spTgt spid="24"/>
                                        </p:tgtEl>
                                        <p:attrNameLst>
                                          <p:attrName>ppt_y</p:attrName>
                                        </p:attrNameLst>
                                      </p:cBhvr>
                                      <p:tavLst>
                                        <p:tav tm="0">
                                          <p:val>
                                            <p:strVal val="#ppt_y+.1"/>
                                          </p:val>
                                        </p:tav>
                                        <p:tav tm="100000">
                                          <p:val>
                                            <p:strVal val="#ppt_y"/>
                                          </p:val>
                                        </p:tav>
                                      </p:tavLst>
                                    </p:anim>
                                  </p:childTnLst>
                                </p:cTn>
                              </p:par>
                              <p:par>
                                <p:cTn id="103" presetID="42" presetClass="entr" presetSubtype="0" fill="hold" grpId="0" nodeType="withEffect">
                                  <p:stCondLst>
                                    <p:cond delay="1100"/>
                                  </p:stCondLst>
                                  <p:childTnLst>
                                    <p:set>
                                      <p:cBhvr>
                                        <p:cTn id="104" dur="1" fill="hold">
                                          <p:stCondLst>
                                            <p:cond delay="0"/>
                                          </p:stCondLst>
                                        </p:cTn>
                                        <p:tgtEl>
                                          <p:spTgt spid="25"/>
                                        </p:tgtEl>
                                        <p:attrNameLst>
                                          <p:attrName>style.visibility</p:attrName>
                                        </p:attrNameLst>
                                      </p:cBhvr>
                                      <p:to>
                                        <p:strVal val="visible"/>
                                      </p:to>
                                    </p:set>
                                    <p:animEffect transition="in" filter="fade">
                                      <p:cBhvr>
                                        <p:cTn id="105" dur="500"/>
                                        <p:tgtEl>
                                          <p:spTgt spid="25"/>
                                        </p:tgtEl>
                                      </p:cBhvr>
                                    </p:animEffect>
                                    <p:anim calcmode="lin" valueType="num">
                                      <p:cBhvr additive="base">
                                        <p:cTn id="106" dur="500" fill="hold"/>
                                        <p:tgtEl>
                                          <p:spTgt spid="25"/>
                                        </p:tgtEl>
                                        <p:attrNameLst>
                                          <p:attrName>ppt_x</p:attrName>
                                        </p:attrNameLst>
                                      </p:cBhvr>
                                      <p:tavLst>
                                        <p:tav tm="0">
                                          <p:val>
                                            <p:strVal val="#ppt_x"/>
                                          </p:val>
                                        </p:tav>
                                        <p:tav tm="100000">
                                          <p:val>
                                            <p:strVal val="#ppt_x"/>
                                          </p:val>
                                        </p:tav>
                                      </p:tavLst>
                                    </p:anim>
                                    <p:anim calcmode="lin" valueType="num">
                                      <p:cBhvr additive="base">
                                        <p:cTn id="107" dur="500" fill="hold"/>
                                        <p:tgtEl>
                                          <p:spTgt spid="25"/>
                                        </p:tgtEl>
                                        <p:attrNameLst>
                                          <p:attrName>ppt_y</p:attrName>
                                        </p:attrNameLst>
                                      </p:cBhvr>
                                      <p:tavLst>
                                        <p:tav tm="0">
                                          <p:val>
                                            <p:strVal val="#ppt_y+.1"/>
                                          </p:val>
                                        </p:tav>
                                        <p:tav tm="100000">
                                          <p:val>
                                            <p:strVal val="#ppt_y"/>
                                          </p:val>
                                        </p:tav>
                                      </p:tavLst>
                                    </p:anim>
                                  </p:childTnLst>
                                </p:cTn>
                              </p:par>
                              <p:par>
                                <p:cTn id="108" presetID="42" presetClass="entr" presetSubtype="0" fill="hold" grpId="0" nodeType="withEffect">
                                  <p:stCondLst>
                                    <p:cond delay="1320"/>
                                  </p:stCondLst>
                                  <p:childTnLst>
                                    <p:set>
                                      <p:cBhvr>
                                        <p:cTn id="109" dur="1" fill="hold">
                                          <p:stCondLst>
                                            <p:cond delay="0"/>
                                          </p:stCondLst>
                                        </p:cTn>
                                        <p:tgtEl>
                                          <p:spTgt spid="26"/>
                                        </p:tgtEl>
                                        <p:attrNameLst>
                                          <p:attrName>style.visibility</p:attrName>
                                        </p:attrNameLst>
                                      </p:cBhvr>
                                      <p:to>
                                        <p:strVal val="visible"/>
                                      </p:to>
                                    </p:set>
                                    <p:animEffect transition="in" filter="fade">
                                      <p:cBhvr>
                                        <p:cTn id="110" dur="500"/>
                                        <p:tgtEl>
                                          <p:spTgt spid="26"/>
                                        </p:tgtEl>
                                      </p:cBhvr>
                                    </p:animEffect>
                                    <p:anim calcmode="lin" valueType="num">
                                      <p:cBhvr additive="base">
                                        <p:cTn id="111" dur="500" fill="hold"/>
                                        <p:tgtEl>
                                          <p:spTgt spid="26"/>
                                        </p:tgtEl>
                                        <p:attrNameLst>
                                          <p:attrName>ppt_x</p:attrName>
                                        </p:attrNameLst>
                                      </p:cBhvr>
                                      <p:tavLst>
                                        <p:tav tm="0">
                                          <p:val>
                                            <p:strVal val="#ppt_x"/>
                                          </p:val>
                                        </p:tav>
                                        <p:tav tm="100000">
                                          <p:val>
                                            <p:strVal val="#ppt_x"/>
                                          </p:val>
                                        </p:tav>
                                      </p:tavLst>
                                    </p:anim>
                                    <p:anim calcmode="lin" valueType="num">
                                      <p:cBhvr additive="base">
                                        <p:cTn id="112" dur="500" fill="hold"/>
                                        <p:tgtEl>
                                          <p:spTgt spid="26"/>
                                        </p:tgtEl>
                                        <p:attrNameLst>
                                          <p:attrName>ppt_y</p:attrName>
                                        </p:attrNameLst>
                                      </p:cBhvr>
                                      <p:tavLst>
                                        <p:tav tm="0">
                                          <p:val>
                                            <p:strVal val="#ppt_y+.1"/>
                                          </p:val>
                                        </p:tav>
                                        <p:tav tm="100000">
                                          <p:val>
                                            <p:strVal val="#ppt_y"/>
                                          </p:val>
                                        </p:tav>
                                      </p:tavLst>
                                    </p:anim>
                                  </p:childTnLst>
                                </p:cTn>
                              </p:par>
                              <p:par>
                                <p:cTn id="113" presetID="42" presetClass="entr" presetSubtype="0" fill="hold" grpId="0" nodeType="withEffect">
                                  <p:stCondLst>
                                    <p:cond delay="1320"/>
                                  </p:stCondLst>
                                  <p:childTnLst>
                                    <p:set>
                                      <p:cBhvr>
                                        <p:cTn id="114" dur="1" fill="hold">
                                          <p:stCondLst>
                                            <p:cond delay="0"/>
                                          </p:stCondLst>
                                        </p:cTn>
                                        <p:tgtEl>
                                          <p:spTgt spid="27"/>
                                        </p:tgtEl>
                                        <p:attrNameLst>
                                          <p:attrName>style.visibility</p:attrName>
                                        </p:attrNameLst>
                                      </p:cBhvr>
                                      <p:to>
                                        <p:strVal val="visible"/>
                                      </p:to>
                                    </p:set>
                                    <p:animEffect transition="in" filter="fade">
                                      <p:cBhvr>
                                        <p:cTn id="115" dur="500"/>
                                        <p:tgtEl>
                                          <p:spTgt spid="27"/>
                                        </p:tgtEl>
                                      </p:cBhvr>
                                    </p:animEffect>
                                    <p:anim calcmode="lin" valueType="num">
                                      <p:cBhvr additive="base">
                                        <p:cTn id="116" dur="500" fill="hold"/>
                                        <p:tgtEl>
                                          <p:spTgt spid="27"/>
                                        </p:tgtEl>
                                        <p:attrNameLst>
                                          <p:attrName>ppt_x</p:attrName>
                                        </p:attrNameLst>
                                      </p:cBhvr>
                                      <p:tavLst>
                                        <p:tav tm="0">
                                          <p:val>
                                            <p:strVal val="#ppt_x"/>
                                          </p:val>
                                        </p:tav>
                                        <p:tav tm="100000">
                                          <p:val>
                                            <p:strVal val="#ppt_x"/>
                                          </p:val>
                                        </p:tav>
                                      </p:tavLst>
                                    </p:anim>
                                    <p:anim calcmode="lin" valueType="num">
                                      <p:cBhvr additive="base">
                                        <p:cTn id="117" dur="500" fill="hold"/>
                                        <p:tgtEl>
                                          <p:spTgt spid="27"/>
                                        </p:tgtEl>
                                        <p:attrNameLst>
                                          <p:attrName>ppt_y</p:attrName>
                                        </p:attrNameLst>
                                      </p:cBhvr>
                                      <p:tavLst>
                                        <p:tav tm="0">
                                          <p:val>
                                            <p:strVal val="#ppt_y+.1"/>
                                          </p:val>
                                        </p:tav>
                                        <p:tav tm="100000">
                                          <p:val>
                                            <p:strVal val="#ppt_y"/>
                                          </p:val>
                                        </p:tav>
                                      </p:tavLst>
                                    </p:anim>
                                  </p:childTnLst>
                                </p:cTn>
                              </p:par>
                              <p:par>
                                <p:cTn id="118" presetID="42" presetClass="entr" presetSubtype="0" fill="hold" grpId="0" nodeType="withEffect">
                                  <p:stCondLst>
                                    <p:cond delay="1320"/>
                                  </p:stCondLst>
                                  <p:childTnLst>
                                    <p:set>
                                      <p:cBhvr>
                                        <p:cTn id="119" dur="1" fill="hold">
                                          <p:stCondLst>
                                            <p:cond delay="0"/>
                                          </p:stCondLst>
                                        </p:cTn>
                                        <p:tgtEl>
                                          <p:spTgt spid="28"/>
                                        </p:tgtEl>
                                        <p:attrNameLst>
                                          <p:attrName>style.visibility</p:attrName>
                                        </p:attrNameLst>
                                      </p:cBhvr>
                                      <p:to>
                                        <p:strVal val="visible"/>
                                      </p:to>
                                    </p:set>
                                    <p:animEffect transition="in" filter="fade">
                                      <p:cBhvr>
                                        <p:cTn id="120" dur="500"/>
                                        <p:tgtEl>
                                          <p:spTgt spid="28"/>
                                        </p:tgtEl>
                                      </p:cBhvr>
                                    </p:animEffect>
                                    <p:anim calcmode="lin" valueType="num">
                                      <p:cBhvr additive="base">
                                        <p:cTn id="121" dur="500" fill="hold"/>
                                        <p:tgtEl>
                                          <p:spTgt spid="28"/>
                                        </p:tgtEl>
                                        <p:attrNameLst>
                                          <p:attrName>ppt_x</p:attrName>
                                        </p:attrNameLst>
                                      </p:cBhvr>
                                      <p:tavLst>
                                        <p:tav tm="0">
                                          <p:val>
                                            <p:strVal val="#ppt_x"/>
                                          </p:val>
                                        </p:tav>
                                        <p:tav tm="100000">
                                          <p:val>
                                            <p:strVal val="#ppt_x"/>
                                          </p:val>
                                        </p:tav>
                                      </p:tavLst>
                                    </p:anim>
                                    <p:anim calcmode="lin" valueType="num">
                                      <p:cBhvr additive="base">
                                        <p:cTn id="122" dur="500" fill="hold"/>
                                        <p:tgtEl>
                                          <p:spTgt spid="28"/>
                                        </p:tgtEl>
                                        <p:attrNameLst>
                                          <p:attrName>ppt_y</p:attrName>
                                        </p:attrNameLst>
                                      </p:cBhvr>
                                      <p:tavLst>
                                        <p:tav tm="0">
                                          <p:val>
                                            <p:strVal val="#ppt_y+.1"/>
                                          </p:val>
                                        </p:tav>
                                        <p:tav tm="100000">
                                          <p:val>
                                            <p:strVal val="#ppt_y"/>
                                          </p:val>
                                        </p:tav>
                                      </p:tavLst>
                                    </p:anim>
                                  </p:childTnLst>
                                </p:cTn>
                              </p:par>
                              <p:par>
                                <p:cTn id="123" presetID="42" presetClass="entr" presetSubtype="0" fill="hold" grpId="0" nodeType="withEffect">
                                  <p:stCondLst>
                                    <p:cond delay="1320"/>
                                  </p:stCondLst>
                                  <p:childTnLst>
                                    <p:set>
                                      <p:cBhvr>
                                        <p:cTn id="124" dur="1" fill="hold">
                                          <p:stCondLst>
                                            <p:cond delay="0"/>
                                          </p:stCondLst>
                                        </p:cTn>
                                        <p:tgtEl>
                                          <p:spTgt spid="29"/>
                                        </p:tgtEl>
                                        <p:attrNameLst>
                                          <p:attrName>style.visibility</p:attrName>
                                        </p:attrNameLst>
                                      </p:cBhvr>
                                      <p:to>
                                        <p:strVal val="visible"/>
                                      </p:to>
                                    </p:set>
                                    <p:animEffect transition="in" filter="fade">
                                      <p:cBhvr>
                                        <p:cTn id="125" dur="500"/>
                                        <p:tgtEl>
                                          <p:spTgt spid="29"/>
                                        </p:tgtEl>
                                      </p:cBhvr>
                                    </p:animEffect>
                                    <p:anim calcmode="lin" valueType="num">
                                      <p:cBhvr additive="base">
                                        <p:cTn id="126" dur="500" fill="hold"/>
                                        <p:tgtEl>
                                          <p:spTgt spid="29"/>
                                        </p:tgtEl>
                                        <p:attrNameLst>
                                          <p:attrName>ppt_x</p:attrName>
                                        </p:attrNameLst>
                                      </p:cBhvr>
                                      <p:tavLst>
                                        <p:tav tm="0">
                                          <p:val>
                                            <p:strVal val="#ppt_x"/>
                                          </p:val>
                                        </p:tav>
                                        <p:tav tm="100000">
                                          <p:val>
                                            <p:strVal val="#ppt_x"/>
                                          </p:val>
                                        </p:tav>
                                      </p:tavLst>
                                    </p:anim>
                                    <p:anim calcmode="lin" valueType="num">
                                      <p:cBhvr additive="base">
                                        <p:cTn id="127" dur="500" fill="hold"/>
                                        <p:tgtEl>
                                          <p:spTgt spid="29"/>
                                        </p:tgtEl>
                                        <p:attrNameLst>
                                          <p:attrName>ppt_y</p:attrName>
                                        </p:attrNameLst>
                                      </p:cBhvr>
                                      <p:tavLst>
                                        <p:tav tm="0">
                                          <p:val>
                                            <p:strVal val="#ppt_y+.1"/>
                                          </p:val>
                                        </p:tav>
                                        <p:tav tm="100000">
                                          <p:val>
                                            <p:strVal val="#ppt_y"/>
                                          </p:val>
                                        </p:tav>
                                      </p:tavLst>
                                    </p:anim>
                                  </p:childTnLst>
                                </p:cTn>
                              </p:par>
                              <p:par>
                                <p:cTn id="128" presetID="42" presetClass="entr" presetSubtype="0" fill="hold" grpId="0" nodeType="withEffect">
                                  <p:stCondLst>
                                    <p:cond delay="1540"/>
                                  </p:stCondLst>
                                  <p:childTnLst>
                                    <p:set>
                                      <p:cBhvr>
                                        <p:cTn id="129" dur="1" fill="hold">
                                          <p:stCondLst>
                                            <p:cond delay="0"/>
                                          </p:stCondLst>
                                        </p:cTn>
                                        <p:tgtEl>
                                          <p:spTgt spid="30"/>
                                        </p:tgtEl>
                                        <p:attrNameLst>
                                          <p:attrName>style.visibility</p:attrName>
                                        </p:attrNameLst>
                                      </p:cBhvr>
                                      <p:to>
                                        <p:strVal val="visible"/>
                                      </p:to>
                                    </p:set>
                                    <p:animEffect transition="in" filter="fade">
                                      <p:cBhvr>
                                        <p:cTn id="130" dur="500"/>
                                        <p:tgtEl>
                                          <p:spTgt spid="30"/>
                                        </p:tgtEl>
                                      </p:cBhvr>
                                    </p:animEffect>
                                    <p:anim calcmode="lin" valueType="num">
                                      <p:cBhvr additive="base">
                                        <p:cTn id="131" dur="500" fill="hold"/>
                                        <p:tgtEl>
                                          <p:spTgt spid="30"/>
                                        </p:tgtEl>
                                        <p:attrNameLst>
                                          <p:attrName>ppt_x</p:attrName>
                                        </p:attrNameLst>
                                      </p:cBhvr>
                                      <p:tavLst>
                                        <p:tav tm="0">
                                          <p:val>
                                            <p:strVal val="#ppt_x"/>
                                          </p:val>
                                        </p:tav>
                                        <p:tav tm="100000">
                                          <p:val>
                                            <p:strVal val="#ppt_x"/>
                                          </p:val>
                                        </p:tav>
                                      </p:tavLst>
                                    </p:anim>
                                    <p:anim calcmode="lin" valueType="num">
                                      <p:cBhvr additive="base">
                                        <p:cTn id="132" dur="500" fill="hold"/>
                                        <p:tgtEl>
                                          <p:spTgt spid="30"/>
                                        </p:tgtEl>
                                        <p:attrNameLst>
                                          <p:attrName>ppt_y</p:attrName>
                                        </p:attrNameLst>
                                      </p:cBhvr>
                                      <p:tavLst>
                                        <p:tav tm="0">
                                          <p:val>
                                            <p:strVal val="#ppt_y+.1"/>
                                          </p:val>
                                        </p:tav>
                                        <p:tav tm="100000">
                                          <p:val>
                                            <p:strVal val="#ppt_y"/>
                                          </p:val>
                                        </p:tav>
                                      </p:tavLst>
                                    </p:anim>
                                  </p:childTnLst>
                                </p:cTn>
                              </p:par>
                              <p:par>
                                <p:cTn id="133" presetID="42" presetClass="entr" presetSubtype="0" fill="hold" grpId="0" nodeType="withEffect">
                                  <p:stCondLst>
                                    <p:cond delay="1540"/>
                                  </p:stCondLst>
                                  <p:childTnLst>
                                    <p:set>
                                      <p:cBhvr>
                                        <p:cTn id="134" dur="1" fill="hold">
                                          <p:stCondLst>
                                            <p:cond delay="0"/>
                                          </p:stCondLst>
                                        </p:cTn>
                                        <p:tgtEl>
                                          <p:spTgt spid="31"/>
                                        </p:tgtEl>
                                        <p:attrNameLst>
                                          <p:attrName>style.visibility</p:attrName>
                                        </p:attrNameLst>
                                      </p:cBhvr>
                                      <p:to>
                                        <p:strVal val="visible"/>
                                      </p:to>
                                    </p:set>
                                    <p:animEffect transition="in" filter="fade">
                                      <p:cBhvr>
                                        <p:cTn id="135" dur="500"/>
                                        <p:tgtEl>
                                          <p:spTgt spid="31"/>
                                        </p:tgtEl>
                                      </p:cBhvr>
                                    </p:animEffect>
                                    <p:anim calcmode="lin" valueType="num">
                                      <p:cBhvr additive="base">
                                        <p:cTn id="136" dur="500" fill="hold"/>
                                        <p:tgtEl>
                                          <p:spTgt spid="31"/>
                                        </p:tgtEl>
                                        <p:attrNameLst>
                                          <p:attrName>ppt_x</p:attrName>
                                        </p:attrNameLst>
                                      </p:cBhvr>
                                      <p:tavLst>
                                        <p:tav tm="0">
                                          <p:val>
                                            <p:strVal val="#ppt_x"/>
                                          </p:val>
                                        </p:tav>
                                        <p:tav tm="100000">
                                          <p:val>
                                            <p:strVal val="#ppt_x"/>
                                          </p:val>
                                        </p:tav>
                                      </p:tavLst>
                                    </p:anim>
                                    <p:anim calcmode="lin" valueType="num">
                                      <p:cBhvr additive="base">
                                        <p:cTn id="137" dur="500" fill="hold"/>
                                        <p:tgtEl>
                                          <p:spTgt spid="31"/>
                                        </p:tgtEl>
                                        <p:attrNameLst>
                                          <p:attrName>ppt_y</p:attrName>
                                        </p:attrNameLst>
                                      </p:cBhvr>
                                      <p:tavLst>
                                        <p:tav tm="0">
                                          <p:val>
                                            <p:strVal val="#ppt_y+.1"/>
                                          </p:val>
                                        </p:tav>
                                        <p:tav tm="100000">
                                          <p:val>
                                            <p:strVal val="#ppt_y"/>
                                          </p:val>
                                        </p:tav>
                                      </p:tavLst>
                                    </p:anim>
                                  </p:childTnLst>
                                </p:cTn>
                              </p:par>
                              <p:par>
                                <p:cTn id="138" presetID="42" presetClass="entr" presetSubtype="0" fill="hold" grpId="0" nodeType="withEffect">
                                  <p:stCondLst>
                                    <p:cond delay="1540"/>
                                  </p:stCondLst>
                                  <p:childTnLst>
                                    <p:set>
                                      <p:cBhvr>
                                        <p:cTn id="139" dur="1" fill="hold">
                                          <p:stCondLst>
                                            <p:cond delay="0"/>
                                          </p:stCondLst>
                                        </p:cTn>
                                        <p:tgtEl>
                                          <p:spTgt spid="32"/>
                                        </p:tgtEl>
                                        <p:attrNameLst>
                                          <p:attrName>style.visibility</p:attrName>
                                        </p:attrNameLst>
                                      </p:cBhvr>
                                      <p:to>
                                        <p:strVal val="visible"/>
                                      </p:to>
                                    </p:set>
                                    <p:animEffect transition="in" filter="fade">
                                      <p:cBhvr>
                                        <p:cTn id="140" dur="500"/>
                                        <p:tgtEl>
                                          <p:spTgt spid="32"/>
                                        </p:tgtEl>
                                      </p:cBhvr>
                                    </p:animEffect>
                                    <p:anim calcmode="lin" valueType="num">
                                      <p:cBhvr additive="base">
                                        <p:cTn id="141" dur="500" fill="hold"/>
                                        <p:tgtEl>
                                          <p:spTgt spid="32"/>
                                        </p:tgtEl>
                                        <p:attrNameLst>
                                          <p:attrName>ppt_x</p:attrName>
                                        </p:attrNameLst>
                                      </p:cBhvr>
                                      <p:tavLst>
                                        <p:tav tm="0">
                                          <p:val>
                                            <p:strVal val="#ppt_x"/>
                                          </p:val>
                                        </p:tav>
                                        <p:tav tm="100000">
                                          <p:val>
                                            <p:strVal val="#ppt_x"/>
                                          </p:val>
                                        </p:tav>
                                      </p:tavLst>
                                    </p:anim>
                                    <p:anim calcmode="lin" valueType="num">
                                      <p:cBhvr additive="base">
                                        <p:cTn id="142" dur="500" fill="hold"/>
                                        <p:tgtEl>
                                          <p:spTgt spid="32"/>
                                        </p:tgtEl>
                                        <p:attrNameLst>
                                          <p:attrName>ppt_y</p:attrName>
                                        </p:attrNameLst>
                                      </p:cBhvr>
                                      <p:tavLst>
                                        <p:tav tm="0">
                                          <p:val>
                                            <p:strVal val="#ppt_y+.1"/>
                                          </p:val>
                                        </p:tav>
                                        <p:tav tm="100000">
                                          <p:val>
                                            <p:strVal val="#ppt_y"/>
                                          </p:val>
                                        </p:tav>
                                      </p:tavLst>
                                    </p:anim>
                                  </p:childTnLst>
                                </p:cTn>
                              </p:par>
                              <p:par>
                                <p:cTn id="143" presetID="42" presetClass="entr" presetSubtype="0" fill="hold" grpId="0" nodeType="withEffect">
                                  <p:stCondLst>
                                    <p:cond delay="1540"/>
                                  </p:stCondLst>
                                  <p:childTnLst>
                                    <p:set>
                                      <p:cBhvr>
                                        <p:cTn id="144" dur="1" fill="hold">
                                          <p:stCondLst>
                                            <p:cond delay="0"/>
                                          </p:stCondLst>
                                        </p:cTn>
                                        <p:tgtEl>
                                          <p:spTgt spid="33"/>
                                        </p:tgtEl>
                                        <p:attrNameLst>
                                          <p:attrName>style.visibility</p:attrName>
                                        </p:attrNameLst>
                                      </p:cBhvr>
                                      <p:to>
                                        <p:strVal val="visible"/>
                                      </p:to>
                                    </p:set>
                                    <p:animEffect transition="in" filter="fade">
                                      <p:cBhvr>
                                        <p:cTn id="145" dur="500"/>
                                        <p:tgtEl>
                                          <p:spTgt spid="33"/>
                                        </p:tgtEl>
                                      </p:cBhvr>
                                    </p:animEffect>
                                    <p:anim calcmode="lin" valueType="num">
                                      <p:cBhvr additive="base">
                                        <p:cTn id="146" dur="500" fill="hold"/>
                                        <p:tgtEl>
                                          <p:spTgt spid="33"/>
                                        </p:tgtEl>
                                        <p:attrNameLst>
                                          <p:attrName>ppt_x</p:attrName>
                                        </p:attrNameLst>
                                      </p:cBhvr>
                                      <p:tavLst>
                                        <p:tav tm="0">
                                          <p:val>
                                            <p:strVal val="#ppt_x"/>
                                          </p:val>
                                        </p:tav>
                                        <p:tav tm="100000">
                                          <p:val>
                                            <p:strVal val="#ppt_x"/>
                                          </p:val>
                                        </p:tav>
                                      </p:tavLst>
                                    </p:anim>
                                    <p:anim calcmode="lin" valueType="num">
                                      <p:cBhvr additive="base">
                                        <p:cTn id="147" dur="500" fill="hold"/>
                                        <p:tgtEl>
                                          <p:spTgt spid="33"/>
                                        </p:tgtEl>
                                        <p:attrNameLst>
                                          <p:attrName>ppt_y</p:attrName>
                                        </p:attrNameLst>
                                      </p:cBhvr>
                                      <p:tavLst>
                                        <p:tav tm="0">
                                          <p:val>
                                            <p:strVal val="#ppt_y+.1"/>
                                          </p:val>
                                        </p:tav>
                                        <p:tav tm="100000">
                                          <p:val>
                                            <p:strVal val="#ppt_y"/>
                                          </p:val>
                                        </p:tav>
                                      </p:tavLst>
                                    </p:anim>
                                  </p:childTnLst>
                                </p:cTn>
                              </p:par>
                              <p:par>
                                <p:cTn id="148" presetID="42" presetClass="entr" presetSubtype="0" fill="hold" grpId="0" nodeType="withEffect">
                                  <p:stCondLst>
                                    <p:cond delay="1760"/>
                                  </p:stCondLst>
                                  <p:childTnLst>
                                    <p:set>
                                      <p:cBhvr>
                                        <p:cTn id="149" dur="1" fill="hold">
                                          <p:stCondLst>
                                            <p:cond delay="0"/>
                                          </p:stCondLst>
                                        </p:cTn>
                                        <p:tgtEl>
                                          <p:spTgt spid="34"/>
                                        </p:tgtEl>
                                        <p:attrNameLst>
                                          <p:attrName>style.visibility</p:attrName>
                                        </p:attrNameLst>
                                      </p:cBhvr>
                                      <p:to>
                                        <p:strVal val="visible"/>
                                      </p:to>
                                    </p:set>
                                    <p:animEffect transition="in" filter="fade">
                                      <p:cBhvr>
                                        <p:cTn id="150" dur="500"/>
                                        <p:tgtEl>
                                          <p:spTgt spid="34"/>
                                        </p:tgtEl>
                                      </p:cBhvr>
                                    </p:animEffect>
                                    <p:anim calcmode="lin" valueType="num">
                                      <p:cBhvr additive="base">
                                        <p:cTn id="151" dur="500" fill="hold"/>
                                        <p:tgtEl>
                                          <p:spTgt spid="34"/>
                                        </p:tgtEl>
                                        <p:attrNameLst>
                                          <p:attrName>ppt_x</p:attrName>
                                        </p:attrNameLst>
                                      </p:cBhvr>
                                      <p:tavLst>
                                        <p:tav tm="0">
                                          <p:val>
                                            <p:strVal val="#ppt_x"/>
                                          </p:val>
                                        </p:tav>
                                        <p:tav tm="100000">
                                          <p:val>
                                            <p:strVal val="#ppt_x"/>
                                          </p:val>
                                        </p:tav>
                                      </p:tavLst>
                                    </p:anim>
                                    <p:anim calcmode="lin" valueType="num">
                                      <p:cBhvr additive="base">
                                        <p:cTn id="152" dur="500" fill="hold"/>
                                        <p:tgtEl>
                                          <p:spTgt spid="34"/>
                                        </p:tgtEl>
                                        <p:attrNameLst>
                                          <p:attrName>ppt_y</p:attrName>
                                        </p:attrNameLst>
                                      </p:cBhvr>
                                      <p:tavLst>
                                        <p:tav tm="0">
                                          <p:val>
                                            <p:strVal val="#ppt_y+.1"/>
                                          </p:val>
                                        </p:tav>
                                        <p:tav tm="100000">
                                          <p:val>
                                            <p:strVal val="#ppt_y"/>
                                          </p:val>
                                        </p:tav>
                                      </p:tavLst>
                                    </p:anim>
                                  </p:childTnLst>
                                </p:cTn>
                              </p:par>
                              <p:par>
                                <p:cTn id="153" presetID="42" presetClass="entr" presetSubtype="0" fill="hold" grpId="0" nodeType="withEffect">
                                  <p:stCondLst>
                                    <p:cond delay="1760"/>
                                  </p:stCondLst>
                                  <p:childTnLst>
                                    <p:set>
                                      <p:cBhvr>
                                        <p:cTn id="154" dur="1" fill="hold">
                                          <p:stCondLst>
                                            <p:cond delay="0"/>
                                          </p:stCondLst>
                                        </p:cTn>
                                        <p:tgtEl>
                                          <p:spTgt spid="35"/>
                                        </p:tgtEl>
                                        <p:attrNameLst>
                                          <p:attrName>style.visibility</p:attrName>
                                        </p:attrNameLst>
                                      </p:cBhvr>
                                      <p:to>
                                        <p:strVal val="visible"/>
                                      </p:to>
                                    </p:set>
                                    <p:animEffect transition="in" filter="fade">
                                      <p:cBhvr>
                                        <p:cTn id="155" dur="500"/>
                                        <p:tgtEl>
                                          <p:spTgt spid="35"/>
                                        </p:tgtEl>
                                      </p:cBhvr>
                                    </p:animEffect>
                                    <p:anim calcmode="lin" valueType="num">
                                      <p:cBhvr additive="base">
                                        <p:cTn id="156" dur="500" fill="hold"/>
                                        <p:tgtEl>
                                          <p:spTgt spid="35"/>
                                        </p:tgtEl>
                                        <p:attrNameLst>
                                          <p:attrName>ppt_x</p:attrName>
                                        </p:attrNameLst>
                                      </p:cBhvr>
                                      <p:tavLst>
                                        <p:tav tm="0">
                                          <p:val>
                                            <p:strVal val="#ppt_x"/>
                                          </p:val>
                                        </p:tav>
                                        <p:tav tm="100000">
                                          <p:val>
                                            <p:strVal val="#ppt_x"/>
                                          </p:val>
                                        </p:tav>
                                      </p:tavLst>
                                    </p:anim>
                                    <p:anim calcmode="lin" valueType="num">
                                      <p:cBhvr additive="base">
                                        <p:cTn id="157" dur="500" fill="hold"/>
                                        <p:tgtEl>
                                          <p:spTgt spid="35"/>
                                        </p:tgtEl>
                                        <p:attrNameLst>
                                          <p:attrName>ppt_y</p:attrName>
                                        </p:attrNameLst>
                                      </p:cBhvr>
                                      <p:tavLst>
                                        <p:tav tm="0">
                                          <p:val>
                                            <p:strVal val="#ppt_y+.1"/>
                                          </p:val>
                                        </p:tav>
                                        <p:tav tm="100000">
                                          <p:val>
                                            <p:strVal val="#ppt_y"/>
                                          </p:val>
                                        </p:tav>
                                      </p:tavLst>
                                    </p:anim>
                                  </p:childTnLst>
                                </p:cTn>
                              </p:par>
                              <p:par>
                                <p:cTn id="158" presetID="42" presetClass="entr" presetSubtype="0" fill="hold" grpId="0" nodeType="withEffect">
                                  <p:stCondLst>
                                    <p:cond delay="1760"/>
                                  </p:stCondLst>
                                  <p:childTnLst>
                                    <p:set>
                                      <p:cBhvr>
                                        <p:cTn id="159" dur="1" fill="hold">
                                          <p:stCondLst>
                                            <p:cond delay="0"/>
                                          </p:stCondLst>
                                        </p:cTn>
                                        <p:tgtEl>
                                          <p:spTgt spid="36"/>
                                        </p:tgtEl>
                                        <p:attrNameLst>
                                          <p:attrName>style.visibility</p:attrName>
                                        </p:attrNameLst>
                                      </p:cBhvr>
                                      <p:to>
                                        <p:strVal val="visible"/>
                                      </p:to>
                                    </p:set>
                                    <p:animEffect transition="in" filter="fade">
                                      <p:cBhvr>
                                        <p:cTn id="160" dur="500"/>
                                        <p:tgtEl>
                                          <p:spTgt spid="36"/>
                                        </p:tgtEl>
                                      </p:cBhvr>
                                    </p:animEffect>
                                    <p:anim calcmode="lin" valueType="num">
                                      <p:cBhvr additive="base">
                                        <p:cTn id="161" dur="500" fill="hold"/>
                                        <p:tgtEl>
                                          <p:spTgt spid="36"/>
                                        </p:tgtEl>
                                        <p:attrNameLst>
                                          <p:attrName>ppt_x</p:attrName>
                                        </p:attrNameLst>
                                      </p:cBhvr>
                                      <p:tavLst>
                                        <p:tav tm="0">
                                          <p:val>
                                            <p:strVal val="#ppt_x"/>
                                          </p:val>
                                        </p:tav>
                                        <p:tav tm="100000">
                                          <p:val>
                                            <p:strVal val="#ppt_x"/>
                                          </p:val>
                                        </p:tav>
                                      </p:tavLst>
                                    </p:anim>
                                    <p:anim calcmode="lin" valueType="num">
                                      <p:cBhvr additive="base">
                                        <p:cTn id="162" dur="500" fill="hold"/>
                                        <p:tgtEl>
                                          <p:spTgt spid="36"/>
                                        </p:tgtEl>
                                        <p:attrNameLst>
                                          <p:attrName>ppt_y</p:attrName>
                                        </p:attrNameLst>
                                      </p:cBhvr>
                                      <p:tavLst>
                                        <p:tav tm="0">
                                          <p:val>
                                            <p:strVal val="#ppt_y+.1"/>
                                          </p:val>
                                        </p:tav>
                                        <p:tav tm="100000">
                                          <p:val>
                                            <p:strVal val="#ppt_y"/>
                                          </p:val>
                                        </p:tav>
                                      </p:tavLst>
                                    </p:anim>
                                  </p:childTnLst>
                                </p:cTn>
                              </p:par>
                              <p:par>
                                <p:cTn id="163" presetID="42" presetClass="entr" presetSubtype="0" fill="hold" grpId="0" nodeType="withEffect">
                                  <p:stCondLst>
                                    <p:cond delay="1760"/>
                                  </p:stCondLst>
                                  <p:childTnLst>
                                    <p:set>
                                      <p:cBhvr>
                                        <p:cTn id="164" dur="1" fill="hold">
                                          <p:stCondLst>
                                            <p:cond delay="0"/>
                                          </p:stCondLst>
                                        </p:cTn>
                                        <p:tgtEl>
                                          <p:spTgt spid="37"/>
                                        </p:tgtEl>
                                        <p:attrNameLst>
                                          <p:attrName>style.visibility</p:attrName>
                                        </p:attrNameLst>
                                      </p:cBhvr>
                                      <p:to>
                                        <p:strVal val="visible"/>
                                      </p:to>
                                    </p:set>
                                    <p:animEffect transition="in" filter="fade">
                                      <p:cBhvr>
                                        <p:cTn id="165" dur="500"/>
                                        <p:tgtEl>
                                          <p:spTgt spid="37"/>
                                        </p:tgtEl>
                                      </p:cBhvr>
                                    </p:animEffect>
                                    <p:anim calcmode="lin" valueType="num">
                                      <p:cBhvr additive="base">
                                        <p:cTn id="166" dur="500" fill="hold"/>
                                        <p:tgtEl>
                                          <p:spTgt spid="37"/>
                                        </p:tgtEl>
                                        <p:attrNameLst>
                                          <p:attrName>ppt_x</p:attrName>
                                        </p:attrNameLst>
                                      </p:cBhvr>
                                      <p:tavLst>
                                        <p:tav tm="0">
                                          <p:val>
                                            <p:strVal val="#ppt_x"/>
                                          </p:val>
                                        </p:tav>
                                        <p:tav tm="100000">
                                          <p:val>
                                            <p:strVal val="#ppt_x"/>
                                          </p:val>
                                        </p:tav>
                                      </p:tavLst>
                                    </p:anim>
                                    <p:anim calcmode="lin" valueType="num">
                                      <p:cBhvr additive="base">
                                        <p:cTn id="167" dur="500" fill="hold"/>
                                        <p:tgtEl>
                                          <p:spTgt spid="37"/>
                                        </p:tgtEl>
                                        <p:attrNameLst>
                                          <p:attrName>ppt_y</p:attrName>
                                        </p:attrNameLst>
                                      </p:cBhvr>
                                      <p:tavLst>
                                        <p:tav tm="0">
                                          <p:val>
                                            <p:strVal val="#ppt_y+.1"/>
                                          </p:val>
                                        </p:tav>
                                        <p:tav tm="100000">
                                          <p:val>
                                            <p:strVal val="#ppt_y"/>
                                          </p:val>
                                        </p:tav>
                                      </p:tavLst>
                                    </p:anim>
                                  </p:childTnLst>
                                </p:cTn>
                              </p:par>
                              <p:par>
                                <p:cTn id="168" presetID="10" presetClass="entr" presetSubtype="0" fill="hold" grpId="0" nodeType="withEffect">
                                  <p:stCondLst>
                                    <p:cond delay="1980"/>
                                  </p:stCondLst>
                                  <p:childTnLst>
                                    <p:set>
                                      <p:cBhvr>
                                        <p:cTn id="169" dur="1" fill="hold">
                                          <p:stCondLst>
                                            <p:cond delay="0"/>
                                          </p:stCondLst>
                                        </p:cTn>
                                        <p:tgtEl>
                                          <p:spTgt spid="38"/>
                                        </p:tgtEl>
                                        <p:attrNameLst>
                                          <p:attrName>style.visibility</p:attrName>
                                        </p:attrNameLst>
                                      </p:cBhvr>
                                      <p:to>
                                        <p:strVal val="visible"/>
                                      </p:to>
                                    </p:set>
                                    <p:animEffect transition="in" filter="fade">
                                      <p:cBhvr>
                                        <p:cTn id="170"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ring#99"/>
          <p:cNvSpPr/>
          <p:nvPr/>
        </p:nvSpPr>
        <p:spPr>
          <a:xfrm>
            <a:off x="7223760" y="1234440"/>
            <a:ext cx="4389120" cy="4389120"/>
          </a:xfrm>
          <a:prstGeom prst="ellipse">
            <a:avLst/>
          </a:prstGeom>
          <a:solidFill>
            <a:srgbClr val="1BA39C">
              <a:alpha val="20000"/>
            </a:srgbClr>
          </a:solidFill>
          <a:ln/>
        </p:spPr>
      </p:sp>
      <p:sp>
        <p:nvSpPr>
          <p:cNvPr id="3" name="ring#100"/>
          <p:cNvSpPr/>
          <p:nvPr/>
        </p:nvSpPr>
        <p:spPr>
          <a:xfrm>
            <a:off x="7818120" y="1828800"/>
            <a:ext cx="3200400" cy="3200400"/>
          </a:xfrm>
          <a:prstGeom prst="ellipse">
            <a:avLst/>
          </a:prstGeom>
          <a:solidFill>
            <a:srgbClr val="1BA39C">
              <a:alpha val="8000"/>
            </a:srgbClr>
          </a:solidFill>
          <a:ln/>
        </p:spPr>
      </p:sp>
      <p:sp>
        <p:nvSpPr>
          <p:cNvPr id="4" name="divDot"/>
          <p:cNvSpPr/>
          <p:nvPr/>
        </p:nvSpPr>
        <p:spPr>
          <a:xfrm>
            <a:off x="8503920" y="2514600"/>
            <a:ext cx="1828800" cy="1828800"/>
          </a:xfrm>
          <a:prstGeom prst="ellipse">
            <a:avLst/>
          </a:prstGeom>
          <a:solidFill>
            <a:schemeClr val="accent3"/>
          </a:solidFill>
          <a:ln/>
        </p:spPr>
      </p:sp>
      <p:pic>
        <p:nvPicPr>
          <p:cNvPr id="5" name="divDoti" descr="preencoded.png"/>
          <p:cNvPicPr>
            <a:picLocks noChangeAspect="1"/>
          </p:cNvPicPr>
          <p:nvPr/>
        </p:nvPicPr>
        <p:blipFill>
          <a:blip r:embed="rId3"/>
          <a:stretch>
            <a:fillRect/>
          </a:stretch>
        </p:blipFill>
        <p:spPr>
          <a:xfrm>
            <a:off x="8997696" y="3008376"/>
            <a:ext cx="841248" cy="841248"/>
          </a:xfrm>
          <a:prstGeom prst="rect">
            <a:avLst/>
          </a:prstGeom>
        </p:spPr>
      </p:pic>
      <p:sp>
        <p:nvSpPr>
          <p:cNvPr id="6" name="divNum"/>
          <p:cNvSpPr txBox="1"/>
          <p:nvPr/>
        </p:nvSpPr>
        <p:spPr>
          <a:xfrm>
            <a:off x="548640" y="1463040"/>
            <a:ext cx="3657600" cy="1737360"/>
          </a:xfrm>
          <a:prstGeom prst="rect">
            <a:avLst/>
          </a:prstGeom>
          <a:noFill/>
          <a:ln/>
        </p:spPr>
        <p:txBody>
          <a:bodyPr wrap="square" lIns="0" tIns="0" rIns="0" bIns="0" rtlCol="0" anchor="t"/>
          <a:lstStyle/>
          <a:p>
            <a:pPr marL="0" indent="0">
              <a:buNone/>
            </a:pPr>
            <a:r>
              <a:rPr lang="en-US" sz="12000" b="1" dirty="0">
                <a:solidFill>
                  <a:schemeClr val="accent2"/>
                </a:solidFill>
              </a:rPr>
              <a:t>06</a:t>
            </a:r>
            <a:endParaRPr lang="en-US" sz="12000" dirty="0"/>
          </a:p>
        </p:txBody>
      </p:sp>
      <p:sp>
        <p:nvSpPr>
          <p:cNvPr id="7" name="divPart"/>
          <p:cNvSpPr txBox="1"/>
          <p:nvPr/>
        </p:nvSpPr>
        <p:spPr>
          <a:xfrm>
            <a:off x="548640" y="3383280"/>
            <a:ext cx="5486400" cy="320040"/>
          </a:xfrm>
          <a:prstGeom prst="rect">
            <a:avLst/>
          </a:prstGeom>
          <a:noFill/>
          <a:ln/>
        </p:spPr>
        <p:txBody>
          <a:bodyPr wrap="square" lIns="0" tIns="0" rIns="0" bIns="0" rtlCol="0" anchor="t"/>
          <a:lstStyle/>
          <a:p>
            <a:pPr marL="0" indent="0">
              <a:buNone/>
            </a:pPr>
            <a:r>
              <a:rPr lang="en-US" sz="1300" b="1" kern="0" spc="300" dirty="0">
                <a:solidFill>
                  <a:schemeClr val="accent3"/>
                </a:solidFill>
              </a:rPr>
              <a:t>PARTIE 6</a:t>
            </a:r>
            <a:endParaRPr lang="en-US" sz="1300" dirty="0"/>
          </a:p>
        </p:txBody>
      </p:sp>
      <p:sp>
        <p:nvSpPr>
          <p:cNvPr id="8" name="divTtl"/>
          <p:cNvSpPr txBox="1"/>
          <p:nvPr/>
        </p:nvSpPr>
        <p:spPr>
          <a:xfrm>
            <a:off x="548640" y="3749040"/>
            <a:ext cx="6949440" cy="914400"/>
          </a:xfrm>
          <a:prstGeom prst="rect">
            <a:avLst/>
          </a:prstGeom>
          <a:noFill/>
          <a:ln/>
        </p:spPr>
        <p:txBody>
          <a:bodyPr wrap="square" lIns="0" tIns="0" rIns="0" bIns="0" rtlCol="0" anchor="t"/>
          <a:lstStyle/>
          <a:p>
            <a:pPr marL="0" indent="0">
              <a:buNone/>
            </a:pPr>
            <a:r>
              <a:rPr lang="en-US" sz="3400" b="1" dirty="0">
                <a:solidFill>
                  <a:schemeClr val="bg1"/>
                </a:solidFill>
              </a:rPr>
              <a:t>Conclusion</a:t>
            </a:r>
            <a:endParaRPr lang="en-US" sz="3400" dirty="0"/>
          </a:p>
        </p:txBody>
      </p:sp>
      <p:sp>
        <p:nvSpPr>
          <p:cNvPr id="9" name="divSub"/>
          <p:cNvSpPr txBox="1"/>
          <p:nvPr/>
        </p:nvSpPr>
        <p:spPr>
          <a:xfrm>
            <a:off x="548640" y="4709160"/>
            <a:ext cx="6949440" cy="548640"/>
          </a:xfrm>
          <a:prstGeom prst="rect">
            <a:avLst/>
          </a:prstGeom>
          <a:noFill/>
          <a:ln/>
        </p:spPr>
        <p:txBody>
          <a:bodyPr wrap="square" lIns="0" tIns="0" rIns="0" bIns="0" rtlCol="0" anchor="t"/>
          <a:lstStyle/>
          <a:p>
            <a:pPr marL="0" indent="0">
              <a:buNone/>
            </a:pPr>
            <a:r>
              <a:rPr lang="en-US" sz="1600" dirty="0">
                <a:solidFill>
                  <a:srgbClr val="C9D3E3"/>
                </a:solidFill>
              </a:rPr>
              <a:t>Bilan, limites et perspectives</a:t>
            </a:r>
            <a:endParaRPr lang="en-US" sz="16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ppt_w</p:attrName>
                                        </p:attrNameLst>
                                      </p:cBhvr>
                                      <p:tavLst>
                                        <p:tav tm="0">
                                          <p:val>
                                            <p:strVal val="0"/>
                                          </p:val>
                                        </p:tav>
                                        <p:tav tm="100000">
                                          <p:val>
                                            <p:strVal val="#ppt_w"/>
                                          </p:val>
                                        </p:tav>
                                      </p:tavLst>
                                    </p:anim>
                                    <p:anim calcmode="lin" valueType="num">
                                      <p:cBhvr additive="base">
                                        <p:cTn id="8" dur="500" fill="hold"/>
                                        <p:tgtEl>
                                          <p:spTgt spid="4"/>
                                        </p:tgtEl>
                                        <p:attrNameLst>
                                          <p:attrName>ppt_h</p:attrName>
                                        </p:attrNameLst>
                                      </p:cBhvr>
                                      <p:tavLst>
                                        <p:tav tm="0">
                                          <p:val>
                                            <p:strVal val="0"/>
                                          </p:val>
                                        </p:tav>
                                        <p:tav tm="100000">
                                          <p:val>
                                            <p:strVal val="#ppt_h"/>
                                          </p:val>
                                        </p:tav>
                                      </p:tavLst>
                                    </p:anim>
                                    <p:animEffect transition="in" filter="fade">
                                      <p:cBhvr>
                                        <p:cTn id="9" dur="500"/>
                                        <p:tgtEl>
                                          <p:spTgt spid="4"/>
                                        </p:tgtEl>
                                      </p:cBhvr>
                                    </p:animEffect>
                                  </p:childTnLst>
                                </p:cTn>
                              </p:par>
                              <p:par>
                                <p:cTn id="10" presetID="53" presetClass="entr" presetSubtype="16"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ppt_w</p:attrName>
                                        </p:attrNameLst>
                                      </p:cBhvr>
                                      <p:tavLst>
                                        <p:tav tm="0">
                                          <p:val>
                                            <p:strVal val="0"/>
                                          </p:val>
                                        </p:tav>
                                        <p:tav tm="100000">
                                          <p:val>
                                            <p:strVal val="#ppt_w"/>
                                          </p:val>
                                        </p:tav>
                                      </p:tavLst>
                                    </p:anim>
                                    <p:anim calcmode="lin" valueType="num">
                                      <p:cBhvr additive="base">
                                        <p:cTn id="13" dur="500" fill="hold"/>
                                        <p:tgtEl>
                                          <p:spTgt spid="5"/>
                                        </p:tgtEl>
                                        <p:attrNameLst>
                                          <p:attrName>ppt_h</p:attrName>
                                        </p:attrNameLst>
                                      </p:cBhvr>
                                      <p:tavLst>
                                        <p:tav tm="0">
                                          <p:val>
                                            <p:strVal val="0"/>
                                          </p:val>
                                        </p:tav>
                                        <p:tav tm="100000">
                                          <p:val>
                                            <p:strVal val="#ppt_h"/>
                                          </p:val>
                                        </p:tav>
                                      </p:tavLst>
                                    </p:anim>
                                    <p:animEffect transition="in" filter="fade">
                                      <p:cBhvr>
                                        <p:cTn id="14" dur="500"/>
                                        <p:tgtEl>
                                          <p:spTgt spid="5"/>
                                        </p:tgtEl>
                                      </p:cBhvr>
                                    </p:animEffect>
                                  </p:childTnLst>
                                </p:cTn>
                              </p:par>
                              <p:par>
                                <p:cTn id="15" presetID="42" presetClass="entr" presetSubtype="0" fill="hold" grpId="0" nodeType="withEffect">
                                  <p:stCondLst>
                                    <p:cond delay="22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anim calcmode="lin" valueType="num">
                                      <p:cBhvr additive="base">
                                        <p:cTn id="18" dur="500" fill="hold"/>
                                        <p:tgtEl>
                                          <p:spTgt spid="6"/>
                                        </p:tgtEl>
                                        <p:attrNameLst>
                                          <p:attrName>ppt_x</p:attrName>
                                        </p:attrNameLst>
                                      </p:cBhvr>
                                      <p:tavLst>
                                        <p:tav tm="0">
                                          <p:val>
                                            <p:strVal val="#ppt_x"/>
                                          </p:val>
                                        </p:tav>
                                        <p:tav tm="100000">
                                          <p:val>
                                            <p:strVal val="#ppt_x"/>
                                          </p:val>
                                        </p:tav>
                                      </p:tavLst>
                                    </p:anim>
                                    <p:anim calcmode="lin" valueType="num">
                                      <p:cBhvr additive="base">
                                        <p:cTn id="19" dur="50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44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anim calcmode="lin" valueType="num">
                                      <p:cBhvr additive="base">
                                        <p:cTn id="23" dur="500" fill="hold"/>
                                        <p:tgtEl>
                                          <p:spTgt spid="7"/>
                                        </p:tgtEl>
                                        <p:attrNameLst>
                                          <p:attrName>ppt_x</p:attrName>
                                        </p:attrNameLst>
                                      </p:cBhvr>
                                      <p:tavLst>
                                        <p:tav tm="0">
                                          <p:val>
                                            <p:strVal val="#ppt_x"/>
                                          </p:val>
                                        </p:tav>
                                        <p:tav tm="100000">
                                          <p:val>
                                            <p:strVal val="#ppt_x"/>
                                          </p:val>
                                        </p:tav>
                                      </p:tavLst>
                                    </p:anim>
                                    <p:anim calcmode="lin" valueType="num">
                                      <p:cBhvr additive="base">
                                        <p:cTn id="24" dur="500" fill="hold"/>
                                        <p:tgtEl>
                                          <p:spTgt spid="7"/>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44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anim calcmode="lin" valueType="num">
                                      <p:cBhvr additive="base">
                                        <p:cTn id="28" dur="500" fill="hold"/>
                                        <p:tgtEl>
                                          <p:spTgt spid="8"/>
                                        </p:tgtEl>
                                        <p:attrNameLst>
                                          <p:attrName>ppt_x</p:attrName>
                                        </p:attrNameLst>
                                      </p:cBhvr>
                                      <p:tavLst>
                                        <p:tav tm="0">
                                          <p:val>
                                            <p:strVal val="#ppt_x"/>
                                          </p:val>
                                        </p:tav>
                                        <p:tav tm="100000">
                                          <p:val>
                                            <p:strVal val="#ppt_x"/>
                                          </p:val>
                                        </p:tav>
                                      </p:tavLst>
                                    </p:anim>
                                    <p:anim calcmode="lin" valueType="num">
                                      <p:cBhvr additive="base">
                                        <p:cTn id="29" dur="500" fill="hold"/>
                                        <p:tgtEl>
                                          <p:spTgt spid="8"/>
                                        </p:tgtEl>
                                        <p:attrNameLst>
                                          <p:attrName>ppt_y</p:attrName>
                                        </p:attrNameLst>
                                      </p:cBhvr>
                                      <p:tavLst>
                                        <p:tav tm="0">
                                          <p:val>
                                            <p:strVal val="#ppt_y+.1"/>
                                          </p:val>
                                        </p:tav>
                                        <p:tav tm="100000">
                                          <p:val>
                                            <p:strVal val="#ppt_y"/>
                                          </p:val>
                                        </p:tav>
                                      </p:tavLst>
                                    </p:anim>
                                  </p:childTnLst>
                                </p:cTn>
                              </p:par>
                              <p:par>
                                <p:cTn id="30" presetID="10" presetClass="entr" presetSubtype="0" fill="hold" grpId="0" nodeType="withEffect">
                                  <p:stCondLst>
                                    <p:cond delay="66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749808"/>
            <a:ext cx="11064240" cy="685800"/>
          </a:xfrm>
          <a:prstGeom prst="rect">
            <a:avLst/>
          </a:prstGeom>
          <a:noFill/>
          <a:ln/>
        </p:spPr>
        <p:txBody>
          <a:bodyPr wrap="square" lIns="0" tIns="0" rIns="0" bIns="0" rtlCol="0" anchor="ctr"/>
          <a:lstStyle/>
          <a:p>
            <a:pPr marL="0" indent="0" algn="l">
              <a:buNone/>
            </a:pPr>
            <a:r>
              <a:rPr lang="en-US" sz="3000" b="1" dirty="0">
                <a:solidFill>
                  <a:schemeClr val="tx2"/>
                </a:solidFill>
              </a:rPr>
              <a:t>Bilan et perspectives</a:t>
            </a:r>
            <a:endParaRPr lang="en-US" sz="3000" dirty="0"/>
          </a:p>
        </p:txBody>
      </p:sp>
      <p:sp>
        <p:nvSpPr>
          <p:cNvPr id="3" name="pill#101"/>
          <p:cNvSpPr/>
          <p:nvPr/>
        </p:nvSpPr>
        <p:spPr>
          <a:xfrm>
            <a:off x="548640" y="384048"/>
            <a:ext cx="978408" cy="292608"/>
          </a:xfrm>
          <a:prstGeom prst="roundRect">
            <a:avLst>
              <a:gd name="adj" fmla="val 50000"/>
            </a:avLst>
          </a:prstGeom>
          <a:solidFill>
            <a:schemeClr val="accent2"/>
          </a:solidFill>
          <a:ln/>
        </p:spPr>
      </p:sp>
      <p:sp>
        <p:nvSpPr>
          <p:cNvPr id="4" name="pill#101t"/>
          <p:cNvSpPr txBox="1"/>
          <p:nvPr/>
        </p:nvSpPr>
        <p:spPr>
          <a:xfrm>
            <a:off x="548640" y="384048"/>
            <a:ext cx="978408" cy="292608"/>
          </a:xfrm>
          <a:prstGeom prst="rect">
            <a:avLst/>
          </a:prstGeom>
          <a:noFill/>
          <a:ln/>
        </p:spPr>
        <p:txBody>
          <a:bodyPr wrap="square" lIns="0" tIns="0" rIns="0" bIns="0" rtlCol="0" anchor="ctr"/>
          <a:lstStyle/>
          <a:p>
            <a:pPr marL="0" indent="0" algn="ctr">
              <a:buNone/>
            </a:pPr>
            <a:r>
              <a:rPr lang="en-US" sz="1100" b="1" dirty="0">
                <a:solidFill>
                  <a:schemeClr val="bg1"/>
                </a:solidFill>
              </a:rPr>
              <a:t>Conclusion</a:t>
            </a:r>
            <a:endParaRPr lang="en-US" sz="1100" dirty="0"/>
          </a:p>
        </p:txBody>
      </p:sp>
      <p:sp>
        <p:nvSpPr>
          <p:cNvPr id="5" name="cc#102"/>
          <p:cNvSpPr/>
          <p:nvPr/>
        </p:nvSpPr>
        <p:spPr>
          <a:xfrm>
            <a:off x="548640" y="1737360"/>
            <a:ext cx="3520440" cy="4114800"/>
          </a:xfrm>
          <a:prstGeom prst="roundRect">
            <a:avLst>
              <a:gd name="adj" fmla="val 2597"/>
            </a:avLst>
          </a:prstGeom>
          <a:solidFill>
            <a:schemeClr val="bg2"/>
          </a:solidFill>
          <a:ln/>
        </p:spPr>
      </p:sp>
      <p:sp>
        <p:nvSpPr>
          <p:cNvPr id="6" name="cc#102d"/>
          <p:cNvSpPr/>
          <p:nvPr/>
        </p:nvSpPr>
        <p:spPr>
          <a:xfrm>
            <a:off x="822960" y="2011680"/>
            <a:ext cx="731520" cy="731520"/>
          </a:xfrm>
          <a:prstGeom prst="ellipse">
            <a:avLst/>
          </a:prstGeom>
          <a:solidFill>
            <a:schemeClr val="accent3"/>
          </a:solidFill>
          <a:ln/>
        </p:spPr>
      </p:sp>
      <p:pic>
        <p:nvPicPr>
          <p:cNvPr id="7" name="cc#102di" descr="preencoded.png"/>
          <p:cNvPicPr>
            <a:picLocks noChangeAspect="1"/>
          </p:cNvPicPr>
          <p:nvPr/>
        </p:nvPicPr>
        <p:blipFill>
          <a:blip r:embed="rId3"/>
          <a:stretch>
            <a:fillRect/>
          </a:stretch>
        </p:blipFill>
        <p:spPr>
          <a:xfrm>
            <a:off x="1020470" y="2209190"/>
            <a:ext cx="336499" cy="336499"/>
          </a:xfrm>
          <a:prstGeom prst="rect">
            <a:avLst/>
          </a:prstGeom>
        </p:spPr>
      </p:pic>
      <p:sp>
        <p:nvSpPr>
          <p:cNvPr id="8" name="cc#102h"/>
          <p:cNvSpPr txBox="1"/>
          <p:nvPr/>
        </p:nvSpPr>
        <p:spPr>
          <a:xfrm>
            <a:off x="1737360" y="2011680"/>
            <a:ext cx="2194560" cy="731520"/>
          </a:xfrm>
          <a:prstGeom prst="rect">
            <a:avLst/>
          </a:prstGeom>
          <a:noFill/>
          <a:ln/>
        </p:spPr>
        <p:txBody>
          <a:bodyPr wrap="square" lIns="0" tIns="0" rIns="0" bIns="0" rtlCol="0" anchor="ctr"/>
          <a:lstStyle/>
          <a:p>
            <a:pPr marL="0" indent="0">
              <a:buNone/>
            </a:pPr>
            <a:r>
              <a:rPr lang="en-US" sz="2200" b="1" dirty="0">
                <a:solidFill>
                  <a:schemeClr val="tx2"/>
                </a:solidFill>
              </a:rPr>
              <a:t>Réalisé</a:t>
            </a:r>
            <a:endParaRPr lang="en-US" sz="2200" dirty="0"/>
          </a:p>
        </p:txBody>
      </p:sp>
      <p:sp>
        <p:nvSpPr>
          <p:cNvPr id="9" name="cc#102b"/>
          <p:cNvSpPr txBox="1"/>
          <p:nvPr/>
        </p:nvSpPr>
        <p:spPr>
          <a:xfrm>
            <a:off x="822960" y="3017520"/>
            <a:ext cx="3017520" cy="26517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Les 6 exigences du thème</a:t>
            </a:r>
            <a:endParaRPr lang="en-US" sz="1500" dirty="0"/>
          </a:p>
          <a:p>
            <a:pPr marL="342900" indent="-342900">
              <a:spcAft>
                <a:spcPts val="1000"/>
              </a:spcAft>
              <a:buSzPct val="100000"/>
              <a:buChar char="•"/>
            </a:pPr>
            <a:r>
              <a:rPr lang="en-US" sz="1500" dirty="0">
                <a:solidFill>
                  <a:schemeClr val="tx1"/>
                </a:solidFill>
              </a:rPr>
              <a:t>Dépôt Git reproductible</a:t>
            </a:r>
            <a:endParaRPr lang="en-US" sz="1500" dirty="0"/>
          </a:p>
          <a:p>
            <a:pPr marL="342900" indent="-342900">
              <a:spcAft>
                <a:spcPts val="1000"/>
              </a:spcAft>
              <a:buSzPct val="100000"/>
              <a:buChar char="•"/>
            </a:pPr>
            <a:r>
              <a:rPr lang="en-US" sz="1500" dirty="0">
                <a:solidFill>
                  <a:schemeClr val="tx1"/>
                </a:solidFill>
              </a:rPr>
              <a:t>Documentation complète</a:t>
            </a:r>
            <a:endParaRPr lang="en-US" sz="1500" dirty="0"/>
          </a:p>
          <a:p>
            <a:pPr marL="342900" indent="-342900">
              <a:spcAft>
                <a:spcPts val="1000"/>
              </a:spcAft>
              <a:buSzPct val="100000"/>
              <a:buChar char="•"/>
            </a:pPr>
            <a:r>
              <a:rPr lang="en-US" sz="1500" dirty="0">
                <a:solidFill>
                  <a:schemeClr val="tx1"/>
                </a:solidFill>
              </a:rPr>
              <a:t>Tests tous réussis</a:t>
            </a:r>
            <a:endParaRPr lang="en-US" sz="1500" dirty="0"/>
          </a:p>
        </p:txBody>
      </p:sp>
      <p:sp>
        <p:nvSpPr>
          <p:cNvPr id="10" name="cc#103"/>
          <p:cNvSpPr/>
          <p:nvPr/>
        </p:nvSpPr>
        <p:spPr>
          <a:xfrm>
            <a:off x="4315968" y="1737360"/>
            <a:ext cx="3520440" cy="4114800"/>
          </a:xfrm>
          <a:prstGeom prst="roundRect">
            <a:avLst>
              <a:gd name="adj" fmla="val 2597"/>
            </a:avLst>
          </a:prstGeom>
          <a:solidFill>
            <a:schemeClr val="bg2"/>
          </a:solidFill>
          <a:ln/>
        </p:spPr>
      </p:sp>
      <p:sp>
        <p:nvSpPr>
          <p:cNvPr id="11" name="cc#103d"/>
          <p:cNvSpPr/>
          <p:nvPr/>
        </p:nvSpPr>
        <p:spPr>
          <a:xfrm>
            <a:off x="4590288" y="2011680"/>
            <a:ext cx="731520" cy="731520"/>
          </a:xfrm>
          <a:prstGeom prst="ellipse">
            <a:avLst/>
          </a:prstGeom>
          <a:solidFill>
            <a:schemeClr val="accent2"/>
          </a:solidFill>
          <a:ln/>
        </p:spPr>
      </p:sp>
      <p:pic>
        <p:nvPicPr>
          <p:cNvPr id="12" name="cc#103di" descr="preencoded.png"/>
          <p:cNvPicPr>
            <a:picLocks noChangeAspect="1"/>
          </p:cNvPicPr>
          <p:nvPr/>
        </p:nvPicPr>
        <p:blipFill>
          <a:blip r:embed="rId4"/>
          <a:stretch>
            <a:fillRect/>
          </a:stretch>
        </p:blipFill>
        <p:spPr>
          <a:xfrm>
            <a:off x="4787798" y="2209190"/>
            <a:ext cx="336499" cy="336499"/>
          </a:xfrm>
          <a:prstGeom prst="rect">
            <a:avLst/>
          </a:prstGeom>
        </p:spPr>
      </p:pic>
      <p:sp>
        <p:nvSpPr>
          <p:cNvPr id="13" name="cc#103h"/>
          <p:cNvSpPr txBox="1"/>
          <p:nvPr/>
        </p:nvSpPr>
        <p:spPr>
          <a:xfrm>
            <a:off x="5504688" y="2011680"/>
            <a:ext cx="2194560" cy="731520"/>
          </a:xfrm>
          <a:prstGeom prst="rect">
            <a:avLst/>
          </a:prstGeom>
          <a:noFill/>
          <a:ln/>
        </p:spPr>
        <p:txBody>
          <a:bodyPr wrap="square" lIns="0" tIns="0" rIns="0" bIns="0" rtlCol="0" anchor="ctr"/>
          <a:lstStyle/>
          <a:p>
            <a:pPr marL="0" indent="0">
              <a:buNone/>
            </a:pPr>
            <a:r>
              <a:rPr lang="en-US" sz="2200" b="1" dirty="0">
                <a:solidFill>
                  <a:schemeClr val="tx2"/>
                </a:solidFill>
              </a:rPr>
              <a:t>Limites</a:t>
            </a:r>
            <a:endParaRPr lang="en-US" sz="2200" dirty="0"/>
          </a:p>
        </p:txBody>
      </p:sp>
      <p:sp>
        <p:nvSpPr>
          <p:cNvPr id="14" name="cc#103b"/>
          <p:cNvSpPr txBox="1"/>
          <p:nvPr/>
        </p:nvSpPr>
        <p:spPr>
          <a:xfrm>
            <a:off x="4590288" y="3017520"/>
            <a:ext cx="3017520" cy="26517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Synchronisation périodique</a:t>
            </a:r>
            <a:endParaRPr lang="en-US" sz="1500" dirty="0"/>
          </a:p>
          <a:p>
            <a:pPr marL="342900" indent="-342900">
              <a:spcAft>
                <a:spcPts val="1000"/>
              </a:spcAft>
              <a:buSzPct val="100000"/>
              <a:buChar char="•"/>
            </a:pPr>
            <a:r>
              <a:rPr lang="en-US" sz="1500" dirty="0">
                <a:solidFill>
                  <a:schemeClr val="tx1"/>
                </a:solidFill>
              </a:rPr>
              <a:t>Lecture MySQL complète</a:t>
            </a:r>
            <a:endParaRPr lang="en-US" sz="1500" dirty="0"/>
          </a:p>
          <a:p>
            <a:pPr marL="342900" indent="-342900">
              <a:spcAft>
                <a:spcPts val="1000"/>
              </a:spcAft>
              <a:buSzPct val="100000"/>
              <a:buChar char="•"/>
            </a:pPr>
            <a:r>
              <a:rPr lang="en-US" sz="1500" dirty="0">
                <a:solidFill>
                  <a:schemeClr val="tx1"/>
                </a:solidFill>
              </a:rPr>
              <a:t>Pas de suppression d'employé</a:t>
            </a:r>
            <a:endParaRPr lang="en-US" sz="1500" dirty="0"/>
          </a:p>
        </p:txBody>
      </p:sp>
      <p:sp>
        <p:nvSpPr>
          <p:cNvPr id="15" name="cc#104"/>
          <p:cNvSpPr/>
          <p:nvPr/>
        </p:nvSpPr>
        <p:spPr>
          <a:xfrm>
            <a:off x="8083296" y="1737360"/>
            <a:ext cx="3520440" cy="4114800"/>
          </a:xfrm>
          <a:prstGeom prst="roundRect">
            <a:avLst>
              <a:gd name="adj" fmla="val 2597"/>
            </a:avLst>
          </a:prstGeom>
          <a:solidFill>
            <a:schemeClr val="bg2"/>
          </a:solidFill>
          <a:ln/>
        </p:spPr>
      </p:sp>
      <p:sp>
        <p:nvSpPr>
          <p:cNvPr id="16" name="cc#104d"/>
          <p:cNvSpPr/>
          <p:nvPr/>
        </p:nvSpPr>
        <p:spPr>
          <a:xfrm>
            <a:off x="8357616" y="2011680"/>
            <a:ext cx="731520" cy="731520"/>
          </a:xfrm>
          <a:prstGeom prst="ellipse">
            <a:avLst/>
          </a:prstGeom>
          <a:solidFill>
            <a:schemeClr val="accent4"/>
          </a:solidFill>
          <a:ln/>
        </p:spPr>
      </p:sp>
      <p:pic>
        <p:nvPicPr>
          <p:cNvPr id="17" name="cc#104di" descr="preencoded.png"/>
          <p:cNvPicPr>
            <a:picLocks noChangeAspect="1"/>
          </p:cNvPicPr>
          <p:nvPr/>
        </p:nvPicPr>
        <p:blipFill>
          <a:blip r:embed="rId5"/>
          <a:stretch>
            <a:fillRect/>
          </a:stretch>
        </p:blipFill>
        <p:spPr>
          <a:xfrm>
            <a:off x="8555126" y="2209190"/>
            <a:ext cx="336499" cy="336499"/>
          </a:xfrm>
          <a:prstGeom prst="rect">
            <a:avLst/>
          </a:prstGeom>
        </p:spPr>
      </p:pic>
      <p:sp>
        <p:nvSpPr>
          <p:cNvPr id="18" name="cc#104h"/>
          <p:cNvSpPr txBox="1"/>
          <p:nvPr/>
        </p:nvSpPr>
        <p:spPr>
          <a:xfrm>
            <a:off x="9272016" y="2011680"/>
            <a:ext cx="2194560" cy="731520"/>
          </a:xfrm>
          <a:prstGeom prst="rect">
            <a:avLst/>
          </a:prstGeom>
          <a:noFill/>
          <a:ln/>
        </p:spPr>
        <p:txBody>
          <a:bodyPr wrap="square" lIns="0" tIns="0" rIns="0" bIns="0" rtlCol="0" anchor="ctr"/>
          <a:lstStyle/>
          <a:p>
            <a:pPr marL="0" indent="0">
              <a:buNone/>
            </a:pPr>
            <a:r>
              <a:rPr lang="en-US" sz="2200" b="1" dirty="0">
                <a:solidFill>
                  <a:schemeClr val="tx2"/>
                </a:solidFill>
              </a:rPr>
              <a:t>Perspectives</a:t>
            </a:r>
            <a:endParaRPr lang="en-US" sz="2200" dirty="0"/>
          </a:p>
        </p:txBody>
      </p:sp>
      <p:sp>
        <p:nvSpPr>
          <p:cNvPr id="19" name="cc#104b"/>
          <p:cNvSpPr txBox="1"/>
          <p:nvPr/>
        </p:nvSpPr>
        <p:spPr>
          <a:xfrm>
            <a:off x="8357616" y="3017520"/>
            <a:ext cx="3017520" cy="26517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Synchronisation incrémentale</a:t>
            </a:r>
            <a:endParaRPr lang="en-US" sz="1500" dirty="0"/>
          </a:p>
          <a:p>
            <a:pPr marL="342900" indent="-342900">
              <a:spcAft>
                <a:spcPts val="1000"/>
              </a:spcAft>
              <a:buSzPct val="100000"/>
              <a:buChar char="•"/>
            </a:pPr>
            <a:r>
              <a:rPr lang="en-US" sz="1500" dirty="0">
                <a:solidFill>
                  <a:schemeClr val="tx1"/>
                </a:solidFill>
              </a:rPr>
              <a:t>Sécurité WS-Security</a:t>
            </a:r>
            <a:endParaRPr lang="en-US" sz="1500" dirty="0"/>
          </a:p>
          <a:p>
            <a:pPr marL="342900" indent="-342900">
              <a:spcAft>
                <a:spcPts val="1000"/>
              </a:spcAft>
              <a:buSzPct val="100000"/>
              <a:buChar char="•"/>
            </a:pPr>
            <a:r>
              <a:rPr lang="en-US" sz="1500" dirty="0">
                <a:solidFill>
                  <a:schemeClr val="tx1"/>
                </a:solidFill>
              </a:rPr>
              <a:t>Planification automatique</a:t>
            </a:r>
            <a:endParaRPr lang="en-US" sz="1500" dirty="0"/>
          </a:p>
        </p:txBody>
      </p:sp>
      <p:sp>
        <p:nvSpPr>
          <p:cNvPr id="26"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24</a:t>
            </a:fld>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anim calcmode="lin" valueType="num">
                                      <p:cBhvr additive="base">
                                        <p:cTn id="8" dur="500" fill="hold"/>
                                        <p:tgtEl>
                                          <p:spTgt spid="5"/>
                                        </p:tgtEl>
                                        <p:attrNameLst>
                                          <p:attrName>ppt_x</p:attrName>
                                        </p:attrNameLst>
                                      </p:cBhvr>
                                      <p:tavLst>
                                        <p:tav tm="0">
                                          <p:val>
                                            <p:strVal val="#ppt_x"/>
                                          </p:val>
                                        </p:tav>
                                        <p:tav tm="100000">
                                          <p:val>
                                            <p:strVal val="#ppt_x"/>
                                          </p:val>
                                        </p:tav>
                                      </p:tavLst>
                                    </p:anim>
                                    <p:anim calcmode="lin" valueType="num">
                                      <p:cBhvr additive="base">
                                        <p:cTn id="9" dur="5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anim calcmode="lin" valueType="num">
                                      <p:cBhvr additive="base">
                                        <p:cTn id="18" dur="500" fill="hold"/>
                                        <p:tgtEl>
                                          <p:spTgt spid="7"/>
                                        </p:tgtEl>
                                        <p:attrNameLst>
                                          <p:attrName>ppt_x</p:attrName>
                                        </p:attrNameLst>
                                      </p:cBhvr>
                                      <p:tavLst>
                                        <p:tav tm="0">
                                          <p:val>
                                            <p:strVal val="#ppt_x"/>
                                          </p:val>
                                        </p:tav>
                                        <p:tav tm="100000">
                                          <p:val>
                                            <p:strVal val="#ppt_x"/>
                                          </p:val>
                                        </p:tav>
                                      </p:tavLst>
                                    </p:anim>
                                    <p:anim calcmode="lin" valueType="num">
                                      <p:cBhvr additive="base">
                                        <p:cTn id="19" dur="500" fill="hold"/>
                                        <p:tgtEl>
                                          <p:spTgt spid="7"/>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anim calcmode="lin" valueType="num">
                                      <p:cBhvr additive="base">
                                        <p:cTn id="28" dur="500" fill="hold"/>
                                        <p:tgtEl>
                                          <p:spTgt spid="9"/>
                                        </p:tgtEl>
                                        <p:attrNameLst>
                                          <p:attrName>ppt_x</p:attrName>
                                        </p:attrNameLst>
                                      </p:cBhvr>
                                      <p:tavLst>
                                        <p:tav tm="0">
                                          <p:val>
                                            <p:strVal val="#ppt_x"/>
                                          </p:val>
                                        </p:tav>
                                        <p:tav tm="100000">
                                          <p:val>
                                            <p:strVal val="#ppt_x"/>
                                          </p:val>
                                        </p:tav>
                                      </p:tavLst>
                                    </p:anim>
                                    <p:anim calcmode="lin" valueType="num">
                                      <p:cBhvr additive="base">
                                        <p:cTn id="29" dur="500" fill="hold"/>
                                        <p:tgtEl>
                                          <p:spTgt spid="9"/>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22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anim calcmode="lin" valueType="num">
                                      <p:cBhvr additive="base">
                                        <p:cTn id="33" dur="500" fill="hold"/>
                                        <p:tgtEl>
                                          <p:spTgt spid="10"/>
                                        </p:tgtEl>
                                        <p:attrNameLst>
                                          <p:attrName>ppt_x</p:attrName>
                                        </p:attrNameLst>
                                      </p:cBhvr>
                                      <p:tavLst>
                                        <p:tav tm="0">
                                          <p:val>
                                            <p:strVal val="#ppt_x"/>
                                          </p:val>
                                        </p:tav>
                                        <p:tav tm="100000">
                                          <p:val>
                                            <p:strVal val="#ppt_x"/>
                                          </p:val>
                                        </p:tav>
                                      </p:tavLst>
                                    </p:anim>
                                    <p:anim calcmode="lin" valueType="num">
                                      <p:cBhvr additive="base">
                                        <p:cTn id="34" dur="500" fill="hold"/>
                                        <p:tgtEl>
                                          <p:spTgt spid="10"/>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22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anim calcmode="lin" valueType="num">
                                      <p:cBhvr additive="base">
                                        <p:cTn id="38" dur="500" fill="hold"/>
                                        <p:tgtEl>
                                          <p:spTgt spid="11"/>
                                        </p:tgtEl>
                                        <p:attrNameLst>
                                          <p:attrName>ppt_x</p:attrName>
                                        </p:attrNameLst>
                                      </p:cBhvr>
                                      <p:tavLst>
                                        <p:tav tm="0">
                                          <p:val>
                                            <p:strVal val="#ppt_x"/>
                                          </p:val>
                                        </p:tav>
                                        <p:tav tm="100000">
                                          <p:val>
                                            <p:strVal val="#ppt_x"/>
                                          </p:val>
                                        </p:tav>
                                      </p:tavLst>
                                    </p:anim>
                                    <p:anim calcmode="lin" valueType="num">
                                      <p:cBhvr additive="base">
                                        <p:cTn id="39" dur="500" fill="hold"/>
                                        <p:tgtEl>
                                          <p:spTgt spid="11"/>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22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00"/>
                                        <p:tgtEl>
                                          <p:spTgt spid="12"/>
                                        </p:tgtEl>
                                      </p:cBhvr>
                                    </p:animEffect>
                                    <p:anim calcmode="lin" valueType="num">
                                      <p:cBhvr additive="base">
                                        <p:cTn id="43" dur="500" fill="hold"/>
                                        <p:tgtEl>
                                          <p:spTgt spid="12"/>
                                        </p:tgtEl>
                                        <p:attrNameLst>
                                          <p:attrName>ppt_x</p:attrName>
                                        </p:attrNameLst>
                                      </p:cBhvr>
                                      <p:tavLst>
                                        <p:tav tm="0">
                                          <p:val>
                                            <p:strVal val="#ppt_x"/>
                                          </p:val>
                                        </p:tav>
                                        <p:tav tm="100000">
                                          <p:val>
                                            <p:strVal val="#ppt_x"/>
                                          </p:val>
                                        </p:tav>
                                      </p:tavLst>
                                    </p:anim>
                                    <p:anim calcmode="lin" valueType="num">
                                      <p:cBhvr additive="base">
                                        <p:cTn id="44" dur="500" fill="hold"/>
                                        <p:tgtEl>
                                          <p:spTgt spid="12"/>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22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anim calcmode="lin" valueType="num">
                                      <p:cBhvr additive="base">
                                        <p:cTn id="48" dur="500" fill="hold"/>
                                        <p:tgtEl>
                                          <p:spTgt spid="13"/>
                                        </p:tgtEl>
                                        <p:attrNameLst>
                                          <p:attrName>ppt_x</p:attrName>
                                        </p:attrNameLst>
                                      </p:cBhvr>
                                      <p:tavLst>
                                        <p:tav tm="0">
                                          <p:val>
                                            <p:strVal val="#ppt_x"/>
                                          </p:val>
                                        </p:tav>
                                        <p:tav tm="100000">
                                          <p:val>
                                            <p:strVal val="#ppt_x"/>
                                          </p:val>
                                        </p:tav>
                                      </p:tavLst>
                                    </p:anim>
                                    <p:anim calcmode="lin" valueType="num">
                                      <p:cBhvr additive="base">
                                        <p:cTn id="49" dur="500" fill="hold"/>
                                        <p:tgtEl>
                                          <p:spTgt spid="13"/>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22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500"/>
                                        <p:tgtEl>
                                          <p:spTgt spid="14"/>
                                        </p:tgtEl>
                                      </p:cBhvr>
                                    </p:animEffect>
                                    <p:anim calcmode="lin" valueType="num">
                                      <p:cBhvr additive="base">
                                        <p:cTn id="53" dur="500" fill="hold"/>
                                        <p:tgtEl>
                                          <p:spTgt spid="14"/>
                                        </p:tgtEl>
                                        <p:attrNameLst>
                                          <p:attrName>ppt_x</p:attrName>
                                        </p:attrNameLst>
                                      </p:cBhvr>
                                      <p:tavLst>
                                        <p:tav tm="0">
                                          <p:val>
                                            <p:strVal val="#ppt_x"/>
                                          </p:val>
                                        </p:tav>
                                        <p:tav tm="100000">
                                          <p:val>
                                            <p:strVal val="#ppt_x"/>
                                          </p:val>
                                        </p:tav>
                                      </p:tavLst>
                                    </p:anim>
                                    <p:anim calcmode="lin" valueType="num">
                                      <p:cBhvr additive="base">
                                        <p:cTn id="54" dur="500" fill="hold"/>
                                        <p:tgtEl>
                                          <p:spTgt spid="14"/>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44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500"/>
                                        <p:tgtEl>
                                          <p:spTgt spid="15"/>
                                        </p:tgtEl>
                                      </p:cBhvr>
                                    </p:animEffect>
                                    <p:anim calcmode="lin" valueType="num">
                                      <p:cBhvr additive="base">
                                        <p:cTn id="58" dur="500" fill="hold"/>
                                        <p:tgtEl>
                                          <p:spTgt spid="15"/>
                                        </p:tgtEl>
                                        <p:attrNameLst>
                                          <p:attrName>ppt_x</p:attrName>
                                        </p:attrNameLst>
                                      </p:cBhvr>
                                      <p:tavLst>
                                        <p:tav tm="0">
                                          <p:val>
                                            <p:strVal val="#ppt_x"/>
                                          </p:val>
                                        </p:tav>
                                        <p:tav tm="100000">
                                          <p:val>
                                            <p:strVal val="#ppt_x"/>
                                          </p:val>
                                        </p:tav>
                                      </p:tavLst>
                                    </p:anim>
                                    <p:anim calcmode="lin" valueType="num">
                                      <p:cBhvr additive="base">
                                        <p:cTn id="59" dur="500" fill="hold"/>
                                        <p:tgtEl>
                                          <p:spTgt spid="15"/>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44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500"/>
                                        <p:tgtEl>
                                          <p:spTgt spid="16"/>
                                        </p:tgtEl>
                                      </p:cBhvr>
                                    </p:animEffect>
                                    <p:anim calcmode="lin" valueType="num">
                                      <p:cBhvr additive="base">
                                        <p:cTn id="63" dur="500" fill="hold"/>
                                        <p:tgtEl>
                                          <p:spTgt spid="16"/>
                                        </p:tgtEl>
                                        <p:attrNameLst>
                                          <p:attrName>ppt_x</p:attrName>
                                        </p:attrNameLst>
                                      </p:cBhvr>
                                      <p:tavLst>
                                        <p:tav tm="0">
                                          <p:val>
                                            <p:strVal val="#ppt_x"/>
                                          </p:val>
                                        </p:tav>
                                        <p:tav tm="100000">
                                          <p:val>
                                            <p:strVal val="#ppt_x"/>
                                          </p:val>
                                        </p:tav>
                                      </p:tavLst>
                                    </p:anim>
                                    <p:anim calcmode="lin" valueType="num">
                                      <p:cBhvr additive="base">
                                        <p:cTn id="64" dur="500" fill="hold"/>
                                        <p:tgtEl>
                                          <p:spTgt spid="16"/>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44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500"/>
                                        <p:tgtEl>
                                          <p:spTgt spid="17"/>
                                        </p:tgtEl>
                                      </p:cBhvr>
                                    </p:animEffect>
                                    <p:anim calcmode="lin" valueType="num">
                                      <p:cBhvr additive="base">
                                        <p:cTn id="68" dur="500" fill="hold"/>
                                        <p:tgtEl>
                                          <p:spTgt spid="17"/>
                                        </p:tgtEl>
                                        <p:attrNameLst>
                                          <p:attrName>ppt_x</p:attrName>
                                        </p:attrNameLst>
                                      </p:cBhvr>
                                      <p:tavLst>
                                        <p:tav tm="0">
                                          <p:val>
                                            <p:strVal val="#ppt_x"/>
                                          </p:val>
                                        </p:tav>
                                        <p:tav tm="100000">
                                          <p:val>
                                            <p:strVal val="#ppt_x"/>
                                          </p:val>
                                        </p:tav>
                                      </p:tavLst>
                                    </p:anim>
                                    <p:anim calcmode="lin" valueType="num">
                                      <p:cBhvr additive="base">
                                        <p:cTn id="69" dur="500" fill="hold"/>
                                        <p:tgtEl>
                                          <p:spTgt spid="17"/>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440"/>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500"/>
                                        <p:tgtEl>
                                          <p:spTgt spid="18"/>
                                        </p:tgtEl>
                                      </p:cBhvr>
                                    </p:animEffect>
                                    <p:anim calcmode="lin" valueType="num">
                                      <p:cBhvr additive="base">
                                        <p:cTn id="73" dur="500" fill="hold"/>
                                        <p:tgtEl>
                                          <p:spTgt spid="18"/>
                                        </p:tgtEl>
                                        <p:attrNameLst>
                                          <p:attrName>ppt_x</p:attrName>
                                        </p:attrNameLst>
                                      </p:cBhvr>
                                      <p:tavLst>
                                        <p:tav tm="0">
                                          <p:val>
                                            <p:strVal val="#ppt_x"/>
                                          </p:val>
                                        </p:tav>
                                        <p:tav tm="100000">
                                          <p:val>
                                            <p:strVal val="#ppt_x"/>
                                          </p:val>
                                        </p:tav>
                                      </p:tavLst>
                                    </p:anim>
                                    <p:anim calcmode="lin" valueType="num">
                                      <p:cBhvr additive="base">
                                        <p:cTn id="74" dur="500" fill="hold"/>
                                        <p:tgtEl>
                                          <p:spTgt spid="18"/>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440"/>
                                  </p:stCondLst>
                                  <p:childTnLst>
                                    <p:set>
                                      <p:cBhvr>
                                        <p:cTn id="76" dur="1" fill="hold">
                                          <p:stCondLst>
                                            <p:cond delay="0"/>
                                          </p:stCondLst>
                                        </p:cTn>
                                        <p:tgtEl>
                                          <p:spTgt spid="19"/>
                                        </p:tgtEl>
                                        <p:attrNameLst>
                                          <p:attrName>style.visibility</p:attrName>
                                        </p:attrNameLst>
                                      </p:cBhvr>
                                      <p:to>
                                        <p:strVal val="visible"/>
                                      </p:to>
                                    </p:set>
                                    <p:animEffect transition="in" filter="fade">
                                      <p:cBhvr>
                                        <p:cTn id="77" dur="500"/>
                                        <p:tgtEl>
                                          <p:spTgt spid="19"/>
                                        </p:tgtEl>
                                      </p:cBhvr>
                                    </p:animEffect>
                                    <p:anim calcmode="lin" valueType="num">
                                      <p:cBhvr additive="base">
                                        <p:cTn id="78" dur="500" fill="hold"/>
                                        <p:tgtEl>
                                          <p:spTgt spid="19"/>
                                        </p:tgtEl>
                                        <p:attrNameLst>
                                          <p:attrName>ppt_x</p:attrName>
                                        </p:attrNameLst>
                                      </p:cBhvr>
                                      <p:tavLst>
                                        <p:tav tm="0">
                                          <p:val>
                                            <p:strVal val="#ppt_x"/>
                                          </p:val>
                                        </p:tav>
                                        <p:tav tm="100000">
                                          <p:val>
                                            <p:strVal val="#ppt_x"/>
                                          </p:val>
                                        </p:tav>
                                      </p:tavLst>
                                    </p:anim>
                                    <p:anim calcmode="lin" valueType="num">
                                      <p:cBhvr additive="base">
                                        <p:cTn id="79" dur="5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0" grpId="0" animBg="1"/>
      <p:bldP spid="11" grpId="0" animBg="1"/>
      <p:bldP spid="13" grpId="0" animBg="1"/>
      <p:bldP spid="14" grpId="0" animBg="1"/>
      <p:bldP spid="15" grpId="0" animBg="1"/>
      <p:bldP spid="16" grpId="0" animBg="1"/>
      <p:bldP spid="18" grpId="0" animBg="1"/>
      <p:bldP spid="1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ring#105"/>
          <p:cNvSpPr/>
          <p:nvPr/>
        </p:nvSpPr>
        <p:spPr>
          <a:xfrm>
            <a:off x="9235440" y="-1554480"/>
            <a:ext cx="4206240" cy="4206240"/>
          </a:xfrm>
          <a:prstGeom prst="ellipse">
            <a:avLst/>
          </a:prstGeom>
          <a:solidFill>
            <a:srgbClr val="1BA39C">
              <a:alpha val="30000"/>
            </a:srgbClr>
          </a:solidFill>
          <a:ln/>
        </p:spPr>
      </p:sp>
      <p:sp>
        <p:nvSpPr>
          <p:cNvPr id="3" name="ring#106"/>
          <p:cNvSpPr/>
          <p:nvPr/>
        </p:nvSpPr>
        <p:spPr>
          <a:xfrm>
            <a:off x="9875520" y="-914400"/>
            <a:ext cx="2926080" cy="2926080"/>
          </a:xfrm>
          <a:prstGeom prst="ellipse">
            <a:avLst/>
          </a:prstGeom>
          <a:solidFill>
            <a:srgbClr val="1BA39C">
              <a:alpha val="18000"/>
            </a:srgbClr>
          </a:solidFill>
          <a:ln/>
        </p:spPr>
      </p:sp>
      <p:sp>
        <p:nvSpPr>
          <p:cNvPr id="4" name="ring#107"/>
          <p:cNvSpPr/>
          <p:nvPr/>
        </p:nvSpPr>
        <p:spPr>
          <a:xfrm>
            <a:off x="10515600" y="-274320"/>
            <a:ext cx="1645920" cy="1645920"/>
          </a:xfrm>
          <a:prstGeom prst="ellipse">
            <a:avLst/>
          </a:prstGeom>
          <a:solidFill>
            <a:srgbClr val="1BA39C">
              <a:alpha val="6000"/>
            </a:srgbClr>
          </a:solidFill>
          <a:ln/>
        </p:spPr>
      </p:sp>
      <p:sp>
        <p:nvSpPr>
          <p:cNvPr id="5" name="ring#108"/>
          <p:cNvSpPr/>
          <p:nvPr/>
        </p:nvSpPr>
        <p:spPr>
          <a:xfrm>
            <a:off x="-1005840" y="4754880"/>
            <a:ext cx="3291840" cy="3291840"/>
          </a:xfrm>
          <a:prstGeom prst="ellipse">
            <a:avLst/>
          </a:prstGeom>
          <a:solidFill>
            <a:srgbClr val="F28C28">
              <a:alpha val="18000"/>
            </a:srgbClr>
          </a:solidFill>
          <a:ln/>
        </p:spPr>
      </p:sp>
      <p:sp>
        <p:nvSpPr>
          <p:cNvPr id="6" name="ring#109"/>
          <p:cNvSpPr/>
          <p:nvPr/>
        </p:nvSpPr>
        <p:spPr>
          <a:xfrm>
            <a:off x="-457200" y="5303520"/>
            <a:ext cx="2194560" cy="2194560"/>
          </a:xfrm>
          <a:prstGeom prst="ellipse">
            <a:avLst/>
          </a:prstGeom>
          <a:solidFill>
            <a:srgbClr val="F28C28">
              <a:alpha val="6000"/>
            </a:srgbClr>
          </a:solidFill>
          <a:ln/>
        </p:spPr>
      </p:sp>
      <p:sp>
        <p:nvSpPr>
          <p:cNvPr id="7" name="thx"/>
          <p:cNvSpPr txBox="1"/>
          <p:nvPr/>
        </p:nvSpPr>
        <p:spPr>
          <a:xfrm>
            <a:off x="548640" y="2103120"/>
            <a:ext cx="11064240" cy="1097280"/>
          </a:xfrm>
          <a:prstGeom prst="rect">
            <a:avLst/>
          </a:prstGeom>
          <a:noFill/>
          <a:ln/>
        </p:spPr>
        <p:txBody>
          <a:bodyPr wrap="square" lIns="0" tIns="0" rIns="0" bIns="0" rtlCol="0" anchor="ctr"/>
          <a:lstStyle/>
          <a:p>
            <a:pPr marL="0" indent="0" algn="ctr">
              <a:buNone/>
            </a:pPr>
            <a:r>
              <a:rPr lang="en-US" sz="4800" b="1" dirty="0">
                <a:solidFill>
                  <a:schemeClr val="bg1"/>
                </a:solidFill>
              </a:rPr>
              <a:t>Merci de votre attention</a:t>
            </a:r>
            <a:endParaRPr lang="en-US" sz="4800" dirty="0"/>
          </a:p>
        </p:txBody>
      </p:sp>
      <p:sp>
        <p:nvSpPr>
          <p:cNvPr id="8" name="q"/>
          <p:cNvSpPr txBox="1"/>
          <p:nvPr/>
        </p:nvSpPr>
        <p:spPr>
          <a:xfrm>
            <a:off x="548640" y="3200400"/>
            <a:ext cx="11064240" cy="640080"/>
          </a:xfrm>
          <a:prstGeom prst="rect">
            <a:avLst/>
          </a:prstGeom>
          <a:noFill/>
          <a:ln/>
        </p:spPr>
        <p:txBody>
          <a:bodyPr wrap="square" lIns="0" tIns="0" rIns="0" bIns="0" rtlCol="0" anchor="t"/>
          <a:lstStyle/>
          <a:p>
            <a:pPr marL="0" indent="0" algn="ctr">
              <a:buNone/>
            </a:pPr>
            <a:r>
              <a:rPr lang="en-US" sz="2600" b="1" dirty="0">
                <a:solidFill>
                  <a:schemeClr val="accent2"/>
                </a:solidFill>
              </a:rPr>
              <a:t>Questions ?</a:t>
            </a:r>
            <a:endParaRPr lang="en-US" sz="2600" dirty="0"/>
          </a:p>
        </p:txBody>
      </p:sp>
      <p:sp>
        <p:nvSpPr>
          <p:cNvPr id="9" name="gh"/>
          <p:cNvSpPr txBox="1"/>
          <p:nvPr/>
        </p:nvSpPr>
        <p:spPr>
          <a:xfrm>
            <a:off x="548640" y="4114800"/>
            <a:ext cx="11064240" cy="457200"/>
          </a:xfrm>
          <a:prstGeom prst="rect">
            <a:avLst/>
          </a:prstGeom>
          <a:noFill/>
          <a:ln/>
        </p:spPr>
        <p:txBody>
          <a:bodyPr wrap="square" lIns="0" tIns="0" rIns="0" bIns="0" rtlCol="0" anchor="t"/>
          <a:lstStyle/>
          <a:p>
            <a:pPr marL="0" indent="0" algn="ctr">
              <a:buNone/>
            </a:pPr>
            <a:r>
              <a:rPr lang="en-US" sz="1600" dirty="0">
                <a:solidFill>
                  <a:srgbClr val="C9D3E3"/>
                </a:solidFill>
              </a:rPr>
              <a:t>github.com/malickabdoul/employee-soap-servic</a:t>
            </a:r>
            <a:endParaRPr lang="en-US" sz="1600" dirty="0"/>
          </a:p>
        </p:txBody>
      </p:sp>
      <p:sp>
        <p:nvSpPr>
          <p:cNvPr id="10" name="mb"/>
          <p:cNvSpPr txBox="1"/>
          <p:nvPr/>
        </p:nvSpPr>
        <p:spPr>
          <a:xfrm>
            <a:off x="548640" y="5760720"/>
            <a:ext cx="11064240" cy="457200"/>
          </a:xfrm>
          <a:prstGeom prst="rect">
            <a:avLst/>
          </a:prstGeom>
          <a:noFill/>
          <a:ln/>
        </p:spPr>
        <p:txBody>
          <a:bodyPr wrap="square" lIns="0" tIns="0" rIns="0" bIns="0" rtlCol="0" anchor="t"/>
          <a:lstStyle/>
          <a:p>
            <a:pPr marL="0" indent="0" algn="ctr">
              <a:buNone/>
            </a:pPr>
            <a:r>
              <a:rPr lang="en-US" sz="1200" dirty="0">
                <a:solidFill>
                  <a:srgbClr val="9FB0CC"/>
                </a:solidFill>
              </a:rPr>
              <a:t>NANA Abdoul Faycal   ·   OUEDRAOGO Y. Ibrahim   ·   KABORE Wend-Barka Boukary   ·   TINDANO Fernand Amed   ·   KOMPAORE Abdoul Malick</a:t>
            </a:r>
            <a:endParaRPr lang="en-US" sz="12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ppt_w</p:attrName>
                                        </p:attrNameLst>
                                      </p:cBhvr>
                                      <p:tavLst>
                                        <p:tav tm="0">
                                          <p:val>
                                            <p:strVal val="0"/>
                                          </p:val>
                                        </p:tav>
                                        <p:tav tm="100000">
                                          <p:val>
                                            <p:strVal val="#ppt_w"/>
                                          </p:val>
                                        </p:tav>
                                      </p:tavLst>
                                    </p:anim>
                                    <p:anim calcmode="lin" valueType="num">
                                      <p:cBhvr additive="base">
                                        <p:cTn id="8" dur="500" fill="hold"/>
                                        <p:tgtEl>
                                          <p:spTgt spid="7"/>
                                        </p:tgtEl>
                                        <p:attrNameLst>
                                          <p:attrName>ppt_h</p:attrName>
                                        </p:attrNameLst>
                                      </p:cBhvr>
                                      <p:tavLst>
                                        <p:tav tm="0">
                                          <p:val>
                                            <p:strVal val="0"/>
                                          </p:val>
                                        </p:tav>
                                        <p:tav tm="100000">
                                          <p:val>
                                            <p:strVal val="#ppt_h"/>
                                          </p:val>
                                        </p:tav>
                                      </p:tavLst>
                                    </p:anim>
                                    <p:animEffect transition="in" filter="fade">
                                      <p:cBhvr>
                                        <p:cTn id="9" dur="500"/>
                                        <p:tgtEl>
                                          <p:spTgt spid="7"/>
                                        </p:tgtEl>
                                      </p:cBhvr>
                                    </p:animEffect>
                                  </p:childTnLst>
                                </p:cTn>
                              </p:par>
                              <p:par>
                                <p:cTn id="10" presetID="42" presetClass="entr" presetSubtype="0" fill="hold" grpId="0" nodeType="withEffect">
                                  <p:stCondLst>
                                    <p:cond delay="22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ppt_y+.1"/>
                                          </p:val>
                                        </p:tav>
                                        <p:tav tm="100000">
                                          <p:val>
                                            <p:strVal val="#ppt_y"/>
                                          </p:val>
                                        </p:tav>
                                      </p:tavLst>
                                    </p:anim>
                                  </p:childTnLst>
                                </p:cTn>
                              </p:par>
                              <p:par>
                                <p:cTn id="15" presetID="10" presetClass="entr" presetSubtype="0" fill="hold" grpId="0" nodeType="withEffect">
                                  <p:stCondLst>
                                    <p:cond delay="44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par>
                                <p:cTn id="18" presetID="10" presetClass="entr" presetSubtype="0" fill="hold" grpId="0" nodeType="withEffect">
                                  <p:stCondLst>
                                    <p:cond delay="44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Lst>
  </p:timing>
</p:sld>
</file>

<file path=ppt/theme/theme1.xml><?xml version="1.0" encoding="utf-8"?>
<a:theme xmlns:a="http://schemas.openxmlformats.org/drawingml/2006/main" name="SOAP Employes">
  <a:themeElements>
    <a:clrScheme name="SOAP Employes">
      <a:dk1>
        <a:srgbClr val="16213A"/>
      </a:dk1>
      <a:lt1>
        <a:srgbClr val="FFFFFF"/>
      </a:lt1>
      <a:dk2>
        <a:srgbClr val="0D2340"/>
      </a:dk2>
      <a:lt2>
        <a:srgbClr val="F2F5FA"/>
      </a:lt2>
      <a:accent1>
        <a:srgbClr val="0D2340"/>
      </a:accent1>
      <a:accent2>
        <a:srgbClr val="F28C28"/>
      </a:accent2>
      <a:accent3>
        <a:srgbClr val="1BA39C"/>
      </a:accent3>
      <a:accent4>
        <a:srgbClr val="3D6FD8"/>
      </a:accent4>
      <a:accent5>
        <a:srgbClr val="E04F5F"/>
      </a:accent5>
      <a:accent6>
        <a:srgbClr val="8B97AD"/>
      </a:accent6>
      <a:hlink>
        <a:srgbClr val="3D6FD8"/>
      </a:hlink>
      <a:folHlink>
        <a:srgbClr val="8B97AD"/>
      </a:folHlink>
    </a:clrScheme>
    <a:fontScheme name="SOAP Employe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TotalTime>
  <Words>1690</Words>
  <Application>Microsoft Office PowerPoint</Application>
  <PresentationFormat>Grand écran</PresentationFormat>
  <Paragraphs>385</Paragraphs>
  <Slides>25</Slides>
  <Notes>25</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25</vt:i4>
      </vt:variant>
    </vt:vector>
  </HeadingPairs>
  <TitlesOfParts>
    <vt:vector size="29" baseType="lpstr">
      <vt:lpstr>Arial</vt:lpstr>
      <vt:lpstr>Calibri</vt:lpstr>
      <vt:lpstr>Courier New</vt:lpstr>
      <vt:lpstr>SOAP Employes</vt:lpstr>
      <vt:lpstr>Présentation PowerPoint</vt:lpstr>
      <vt:lpstr>Membres du groupe</vt:lpstr>
      <vt:lpstr>Plan de la présentation</vt:lpstr>
      <vt:lpstr>Présentation PowerPoint</vt:lpstr>
      <vt:lpstr>Six exigences à couvrir</vt:lpstr>
      <vt:lpstr>Présentation PowerPoint</vt:lpstr>
      <vt:lpstr>Présentation PowerPoint</vt:lpstr>
      <vt:lpstr>Architecture de la solution</vt:lpstr>
      <vt:lpstr>Technologies utilisées</vt:lpstr>
      <vt:lpstr>Modèle commun d'employé</vt:lpstr>
      <vt:lpstr>Présentation PowerPoint</vt:lpstr>
      <vt:lpstr>Le job aller : MySQL vers PostgreSQL</vt:lpstr>
      <vt:lpstr>Résultat de la synchronisation</vt:lpstr>
      <vt:lpstr>Le retour vers MySQL</vt:lpstr>
      <vt:lpstr>Présentation PowerPoint</vt:lpstr>
      <vt:lpstr>Trois opérations SOAP</vt:lpstr>
      <vt:lpstr>Contrat WSDL et exemple d'appel</vt:lpstr>
      <vt:lpstr>Gestion des erreurs SOAP</vt:lpstr>
      <vt:lpstr>Présentation PowerPoint</vt:lpstr>
      <vt:lpstr>Supervision avec Netdata</vt:lpstr>
      <vt:lpstr>Des tests à tous les niveaux</vt:lpstr>
      <vt:lpstr>Scénario de démonstration</vt:lpstr>
      <vt:lpstr>Présentation PowerPoint</vt:lpstr>
      <vt:lpstr>Bilan et perspectives</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Service SOAP de gestion des employés</dc:title>
  <dc:subject>PptxGenJS Presentation</dc:subject>
  <dc:creator>Groupe 6 SI</dc:creator>
  <cp:lastModifiedBy>KOMPAORE Abdoul Malick</cp:lastModifiedBy>
  <cp:revision>2</cp:revision>
  <dcterms:created xsi:type="dcterms:W3CDTF">2026-10-19T15:28:26Z</dcterms:created>
  <dcterms:modified xsi:type="dcterms:W3CDTF">2026-10-29T15:11:34Z</dcterms:modified>
</cp:coreProperties>
</file>