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b82807d-f7fa-8e2d-cc91-9d3d20810394}">
          <p14:sldIdLst>
            <p14:sldId id="256"/>
            <p14:sldId id="257"/>
          </p14:sldIdLst>
        </p14:section>
        <p14:section name="Architecture" id="{0a5c0fd7-1aad-ab1e-e1f0-05c35def9874}">
          <p14:sldIdLst>
            <p14:sldId id="258"/>
            <p14:sldId id="259"/>
          </p14:sldIdLst>
        </p14:section>
        <p14:section name="Réalisation" id="{7a305b87-2dc1-3b94-231d-341ea9c08538}">
          <p14:sldIdLst>
            <p14:sldId id="260"/>
            <p14:sldId id="261"/>
            <p14:sldId id="262"/>
            <p14:sldId id="263"/>
            <p14:sldId id="264"/>
          </p14:sldIdLst>
        </p14:section>
        <p14:section name="Validation" id="{631c5f1a-7fe6-82fc-9cf0-afdc427e9abf}">
          <p14:sldIdLst>
            <p14:sldId id="265"/>
            <p14:sldId id="266"/>
            <p14:sldId id="267"/>
          </p14:sldIdLst>
        </p14:section>
        <p14:section name="Conclusion" id="{69f088e9-ae33-d788-9113-d0ef1f93e80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du groupe et du thème 4 : un service SOAP de gestion des employés, alimenté par une synchronisation Pentaho et supervisé par Netdata.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L'énoncé fixe six étapes. Chacune correspond à une partie du dépôt Git, détaillée dans la suite.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données partent de MySQL, sont nettoyées par Pentaho et arrivent dans PostgreSQL, qui est la seule base utilisée par le service. Les modifications SOAP repartent vers MySQL par l'outbox.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modèle est identique partout. On a choisi PostgreSQL comme référence parce que c'est la cible de Pentaho et que ses contraintes protègent le modèle.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job sync_mysql_to_pg vide la zone de transit, lance la transformation en cinq étapes puis fusionne avec ON CONFLICT. Sur nos données fictives, 20 lignes passent et 3 sont rejetées avec leur motif dans sync_reject.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Nous avons choisi l'approche contract-first : le WSDL est le livrable de référence et le code Java en est généré.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erreurs dues au client utilisent soap:Client, la panne de base soap:Server. Le detail contient un code, un message et la liste des champs en erreur.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patron outbox transactionnelle. Le test de bout en bout vérifie qu'une valeur modifiée en SOAP n'est pas écrasée par l'ancienne valeur MySQL.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Netdata est configuré par trois collecteurs go.d et une alerte. Nous avons vérifié que l'alerte passe en CRITICAL quand on arrête le conteneur du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trois niveaux de tests sont dans le dépôt avec leurs résultats attendus, dans tests/resultats-attendus.md.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exactement ce que fait le script tests/e2e/e2e.sh ; on peut le lancer en direct pendant la soutenance.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membre présente sa partie lors de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Conclure sur ce qui fonctionne, les limites connues et les améliorations possibles.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Thème 4 · Groupe 6 SI · IBAM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Service SOAP de gestion des employés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Java · Apache CXF · Pentaho · Netdata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Projet Développement à base de composants et services web · Thème 4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Filière SI · Groupe 6 · Octobre 2026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NANA Abdoul Faycal · OUEDRAOGO Y. Ibrahim · KABORE Wend-Barka Boukary · TINDANO Fernand Amed · KOMPAORE Abdoul Malick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Six exigences, toutes couvertes</a:t>
            </a:r>
            <a:endParaRPr lang="en-US" sz="3200" dirty="0"/>
          </a:p>
        </p:txBody>
      </p:sp>
      <p:sp>
        <p:nvSpPr>
          <p:cNvPr id="3" name="Exigence 1"/>
          <p:cNvSpPr/>
          <p:nvPr/>
        </p:nvSpPr>
        <p:spPr>
          <a:xfrm>
            <a:off x="548640" y="141732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ône exigence 1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ône exigence 1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73736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1. Modèle commun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68880"/>
            <a:ext cx="2971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Même modèle d'employé dans MySQL, PostgreSQL et le WSDL. PostgreSQL est la base de référence.</a:t>
            </a:r>
            <a:endParaRPr lang="en-US" sz="1400" dirty="0"/>
          </a:p>
        </p:txBody>
      </p:sp>
      <p:sp>
        <p:nvSpPr>
          <p:cNvPr id="8" name="Exigence 2"/>
          <p:cNvSpPr/>
          <p:nvPr/>
        </p:nvSpPr>
        <p:spPr>
          <a:xfrm>
            <a:off x="4297680" y="141732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ône exigence 2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ône exigence 2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18516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9240" y="173736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 Synchro Pentaho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468880"/>
            <a:ext cx="2971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MySQL vers PostgreSQL : nettoyage, normalisation, validation, rejets tracés.</a:t>
            </a:r>
            <a:endParaRPr lang="en-US" sz="1400" dirty="0"/>
          </a:p>
        </p:txBody>
      </p:sp>
      <p:sp>
        <p:nvSpPr>
          <p:cNvPr id="13" name="Exigence 3"/>
          <p:cNvSpPr/>
          <p:nvPr/>
        </p:nvSpPr>
        <p:spPr>
          <a:xfrm>
            <a:off x="8046720" y="141732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ône exigence 3"/>
          <p:cNvSpPr/>
          <p:nvPr/>
        </p:nvSpPr>
        <p:spPr>
          <a:xfrm>
            <a:off x="8321040" y="16916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ône exigence 3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18516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98280" y="173736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3. 3 opérations SOAP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468880"/>
            <a:ext cx="2971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getEmployeeDetails, createEmployee et updateEmployee avec Apache CXF.</a:t>
            </a:r>
            <a:endParaRPr lang="en-US" sz="1400" dirty="0"/>
          </a:p>
        </p:txBody>
      </p:sp>
      <p:sp>
        <p:nvSpPr>
          <p:cNvPr id="18" name="Exigence 4"/>
          <p:cNvSpPr/>
          <p:nvPr/>
        </p:nvSpPr>
        <p:spPr>
          <a:xfrm>
            <a:off x="548640" y="384048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ône exigence 4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cône exigence 4 icô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4. WSDL et Faults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892040"/>
            <a:ext cx="2971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Contrat publié sur ?wsdl et 4 erreurs SOAP typées et documentées.</a:t>
            </a:r>
            <a:endParaRPr lang="en-US" sz="1400" dirty="0"/>
          </a:p>
        </p:txBody>
      </p:sp>
      <p:sp>
        <p:nvSpPr>
          <p:cNvPr id="23" name="Exigence 5"/>
          <p:cNvSpPr/>
          <p:nvPr/>
        </p:nvSpPr>
        <p:spPr>
          <a:xfrm>
            <a:off x="4297680" y="384048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ône exigence 5"/>
          <p:cNvSpPr/>
          <p:nvPr/>
        </p:nvSpPr>
        <p:spPr>
          <a:xfrm>
            <a:off x="4572000" y="41148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cône exigence 5 icô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27482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49240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5. Retour vers MySQL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4892040"/>
            <a:ext cx="2971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Outbox transactionnelle et job Pentaho inverse, sans boucle.</a:t>
            </a:r>
            <a:endParaRPr lang="en-US" sz="1400" dirty="0"/>
          </a:p>
        </p:txBody>
      </p:sp>
      <p:sp>
        <p:nvSpPr>
          <p:cNvPr id="28" name="Exigence 6"/>
          <p:cNvSpPr/>
          <p:nvPr/>
        </p:nvSpPr>
        <p:spPr>
          <a:xfrm>
            <a:off x="8046720" y="384048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ône exigence 6"/>
          <p:cNvSpPr/>
          <p:nvPr/>
        </p:nvSpPr>
        <p:spPr>
          <a:xfrm>
            <a:off x="8321040" y="41148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cône exigence 6 icô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060" y="427482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98280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6. Netdata et bout en bout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4892040"/>
            <a:ext cx="2971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Métriques des bases et du service, alerte, test complet 23/23.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Une chaîne complète, de MySQL à Netdata</a:t>
            </a:r>
            <a:endParaRPr lang="en-US" sz="3200" dirty="0"/>
          </a:p>
        </p:txBody>
      </p:sp>
      <p:sp>
        <p:nvSpPr>
          <p:cNvPr id="3" name="MySQL"/>
          <p:cNvSpPr/>
          <p:nvPr/>
        </p:nvSpPr>
        <p:spPr>
          <a:xfrm>
            <a:off x="548640" y="1828800"/>
            <a:ext cx="2377440" cy="1280160"/>
          </a:xfrm>
          <a:prstGeom prst="roundRect">
            <a:avLst>
              <a:gd name="adj" fmla="val 857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377440" cy="128016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MySQL 8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base source RH</a:t>
            </a:r>
            <a:endParaRPr lang="en-US" sz="1700" dirty="0"/>
          </a:p>
        </p:txBody>
      </p:sp>
      <p:sp>
        <p:nvSpPr>
          <p:cNvPr id="5" name="Pentaho"/>
          <p:cNvSpPr/>
          <p:nvPr/>
        </p:nvSpPr>
        <p:spPr>
          <a:xfrm>
            <a:off x="3749040" y="1828800"/>
            <a:ext cx="2377440" cy="1280160"/>
          </a:xfrm>
          <a:prstGeom prst="roundRect">
            <a:avLst>
              <a:gd name="adj" fmla="val 857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749040" y="1828800"/>
            <a:ext cx="2377440" cy="128016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Pentaho PDI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jobs aller et retour</a:t>
            </a:r>
            <a:endParaRPr lang="en-US" sz="1700" dirty="0"/>
          </a:p>
        </p:txBody>
      </p:sp>
      <p:sp>
        <p:nvSpPr>
          <p:cNvPr id="7" name="PostgreSQL"/>
          <p:cNvSpPr/>
          <p:nvPr/>
        </p:nvSpPr>
        <p:spPr>
          <a:xfrm>
            <a:off x="6949440" y="1828800"/>
            <a:ext cx="2377440" cy="128016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1828800"/>
            <a:ext cx="2377440" cy="128016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PostgreSQL 16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base de référence</a:t>
            </a:r>
            <a:endParaRPr lang="en-US" sz="1700" dirty="0"/>
          </a:p>
        </p:txBody>
      </p:sp>
      <p:sp>
        <p:nvSpPr>
          <p:cNvPr id="9" name="Service"/>
          <p:cNvSpPr/>
          <p:nvPr/>
        </p:nvSpPr>
        <p:spPr>
          <a:xfrm>
            <a:off x="6949440" y="4206240"/>
            <a:ext cx="2377440" cy="128016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206240"/>
            <a:ext cx="2377440" cy="128016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Service SOAP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Spring Boot 3 + CXF 4</a:t>
            </a:r>
            <a:endParaRPr lang="en-US" sz="1700" dirty="0"/>
          </a:p>
        </p:txBody>
      </p:sp>
      <p:sp>
        <p:nvSpPr>
          <p:cNvPr id="11" name="SoapUI"/>
          <p:cNvSpPr/>
          <p:nvPr/>
        </p:nvSpPr>
        <p:spPr>
          <a:xfrm>
            <a:off x="9784080" y="4206240"/>
            <a:ext cx="1828800" cy="128016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84080" y="4206240"/>
            <a:ext cx="1828800" cy="128016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SoapUI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client de test</a:t>
            </a:r>
            <a:endParaRPr lang="en-US" sz="1700" dirty="0"/>
          </a:p>
        </p:txBody>
      </p:sp>
      <p:sp>
        <p:nvSpPr>
          <p:cNvPr id="13" name="Netdata"/>
          <p:cNvSpPr/>
          <p:nvPr/>
        </p:nvSpPr>
        <p:spPr>
          <a:xfrm>
            <a:off x="548640" y="4206240"/>
            <a:ext cx="2377440" cy="1280160"/>
          </a:xfrm>
          <a:prstGeom prst="roundRect">
            <a:avLst>
              <a:gd name="adj" fmla="val 857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206240"/>
            <a:ext cx="2377440" cy="128016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Netdata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supervision :19999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2926080" y="2240280"/>
            <a:ext cx="822960" cy="914"/>
          </a:xfrm>
          <a:prstGeom prst="line">
            <a:avLst/>
          </a:prstGeom>
          <a:noFill/>
          <a:ln w="25400">
            <a:solidFill>
              <a:srgbClr val="1B2A2F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2926080" y="1874520"/>
            <a:ext cx="822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extraction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2240280"/>
            <a:ext cx="822960" cy="914"/>
          </a:xfrm>
          <a:prstGeom prst="line">
            <a:avLst/>
          </a:prstGeom>
          <a:noFill/>
          <a:ln w="25400">
            <a:solidFill>
              <a:srgbClr val="1B2A2F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126480" y="1874520"/>
            <a:ext cx="822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chargement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flipH="1">
            <a:off x="6126480" y="2697480"/>
            <a:ext cx="822960" cy="914"/>
          </a:xfrm>
          <a:prstGeom prst="line">
            <a:avLst/>
          </a:prstGeom>
          <a:noFill/>
          <a:ln w="25400">
            <a:solidFill>
              <a:srgbClr val="1B2A2F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26480" y="2743200"/>
            <a:ext cx="822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outbox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flipH="1">
            <a:off x="2926080" y="2697480"/>
            <a:ext cx="822960" cy="914"/>
          </a:xfrm>
          <a:prstGeom prst="line">
            <a:avLst/>
          </a:prstGeom>
          <a:noFill/>
          <a:ln w="25400">
            <a:solidFill>
              <a:srgbClr val="1B2A2F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926080" y="2743200"/>
            <a:ext cx="822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Insert/Update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38160" y="3108960"/>
            <a:ext cx="914" cy="1097280"/>
          </a:xfrm>
          <a:prstGeom prst="line">
            <a:avLst/>
          </a:prstGeom>
          <a:noFill/>
          <a:ln w="25400">
            <a:solidFill>
              <a:srgbClr val="1B2A2F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8229600" y="3474720"/>
            <a:ext cx="731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JDBC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flipH="1">
            <a:off x="9326880" y="4846320"/>
            <a:ext cx="457200" cy="914"/>
          </a:xfrm>
          <a:prstGeom prst="line">
            <a:avLst/>
          </a:prstGeom>
          <a:noFill/>
          <a:ln w="25400">
            <a:solidFill>
              <a:srgbClr val="1B2A2F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3291840" y="4343400"/>
            <a:ext cx="3383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Netdata lit les métriques de MySQL, PostgreSQL et du service (/actuator/prometheus). Tout tourne dans Docker Compose, sauf Pentaho qui s'installe à part.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Modèle commun et base de référence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32918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Champ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Règle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matricule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VARCHAR(20)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clé métier, format EMP-0000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nom, prenom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VARCHAR(100)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obligatoires, nom en majuscules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email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VARCHAR(150)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format valide, unique, minuscules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date_naissance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DATE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au moins 18 ans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date_embauche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DATE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pas dans le futur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departement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VARCHAR(100)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doit exister (6 libellés)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salaire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NUMERIC(12,2)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strictement positif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statut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ENUM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ACTIF, SUSPENDU, SORTI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source, updated_at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texte, TIMESTAMP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origine et date de la dernière modification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Encadré base de référence"/>
          <p:cNvSpPr/>
          <p:nvPr/>
        </p:nvSpPr>
        <p:spPr>
          <a:xfrm>
            <a:off x="7955280" y="1371600"/>
            <a:ext cx="3657600" cy="4389120"/>
          </a:xfrm>
          <a:prstGeom prst="roundRect">
            <a:avLst>
              <a:gd name="adj" fmla="val 3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Icône référence"/>
          <p:cNvSpPr/>
          <p:nvPr/>
        </p:nvSpPr>
        <p:spPr>
          <a:xfrm>
            <a:off x="8229600" y="164592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cône référence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9620" y="1805940"/>
            <a:ext cx="320040" cy="320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0" y="242316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PostgreSQL = référence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229600" y="2971800"/>
            <a:ext cx="320040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Cible de Pentaho : données nettoyées et validées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Contraintes CHECK, clé étrangère, unicité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Seule base lue et écrite par le service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Mêmes règles dans Pentaho et en Java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Pentaho : de MySQL vers PostgreSQL</a:t>
            </a:r>
            <a:endParaRPr lang="en-US" sz="3200" dirty="0"/>
          </a:p>
        </p:txBody>
      </p:sp>
      <p:sp>
        <p:nvSpPr>
          <p:cNvPr id="3" name="Étape 1"/>
          <p:cNvSpPr/>
          <p:nvPr/>
        </p:nvSpPr>
        <p:spPr>
          <a:xfrm>
            <a:off x="1051560" y="1463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1760"/>
            <a:ext cx="1691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table employes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1805940"/>
            <a:ext cx="1097280" cy="0"/>
          </a:xfrm>
          <a:prstGeom prst="line">
            <a:avLst/>
          </a:prstGeom>
          <a:noFill/>
          <a:ln w="19050">
            <a:solidFill>
              <a:srgbClr val="8AA6A3"/>
            </a:solidFill>
            <a:prstDash val="solid"/>
            <a:tailEnd type="triangle"/>
          </a:ln>
        </p:spPr>
      </p:sp>
      <p:sp>
        <p:nvSpPr>
          <p:cNvPr id="8" name="Étape 2"/>
          <p:cNvSpPr/>
          <p:nvPr/>
        </p:nvSpPr>
        <p:spPr>
          <a:xfrm>
            <a:off x="2926080" y="1463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Nettoyer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2651760"/>
            <a:ext cx="1691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espaces, casse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03320" y="1805940"/>
            <a:ext cx="1097280" cy="0"/>
          </a:xfrm>
          <a:prstGeom prst="line">
            <a:avLst/>
          </a:prstGeom>
          <a:noFill/>
          <a:ln w="19050">
            <a:solidFill>
              <a:srgbClr val="8AA6A3"/>
            </a:solidFill>
            <a:prstDash val="solid"/>
            <a:tailEnd type="triangle"/>
          </a:ln>
        </p:spPr>
      </p:sp>
      <p:sp>
        <p:nvSpPr>
          <p:cNvPr id="13" name="Étape 3"/>
          <p:cNvSpPr/>
          <p:nvPr/>
        </p:nvSpPr>
        <p:spPr>
          <a:xfrm>
            <a:off x="4800600" y="1463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Normaliser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2651760"/>
            <a:ext cx="1691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alias de département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577840" y="1805940"/>
            <a:ext cx="1097280" cy="0"/>
          </a:xfrm>
          <a:prstGeom prst="line">
            <a:avLst/>
          </a:prstGeom>
          <a:noFill/>
          <a:ln w="19050">
            <a:solidFill>
              <a:srgbClr val="8AA6A3"/>
            </a:solidFill>
            <a:prstDash val="solid"/>
            <a:tailEnd type="triangle"/>
          </a:ln>
        </p:spPr>
      </p:sp>
      <p:sp>
        <p:nvSpPr>
          <p:cNvPr id="18" name="Étape 4"/>
          <p:cNvSpPr/>
          <p:nvPr/>
        </p:nvSpPr>
        <p:spPr>
          <a:xfrm>
            <a:off x="6675120" y="1463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Valider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2651760"/>
            <a:ext cx="1691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règles du modèle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452360" y="1805940"/>
            <a:ext cx="1097280" cy="0"/>
          </a:xfrm>
          <a:prstGeom prst="line">
            <a:avLst/>
          </a:prstGeom>
          <a:noFill/>
          <a:ln w="19050">
            <a:solidFill>
              <a:srgbClr val="8AA6A3"/>
            </a:solidFill>
            <a:prstDash val="solid"/>
            <a:tailEnd type="triangle"/>
          </a:ln>
        </p:spPr>
      </p:sp>
      <p:sp>
        <p:nvSpPr>
          <p:cNvPr id="23" name="Étape 5"/>
          <p:cNvSpPr/>
          <p:nvPr/>
        </p:nvSpPr>
        <p:spPr>
          <a:xfrm>
            <a:off x="8549640" y="1463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4964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Charger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651760"/>
            <a:ext cx="1691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transit ou rejets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326880" y="1805940"/>
            <a:ext cx="1097280" cy="0"/>
          </a:xfrm>
          <a:prstGeom prst="line">
            <a:avLst/>
          </a:prstGeom>
          <a:noFill/>
          <a:ln w="19050">
            <a:solidFill>
              <a:srgbClr val="8AA6A3"/>
            </a:solidFill>
            <a:prstDash val="solid"/>
            <a:tailEnd type="triangle"/>
          </a:ln>
        </p:spPr>
      </p:sp>
      <p:sp>
        <p:nvSpPr>
          <p:cNvPr id="28" name="Étape 6"/>
          <p:cNvSpPr/>
          <p:nvPr/>
        </p:nvSpPr>
        <p:spPr>
          <a:xfrm>
            <a:off x="10424160" y="1463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2416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Fusionner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921240" y="2651760"/>
            <a:ext cx="1691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 plus récente gagne</a:t>
            </a:r>
            <a:endParaRPr lang="en-US" sz="1300" dirty="0"/>
          </a:p>
        </p:txBody>
      </p:sp>
      <p:sp>
        <p:nvSpPr>
          <p:cNvPr id="32" name="Statistique employés lus dans MySQL"/>
          <p:cNvSpPr/>
          <p:nvPr/>
        </p:nvSpPr>
        <p:spPr>
          <a:xfrm>
            <a:off x="548640" y="3749040"/>
            <a:ext cx="2743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886200"/>
            <a:ext cx="27432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employés lus dans MySQL</a:t>
            </a:r>
            <a:endParaRPr lang="en-US" sz="1400" dirty="0"/>
          </a:p>
        </p:txBody>
      </p:sp>
      <p:sp>
        <p:nvSpPr>
          <p:cNvPr id="35" name="Statistique chargés dans PostgreSQL"/>
          <p:cNvSpPr/>
          <p:nvPr/>
        </p:nvSpPr>
        <p:spPr>
          <a:xfrm>
            <a:off x="3520440" y="3749040"/>
            <a:ext cx="2743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20440" y="3886200"/>
            <a:ext cx="27432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7" name="Text 35"/>
          <p:cNvSpPr txBox="1"/>
          <p:nvPr/>
        </p:nvSpPr>
        <p:spPr>
          <a:xfrm>
            <a:off x="352044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chargés dans PostgreSQL</a:t>
            </a:r>
            <a:endParaRPr lang="en-US" sz="1400" dirty="0"/>
          </a:p>
        </p:txBody>
      </p:sp>
      <p:sp>
        <p:nvSpPr>
          <p:cNvPr id="38" name="Statistique rejetés avec leur motif"/>
          <p:cNvSpPr/>
          <p:nvPr/>
        </p:nvSpPr>
        <p:spPr>
          <a:xfrm>
            <a:off x="6492240" y="3749040"/>
            <a:ext cx="2743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92240" y="3886200"/>
            <a:ext cx="27432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rejetés avec leur motif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9464040" y="3840480"/>
            <a:ext cx="22860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EMP-0021 : nom obligatoire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EMP-0022 : email invalide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EMP-0023 : salaire doit être &gt; 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chemeClr val="accent2"/>
                </a:solidFill>
              </a:rPr>
              <a:t>Job idempotent, relançable sans effet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Le service SOAP : contract-first avec Apache CXF</a:t>
            </a:r>
            <a:endParaRPr lang="en-US" sz="3200" dirty="0"/>
          </a:p>
        </p:txBody>
      </p:sp>
      <p:sp>
        <p:nvSpPr>
          <p:cNvPr id="3" name="Opération getEmployeeDetails"/>
          <p:cNvSpPr/>
          <p:nvPr/>
        </p:nvSpPr>
        <p:spPr>
          <a:xfrm>
            <a:off x="548640" y="1371600"/>
            <a:ext cx="347472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ône getEmployeeDetails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ône getEmployeeDetails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817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getEmployeeDetails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0175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Entrée : matricule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Sortie : fiche complète de l'employé</a:t>
            </a:r>
            <a:endParaRPr lang="en-US" sz="1400" dirty="0"/>
          </a:p>
        </p:txBody>
      </p:sp>
      <p:sp>
        <p:nvSpPr>
          <p:cNvPr id="8" name="Opération createEmployee"/>
          <p:cNvSpPr/>
          <p:nvPr/>
        </p:nvSpPr>
        <p:spPr>
          <a:xfrm>
            <a:off x="4297680" y="1371600"/>
            <a:ext cx="347472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ône createEmployee"/>
          <p:cNvSpPr/>
          <p:nvPr/>
        </p:nvSpPr>
        <p:spPr>
          <a:xfrm>
            <a:off x="4572000" y="164592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ône createEmployee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181737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createEmployee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26080"/>
            <a:ext cx="30175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Entrée : NewEmployee (statut ACTIF par défaut)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Normalise, valide, insère et écrit dans l'outbox</a:t>
            </a:r>
            <a:endParaRPr lang="en-US" sz="1400" dirty="0"/>
          </a:p>
        </p:txBody>
      </p:sp>
      <p:sp>
        <p:nvSpPr>
          <p:cNvPr id="13" name="Opération updateEmployee"/>
          <p:cNvSpPr/>
          <p:nvPr/>
        </p:nvSpPr>
        <p:spPr>
          <a:xfrm>
            <a:off x="8046720" y="1371600"/>
            <a:ext cx="347472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ône updateEmployee"/>
          <p:cNvSpPr/>
          <p:nvPr/>
        </p:nvSpPr>
        <p:spPr>
          <a:xfrm>
            <a:off x="8321040" y="164592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ône updateEmployee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181737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updateEmployee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26080"/>
            <a:ext cx="30175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Entrée : matricule + champs à changer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Modification partielle, validation de la fiche complète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389120"/>
            <a:ext cx="110642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WSDL écrit à la main, classes Java générées par cxf-codegen-plugin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Publié tel quel sur http://localhost:8080/services/EmployeeService?wsdl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Modification et ligne d'outbox dans la même transaction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Métriques CXF par opération exposées pour Netdata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Quatre erreurs SOAP, chacune avec un code stable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468880"/>
                <a:gridCol w="155448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code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faultcode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Cause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employeeNotFoundFault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EMPLOYEE_NOT_FOUND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soap:Client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matricule inexistant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validationFault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VALIDATION_ERROR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soap:Client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règles non respectées, liste des champs en erreur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duplicateEmployeeFault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DUPLICATE_EMPLOYEE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soap:Client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matricule existant ou email déjà utilisé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dataAccessFault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DATA_ACCESS_ERROR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soap:Server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PostgreSQL indisponible, le client peut réessayer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Exemple de Fault"/>
          <p:cNvSpPr/>
          <p:nvPr/>
        </p:nvSpPr>
        <p:spPr>
          <a:xfrm>
            <a:off x="548640" y="4206240"/>
            <a:ext cx="110642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343400"/>
            <a:ext cx="10515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Exemple : création avec email, âge, département et salaire invalides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&lt;code&gt;VALIDATION_ERROR&lt;/code&gt;  &lt;fieldErrors&gt;&lt;field&gt;email&lt;/field&gt;…&lt;/fieldErrors&gt;  &lt;fieldErrors&gt;&lt;field&gt;dateNaissance&lt;/field&gt;…&lt;/fieldErrors&gt;  &lt;fieldErrors&gt;&lt;field&gt;departement&lt;/field&gt;…&lt;/fieldErrors&gt;  &lt;fieldErrors&gt;&lt;field&gt;salaire&lt;/field&gt;…&lt;/fieldErrors&gt;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Retour vers MySQL sans boucle ni perte</a:t>
            </a:r>
            <a:endParaRPr lang="en-US" sz="3200" dirty="0"/>
          </a:p>
        </p:txBody>
      </p:sp>
      <p:sp>
        <p:nvSpPr>
          <p:cNvPr id="3" name="Flux 1"/>
          <p:cNvSpPr/>
          <p:nvPr/>
        </p:nvSpPr>
        <p:spPr>
          <a:xfrm>
            <a:off x="548640" y="1417320"/>
            <a:ext cx="24688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19456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Appel SOAP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ou update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017520" y="2103120"/>
            <a:ext cx="365760" cy="0"/>
          </a:xfrm>
          <a:prstGeom prst="line">
            <a:avLst/>
          </a:prstGeom>
          <a:noFill/>
          <a:ln w="25400">
            <a:solidFill>
              <a:srgbClr val="1B2A2F"/>
            </a:solidFill>
            <a:prstDash val="solid"/>
            <a:tailEnd type="triangle"/>
          </a:ln>
        </p:spPr>
      </p:sp>
      <p:sp>
        <p:nvSpPr>
          <p:cNvPr id="6" name="Flux 2"/>
          <p:cNvSpPr/>
          <p:nvPr/>
        </p:nvSpPr>
        <p:spPr>
          <a:xfrm>
            <a:off x="3383280" y="1417320"/>
            <a:ext cx="2468880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463040"/>
            <a:ext cx="219456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Transaction PG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employee + employee_changes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852160" y="2103120"/>
            <a:ext cx="365760" cy="0"/>
          </a:xfrm>
          <a:prstGeom prst="line">
            <a:avLst/>
          </a:prstGeom>
          <a:noFill/>
          <a:ln w="25400">
            <a:solidFill>
              <a:srgbClr val="1B2A2F"/>
            </a:solidFill>
            <a:prstDash val="solid"/>
            <a:tailEnd type="triangle"/>
          </a:ln>
        </p:spPr>
      </p:sp>
      <p:sp>
        <p:nvSpPr>
          <p:cNvPr id="9" name="Flux 3"/>
          <p:cNvSpPr/>
          <p:nvPr/>
        </p:nvSpPr>
        <p:spPr>
          <a:xfrm>
            <a:off x="6217920" y="1417320"/>
            <a:ext cx="24688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463040"/>
            <a:ext cx="219456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Job Pentaho retour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lit l'outbox non traitée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0" y="2103120"/>
            <a:ext cx="365760" cy="0"/>
          </a:xfrm>
          <a:prstGeom prst="line">
            <a:avLst/>
          </a:prstGeom>
          <a:noFill/>
          <a:ln w="25400">
            <a:solidFill>
              <a:srgbClr val="1B2A2F"/>
            </a:solidFill>
            <a:prstDash val="solid"/>
            <a:tailEnd type="triangle"/>
          </a:ln>
        </p:spPr>
      </p:sp>
      <p:sp>
        <p:nvSpPr>
          <p:cNvPr id="12" name="Flux 4"/>
          <p:cNvSpPr/>
          <p:nvPr/>
        </p:nvSpPr>
        <p:spPr>
          <a:xfrm>
            <a:off x="9052560" y="1417320"/>
            <a:ext cx="24688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9720" y="1463040"/>
            <a:ext cx="219456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MySQL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Insert/Update, même updated_at</a:t>
            </a:r>
            <a:endParaRPr lang="en-US" sz="1400" dirty="0"/>
          </a:p>
        </p:txBody>
      </p:sp>
      <p:sp>
        <p:nvSpPr>
          <p:cNvPr id="14" name="Icône Pas de perte"/>
          <p:cNvSpPr/>
          <p:nvPr/>
        </p:nvSpPr>
        <p:spPr>
          <a:xfrm>
            <a:off x="548640" y="32918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ône Pas de perte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3451860"/>
            <a:ext cx="320040" cy="32004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71600" y="3200400"/>
            <a:ext cx="4480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 de perte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566160"/>
            <a:ext cx="4480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ligne d'outbox est écrite dans la même transaction que la modification.</a:t>
            </a:r>
            <a:endParaRPr lang="en-US" sz="1400" dirty="0"/>
          </a:p>
        </p:txBody>
      </p:sp>
      <p:sp>
        <p:nvSpPr>
          <p:cNvPr id="18" name="Icône Pas de boucle"/>
          <p:cNvSpPr/>
          <p:nvPr/>
        </p:nvSpPr>
        <p:spPr>
          <a:xfrm>
            <a:off x="6172200" y="32918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Icône Pas de boucle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2220" y="3451860"/>
            <a:ext cx="320040" cy="3200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995160" y="3200400"/>
            <a:ext cx="4480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 de boucle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3566160"/>
            <a:ext cx="4480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MySQL reçoit le même updated_at : la synchro aller suivante ne réécrit rien.</a:t>
            </a:r>
            <a:endParaRPr lang="en-US" sz="1400" dirty="0"/>
          </a:p>
        </p:txBody>
      </p:sp>
      <p:sp>
        <p:nvSpPr>
          <p:cNvPr id="22" name="Icône Conflits"/>
          <p:cNvSpPr/>
          <p:nvPr/>
        </p:nvSpPr>
        <p:spPr>
          <a:xfrm>
            <a:off x="548640" y="4663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3" name="Icône Conflits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4823460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371600" y="4572000"/>
            <a:ext cx="4480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Conflits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371600" y="4937760"/>
            <a:ext cx="4480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modification la plus récente gagne, PostgreSQL restant la référence.</a:t>
            </a:r>
            <a:endParaRPr lang="en-US" sz="1400" dirty="0"/>
          </a:p>
        </p:txBody>
      </p:sp>
      <p:sp>
        <p:nvSpPr>
          <p:cNvPr id="26" name="Icône Reprise"/>
          <p:cNvSpPr/>
          <p:nvPr/>
        </p:nvSpPr>
        <p:spPr>
          <a:xfrm>
            <a:off x="6172200" y="4663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7" name="Icône Reprise icô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2220" y="482346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995160" y="4572000"/>
            <a:ext cx="4480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Reprise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6995160" y="4937760"/>
            <a:ext cx="4480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Une ligne n'est marquée traitée qu'après l'écriture dans MySQL.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Netdata supervise les bases et le service</a:t>
            </a:r>
            <a:endParaRPr lang="en-US" sz="3200" dirty="0"/>
          </a:p>
        </p:txBody>
      </p:sp>
      <p:pic>
        <p:nvPicPr>
          <p:cNvPr id="3" name="Capture Netdata" descr="/home/claude/employee-soap-service/docs/img/netdata-so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41696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23560"/>
            <a:ext cx="69494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Appels SOAP par seconde (cxf_server_requests) dans Netdata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1371600"/>
            <a:ext cx="374904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Hôte et conteneurs Docker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CPU, mémoire, réseau, disque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MySQL et PostgreSQL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requêtes, connexions, activité des tables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Service SOAP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appels par opération, Faults, durée, JVM, pool JDBC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Alerte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employee_soap_service_injoignable passe en CRITICAL si le service tombe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Trois niveaux de tests, aucun échec</a:t>
            </a:r>
            <a:endParaRPr lang="en-US" sz="3200" dirty="0"/>
          </a:p>
        </p:txBody>
      </p:sp>
      <p:sp>
        <p:nvSpPr>
          <p:cNvPr id="3" name="Test tests JUnit"/>
          <p:cNvSpPr/>
          <p:nvPr/>
        </p:nvSpPr>
        <p:spPr>
          <a:xfrm>
            <a:off x="548640" y="1463040"/>
            <a:ext cx="3474720" cy="36576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34747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/ 15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tests JUnit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29260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validation et vrais appels SOAP sur base H2</a:t>
            </a:r>
            <a:endParaRPr lang="en-US" sz="1400" dirty="0"/>
          </a:p>
        </p:txBody>
      </p:sp>
      <p:sp>
        <p:nvSpPr>
          <p:cNvPr id="7" name="Test assertions SoapUI"/>
          <p:cNvSpPr/>
          <p:nvPr/>
        </p:nvSpPr>
        <p:spPr>
          <a:xfrm>
            <a:off x="4297680" y="1463040"/>
            <a:ext cx="3474720" cy="36576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1737360"/>
            <a:ext cx="34747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 / 54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assertions SoapUI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657600"/>
            <a:ext cx="29260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 cas, 12 requêtes, cas normaux et erreurs</a:t>
            </a:r>
            <a:endParaRPr lang="en-US" sz="1400" dirty="0"/>
          </a:p>
        </p:txBody>
      </p:sp>
      <p:sp>
        <p:nvSpPr>
          <p:cNvPr id="11" name="Test vérifications de bout en bout"/>
          <p:cNvSpPr/>
          <p:nvPr/>
        </p:nvSpPr>
        <p:spPr>
          <a:xfrm>
            <a:off x="8046720" y="1463040"/>
            <a:ext cx="3474720" cy="36576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1737360"/>
            <a:ext cx="34747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/ 23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vérifications de bout en bout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657600"/>
            <a:ext cx="29260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MySQL → Pentaho → PG → SOAP → Pentaho → MySQL + Netdata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Commandes : mvn test · ./scripts/run-soapui.sh · ./tests/e2e/e2e.sh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Scénario de démonstration de bout en bout</a:t>
            </a:r>
            <a:endParaRPr lang="en-US" sz="3200" dirty="0"/>
          </a:p>
        </p:txBody>
      </p:sp>
      <p:sp>
        <p:nvSpPr>
          <p:cNvPr id="3" name="Démo 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417320"/>
            <a:ext cx="45720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Insérer un employé « sale » dans MySQL</a:t>
            </a:r>
            <a:endParaRPr lang="en-US" sz="1600" dirty="0"/>
          </a:p>
        </p:txBody>
      </p:sp>
      <p:sp>
        <p:nvSpPr>
          <p:cNvPr id="6" name="Démo 2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06040"/>
            <a:ext cx="45720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Job aller : fiche normalisée dans PostgreSQL</a:t>
            </a:r>
            <a:endParaRPr lang="en-US" sz="1600" dirty="0"/>
          </a:p>
        </p:txBody>
      </p:sp>
      <p:sp>
        <p:nvSpPr>
          <p:cNvPr id="9" name="Démo 3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94760"/>
            <a:ext cx="45720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getEmployeeDetails renvoie la fiche</a:t>
            </a:r>
            <a:endParaRPr lang="en-US" sz="1600" dirty="0"/>
          </a:p>
        </p:txBody>
      </p:sp>
      <p:sp>
        <p:nvSpPr>
          <p:cNvPr id="12" name="Démo 4"/>
          <p:cNvSpPr/>
          <p:nvPr/>
        </p:nvSpPr>
        <p:spPr>
          <a:xfrm>
            <a:off x="548640" y="4983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83480"/>
            <a:ext cx="45720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updateEmployee change poste et salaire</a:t>
            </a:r>
            <a:endParaRPr lang="en-US" sz="1600" dirty="0"/>
          </a:p>
        </p:txBody>
      </p:sp>
      <p:sp>
        <p:nvSpPr>
          <p:cNvPr id="15" name="Démo 5"/>
          <p:cNvSpPr/>
          <p:nvPr/>
        </p:nvSpPr>
        <p:spPr>
          <a:xfrm>
            <a:off x="6172200" y="141732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1417320"/>
            <a:ext cx="45720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Job retour : MySQL mis à jour</a:t>
            </a:r>
            <a:endParaRPr lang="en-US" sz="1600" dirty="0"/>
          </a:p>
        </p:txBody>
      </p:sp>
      <p:sp>
        <p:nvSpPr>
          <p:cNvPr id="18" name="Démo 6"/>
          <p:cNvSpPr/>
          <p:nvPr/>
        </p:nvSpPr>
        <p:spPr>
          <a:xfrm>
            <a:off x="6172200" y="26060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7220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2606040"/>
            <a:ext cx="45720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Job aller relancé : la valeur SOAP est conservée</a:t>
            </a:r>
            <a:endParaRPr lang="en-US" sz="1600" dirty="0"/>
          </a:p>
        </p:txBody>
      </p:sp>
      <p:sp>
        <p:nvSpPr>
          <p:cNvPr id="21" name="Démo 7"/>
          <p:cNvSpPr/>
          <p:nvPr/>
        </p:nvSpPr>
        <p:spPr>
          <a:xfrm>
            <a:off x="6172200" y="379476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995160" y="3794760"/>
            <a:ext cx="45720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Faults : inexistant, invalide, doublon, base arrêtée</a:t>
            </a:r>
            <a:endParaRPr lang="en-US" sz="1600" dirty="0"/>
          </a:p>
        </p:txBody>
      </p:sp>
      <p:sp>
        <p:nvSpPr>
          <p:cNvPr id="24" name="Démo 8"/>
          <p:cNvSpPr/>
          <p:nvPr/>
        </p:nvSpPr>
        <p:spPr>
          <a:xfrm>
            <a:off x="6172200" y="4983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8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4983480"/>
            <a:ext cx="45720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Netdata : métriques SOAP et alerte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Répartition du travail</a:t>
            </a:r>
            <a:endParaRPr lang="en-US" sz="3200" dirty="0"/>
          </a:p>
        </p:txBody>
      </p:sp>
      <p:sp>
        <p:nvSpPr>
          <p:cNvPr id="3" name="Membre 1"/>
          <p:cNvSpPr/>
          <p:nvPr/>
        </p:nvSpPr>
        <p:spPr>
          <a:xfrm>
            <a:off x="548640" y="1554480"/>
            <a:ext cx="2048256" cy="3840480"/>
          </a:xfrm>
          <a:prstGeom prst="roundRect">
            <a:avLst>
              <a:gd name="adj" fmla="val 53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ône membre 1"/>
          <p:cNvSpPr/>
          <p:nvPr/>
        </p:nvSpPr>
        <p:spPr>
          <a:xfrm>
            <a:off x="1161288" y="18288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ône membre 1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7028" y="20345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67512" y="2834640"/>
            <a:ext cx="181051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NANA Abdoul Faycal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67512" y="3749040"/>
            <a:ext cx="1810512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Modèle de données, bases, Docker Compose</a:t>
            </a:r>
            <a:endParaRPr lang="en-US" sz="1300" dirty="0"/>
          </a:p>
        </p:txBody>
      </p:sp>
      <p:sp>
        <p:nvSpPr>
          <p:cNvPr id="8" name="Membre 2"/>
          <p:cNvSpPr/>
          <p:nvPr/>
        </p:nvSpPr>
        <p:spPr>
          <a:xfrm>
            <a:off x="2779776" y="1554480"/>
            <a:ext cx="2048256" cy="3840480"/>
          </a:xfrm>
          <a:prstGeom prst="roundRect">
            <a:avLst>
              <a:gd name="adj" fmla="val 53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ône membre 2"/>
          <p:cNvSpPr/>
          <p:nvPr/>
        </p:nvSpPr>
        <p:spPr>
          <a:xfrm>
            <a:off x="3392424" y="182880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ône membre 2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164" y="203454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98648" y="2834640"/>
            <a:ext cx="181051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OUEDRAOGO Y. Ibrahim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898648" y="3749040"/>
            <a:ext cx="1810512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Jobs Pentaho aller et retour</a:t>
            </a:r>
            <a:endParaRPr lang="en-US" sz="1300" dirty="0"/>
          </a:p>
        </p:txBody>
      </p:sp>
      <p:sp>
        <p:nvSpPr>
          <p:cNvPr id="13" name="Membre 3"/>
          <p:cNvSpPr/>
          <p:nvPr/>
        </p:nvSpPr>
        <p:spPr>
          <a:xfrm>
            <a:off x="5010912" y="1554480"/>
            <a:ext cx="2048256" cy="3840480"/>
          </a:xfrm>
          <a:prstGeom prst="roundRect">
            <a:avLst>
              <a:gd name="adj" fmla="val 53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ône membre 3"/>
          <p:cNvSpPr/>
          <p:nvPr/>
        </p:nvSpPr>
        <p:spPr>
          <a:xfrm>
            <a:off x="5623560" y="18288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ône membre 3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3454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9784" y="2834640"/>
            <a:ext cx="181051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KABORE Wend-Barka Boukary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129784" y="3749040"/>
            <a:ext cx="1810512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WSDL, service CXF, erreurs SOAP</a:t>
            </a:r>
            <a:endParaRPr lang="en-US" sz="1300" dirty="0"/>
          </a:p>
        </p:txBody>
      </p:sp>
      <p:sp>
        <p:nvSpPr>
          <p:cNvPr id="18" name="Membre 4"/>
          <p:cNvSpPr/>
          <p:nvPr/>
        </p:nvSpPr>
        <p:spPr>
          <a:xfrm>
            <a:off x="7242048" y="1554480"/>
            <a:ext cx="2048256" cy="3840480"/>
          </a:xfrm>
          <a:prstGeom prst="roundRect">
            <a:avLst>
              <a:gd name="adj" fmla="val 53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ône membre 4"/>
          <p:cNvSpPr/>
          <p:nvPr/>
        </p:nvSpPr>
        <p:spPr>
          <a:xfrm>
            <a:off x="7854696" y="182880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cône membre 4 icô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0436" y="203454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60920" y="2834640"/>
            <a:ext cx="181051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TINDANO Fernand Amed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60920" y="3749040"/>
            <a:ext cx="1810512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Règles métier, JUnit, SoapUI</a:t>
            </a:r>
            <a:endParaRPr lang="en-US" sz="1300" dirty="0"/>
          </a:p>
        </p:txBody>
      </p:sp>
      <p:sp>
        <p:nvSpPr>
          <p:cNvPr id="23" name="Membre 5"/>
          <p:cNvSpPr/>
          <p:nvPr/>
        </p:nvSpPr>
        <p:spPr>
          <a:xfrm>
            <a:off x="9473184" y="1554480"/>
            <a:ext cx="2048256" cy="3840480"/>
          </a:xfrm>
          <a:prstGeom prst="roundRect">
            <a:avLst>
              <a:gd name="adj" fmla="val 53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ône membre 5"/>
          <p:cNvSpPr/>
          <p:nvPr/>
        </p:nvSpPr>
        <p:spPr>
          <a:xfrm>
            <a:off x="10085832" y="18288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cône membre 5 icô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1572" y="203454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592056" y="2834640"/>
            <a:ext cx="1810512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KOMPAORE Abdoul Malick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592056" y="3749040"/>
            <a:ext cx="1810512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Netdata, test de bout en bout, documentation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Bilan et perspectives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Réalisé : les 6 exigences, dépôt reproductible, 3 niveaux de tests verts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Limites : synchro périodique, lecture MySQL complète, pas de suppression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Suite : synchro incrémentale sur updated_at, sécurité WS-Security, Pentaho planifié par cron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3"/>
                </a:solidFill>
              </a:rPr>
              <a:t>Merci de votre attention. Questions 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mployes SOAP">
  <a:themeElements>
    <a:clrScheme name="Employes SOAP">
      <a:dk1>
        <a:srgbClr val="1B2A2F"/>
      </a:dk1>
      <a:lt1>
        <a:srgbClr val="FFFFFF"/>
      </a:lt1>
      <a:dk2>
        <a:srgbClr val="0F3D3E"/>
      </a:dk2>
      <a:lt2>
        <a:srgbClr val="EEF4F3"/>
      </a:lt2>
      <a:accent1>
        <a:srgbClr val="0F3D3E"/>
      </a:accent1>
      <a:accent2>
        <a:srgbClr val="1F7A70"/>
      </a:accent2>
      <a:accent3>
        <a:srgbClr val="E39B2D"/>
      </a:accent3>
      <a:accent4>
        <a:srgbClr val="5B8C85"/>
      </a:accent4>
      <a:accent5>
        <a:srgbClr val="C8553D"/>
      </a:accent5>
      <a:accent6>
        <a:srgbClr val="8AA6A3"/>
      </a:accent6>
      <a:hlink>
        <a:srgbClr val="1F7A70"/>
      </a:hlink>
      <a:folHlink>
        <a:srgbClr val="5B8C85"/>
      </a:folHlink>
    </a:clrScheme>
    <a:fontScheme name="Employes SOA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SOAP de gestion des employés</dc:title>
  <dc:subject>PptxGenJS Presentation</dc:subject>
  <dc:creator>Groupe 6 SI</dc:creator>
  <cp:lastModifiedBy>Groupe 6 SI</cp:lastModifiedBy>
  <cp:revision>1</cp:revision>
  <dcterms:created xsi:type="dcterms:W3CDTF">2026-10-19T13:41:59Z</dcterms:created>
  <dcterms:modified xsi:type="dcterms:W3CDTF">2026-10-19T13:41:59Z</dcterms:modified>
</cp:coreProperties>
</file>